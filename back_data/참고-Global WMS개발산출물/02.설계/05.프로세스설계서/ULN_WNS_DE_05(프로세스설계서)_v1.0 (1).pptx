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91" r:id="rId2"/>
    <p:sldId id="392" r:id="rId3"/>
    <p:sldId id="461" r:id="rId4"/>
    <p:sldId id="462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73" r:id="rId16"/>
    <p:sldId id="474" r:id="rId17"/>
  </p:sldIdLst>
  <p:sldSz cx="9904413" cy="6858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9F1"/>
    <a:srgbClr val="F2F2F2"/>
    <a:srgbClr val="FFFF99"/>
    <a:srgbClr val="947CFC"/>
    <a:srgbClr val="FFCCFF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6759" autoAdjust="0"/>
    <p:restoredTop sz="94660"/>
  </p:normalViewPr>
  <p:slideViewPr>
    <p:cSldViewPr snapToObjects="1">
      <p:cViewPr varScale="1">
        <p:scale>
          <a:sx n="111" d="100"/>
          <a:sy n="111" d="100"/>
        </p:scale>
        <p:origin x="-372" y="-84"/>
      </p:cViewPr>
      <p:guideLst>
        <p:guide orient="horz" pos="2160"/>
        <p:guide pos="33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383DDFE-F530-460E-B213-7901B82A33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1755782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ln/>
        </p:spPr>
      </p:sp>
      <p:sp>
        <p:nvSpPr>
          <p:cNvPr id="614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smtClean="0">
              <a:ea typeface="굴림" charset="-127"/>
            </a:endParaRPr>
          </a:p>
        </p:txBody>
      </p:sp>
      <p:sp>
        <p:nvSpPr>
          <p:cNvPr id="6148" name="슬라이드 번호 개체 틀 3"/>
          <p:cNvSpPr txBox="1">
            <a:spLocks noGrp="1"/>
          </p:cNvSpPr>
          <p:nvPr/>
        </p:nvSpPr>
        <p:spPr bwMode="auto">
          <a:xfrm>
            <a:off x="3852864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97" tIns="45999" rIns="91997" bIns="45999" anchor="b"/>
          <a:lstStyle/>
          <a:p>
            <a:pPr algn="r" defTabSz="919163"/>
            <a:fld id="{8AFEDCC6-548A-4006-B5C9-58C21904A755}" type="slidenum">
              <a:rPr lang="en-US" altLang="ko-KR" sz="1200" smtClean="0">
                <a:solidFill>
                  <a:prstClr val="black"/>
                </a:solidFill>
                <a:latin typeface="Times New Roman" pitchFamily="18" charset="0"/>
              </a:rPr>
              <a:pPr algn="r" defTabSz="919163"/>
              <a:t>1</a:t>
            </a:fld>
            <a:endParaRPr lang="en-US" altLang="ko-KR" sz="1200" smtClean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8246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831" y="2130448"/>
            <a:ext cx="8418751" cy="1470025"/>
          </a:xfrm>
          <a:prstGeom prst="rect">
            <a:avLst/>
          </a:prstGeom>
        </p:spPr>
        <p:txBody>
          <a:bodyPr/>
          <a:lstStyle>
            <a:lvl1pPr algn="ctr">
              <a:defRPr sz="27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0928" y="6356352"/>
            <a:ext cx="2228493" cy="365125"/>
          </a:xfrm>
          <a:prstGeom prst="rect">
            <a:avLst/>
          </a:prstGeom>
        </p:spPr>
        <p:txBody>
          <a:bodyPr/>
          <a:lstStyle/>
          <a:p>
            <a:fld id="{B849F49E-0592-4863-AC6F-33199DB72159}" type="datetimeFigureOut">
              <a:rPr lang="ko-KR" altLang="en-US" smtClean="0"/>
              <a:pPr/>
              <a:t>2015-07-08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008" y="6356373"/>
            <a:ext cx="3136397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4992" y="6356352"/>
            <a:ext cx="2228493" cy="365125"/>
          </a:xfrm>
          <a:prstGeom prst="rect">
            <a:avLst/>
          </a:prstGeom>
        </p:spPr>
        <p:txBody>
          <a:bodyPr/>
          <a:lstStyle/>
          <a:p>
            <a:fld id="{216247B2-A617-41B3-8F31-0360EF6859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ext Box 18"/>
          <p:cNvSpPr txBox="1">
            <a:spLocks noChangeArrowheads="1"/>
          </p:cNvSpPr>
          <p:nvPr userDrawn="1"/>
        </p:nvSpPr>
        <p:spPr bwMode="auto">
          <a:xfrm>
            <a:off x="4498254" y="4803798"/>
            <a:ext cx="5304708" cy="5632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</a:endParaRPr>
          </a:p>
          <a:p>
            <a:pPr marL="0" marR="0" lvl="0" indent="0" algn="ctr" defTabSz="685800" eaLnBrk="1" fontAlgn="auto" latinLnBrk="0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822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138094" y="73025"/>
            <a:ext cx="4812529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just">
              <a:defRPr/>
            </a:pP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글로벌 </a:t>
            </a:r>
            <a:r>
              <a:rPr lang="ko-KR" altLang="en-US" sz="1100" b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웹기반</a:t>
            </a: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WMS </a:t>
            </a: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시스템 개발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480728" y="66675"/>
            <a:ext cx="322369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r">
              <a:defRPr/>
            </a:pPr>
            <a:r>
              <a:rPr lang="ko-KR" altLang="en-US" sz="11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프로세스설계서</a:t>
            </a:r>
            <a:endParaRPr lang="en-US" altLang="ko-KR" sz="11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14" name="Line 390"/>
          <p:cNvSpPr>
            <a:spLocks noChangeShapeType="1"/>
          </p:cNvSpPr>
          <p:nvPr/>
        </p:nvSpPr>
        <p:spPr bwMode="auto">
          <a:xfrm>
            <a:off x="228564" y="382588"/>
            <a:ext cx="9447286" cy="0"/>
          </a:xfrm>
          <a:prstGeom prst="line">
            <a:avLst/>
          </a:prstGeom>
          <a:noFill/>
          <a:ln w="57150" cmpd="thinThick">
            <a:solidFill>
              <a:srgbClr val="00808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ko-KR" altLang="en-US" sz="1200" b="1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415" name="Line 391"/>
          <p:cNvSpPr>
            <a:spLocks noChangeShapeType="1"/>
          </p:cNvSpPr>
          <p:nvPr/>
        </p:nvSpPr>
        <p:spPr bwMode="auto">
          <a:xfrm>
            <a:off x="263483" y="6524625"/>
            <a:ext cx="944728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ko-KR" altLang="en-US" sz="120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416" name="Text Box 392"/>
          <p:cNvSpPr txBox="1">
            <a:spLocks noChangeArrowheads="1"/>
          </p:cNvSpPr>
          <p:nvPr/>
        </p:nvSpPr>
        <p:spPr bwMode="auto">
          <a:xfrm>
            <a:off x="4530003" y="6551620"/>
            <a:ext cx="853938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29" tIns="45715" rIns="91429" bIns="45715">
            <a:spAutoFit/>
          </a:bodyPr>
          <a:lstStyle/>
          <a:p>
            <a:pPr algn="ctr" latinLnBrk="0">
              <a:spcBef>
                <a:spcPct val="50000"/>
              </a:spcBef>
              <a:defRPr/>
            </a:pPr>
            <a:r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t>- </a:t>
            </a:r>
            <a:fld id="{D5E4FDBA-393A-4F52-8997-A50FB0DC6AFF}" type="slidenum"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pPr algn="ctr" latinLnBrk="0">
                <a:spcBef>
                  <a:spcPct val="50000"/>
                </a:spcBef>
                <a:defRPr/>
              </a:pPr>
              <a:t>‹#›</a:t>
            </a:fld>
            <a:r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t> -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5888" y="6569075"/>
            <a:ext cx="1017425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6" descr="http://uln.logisall.com/img/logo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5071" y="6570663"/>
            <a:ext cx="143487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ChangeArrowheads="1"/>
          </p:cNvSpPr>
          <p:nvPr/>
        </p:nvSpPr>
        <p:spPr bwMode="auto">
          <a:xfrm>
            <a:off x="5852180" y="3286129"/>
            <a:ext cx="3347501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>
            <a:spAutoFit/>
          </a:bodyPr>
          <a:lstStyle/>
          <a:p>
            <a:pPr algn="r" fontAlgn="b"/>
            <a:r>
              <a:rPr lang="en-US" altLang="ko-KR" sz="2000" b="1" dirty="0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ULN_WNS_DE_05</a:t>
            </a:r>
            <a:endParaRPr lang="ko-KR" altLang="en-US" sz="2000" b="1" dirty="0" smtClean="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2051" name="Rectangle 12"/>
          <p:cNvSpPr>
            <a:spLocks noChangeArrowheads="1"/>
          </p:cNvSpPr>
          <p:nvPr/>
        </p:nvSpPr>
        <p:spPr bwMode="auto">
          <a:xfrm>
            <a:off x="8407641" y="3660775"/>
            <a:ext cx="761878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/>
          <a:lstStyle/>
          <a:p>
            <a:pPr algn="r" fontAlgn="b"/>
            <a:r>
              <a:rPr lang="en-US" altLang="ko-KR" sz="12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Ver 1.0</a:t>
            </a:r>
            <a:endParaRPr lang="en-US" altLang="ko-K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2" name="Rectangle 303"/>
          <p:cNvSpPr>
            <a:spLocks noChangeArrowheads="1"/>
          </p:cNvSpPr>
          <p:nvPr/>
        </p:nvSpPr>
        <p:spPr bwMode="auto">
          <a:xfrm>
            <a:off x="5355367" y="1570038"/>
            <a:ext cx="3891926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r"/>
            <a:r>
              <a:rPr lang="ko-KR" altLang="en-US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글로벌 웹기반 </a:t>
            </a:r>
            <a:r>
              <a:rPr lang="en-US" altLang="ko-KR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WMS </a:t>
            </a:r>
            <a:r>
              <a:rPr lang="ko-KR" altLang="en-US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시스템 개발</a:t>
            </a:r>
          </a:p>
        </p:txBody>
      </p:sp>
      <p:graphicFrame>
        <p:nvGraphicFramePr>
          <p:cNvPr id="44048" name="Group 16"/>
          <p:cNvGraphicFramePr>
            <a:graphicFrameLocks noGrp="1"/>
          </p:cNvGraphicFramePr>
          <p:nvPr/>
        </p:nvGraphicFramePr>
        <p:xfrm>
          <a:off x="704742" y="1960567"/>
          <a:ext cx="8567952" cy="1108075"/>
        </p:xfrm>
        <a:graphic>
          <a:graphicData uri="http://schemas.openxmlformats.org/drawingml/2006/table">
            <a:tbl>
              <a:tblPr/>
              <a:tblGrid>
                <a:gridCol w="8567952"/>
              </a:tblGrid>
              <a:tr h="11080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바탕체" pitchFamily="17" charset="-127"/>
                          <a:ea typeface="바탕체" pitchFamily="17" charset="-127"/>
                        </a:rPr>
                        <a:t>프로세스설계서</a:t>
                      </a:r>
                      <a:endParaRPr kumimoji="1" lang="en-US" altLang="ko-K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굴림" pitchFamily="50" charset="-127"/>
                      </a:endParaRPr>
                    </a:p>
                  </a:txBody>
                  <a:tcPr marL="91414" marR="91414"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6" name="Rectangle 15"/>
          <p:cNvSpPr>
            <a:spLocks noChangeArrowheads="1"/>
          </p:cNvSpPr>
          <p:nvPr/>
        </p:nvSpPr>
        <p:spPr bwMode="auto">
          <a:xfrm>
            <a:off x="5599803" y="4157666"/>
            <a:ext cx="374748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fontAlgn="t"/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단      계 </a:t>
            </a:r>
            <a:r>
              <a:rPr lang="en-US" altLang="ko-KR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설계</a:t>
            </a:r>
          </a:p>
          <a:p>
            <a:pPr fontAlgn="t"/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관리부서 </a:t>
            </a:r>
            <a:r>
              <a:rPr lang="en-US" altLang="ko-KR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 dirty="0" err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유로지스넷</a:t>
            </a:r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altLang="ko-KR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SM</a:t>
            </a:r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팀</a:t>
            </a:r>
          </a:p>
        </p:txBody>
      </p:sp>
      <p:pic>
        <p:nvPicPr>
          <p:cNvPr id="2057" name="Picture 16" descr="http://uln.logisall.com/img/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863" y="549275"/>
            <a:ext cx="2393203" cy="403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17205" y="5907088"/>
            <a:ext cx="1321216" cy="363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92"/>
          <p:cNvSpPr>
            <a:spLocks noChangeArrowheads="1"/>
          </p:cNvSpPr>
          <p:nvPr/>
        </p:nvSpPr>
        <p:spPr bwMode="auto">
          <a:xfrm>
            <a:off x="4506193" y="635000"/>
            <a:ext cx="1296779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ctr"/>
            <a:r>
              <a:rPr lang="ko-KR" altLang="en-US" sz="1600" b="1" u="sng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개 정 이 력</a:t>
            </a:r>
            <a:endParaRPr lang="ko-KR" altLang="en-US" sz="1100" b="1" u="sng" smtClean="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graphicFrame>
        <p:nvGraphicFramePr>
          <p:cNvPr id="45121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44379698"/>
              </p:ext>
            </p:extLst>
          </p:nvPr>
        </p:nvGraphicFramePr>
        <p:xfrm>
          <a:off x="920602" y="1125538"/>
          <a:ext cx="8064796" cy="2468797"/>
        </p:xfrm>
        <a:graphic>
          <a:graphicData uri="http://schemas.openxmlformats.org/drawingml/2006/table">
            <a:tbl>
              <a:tblPr/>
              <a:tblGrid>
                <a:gridCol w="558710"/>
                <a:gridCol w="882509"/>
                <a:gridCol w="5729957"/>
                <a:gridCol w="893620"/>
              </a:tblGrid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변경내용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2587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0.5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2015-06-22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작성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김원태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2015-07-08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 추가분 설계내용 반영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김원태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7240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입고등록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(PK_WMSOP020.SP_INSERT_ORDER)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74739"/>
            <a:ext cx="1893999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요청일과 마감일자를 비교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(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마감관리 메뉴필요여부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주문상세 등록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상품별 주문상세 정보등록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유효기간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무게 정보 반영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유통기간 수정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주문등록 시 유효기간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정보가 있으면 해당 값으로 상품 유효기간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WMSMS091. EXPIRY_DATE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업데이트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790357" y="110742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입고등록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순서도: 처리 128"/>
          <p:cNvSpPr/>
          <p:nvPr/>
        </p:nvSpPr>
        <p:spPr>
          <a:xfrm>
            <a:off x="3827632" y="2925490"/>
            <a:ext cx="915892" cy="33839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순서도: 처리 130"/>
          <p:cNvSpPr/>
          <p:nvPr/>
        </p:nvSpPr>
        <p:spPr>
          <a:xfrm>
            <a:off x="3827632" y="3503377"/>
            <a:ext cx="915892" cy="31016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유통기간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5032537" y="2958131"/>
            <a:ext cx="775845" cy="305751"/>
            <a:chOff x="6858016" y="2500306"/>
            <a:chExt cx="647704" cy="287340"/>
          </a:xfrm>
        </p:grpSpPr>
        <p:sp>
          <p:nvSpPr>
            <p:cNvPr id="13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8" name="AutoShape 41"/>
          <p:cNvCxnSpPr>
            <a:cxnSpLocks noChangeShapeType="1"/>
            <a:stCxn id="129" idx="3"/>
          </p:cNvCxnSpPr>
          <p:nvPr/>
        </p:nvCxnSpPr>
        <p:spPr bwMode="auto">
          <a:xfrm>
            <a:off x="4743523" y="3094686"/>
            <a:ext cx="289013" cy="272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5032537" y="3522011"/>
            <a:ext cx="775845" cy="305751"/>
            <a:chOff x="6858016" y="2500306"/>
            <a:chExt cx="647704" cy="287340"/>
          </a:xfrm>
        </p:grpSpPr>
        <p:sp>
          <p:nvSpPr>
            <p:cNvPr id="15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6" name="직선 연결선 15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AutoShape 41"/>
          <p:cNvCxnSpPr>
            <a:cxnSpLocks noChangeShapeType="1"/>
            <a:stCxn id="131" idx="3"/>
          </p:cNvCxnSpPr>
          <p:nvPr/>
        </p:nvCxnSpPr>
        <p:spPr bwMode="auto">
          <a:xfrm>
            <a:off x="4743523" y="3658460"/>
            <a:ext cx="289013" cy="283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8" name="직선 화살표 연결선 177"/>
          <p:cNvCxnSpPr>
            <a:stCxn id="125" idx="2"/>
            <a:endCxn id="116" idx="0"/>
          </p:cNvCxnSpPr>
          <p:nvPr/>
        </p:nvCxnSpPr>
        <p:spPr>
          <a:xfrm rot="5400000">
            <a:off x="4180455" y="1562999"/>
            <a:ext cx="210247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>
            <a:stCxn id="129" idx="2"/>
            <a:endCxn id="131" idx="0"/>
          </p:cNvCxnSpPr>
          <p:nvPr/>
        </p:nvCxnSpPr>
        <p:spPr>
          <a:xfrm rot="5400000">
            <a:off x="4165831" y="3383563"/>
            <a:ext cx="23949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순서도: 처리 317"/>
          <p:cNvSpPr/>
          <p:nvPr/>
        </p:nvSpPr>
        <p:spPr>
          <a:xfrm>
            <a:off x="3827632" y="456690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5049044" y="4596431"/>
            <a:ext cx="775845" cy="305751"/>
            <a:chOff x="6858016" y="2500306"/>
            <a:chExt cx="647704" cy="287340"/>
          </a:xfrm>
        </p:grpSpPr>
        <p:sp>
          <p:nvSpPr>
            <p:cNvPr id="320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배차정보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1" name="직선 연결선 32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AutoShape 41"/>
          <p:cNvCxnSpPr>
            <a:cxnSpLocks noChangeShapeType="1"/>
            <a:stCxn id="318" idx="3"/>
          </p:cNvCxnSpPr>
          <p:nvPr/>
        </p:nvCxnSpPr>
        <p:spPr bwMode="auto">
          <a:xfrm flipV="1">
            <a:off x="4743524" y="4735711"/>
            <a:ext cx="305520" cy="645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0" name="AutoShape 41"/>
          <p:cNvCxnSpPr>
            <a:cxnSpLocks noChangeShapeType="1"/>
            <a:endCxn id="222" idx="1"/>
          </p:cNvCxnSpPr>
          <p:nvPr/>
        </p:nvCxnSpPr>
        <p:spPr bwMode="auto">
          <a:xfrm flipV="1">
            <a:off x="3439576" y="5317474"/>
            <a:ext cx="388056" cy="164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3" name="직선 화살표 연결선 342"/>
          <p:cNvCxnSpPr>
            <a:stCxn id="318" idx="2"/>
            <a:endCxn id="222" idx="0"/>
          </p:cNvCxnSpPr>
          <p:nvPr/>
        </p:nvCxnSpPr>
        <p:spPr>
          <a:xfrm rot="5400000">
            <a:off x="4173183" y="5029751"/>
            <a:ext cx="22479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화살표 연결선 345"/>
          <p:cNvCxnSpPr>
            <a:stCxn id="171" idx="2"/>
            <a:endCxn id="318" idx="0"/>
          </p:cNvCxnSpPr>
          <p:nvPr/>
        </p:nvCxnSpPr>
        <p:spPr>
          <a:xfrm rot="5400000">
            <a:off x="4171788" y="4453047"/>
            <a:ext cx="22758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순서도: 처리 115"/>
          <p:cNvSpPr/>
          <p:nvPr/>
        </p:nvSpPr>
        <p:spPr>
          <a:xfrm>
            <a:off x="3827632" y="1668190"/>
            <a:ext cx="915892" cy="23933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7" name="순서도: 처리 116"/>
          <p:cNvSpPr/>
          <p:nvPr/>
        </p:nvSpPr>
        <p:spPr>
          <a:xfrm>
            <a:off x="3827632" y="2079376"/>
            <a:ext cx="915892" cy="34630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마스터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223"/>
          <p:cNvGrpSpPr>
            <a:grpSpLocks/>
          </p:cNvGrpSpPr>
          <p:nvPr/>
        </p:nvGrpSpPr>
        <p:grpSpPr bwMode="auto">
          <a:xfrm>
            <a:off x="5040791" y="2112311"/>
            <a:ext cx="775845" cy="305751"/>
            <a:chOff x="6858016" y="2500306"/>
            <a:chExt cx="647704" cy="287340"/>
          </a:xfrm>
        </p:grpSpPr>
        <p:sp>
          <p:nvSpPr>
            <p:cNvPr id="119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0" name="직선 연결선 119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AutoShape 41"/>
          <p:cNvCxnSpPr>
            <a:cxnSpLocks noChangeShapeType="1"/>
            <a:stCxn id="117" idx="3"/>
          </p:cNvCxnSpPr>
          <p:nvPr/>
        </p:nvCxnSpPr>
        <p:spPr bwMode="auto">
          <a:xfrm flipV="1">
            <a:off x="4743523" y="2251591"/>
            <a:ext cx="297267" cy="9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24" name="순서도: 처리 123"/>
          <p:cNvSpPr/>
          <p:nvPr/>
        </p:nvSpPr>
        <p:spPr>
          <a:xfrm>
            <a:off x="2734742" y="2622532"/>
            <a:ext cx="3530356" cy="19177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1" name="순서도: 처리 170"/>
          <p:cNvSpPr/>
          <p:nvPr/>
        </p:nvSpPr>
        <p:spPr>
          <a:xfrm>
            <a:off x="3827632" y="4029157"/>
            <a:ext cx="915892" cy="31016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컨테이너 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정보 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223"/>
          <p:cNvGrpSpPr>
            <a:grpSpLocks/>
          </p:cNvGrpSpPr>
          <p:nvPr/>
        </p:nvGrpSpPr>
        <p:grpSpPr bwMode="auto">
          <a:xfrm>
            <a:off x="5049044" y="3986830"/>
            <a:ext cx="1031709" cy="421231"/>
            <a:chOff x="6858016" y="2500306"/>
            <a:chExt cx="647704" cy="287340"/>
          </a:xfrm>
        </p:grpSpPr>
        <p:sp>
          <p:nvSpPr>
            <p:cNvPr id="173" name="TextBox 183"/>
            <p:cNvSpPr txBox="1">
              <a:spLocks noChangeArrowheads="1"/>
            </p:cNvSpPr>
            <p:nvPr/>
          </p:nvSpPr>
          <p:spPr bwMode="auto">
            <a:xfrm>
              <a:off x="6858016" y="2529967"/>
              <a:ext cx="579123" cy="2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컨테이너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컨테이너 지정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4" name="직선 연결선 173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6" name="AutoShape 41"/>
          <p:cNvCxnSpPr>
            <a:cxnSpLocks noChangeShapeType="1"/>
            <a:stCxn id="171" idx="3"/>
          </p:cNvCxnSpPr>
          <p:nvPr/>
        </p:nvCxnSpPr>
        <p:spPr bwMode="auto">
          <a:xfrm>
            <a:off x="4743524" y="4184240"/>
            <a:ext cx="305520" cy="283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7" name="직선 화살표 연결선 176"/>
          <p:cNvCxnSpPr>
            <a:stCxn id="131" idx="2"/>
            <a:endCxn id="171" idx="0"/>
          </p:cNvCxnSpPr>
          <p:nvPr/>
        </p:nvCxnSpPr>
        <p:spPr>
          <a:xfrm rot="5400000">
            <a:off x="4177771" y="3921284"/>
            <a:ext cx="215614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순서도: 처리 221"/>
          <p:cNvSpPr/>
          <p:nvPr/>
        </p:nvSpPr>
        <p:spPr>
          <a:xfrm>
            <a:off x="3827632" y="514221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7" name="AutoShape 41"/>
          <p:cNvCxnSpPr>
            <a:cxnSpLocks noChangeShapeType="1"/>
            <a:stCxn id="222" idx="3"/>
          </p:cNvCxnSpPr>
          <p:nvPr/>
        </p:nvCxnSpPr>
        <p:spPr bwMode="auto">
          <a:xfrm flipV="1">
            <a:off x="4743523" y="5312097"/>
            <a:ext cx="297267" cy="537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33" name="직선 화살표 연결선 232"/>
          <p:cNvCxnSpPr>
            <a:stCxn id="116" idx="2"/>
            <a:endCxn id="117" idx="0"/>
          </p:cNvCxnSpPr>
          <p:nvPr/>
        </p:nvCxnSpPr>
        <p:spPr>
          <a:xfrm rot="5400000">
            <a:off x="4199651" y="1993383"/>
            <a:ext cx="171854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화살표 연결선 235"/>
          <p:cNvCxnSpPr>
            <a:stCxn id="117" idx="2"/>
          </p:cNvCxnSpPr>
          <p:nvPr/>
        </p:nvCxnSpPr>
        <p:spPr>
          <a:xfrm rot="16200000" flipH="1">
            <a:off x="4184665" y="2526594"/>
            <a:ext cx="203200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설명선 2(강조선) 285"/>
          <p:cNvSpPr/>
          <p:nvPr/>
        </p:nvSpPr>
        <p:spPr>
          <a:xfrm>
            <a:off x="6611052" y="1460482"/>
            <a:ext cx="2841328" cy="3454400"/>
          </a:xfrm>
          <a:prstGeom prst="accentCallout2">
            <a:avLst>
              <a:gd name="adj1" fmla="val 18750"/>
              <a:gd name="adj2" fmla="val -8333"/>
              <a:gd name="adj3" fmla="val 9734"/>
              <a:gd name="adj4" fmla="val -25192"/>
              <a:gd name="adj5" fmla="val 9349"/>
              <a:gd name="adj6" fmla="val -66501"/>
            </a:avLst>
          </a:prstGeom>
          <a:solidFill>
            <a:srgbClr val="947CFC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7" name="직선 화살표 연결선 246"/>
          <p:cNvCxnSpPr>
            <a:endCxn id="342" idx="0"/>
          </p:cNvCxnSpPr>
          <p:nvPr/>
        </p:nvCxnSpPr>
        <p:spPr>
          <a:xfrm rot="5400000">
            <a:off x="4175668" y="5736519"/>
            <a:ext cx="234950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직사각형 286"/>
          <p:cNvSpPr/>
          <p:nvPr/>
        </p:nvSpPr>
        <p:spPr>
          <a:xfrm>
            <a:off x="6599358" y="1466832"/>
            <a:ext cx="2847519" cy="343535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3" name="순서도: 처리 292"/>
          <p:cNvSpPr/>
          <p:nvPr/>
        </p:nvSpPr>
        <p:spPr>
          <a:xfrm>
            <a:off x="7673845" y="2819382"/>
            <a:ext cx="915892" cy="33655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취득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4" name="직선 화살표 연결선 293"/>
          <p:cNvCxnSpPr>
            <a:stCxn id="293" idx="2"/>
            <a:endCxn id="335" idx="0"/>
          </p:cNvCxnSpPr>
          <p:nvPr/>
        </p:nvCxnSpPr>
        <p:spPr>
          <a:xfrm rot="5400000">
            <a:off x="7985287" y="3302371"/>
            <a:ext cx="29301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순서도: 판단 334"/>
          <p:cNvSpPr/>
          <p:nvPr/>
        </p:nvSpPr>
        <p:spPr>
          <a:xfrm>
            <a:off x="7438482" y="3448943"/>
            <a:ext cx="1386618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마감일자비교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1" name="순서도: 처리 340"/>
          <p:cNvSpPr/>
          <p:nvPr/>
        </p:nvSpPr>
        <p:spPr>
          <a:xfrm>
            <a:off x="8563956" y="3989914"/>
            <a:ext cx="699965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8" name="직선 화살표 연결선 219"/>
          <p:cNvCxnSpPr>
            <a:stCxn id="335" idx="3"/>
            <a:endCxn id="341" idx="0"/>
          </p:cNvCxnSpPr>
          <p:nvPr/>
        </p:nvCxnSpPr>
        <p:spPr>
          <a:xfrm>
            <a:off x="8825100" y="3633913"/>
            <a:ext cx="88839" cy="356001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223"/>
          <p:cNvGrpSpPr>
            <a:grpSpLocks/>
          </p:cNvGrpSpPr>
          <p:nvPr/>
        </p:nvGrpSpPr>
        <p:grpSpPr bwMode="auto">
          <a:xfrm>
            <a:off x="6701158" y="2848118"/>
            <a:ext cx="742827" cy="305751"/>
            <a:chOff x="6900488" y="2500306"/>
            <a:chExt cx="647703" cy="287340"/>
          </a:xfrm>
        </p:grpSpPr>
        <p:sp>
          <p:nvSpPr>
            <p:cNvPr id="364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업무마감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66" name="직선 연결선 36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8" name="AutoShape 41"/>
          <p:cNvCxnSpPr>
            <a:cxnSpLocks noChangeShapeType="1"/>
            <a:endCxn id="293" idx="1"/>
          </p:cNvCxnSpPr>
          <p:nvPr/>
        </p:nvCxnSpPr>
        <p:spPr bwMode="auto">
          <a:xfrm>
            <a:off x="7443985" y="2987401"/>
            <a:ext cx="229861" cy="25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5" name="순서도: 수행의 시작/종료 374"/>
          <p:cNvSpPr/>
          <p:nvPr/>
        </p:nvSpPr>
        <p:spPr>
          <a:xfrm>
            <a:off x="7636571" y="1600182"/>
            <a:ext cx="990441" cy="2997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6" name="순서도: 수행의 시작/종료 375"/>
          <p:cNvSpPr/>
          <p:nvPr/>
        </p:nvSpPr>
        <p:spPr>
          <a:xfrm>
            <a:off x="7636571" y="4488162"/>
            <a:ext cx="990441" cy="2997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7" name="직선 화살표 연결선 376"/>
          <p:cNvCxnSpPr>
            <a:stCxn id="375" idx="2"/>
            <a:endCxn id="384" idx="0"/>
          </p:cNvCxnSpPr>
          <p:nvPr/>
        </p:nvCxnSpPr>
        <p:spPr>
          <a:xfrm rot="5400000">
            <a:off x="8035452" y="1996176"/>
            <a:ext cx="19268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순서도: 판단 383"/>
          <p:cNvSpPr/>
          <p:nvPr/>
        </p:nvSpPr>
        <p:spPr>
          <a:xfrm>
            <a:off x="7438482" y="2092584"/>
            <a:ext cx="1386618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주문일자 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LOOP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6" name="직선 화살표 연결선 385"/>
          <p:cNvCxnSpPr>
            <a:stCxn id="384" idx="2"/>
            <a:endCxn id="293" idx="0"/>
          </p:cNvCxnSpPr>
          <p:nvPr/>
        </p:nvCxnSpPr>
        <p:spPr>
          <a:xfrm rot="5400000">
            <a:off x="7953362" y="2640884"/>
            <a:ext cx="35686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화살표 연결선 219"/>
          <p:cNvCxnSpPr>
            <a:stCxn id="335" idx="2"/>
          </p:cNvCxnSpPr>
          <p:nvPr/>
        </p:nvCxnSpPr>
        <p:spPr>
          <a:xfrm rot="5400000" flipH="1">
            <a:off x="7505519" y="3192608"/>
            <a:ext cx="1248418" cy="4127"/>
          </a:xfrm>
          <a:prstGeom prst="bentConnector5">
            <a:avLst>
              <a:gd name="adj1" fmla="val -25942"/>
              <a:gd name="adj2" fmla="val 35300011"/>
              <a:gd name="adj3" fmla="val 99964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219"/>
          <p:cNvCxnSpPr>
            <a:stCxn id="384" idx="3"/>
            <a:endCxn id="376" idx="0"/>
          </p:cNvCxnSpPr>
          <p:nvPr/>
        </p:nvCxnSpPr>
        <p:spPr>
          <a:xfrm flipH="1">
            <a:off x="8131791" y="2277552"/>
            <a:ext cx="693309" cy="2210610"/>
          </a:xfrm>
          <a:prstGeom prst="bentConnector4">
            <a:avLst>
              <a:gd name="adj1" fmla="val -78373"/>
              <a:gd name="adj2" fmla="val 92101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183"/>
          <p:cNvSpPr txBox="1">
            <a:spLocks noChangeArrowheads="1"/>
          </p:cNvSpPr>
          <p:nvPr/>
        </p:nvSpPr>
        <p:spPr bwMode="auto">
          <a:xfrm>
            <a:off x="8643524" y="2075291"/>
            <a:ext cx="7951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LOOP END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4" name="TextBox 183"/>
          <p:cNvSpPr txBox="1">
            <a:spLocks noChangeArrowheads="1"/>
          </p:cNvSpPr>
          <p:nvPr/>
        </p:nvSpPr>
        <p:spPr bwMode="auto">
          <a:xfrm>
            <a:off x="8148303" y="2481691"/>
            <a:ext cx="7951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LOOP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23"/>
          <p:cNvGrpSpPr>
            <a:grpSpLocks/>
          </p:cNvGrpSpPr>
          <p:nvPr/>
        </p:nvGrpSpPr>
        <p:grpSpPr bwMode="auto">
          <a:xfrm>
            <a:off x="2771032" y="5179838"/>
            <a:ext cx="668544" cy="305751"/>
            <a:chOff x="6900488" y="2500306"/>
            <a:chExt cx="647703" cy="287340"/>
          </a:xfrm>
        </p:grpSpPr>
        <p:sp>
          <p:nvSpPr>
            <p:cNvPr id="33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8" name="직선 연결선 33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223"/>
          <p:cNvGrpSpPr>
            <a:grpSpLocks/>
          </p:cNvGrpSpPr>
          <p:nvPr/>
        </p:nvGrpSpPr>
        <p:grpSpPr bwMode="auto">
          <a:xfrm>
            <a:off x="5040791" y="5111258"/>
            <a:ext cx="1081231" cy="305751"/>
            <a:chOff x="6858016" y="2500306"/>
            <a:chExt cx="647704" cy="287340"/>
          </a:xfrm>
        </p:grpSpPr>
        <p:sp>
          <p:nvSpPr>
            <p:cNvPr id="224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5" name="직선 연결선 22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순서도: 처리 122"/>
          <p:cNvSpPr/>
          <p:nvPr/>
        </p:nvSpPr>
        <p:spPr>
          <a:xfrm>
            <a:off x="2738013" y="2628882"/>
            <a:ext cx="3524320" cy="298958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7" name="TextBox 436"/>
          <p:cNvSpPr txBox="1"/>
          <p:nvPr/>
        </p:nvSpPr>
        <p:spPr>
          <a:xfrm>
            <a:off x="5952338" y="5046964"/>
            <a:ext cx="354908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NULL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주문입력상태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:100&gt;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됨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2.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주문입력상태이고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APPROVE_YN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'Y'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승인상태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:190&gt;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3.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주문입력상태이고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APPROVE_YN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'X'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주문입력상태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:100&gt;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4.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배차상태이고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V_IN_CAR_QTY = V_IN_ORD_QTY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err="1" smtClean="0">
                <a:latin typeface="맑은 고딕" pitchFamily="50" charset="-127"/>
                <a:ea typeface="맑은 고딕" pitchFamily="50" charset="-127"/>
              </a:rPr>
              <a:t>입차확인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:400&gt;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5. GRN_QTY &gt;0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입하확정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:490&gt;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6. GRN_BARCODE_QTY &gt;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바코드발행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:495&gt;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7. WORK_STAT &gt;=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주문등록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(100)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IN_LOC_QTY &gt;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로케이션지정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:500&gt;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8.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로케이션지정 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IN_LOC_QTY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0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로케이션지정취소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:510&gt;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9.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간편출고 입고완료 수량이 있으면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입고완료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:990&gt;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9.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입고완료 수량이 있으면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입고완료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:990&gt;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10.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입고완료 후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바코드발행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:995&gt;</a:t>
            </a:r>
          </a:p>
        </p:txBody>
      </p:sp>
      <p:sp>
        <p:nvSpPr>
          <p:cNvPr id="342" name="순서도: 수행의 시작/종료 341"/>
          <p:cNvSpPr/>
          <p:nvPr/>
        </p:nvSpPr>
        <p:spPr>
          <a:xfrm>
            <a:off x="3797235" y="585468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입고등록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TextBox 183"/>
          <p:cNvSpPr txBox="1">
            <a:spLocks noChangeArrowheads="1"/>
          </p:cNvSpPr>
          <p:nvPr/>
        </p:nvSpPr>
        <p:spPr bwMode="auto">
          <a:xfrm>
            <a:off x="6988657" y="3845671"/>
            <a:ext cx="13109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주문일자 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마감일자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TextBox 183"/>
          <p:cNvSpPr txBox="1">
            <a:spLocks noChangeArrowheads="1"/>
          </p:cNvSpPr>
          <p:nvPr/>
        </p:nvSpPr>
        <p:spPr bwMode="auto">
          <a:xfrm>
            <a:off x="8276231" y="3388471"/>
            <a:ext cx="135222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주문일자 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&lt;=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마감일자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952265" y="2890502"/>
            <a:ext cx="940919" cy="33855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유효기간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무게정보반영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236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7293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(PK_WMSOP010.SP_APPROVE_ORDER)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79001" y="1174738"/>
            <a:ext cx="1893999" cy="504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생산자 </a:t>
            </a:r>
            <a:r>
              <a:rPr kumimoji="0" lang="ko-KR" altLang="en-US" sz="900" b="1" dirty="0" err="1" smtClean="0">
                <a:latin typeface="맑은 고딕" pitchFamily="50" charset="-127"/>
                <a:ea typeface="맑은 고딕" pitchFamily="50" charset="-127"/>
              </a:rPr>
              <a:t>로트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정책적용에 따라 주문정보의 생산자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로트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존재유무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제조일자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별 정책적용에 따라 주문정보의 제조일자 존재유무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kumimoji="0" lang="en-US" altLang="ko-KR" sz="900" b="1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UOM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입력오류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주문정보상세의 입고주문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UOMID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의 정합성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재고관리 공통모듈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주문정보를 논리재고 정보에 반영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(*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실제처리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안함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5503837" y="1051765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순서도: 처리 130"/>
          <p:cNvSpPr/>
          <p:nvPr/>
        </p:nvSpPr>
        <p:spPr>
          <a:xfrm>
            <a:off x="5523889" y="3394043"/>
            <a:ext cx="915892" cy="31016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7278551" y="3400268"/>
            <a:ext cx="775845" cy="305751"/>
            <a:chOff x="6858016" y="2500306"/>
            <a:chExt cx="647704" cy="287340"/>
          </a:xfrm>
        </p:grpSpPr>
        <p:sp>
          <p:nvSpPr>
            <p:cNvPr id="15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6" name="직선 연결선 15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AutoShape 41"/>
          <p:cNvCxnSpPr>
            <a:cxnSpLocks noChangeShapeType="1"/>
            <a:stCxn id="131" idx="3"/>
          </p:cNvCxnSpPr>
          <p:nvPr/>
        </p:nvCxnSpPr>
        <p:spPr bwMode="auto">
          <a:xfrm>
            <a:off x="6439782" y="3549126"/>
            <a:ext cx="821547" cy="632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8" name="직선 화살표 연결선 177"/>
          <p:cNvCxnSpPr>
            <a:stCxn id="125" idx="2"/>
          </p:cNvCxnSpPr>
          <p:nvPr/>
        </p:nvCxnSpPr>
        <p:spPr>
          <a:xfrm rot="5400000">
            <a:off x="5868360" y="1532917"/>
            <a:ext cx="261397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>
            <a:stCxn id="89" idx="2"/>
            <a:endCxn id="131" idx="0"/>
          </p:cNvCxnSpPr>
          <p:nvPr/>
        </p:nvCxnSpPr>
        <p:spPr>
          <a:xfrm rot="16200000" flipH="1">
            <a:off x="5918770" y="3330979"/>
            <a:ext cx="121216" cy="4912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AutoShape 41"/>
          <p:cNvCxnSpPr>
            <a:cxnSpLocks noChangeShapeType="1"/>
            <a:endCxn id="188" idx="1"/>
          </p:cNvCxnSpPr>
          <p:nvPr/>
        </p:nvCxnSpPr>
        <p:spPr bwMode="auto">
          <a:xfrm>
            <a:off x="4670388" y="5337009"/>
            <a:ext cx="870896" cy="414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7" name="직선 화살표 연결선 176"/>
          <p:cNvCxnSpPr>
            <a:stCxn id="131" idx="2"/>
            <a:endCxn id="98" idx="0"/>
          </p:cNvCxnSpPr>
          <p:nvPr/>
        </p:nvCxnSpPr>
        <p:spPr>
          <a:xfrm rot="16200000" flipH="1">
            <a:off x="5909154" y="3776890"/>
            <a:ext cx="149062" cy="370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/>
          <p:cNvCxnSpPr>
            <a:stCxn id="75" idx="2"/>
            <a:endCxn id="78" idx="0"/>
          </p:cNvCxnSpPr>
          <p:nvPr/>
        </p:nvCxnSpPr>
        <p:spPr>
          <a:xfrm rot="5400000">
            <a:off x="5915497" y="2488210"/>
            <a:ext cx="121874" cy="172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87" idx="2"/>
            <a:endCxn id="342" idx="0"/>
          </p:cNvCxnSpPr>
          <p:nvPr/>
        </p:nvCxnSpPr>
        <p:spPr>
          <a:xfrm rot="5400000">
            <a:off x="5888686" y="5839852"/>
            <a:ext cx="204411" cy="17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4001844" y="5197726"/>
            <a:ext cx="668544" cy="305751"/>
            <a:chOff x="6900488" y="2500306"/>
            <a:chExt cx="647703" cy="287340"/>
          </a:xfrm>
        </p:grpSpPr>
        <p:sp>
          <p:nvSpPr>
            <p:cNvPr id="33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8" name="직선 연결선 33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순서도: 수행의 시작/종료 341"/>
          <p:cNvSpPr/>
          <p:nvPr/>
        </p:nvSpPr>
        <p:spPr>
          <a:xfrm>
            <a:off x="5495583" y="5942143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순서도: 처리 86"/>
          <p:cNvSpPr/>
          <p:nvPr/>
        </p:nvSpPr>
        <p:spPr>
          <a:xfrm>
            <a:off x="3275516" y="1663682"/>
            <a:ext cx="5430920" cy="407405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순서도: 처리 87"/>
          <p:cNvSpPr/>
          <p:nvPr/>
        </p:nvSpPr>
        <p:spPr>
          <a:xfrm>
            <a:off x="3275516" y="1663682"/>
            <a:ext cx="5430920" cy="1905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순서도: 처리 88"/>
          <p:cNvSpPr/>
          <p:nvPr/>
        </p:nvSpPr>
        <p:spPr>
          <a:xfrm>
            <a:off x="3404589" y="1960863"/>
            <a:ext cx="5144668" cy="1311965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순서도: 처리 89"/>
          <p:cNvSpPr/>
          <p:nvPr/>
        </p:nvSpPr>
        <p:spPr>
          <a:xfrm>
            <a:off x="3404589" y="1953243"/>
            <a:ext cx="5144668" cy="1981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순서도: 처리 96"/>
          <p:cNvSpPr/>
          <p:nvPr/>
        </p:nvSpPr>
        <p:spPr>
          <a:xfrm>
            <a:off x="3413201" y="3860890"/>
            <a:ext cx="5144668" cy="17602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순서도: 처리 97"/>
          <p:cNvSpPr/>
          <p:nvPr/>
        </p:nvSpPr>
        <p:spPr>
          <a:xfrm>
            <a:off x="3413201" y="3853271"/>
            <a:ext cx="5144668" cy="1981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순서도: 판단 100"/>
          <p:cNvSpPr/>
          <p:nvPr/>
        </p:nvSpPr>
        <p:spPr>
          <a:xfrm>
            <a:off x="5157354" y="4640312"/>
            <a:ext cx="1692004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UOM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입력오류확인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순서도: 처리 101"/>
          <p:cNvSpPr/>
          <p:nvPr/>
        </p:nvSpPr>
        <p:spPr>
          <a:xfrm>
            <a:off x="7486490" y="4711382"/>
            <a:ext cx="765994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3793358" y="2564840"/>
            <a:ext cx="668544" cy="305751"/>
            <a:chOff x="6900488" y="2500306"/>
            <a:chExt cx="647703" cy="287340"/>
          </a:xfrm>
        </p:grpSpPr>
        <p:sp>
          <p:nvSpPr>
            <p:cNvPr id="118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6" name="직선 연결선 12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TextBox 183"/>
          <p:cNvSpPr txBox="1">
            <a:spLocks noChangeArrowheads="1"/>
          </p:cNvSpPr>
          <p:nvPr/>
        </p:nvSpPr>
        <p:spPr bwMode="auto">
          <a:xfrm>
            <a:off x="3424089" y="4718748"/>
            <a:ext cx="132883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UOM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159"/>
          <p:cNvGrpSpPr/>
          <p:nvPr/>
        </p:nvGrpSpPr>
        <p:grpSpPr>
          <a:xfrm>
            <a:off x="3511731" y="4694807"/>
            <a:ext cx="1109135" cy="305751"/>
            <a:chOff x="3136538" y="4201956"/>
            <a:chExt cx="1328793" cy="305751"/>
          </a:xfrm>
        </p:grpSpPr>
        <p:cxnSp>
          <p:nvCxnSpPr>
            <p:cNvPr id="147" name="직선 연결선 146"/>
            <p:cNvCxnSpPr/>
            <p:nvPr/>
          </p:nvCxnSpPr>
          <p:spPr bwMode="auto">
            <a:xfrm>
              <a:off x="3136538" y="4506018"/>
              <a:ext cx="132879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 bwMode="auto">
            <a:xfrm>
              <a:off x="3136538" y="4201956"/>
              <a:ext cx="132879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AutoShape 41"/>
          <p:cNvCxnSpPr>
            <a:cxnSpLocks noChangeShapeType="1"/>
            <a:stCxn id="146" idx="3"/>
            <a:endCxn id="101" idx="1"/>
          </p:cNvCxnSpPr>
          <p:nvPr/>
        </p:nvCxnSpPr>
        <p:spPr bwMode="auto">
          <a:xfrm flipV="1">
            <a:off x="4752926" y="4825280"/>
            <a:ext cx="404429" cy="1190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8" name="순서도: 처리 187"/>
          <p:cNvSpPr/>
          <p:nvPr/>
        </p:nvSpPr>
        <p:spPr>
          <a:xfrm>
            <a:off x="5541283" y="5172239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재고관리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공통모듈 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9" name="직선 화살표 연결선 188"/>
          <p:cNvCxnSpPr>
            <a:stCxn id="234" idx="2"/>
            <a:endCxn id="101" idx="0"/>
          </p:cNvCxnSpPr>
          <p:nvPr/>
        </p:nvCxnSpPr>
        <p:spPr>
          <a:xfrm rot="5400000">
            <a:off x="5927972" y="4564859"/>
            <a:ext cx="15077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AutoShape 41"/>
          <p:cNvCxnSpPr>
            <a:cxnSpLocks noChangeShapeType="1"/>
            <a:stCxn id="188" idx="3"/>
          </p:cNvCxnSpPr>
          <p:nvPr/>
        </p:nvCxnSpPr>
        <p:spPr bwMode="auto">
          <a:xfrm flipV="1">
            <a:off x="6457176" y="5340935"/>
            <a:ext cx="813120" cy="21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6" name="그룹 239"/>
          <p:cNvGrpSpPr/>
          <p:nvPr/>
        </p:nvGrpSpPr>
        <p:grpSpPr>
          <a:xfrm>
            <a:off x="7270296" y="5140104"/>
            <a:ext cx="1048217" cy="370109"/>
            <a:chOff x="7726680" y="5165413"/>
            <a:chExt cx="967740" cy="370109"/>
          </a:xfrm>
        </p:grpSpPr>
        <p:sp>
          <p:nvSpPr>
            <p:cNvPr id="193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논리재고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주문논리재고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7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95" name="직선 연결선 194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1" name="직선 화살표 연결선 200"/>
          <p:cNvCxnSpPr>
            <a:stCxn id="101" idx="2"/>
          </p:cNvCxnSpPr>
          <p:nvPr/>
        </p:nvCxnSpPr>
        <p:spPr>
          <a:xfrm rot="5400000">
            <a:off x="5924462" y="5085016"/>
            <a:ext cx="153662" cy="412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AutoShape 41"/>
          <p:cNvCxnSpPr>
            <a:cxnSpLocks noChangeShapeType="1"/>
            <a:endCxn id="234" idx="1"/>
          </p:cNvCxnSpPr>
          <p:nvPr/>
        </p:nvCxnSpPr>
        <p:spPr bwMode="auto">
          <a:xfrm flipV="1">
            <a:off x="4645627" y="4314282"/>
            <a:ext cx="899784" cy="164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4" name="순서도: 처리 233"/>
          <p:cNvSpPr/>
          <p:nvPr/>
        </p:nvSpPr>
        <p:spPr>
          <a:xfrm>
            <a:off x="5545410" y="4139022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5" name="AutoShape 41"/>
          <p:cNvCxnSpPr>
            <a:cxnSpLocks noChangeShapeType="1"/>
            <a:stCxn id="234" idx="3"/>
          </p:cNvCxnSpPr>
          <p:nvPr/>
        </p:nvCxnSpPr>
        <p:spPr bwMode="auto">
          <a:xfrm flipV="1">
            <a:off x="6461303" y="4302851"/>
            <a:ext cx="825501" cy="1143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" name="그룹 223"/>
          <p:cNvGrpSpPr>
            <a:grpSpLocks/>
          </p:cNvGrpSpPr>
          <p:nvPr/>
        </p:nvGrpSpPr>
        <p:grpSpPr bwMode="auto">
          <a:xfrm>
            <a:off x="3977082" y="4176646"/>
            <a:ext cx="668544" cy="305751"/>
            <a:chOff x="6900488" y="2500306"/>
            <a:chExt cx="647703" cy="287340"/>
          </a:xfrm>
        </p:grpSpPr>
        <p:sp>
          <p:nvSpPr>
            <p:cNvPr id="238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39" name="직선 연결선 238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223"/>
          <p:cNvGrpSpPr>
            <a:grpSpLocks/>
          </p:cNvGrpSpPr>
          <p:nvPr/>
        </p:nvGrpSpPr>
        <p:grpSpPr bwMode="auto">
          <a:xfrm>
            <a:off x="7237282" y="4130926"/>
            <a:ext cx="1081231" cy="305751"/>
            <a:chOff x="6858016" y="2500306"/>
            <a:chExt cx="647704" cy="287340"/>
          </a:xfrm>
        </p:grpSpPr>
        <p:sp>
          <p:nvSpPr>
            <p:cNvPr id="242" name="TextBox 183"/>
            <p:cNvSpPr txBox="1">
              <a:spLocks noChangeArrowheads="1"/>
            </p:cNvSpPr>
            <p:nvPr/>
          </p:nvSpPr>
          <p:spPr bwMode="auto">
            <a:xfrm>
              <a:off x="6858016" y="2529967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3" name="직선 연결선 242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연결선 243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/>
          <p:cNvSpPr txBox="1"/>
          <p:nvPr/>
        </p:nvSpPr>
        <p:spPr>
          <a:xfrm>
            <a:off x="3907895" y="2959248"/>
            <a:ext cx="940919" cy="21544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유효기간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순서도: 판단 74"/>
          <p:cNvSpPr/>
          <p:nvPr/>
        </p:nvSpPr>
        <p:spPr>
          <a:xfrm>
            <a:off x="5130432" y="2269597"/>
            <a:ext cx="1692004" cy="157742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 smtClean="0">
                <a:latin typeface="맑은 고딕" pitchFamily="50" charset="-127"/>
                <a:ea typeface="맑은 고딕" pitchFamily="50" charset="-127"/>
              </a:rPr>
              <a:t>생산자로트확인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순서도: 판단 77"/>
          <p:cNvSpPr/>
          <p:nvPr/>
        </p:nvSpPr>
        <p:spPr>
          <a:xfrm>
            <a:off x="5130432" y="2549213"/>
            <a:ext cx="1692004" cy="157742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제조일자확인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순서도: 판단 78"/>
          <p:cNvSpPr/>
          <p:nvPr/>
        </p:nvSpPr>
        <p:spPr>
          <a:xfrm>
            <a:off x="5130432" y="2820878"/>
            <a:ext cx="1692004" cy="157742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유효기간확인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2" name="직선 화살표 연결선 91"/>
          <p:cNvCxnSpPr>
            <a:stCxn id="78" idx="2"/>
            <a:endCxn id="79" idx="0"/>
          </p:cNvCxnSpPr>
          <p:nvPr/>
        </p:nvCxnSpPr>
        <p:spPr>
          <a:xfrm rot="5400000">
            <a:off x="5919473" y="2763850"/>
            <a:ext cx="113923" cy="172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순서도: 처리 99"/>
          <p:cNvSpPr/>
          <p:nvPr/>
        </p:nvSpPr>
        <p:spPr>
          <a:xfrm>
            <a:off x="7505142" y="3011128"/>
            <a:ext cx="765994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4" name="직선 화살표 연결선 219"/>
          <p:cNvCxnSpPr>
            <a:stCxn id="75" idx="3"/>
            <a:endCxn id="100" idx="0"/>
          </p:cNvCxnSpPr>
          <p:nvPr/>
        </p:nvCxnSpPr>
        <p:spPr>
          <a:xfrm>
            <a:off x="6822436" y="2348468"/>
            <a:ext cx="1065703" cy="662660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219"/>
          <p:cNvCxnSpPr>
            <a:stCxn id="78" idx="3"/>
            <a:endCxn id="100" idx="0"/>
          </p:cNvCxnSpPr>
          <p:nvPr/>
        </p:nvCxnSpPr>
        <p:spPr>
          <a:xfrm>
            <a:off x="6822436" y="2628084"/>
            <a:ext cx="1065703" cy="383044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219"/>
          <p:cNvCxnSpPr>
            <a:stCxn id="79" idx="3"/>
            <a:endCxn id="100" idx="0"/>
          </p:cNvCxnSpPr>
          <p:nvPr/>
        </p:nvCxnSpPr>
        <p:spPr>
          <a:xfrm>
            <a:off x="6822436" y="2899749"/>
            <a:ext cx="1065703" cy="111379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219"/>
          <p:cNvCxnSpPr>
            <a:endCxn id="75" idx="1"/>
          </p:cNvCxnSpPr>
          <p:nvPr/>
        </p:nvCxnSpPr>
        <p:spPr>
          <a:xfrm flipV="1">
            <a:off x="4442852" y="2348468"/>
            <a:ext cx="687580" cy="355654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219"/>
          <p:cNvCxnSpPr>
            <a:endCxn id="78" idx="1"/>
          </p:cNvCxnSpPr>
          <p:nvPr/>
        </p:nvCxnSpPr>
        <p:spPr>
          <a:xfrm flipV="1">
            <a:off x="4442852" y="2628084"/>
            <a:ext cx="687580" cy="76038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219"/>
          <p:cNvCxnSpPr>
            <a:endCxn id="79" idx="1"/>
          </p:cNvCxnSpPr>
          <p:nvPr/>
        </p:nvCxnSpPr>
        <p:spPr>
          <a:xfrm>
            <a:off x="4442852" y="2704123"/>
            <a:ext cx="687580" cy="195627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219"/>
          <p:cNvCxnSpPr>
            <a:stCxn id="101" idx="3"/>
            <a:endCxn id="102" idx="1"/>
          </p:cNvCxnSpPr>
          <p:nvPr/>
        </p:nvCxnSpPr>
        <p:spPr>
          <a:xfrm>
            <a:off x="6849359" y="4825280"/>
            <a:ext cx="637131" cy="606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83"/>
          <p:cNvSpPr txBox="1">
            <a:spLocks noChangeArrowheads="1"/>
          </p:cNvSpPr>
          <p:nvPr/>
        </p:nvSpPr>
        <p:spPr bwMode="auto">
          <a:xfrm>
            <a:off x="6646071" y="4637205"/>
            <a:ext cx="100694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UOM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1" name="TextBox 183"/>
          <p:cNvSpPr txBox="1">
            <a:spLocks noChangeArrowheads="1"/>
          </p:cNvSpPr>
          <p:nvPr/>
        </p:nvSpPr>
        <p:spPr bwMode="auto">
          <a:xfrm>
            <a:off x="5605436" y="4948625"/>
            <a:ext cx="100694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TextBox 183"/>
          <p:cNvSpPr txBox="1">
            <a:spLocks noChangeArrowheads="1"/>
          </p:cNvSpPr>
          <p:nvPr/>
        </p:nvSpPr>
        <p:spPr bwMode="auto">
          <a:xfrm>
            <a:off x="5561972" y="2371078"/>
            <a:ext cx="4856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" name="TextBox 183"/>
          <p:cNvSpPr txBox="1">
            <a:spLocks noChangeArrowheads="1"/>
          </p:cNvSpPr>
          <p:nvPr/>
        </p:nvSpPr>
        <p:spPr bwMode="auto">
          <a:xfrm>
            <a:off x="5563414" y="2642743"/>
            <a:ext cx="4856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6" name="TextBox 183"/>
          <p:cNvSpPr txBox="1">
            <a:spLocks noChangeArrowheads="1"/>
          </p:cNvSpPr>
          <p:nvPr/>
        </p:nvSpPr>
        <p:spPr bwMode="auto">
          <a:xfrm>
            <a:off x="6704934" y="2701062"/>
            <a:ext cx="4856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TextBox 183"/>
          <p:cNvSpPr txBox="1">
            <a:spLocks noChangeArrowheads="1"/>
          </p:cNvSpPr>
          <p:nvPr/>
        </p:nvSpPr>
        <p:spPr bwMode="auto">
          <a:xfrm>
            <a:off x="6706375" y="2424108"/>
            <a:ext cx="4856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8" name="TextBox 183"/>
          <p:cNvSpPr txBox="1">
            <a:spLocks noChangeArrowheads="1"/>
          </p:cNvSpPr>
          <p:nvPr/>
        </p:nvSpPr>
        <p:spPr bwMode="auto">
          <a:xfrm>
            <a:off x="6716429" y="2110047"/>
            <a:ext cx="4856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(PK_WMSOP000. SP_SAVE_DSP)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74739"/>
            <a:ext cx="1893999" cy="3801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사전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 설정에 따라 이하 처리 및 값 확인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미존재시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에러처리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제조일자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입하승인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유효기간확인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</a:t>
            </a: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948374" y="113028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159" idx="0"/>
          </p:cNvCxnSpPr>
          <p:nvPr/>
        </p:nvCxnSpPr>
        <p:spPr>
          <a:xfrm rot="16200000" flipH="1">
            <a:off x="4299164" y="1625232"/>
            <a:ext cx="294018" cy="515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322" idx="2"/>
            <a:endCxn id="342" idx="0"/>
          </p:cNvCxnSpPr>
          <p:nvPr/>
        </p:nvCxnSpPr>
        <p:spPr>
          <a:xfrm rot="5400000">
            <a:off x="4243079" y="5667907"/>
            <a:ext cx="419100" cy="17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순서도: 수행의 시작/종료 341"/>
          <p:cNvSpPr/>
          <p:nvPr/>
        </p:nvSpPr>
        <p:spPr>
          <a:xfrm>
            <a:off x="3957322" y="587754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설명선 2(강조선) 71"/>
          <p:cNvSpPr/>
          <p:nvPr/>
        </p:nvSpPr>
        <p:spPr>
          <a:xfrm>
            <a:off x="6608988" y="1220812"/>
            <a:ext cx="2866090" cy="4948555"/>
          </a:xfrm>
          <a:prstGeom prst="accentCallout2">
            <a:avLst>
              <a:gd name="adj1" fmla="val 25063"/>
              <a:gd name="adj2" fmla="val -3462"/>
              <a:gd name="adj3" fmla="val 19379"/>
              <a:gd name="adj4" fmla="val -17825"/>
              <a:gd name="adj5" fmla="val 14463"/>
              <a:gd name="adj6" fmla="val -61471"/>
            </a:avLst>
          </a:prstGeom>
          <a:solidFill>
            <a:srgbClr val="947CFC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608988" y="1183622"/>
            <a:ext cx="2847519" cy="49149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순서도: 처리 73"/>
          <p:cNvSpPr/>
          <p:nvPr/>
        </p:nvSpPr>
        <p:spPr>
          <a:xfrm>
            <a:off x="6732793" y="1275062"/>
            <a:ext cx="2690699" cy="47244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순서도: 처리 74"/>
          <p:cNvSpPr/>
          <p:nvPr/>
        </p:nvSpPr>
        <p:spPr>
          <a:xfrm>
            <a:off x="6732793" y="1275062"/>
            <a:ext cx="2690699" cy="1905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배차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배차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순서도: 처리 95"/>
          <p:cNvSpPr/>
          <p:nvPr/>
        </p:nvSpPr>
        <p:spPr>
          <a:xfrm>
            <a:off x="7100215" y="3170888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9" name="AutoShape 41"/>
          <p:cNvCxnSpPr>
            <a:cxnSpLocks noChangeShapeType="1"/>
            <a:stCxn id="96" idx="3"/>
          </p:cNvCxnSpPr>
          <p:nvPr/>
        </p:nvCxnSpPr>
        <p:spPr bwMode="auto">
          <a:xfrm flipV="1">
            <a:off x="8016107" y="3265053"/>
            <a:ext cx="251870" cy="200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" name="그룹 256"/>
          <p:cNvGrpSpPr/>
          <p:nvPr/>
        </p:nvGrpSpPr>
        <p:grpSpPr>
          <a:xfrm>
            <a:off x="8276231" y="3125775"/>
            <a:ext cx="1048217" cy="267652"/>
            <a:chOff x="7734300" y="4753933"/>
            <a:chExt cx="967740" cy="267652"/>
          </a:xfrm>
        </p:grpSpPr>
        <p:grpSp>
          <p:nvGrpSpPr>
            <p:cNvPr id="3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105" name="직선 연결선 104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차량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2" name="순서도: 판단 121"/>
          <p:cNvSpPr/>
          <p:nvPr/>
        </p:nvSpPr>
        <p:spPr>
          <a:xfrm>
            <a:off x="6856598" y="2077344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latin typeface="맑은 고딕" pitchFamily="50" charset="-127"/>
                <a:ea typeface="맑은 고딕" pitchFamily="50" charset="-127"/>
              </a:rPr>
              <a:t>차량지정확인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7" name="직선 화살표 연결선 136"/>
          <p:cNvCxnSpPr>
            <a:stCxn id="102" idx="2"/>
            <a:endCxn id="122" idx="0"/>
          </p:cNvCxnSpPr>
          <p:nvPr/>
        </p:nvCxnSpPr>
        <p:spPr>
          <a:xfrm rot="5400000">
            <a:off x="7475974" y="1995090"/>
            <a:ext cx="164374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122" idx="2"/>
            <a:endCxn id="204" idx="0"/>
          </p:cNvCxnSpPr>
          <p:nvPr/>
        </p:nvCxnSpPr>
        <p:spPr>
          <a:xfrm rot="5400000">
            <a:off x="7475774" y="2529601"/>
            <a:ext cx="16477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/>
          <p:cNvCxnSpPr>
            <a:stCxn id="204" idx="2"/>
            <a:endCxn id="96" idx="0"/>
          </p:cNvCxnSpPr>
          <p:nvPr/>
        </p:nvCxnSpPr>
        <p:spPr>
          <a:xfrm rot="5400000">
            <a:off x="7463714" y="3076373"/>
            <a:ext cx="18889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/>
          <p:cNvCxnSpPr>
            <a:stCxn id="96" idx="2"/>
            <a:endCxn id="249" idx="0"/>
          </p:cNvCxnSpPr>
          <p:nvPr/>
        </p:nvCxnSpPr>
        <p:spPr>
          <a:xfrm rot="5400000">
            <a:off x="7392729" y="3528596"/>
            <a:ext cx="33086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231" idx="2"/>
            <a:endCxn id="143" idx="0"/>
          </p:cNvCxnSpPr>
          <p:nvPr/>
        </p:nvCxnSpPr>
        <p:spPr>
          <a:xfrm rot="5400000">
            <a:off x="7360352" y="5226356"/>
            <a:ext cx="388633" cy="698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순서도: 처리 142"/>
          <p:cNvSpPr/>
          <p:nvPr/>
        </p:nvSpPr>
        <p:spPr>
          <a:xfrm>
            <a:off x="7093228" y="5424166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배차주문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5" name="AutoShape 41"/>
          <p:cNvCxnSpPr>
            <a:cxnSpLocks noChangeShapeType="1"/>
            <a:stCxn id="143" idx="3"/>
          </p:cNvCxnSpPr>
          <p:nvPr/>
        </p:nvCxnSpPr>
        <p:spPr bwMode="auto">
          <a:xfrm flipV="1">
            <a:off x="8009120" y="5589153"/>
            <a:ext cx="235363" cy="392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4" name="그룹 239"/>
          <p:cNvGrpSpPr/>
          <p:nvPr/>
        </p:nvGrpSpPr>
        <p:grpSpPr>
          <a:xfrm>
            <a:off x="8259723" y="5449876"/>
            <a:ext cx="1213292" cy="305752"/>
            <a:chOff x="7726680" y="5165413"/>
            <a:chExt cx="967740" cy="305752"/>
          </a:xfrm>
        </p:grpSpPr>
        <p:sp>
          <p:nvSpPr>
            <p:cNvPr id="151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배차회전별상품목록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5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53" name="직선 연결선 152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9" name="순서도: 처리 158"/>
          <p:cNvSpPr/>
          <p:nvPr/>
        </p:nvSpPr>
        <p:spPr>
          <a:xfrm>
            <a:off x="3990807" y="1774821"/>
            <a:ext cx="915892" cy="34289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배차입력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순서도: 판단 203"/>
          <p:cNvSpPr/>
          <p:nvPr/>
        </p:nvSpPr>
        <p:spPr>
          <a:xfrm>
            <a:off x="6856598" y="2612056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여부확인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9" name="직선 화살표 연결선 219"/>
          <p:cNvCxnSpPr>
            <a:stCxn id="122" idx="3"/>
          </p:cNvCxnSpPr>
          <p:nvPr/>
        </p:nvCxnSpPr>
        <p:spPr>
          <a:xfrm flipH="1">
            <a:off x="7561772" y="2262313"/>
            <a:ext cx="697951" cy="1273033"/>
          </a:xfrm>
          <a:prstGeom prst="bentConnector4">
            <a:avLst>
              <a:gd name="adj1" fmla="val -153733"/>
              <a:gd name="adj2" fmla="val 99913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/>
          <p:cNvCxnSpPr>
            <a:stCxn id="204" idx="3"/>
          </p:cNvCxnSpPr>
          <p:nvPr/>
        </p:nvCxnSpPr>
        <p:spPr>
          <a:xfrm flipH="1">
            <a:off x="7559194" y="2797025"/>
            <a:ext cx="700530" cy="731177"/>
          </a:xfrm>
          <a:prstGeom prst="bentConnector4">
            <a:avLst>
              <a:gd name="adj1" fmla="val -153166"/>
              <a:gd name="adj2" fmla="val 100102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순서도: 처리 230"/>
          <p:cNvSpPr/>
          <p:nvPr/>
        </p:nvSpPr>
        <p:spPr>
          <a:xfrm>
            <a:off x="7100215" y="4787640"/>
            <a:ext cx="915892" cy="24789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6" name="AutoShape 41"/>
          <p:cNvCxnSpPr>
            <a:cxnSpLocks noChangeShapeType="1"/>
            <a:stCxn id="231" idx="3"/>
          </p:cNvCxnSpPr>
          <p:nvPr/>
        </p:nvCxnSpPr>
        <p:spPr bwMode="auto">
          <a:xfrm flipV="1">
            <a:off x="8016107" y="4908532"/>
            <a:ext cx="280758" cy="305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6" name="그룹 256"/>
          <p:cNvGrpSpPr/>
          <p:nvPr/>
        </p:nvGrpSpPr>
        <p:grpSpPr>
          <a:xfrm>
            <a:off x="8276231" y="4767927"/>
            <a:ext cx="1048217" cy="267652"/>
            <a:chOff x="7734300" y="4753933"/>
            <a:chExt cx="967740" cy="267652"/>
          </a:xfrm>
        </p:grpSpPr>
        <p:grpSp>
          <p:nvGrpSpPr>
            <p:cNvPr id="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46" name="직선 연결선 245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5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차량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49" name="순서도: 판단 248"/>
          <p:cNvSpPr/>
          <p:nvPr/>
        </p:nvSpPr>
        <p:spPr>
          <a:xfrm>
            <a:off x="6856598" y="3694096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배차지정확인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1" name="직선 화살표 연결선 250"/>
          <p:cNvCxnSpPr>
            <a:stCxn id="249" idx="2"/>
            <a:endCxn id="253" idx="0"/>
          </p:cNvCxnSpPr>
          <p:nvPr/>
        </p:nvCxnSpPr>
        <p:spPr>
          <a:xfrm rot="5400000">
            <a:off x="7475774" y="4146353"/>
            <a:ext cx="16477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화살표 연결선 251"/>
          <p:cNvCxnSpPr>
            <a:stCxn id="253" idx="2"/>
            <a:endCxn id="231" idx="0"/>
          </p:cNvCxnSpPr>
          <p:nvPr/>
        </p:nvCxnSpPr>
        <p:spPr>
          <a:xfrm rot="5400000">
            <a:off x="7463714" y="4693125"/>
            <a:ext cx="18889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순서도: 판단 252"/>
          <p:cNvSpPr/>
          <p:nvPr/>
        </p:nvSpPr>
        <p:spPr>
          <a:xfrm>
            <a:off x="6856598" y="4228808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여부확인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4" name="직선 화살표 연결선 219"/>
          <p:cNvCxnSpPr>
            <a:stCxn id="249" idx="3"/>
          </p:cNvCxnSpPr>
          <p:nvPr/>
        </p:nvCxnSpPr>
        <p:spPr>
          <a:xfrm flipH="1">
            <a:off x="7569510" y="3879064"/>
            <a:ext cx="690213" cy="1399356"/>
          </a:xfrm>
          <a:prstGeom prst="bentConnector4">
            <a:avLst>
              <a:gd name="adj1" fmla="val -155829"/>
              <a:gd name="adj2" fmla="val 100002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화살표 연결선 219"/>
          <p:cNvCxnSpPr>
            <a:stCxn id="253" idx="3"/>
          </p:cNvCxnSpPr>
          <p:nvPr/>
        </p:nvCxnSpPr>
        <p:spPr>
          <a:xfrm flipH="1">
            <a:off x="7572090" y="4413777"/>
            <a:ext cx="687634" cy="867025"/>
          </a:xfrm>
          <a:prstGeom prst="bentConnector4">
            <a:avLst>
              <a:gd name="adj1" fmla="val -155588"/>
              <a:gd name="adj2" fmla="val 99941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순서도: 처리 281"/>
          <p:cNvSpPr/>
          <p:nvPr/>
        </p:nvSpPr>
        <p:spPr>
          <a:xfrm>
            <a:off x="2709125" y="2367038"/>
            <a:ext cx="3487179" cy="1179441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3" name="순서도: 처리 282"/>
          <p:cNvSpPr/>
          <p:nvPr/>
        </p:nvSpPr>
        <p:spPr>
          <a:xfrm>
            <a:off x="2709125" y="2365378"/>
            <a:ext cx="3487179" cy="168426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6" name="직선 화살표 연결선 285"/>
          <p:cNvCxnSpPr>
            <a:stCxn id="159" idx="2"/>
            <a:endCxn id="283" idx="0"/>
          </p:cNvCxnSpPr>
          <p:nvPr/>
        </p:nvCxnSpPr>
        <p:spPr>
          <a:xfrm rot="16200000" flipH="1">
            <a:off x="4326905" y="2239568"/>
            <a:ext cx="247659" cy="396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/>
          <p:cNvCxnSpPr>
            <a:stCxn id="293" idx="2"/>
            <a:endCxn id="292" idx="0"/>
          </p:cNvCxnSpPr>
          <p:nvPr/>
        </p:nvCxnSpPr>
        <p:spPr>
          <a:xfrm rot="16200000" flipH="1">
            <a:off x="4425048" y="3013379"/>
            <a:ext cx="154379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순서도: 처리 291"/>
          <p:cNvSpPr/>
          <p:nvPr/>
        </p:nvSpPr>
        <p:spPr>
          <a:xfrm>
            <a:off x="4044978" y="3091257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여부저장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3" name="순서도: 처리 292"/>
          <p:cNvSpPr/>
          <p:nvPr/>
        </p:nvSpPr>
        <p:spPr>
          <a:xfrm>
            <a:off x="4043603" y="2625486"/>
            <a:ext cx="915892" cy="31139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변경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39"/>
          <p:cNvGrpSpPr/>
          <p:nvPr/>
        </p:nvGrpSpPr>
        <p:grpSpPr>
          <a:xfrm>
            <a:off x="2651349" y="2620972"/>
            <a:ext cx="1213292" cy="305752"/>
            <a:chOff x="7726680" y="5165413"/>
            <a:chExt cx="967740" cy="305752"/>
          </a:xfrm>
        </p:grpSpPr>
        <p:sp>
          <p:nvSpPr>
            <p:cNvPr id="298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배차회전별상품목록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0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300" name="직선 연결선 299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직선 연결선 300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02" name="AutoShape 41"/>
          <p:cNvCxnSpPr>
            <a:cxnSpLocks noChangeShapeType="1"/>
            <a:endCxn id="293" idx="1"/>
          </p:cNvCxnSpPr>
          <p:nvPr/>
        </p:nvCxnSpPr>
        <p:spPr bwMode="auto">
          <a:xfrm>
            <a:off x="3730888" y="2781182"/>
            <a:ext cx="312715" cy="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6" name="AutoShape 41"/>
          <p:cNvCxnSpPr>
            <a:cxnSpLocks noChangeShapeType="1"/>
            <a:stCxn id="293" idx="3"/>
            <a:endCxn id="309" idx="1"/>
          </p:cNvCxnSpPr>
          <p:nvPr/>
        </p:nvCxnSpPr>
        <p:spPr bwMode="auto">
          <a:xfrm>
            <a:off x="4959495" y="2781183"/>
            <a:ext cx="253246" cy="69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" name="그룹 256"/>
          <p:cNvGrpSpPr/>
          <p:nvPr/>
        </p:nvGrpSpPr>
        <p:grpSpPr>
          <a:xfrm>
            <a:off x="5212741" y="2642603"/>
            <a:ext cx="1048217" cy="267652"/>
            <a:chOff x="7734300" y="4753933"/>
            <a:chExt cx="967740" cy="267652"/>
          </a:xfrm>
        </p:grpSpPr>
        <p:grpSp>
          <p:nvGrpSpPr>
            <p:cNvPr id="13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10" name="직선 연결선 309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직선 연결선 310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14" name="AutoShape 41"/>
          <p:cNvCxnSpPr>
            <a:cxnSpLocks noChangeShapeType="1"/>
            <a:stCxn id="292" idx="3"/>
          </p:cNvCxnSpPr>
          <p:nvPr/>
        </p:nvCxnSpPr>
        <p:spPr bwMode="auto">
          <a:xfrm flipV="1">
            <a:off x="4960871" y="3259401"/>
            <a:ext cx="251870" cy="76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" name="그룹 256"/>
          <p:cNvGrpSpPr/>
          <p:nvPr/>
        </p:nvGrpSpPr>
        <p:grpSpPr>
          <a:xfrm>
            <a:off x="5212741" y="3120123"/>
            <a:ext cx="1048217" cy="267652"/>
            <a:chOff x="7734300" y="4753933"/>
            <a:chExt cx="967740" cy="267652"/>
          </a:xfrm>
        </p:grpSpPr>
        <p:grpSp>
          <p:nvGrpSpPr>
            <p:cNvPr id="15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18" name="직선 연결선 317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직선 연결선 31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7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22" name="순서도: 처리 321"/>
          <p:cNvSpPr/>
          <p:nvPr/>
        </p:nvSpPr>
        <p:spPr>
          <a:xfrm>
            <a:off x="2709125" y="3947142"/>
            <a:ext cx="3487179" cy="15113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3" name="순서도: 처리 322"/>
          <p:cNvSpPr/>
          <p:nvPr/>
        </p:nvSpPr>
        <p:spPr>
          <a:xfrm>
            <a:off x="2709125" y="3943967"/>
            <a:ext cx="3487179" cy="168426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5" name="순서도: 처리 324"/>
          <p:cNvSpPr/>
          <p:nvPr/>
        </p:nvSpPr>
        <p:spPr>
          <a:xfrm>
            <a:off x="3996832" y="4307261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배차수량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4" name="AutoShape 41"/>
          <p:cNvCxnSpPr>
            <a:cxnSpLocks noChangeShapeType="1"/>
            <a:stCxn id="325" idx="3"/>
          </p:cNvCxnSpPr>
          <p:nvPr/>
        </p:nvCxnSpPr>
        <p:spPr bwMode="auto">
          <a:xfrm flipV="1">
            <a:off x="4912725" y="4475405"/>
            <a:ext cx="251870" cy="76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6" name="그룹 256"/>
          <p:cNvGrpSpPr/>
          <p:nvPr/>
        </p:nvGrpSpPr>
        <p:grpSpPr>
          <a:xfrm>
            <a:off x="5164594" y="4352637"/>
            <a:ext cx="1048217" cy="267652"/>
            <a:chOff x="7734300" y="4753933"/>
            <a:chExt cx="967740" cy="267652"/>
          </a:xfrm>
        </p:grpSpPr>
        <p:grpSp>
          <p:nvGrpSpPr>
            <p:cNvPr id="1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48" name="직선 연결선 347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50" name="직선 화살표 연결선 349"/>
          <p:cNvCxnSpPr>
            <a:stCxn id="282" idx="2"/>
            <a:endCxn id="323" idx="0"/>
          </p:cNvCxnSpPr>
          <p:nvPr/>
        </p:nvCxnSpPr>
        <p:spPr>
          <a:xfrm rot="5400000">
            <a:off x="4253971" y="3745156"/>
            <a:ext cx="397489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AutoShape 41"/>
          <p:cNvCxnSpPr>
            <a:cxnSpLocks noChangeShapeType="1"/>
            <a:stCxn id="357" idx="3"/>
            <a:endCxn id="354" idx="1"/>
          </p:cNvCxnSpPr>
          <p:nvPr/>
        </p:nvCxnSpPr>
        <p:spPr bwMode="auto">
          <a:xfrm flipV="1">
            <a:off x="3515235" y="5012674"/>
            <a:ext cx="480221" cy="291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4" name="순서도: 처리 353"/>
          <p:cNvSpPr/>
          <p:nvPr/>
        </p:nvSpPr>
        <p:spPr>
          <a:xfrm>
            <a:off x="3995456" y="483741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5" name="AutoShape 41"/>
          <p:cNvCxnSpPr>
            <a:cxnSpLocks noChangeShapeType="1"/>
            <a:stCxn id="354" idx="3"/>
            <a:endCxn id="361" idx="1"/>
          </p:cNvCxnSpPr>
          <p:nvPr/>
        </p:nvCxnSpPr>
        <p:spPr bwMode="auto">
          <a:xfrm>
            <a:off x="4911348" y="5012674"/>
            <a:ext cx="239491" cy="37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8" name="그룹 223"/>
          <p:cNvGrpSpPr>
            <a:grpSpLocks/>
          </p:cNvGrpSpPr>
          <p:nvPr/>
        </p:nvGrpSpPr>
        <p:grpSpPr bwMode="auto">
          <a:xfrm>
            <a:off x="2846691" y="4876308"/>
            <a:ext cx="668544" cy="305751"/>
            <a:chOff x="6900488" y="2500306"/>
            <a:chExt cx="647703" cy="287340"/>
          </a:xfrm>
        </p:grpSpPr>
        <p:sp>
          <p:nvSpPr>
            <p:cNvPr id="35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58" name="직선 연결선 35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1" name="TextBox 183"/>
          <p:cNvSpPr txBox="1">
            <a:spLocks noChangeArrowheads="1"/>
          </p:cNvSpPr>
          <p:nvPr/>
        </p:nvSpPr>
        <p:spPr bwMode="auto">
          <a:xfrm>
            <a:off x="5150840" y="4905328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9" name="그룹 375"/>
          <p:cNvGrpSpPr/>
          <p:nvPr/>
        </p:nvGrpSpPr>
        <p:grpSpPr>
          <a:xfrm>
            <a:off x="5212691" y="4867420"/>
            <a:ext cx="887320" cy="305752"/>
            <a:chOff x="4889454" y="4892838"/>
            <a:chExt cx="819196" cy="305752"/>
          </a:xfrm>
        </p:grpSpPr>
        <p:cxnSp>
          <p:nvCxnSpPr>
            <p:cNvPr id="362" name="직선 연결선 361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4" name="직선 화살표 연결선 363"/>
          <p:cNvCxnSpPr>
            <a:stCxn id="325" idx="2"/>
            <a:endCxn id="354" idx="0"/>
          </p:cNvCxnSpPr>
          <p:nvPr/>
        </p:nvCxnSpPr>
        <p:spPr>
          <a:xfrm rot="5400000">
            <a:off x="4357924" y="4740559"/>
            <a:ext cx="192332" cy="1376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6204557" y="1564623"/>
            <a:ext cx="1031710" cy="584775"/>
          </a:xfrm>
          <a:prstGeom prst="rect">
            <a:avLst/>
          </a:prstGeom>
          <a:solidFill>
            <a:srgbClr val="C5D9F1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입하승인 확인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 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제조일자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순서도: 판단 101"/>
          <p:cNvSpPr/>
          <p:nvPr/>
        </p:nvSpPr>
        <p:spPr>
          <a:xfrm>
            <a:off x="7042306" y="154303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순서도: 처리 108"/>
          <p:cNvSpPr/>
          <p:nvPr/>
        </p:nvSpPr>
        <p:spPr>
          <a:xfrm>
            <a:off x="8409887" y="1615014"/>
            <a:ext cx="915892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0" name="직선 화살표 연결선 109"/>
          <p:cNvCxnSpPr>
            <a:stCxn id="102" idx="3"/>
            <a:endCxn id="109" idx="1"/>
          </p:cNvCxnSpPr>
          <p:nvPr/>
        </p:nvCxnSpPr>
        <p:spPr>
          <a:xfrm>
            <a:off x="8074016" y="1728002"/>
            <a:ext cx="335872" cy="15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83"/>
          <p:cNvSpPr txBox="1">
            <a:spLocks noChangeArrowheads="1"/>
          </p:cNvSpPr>
          <p:nvPr/>
        </p:nvSpPr>
        <p:spPr bwMode="auto">
          <a:xfrm>
            <a:off x="8170519" y="2070292"/>
            <a:ext cx="6680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지정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83"/>
          <p:cNvSpPr txBox="1">
            <a:spLocks noChangeArrowheads="1"/>
          </p:cNvSpPr>
          <p:nvPr/>
        </p:nvSpPr>
        <p:spPr bwMode="auto">
          <a:xfrm>
            <a:off x="8171961" y="2572536"/>
            <a:ext cx="6680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응록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83"/>
          <p:cNvSpPr txBox="1">
            <a:spLocks noChangeArrowheads="1"/>
          </p:cNvSpPr>
          <p:nvPr/>
        </p:nvSpPr>
        <p:spPr bwMode="auto">
          <a:xfrm>
            <a:off x="8207851" y="3694958"/>
            <a:ext cx="6680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지정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TextBox 183"/>
          <p:cNvSpPr txBox="1">
            <a:spLocks noChangeArrowheads="1"/>
          </p:cNvSpPr>
          <p:nvPr/>
        </p:nvSpPr>
        <p:spPr bwMode="auto">
          <a:xfrm>
            <a:off x="8226518" y="4221055"/>
            <a:ext cx="6680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등록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7" name="TextBox 183"/>
          <p:cNvSpPr txBox="1">
            <a:spLocks noChangeArrowheads="1"/>
          </p:cNvSpPr>
          <p:nvPr/>
        </p:nvSpPr>
        <p:spPr bwMode="auto">
          <a:xfrm>
            <a:off x="7072977" y="4548377"/>
            <a:ext cx="8756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미등록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8" name="TextBox 183"/>
          <p:cNvSpPr txBox="1">
            <a:spLocks noChangeArrowheads="1"/>
          </p:cNvSpPr>
          <p:nvPr/>
        </p:nvSpPr>
        <p:spPr bwMode="auto">
          <a:xfrm>
            <a:off x="7065806" y="4016991"/>
            <a:ext cx="8756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미지정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TextBox 183"/>
          <p:cNvSpPr txBox="1">
            <a:spLocks noChangeArrowheads="1"/>
          </p:cNvSpPr>
          <p:nvPr/>
        </p:nvSpPr>
        <p:spPr bwMode="auto">
          <a:xfrm>
            <a:off x="7075860" y="2913133"/>
            <a:ext cx="8756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미등록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TextBox 183"/>
          <p:cNvSpPr txBox="1">
            <a:spLocks noChangeArrowheads="1"/>
          </p:cNvSpPr>
          <p:nvPr/>
        </p:nvSpPr>
        <p:spPr bwMode="auto">
          <a:xfrm>
            <a:off x="7068690" y="2389698"/>
            <a:ext cx="8756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미지정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994837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994837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err="1" smtClean="0">
                <a:latin typeface="맑은 고딕" pitchFamily="50" charset="-127"/>
                <a:ea typeface="맑은 고딕" pitchFamily="50" charset="-127"/>
              </a:rPr>
              <a:t>입차승인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(PK_WMSOP000.SP_CONFIRM_CAR_IN)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69467"/>
            <a:ext cx="1893999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err="1" smtClean="0">
                <a:latin typeface="맑은 고딕" pitchFamily="50" charset="-127"/>
                <a:ea typeface="맑은 고딕" pitchFamily="50" charset="-127"/>
              </a:rPr>
              <a:t>입차정보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저장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배차정보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입차확인정보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</a:p>
          <a:p>
            <a:pPr eaLnBrk="1" hangingPunct="1"/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5417528" y="1185971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323" idx="0"/>
          </p:cNvCxnSpPr>
          <p:nvPr/>
        </p:nvCxnSpPr>
        <p:spPr>
          <a:xfrm rot="16200000" flipH="1">
            <a:off x="5549565" y="1899674"/>
            <a:ext cx="733425" cy="705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322" idx="2"/>
            <a:endCxn id="342" idx="0"/>
          </p:cNvCxnSpPr>
          <p:nvPr/>
        </p:nvCxnSpPr>
        <p:spPr>
          <a:xfrm rot="5400000">
            <a:off x="5588964" y="4665130"/>
            <a:ext cx="655320" cy="636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순서도: 수행의 시작/종료 341"/>
          <p:cNvSpPr/>
          <p:nvPr/>
        </p:nvSpPr>
        <p:spPr>
          <a:xfrm>
            <a:off x="5418223" y="4995971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2" name="순서도: 처리 321"/>
          <p:cNvSpPr/>
          <p:nvPr/>
        </p:nvSpPr>
        <p:spPr>
          <a:xfrm>
            <a:off x="3777976" y="2273091"/>
            <a:ext cx="4283659" cy="206756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3" name="순서도: 처리 322"/>
          <p:cNvSpPr/>
          <p:nvPr/>
        </p:nvSpPr>
        <p:spPr>
          <a:xfrm>
            <a:off x="3777976" y="2269916"/>
            <a:ext cx="4283659" cy="168426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5" name="순서도: 처리 324"/>
          <p:cNvSpPr/>
          <p:nvPr/>
        </p:nvSpPr>
        <p:spPr>
          <a:xfrm>
            <a:off x="5465987" y="2747510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56"/>
          <p:cNvGrpSpPr/>
          <p:nvPr/>
        </p:nvGrpSpPr>
        <p:grpSpPr>
          <a:xfrm>
            <a:off x="6980403" y="2991006"/>
            <a:ext cx="1048217" cy="267652"/>
            <a:chOff x="7734300" y="4753933"/>
            <a:chExt cx="967740" cy="267652"/>
          </a:xfrm>
        </p:grpSpPr>
        <p:grpSp>
          <p:nvGrpSpPr>
            <p:cNvPr id="3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48" name="직선 연결선 347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53" name="AutoShape 41"/>
          <p:cNvCxnSpPr>
            <a:cxnSpLocks noChangeShapeType="1"/>
            <a:endCxn id="354" idx="1"/>
          </p:cNvCxnSpPr>
          <p:nvPr/>
        </p:nvCxnSpPr>
        <p:spPr bwMode="auto">
          <a:xfrm>
            <a:off x="4984390" y="3730160"/>
            <a:ext cx="480222" cy="470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4" name="순서도: 처리 353"/>
          <p:cNvSpPr/>
          <p:nvPr/>
        </p:nvSpPr>
        <p:spPr>
          <a:xfrm>
            <a:off x="5464611" y="3559603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5" name="AutoShape 41"/>
          <p:cNvCxnSpPr>
            <a:cxnSpLocks noChangeShapeType="1"/>
            <a:stCxn id="354" idx="3"/>
            <a:endCxn id="361" idx="1"/>
          </p:cNvCxnSpPr>
          <p:nvPr/>
        </p:nvCxnSpPr>
        <p:spPr bwMode="auto">
          <a:xfrm>
            <a:off x="6380503" y="3734863"/>
            <a:ext cx="586145" cy="37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4315845" y="3590877"/>
            <a:ext cx="668544" cy="305751"/>
            <a:chOff x="6900488" y="2500306"/>
            <a:chExt cx="647703" cy="287340"/>
          </a:xfrm>
        </p:grpSpPr>
        <p:sp>
          <p:nvSpPr>
            <p:cNvPr id="35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58" name="직선 연결선 35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1" name="TextBox 183"/>
          <p:cNvSpPr txBox="1">
            <a:spLocks noChangeArrowheads="1"/>
          </p:cNvSpPr>
          <p:nvPr/>
        </p:nvSpPr>
        <p:spPr bwMode="auto">
          <a:xfrm>
            <a:off x="6966649" y="3627517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375"/>
          <p:cNvGrpSpPr/>
          <p:nvPr/>
        </p:nvGrpSpPr>
        <p:grpSpPr>
          <a:xfrm>
            <a:off x="7028500" y="3589609"/>
            <a:ext cx="887320" cy="305752"/>
            <a:chOff x="4889454" y="4892838"/>
            <a:chExt cx="819196" cy="305752"/>
          </a:xfrm>
        </p:grpSpPr>
        <p:cxnSp>
          <p:nvCxnSpPr>
            <p:cNvPr id="362" name="직선 연결선 361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4" name="직선 화살표 연결선 363"/>
          <p:cNvCxnSpPr>
            <a:stCxn id="325" idx="2"/>
            <a:endCxn id="354" idx="0"/>
          </p:cNvCxnSpPr>
          <p:nvPr/>
        </p:nvCxnSpPr>
        <p:spPr>
          <a:xfrm rot="5400000">
            <a:off x="5686109" y="3321778"/>
            <a:ext cx="474272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256"/>
          <p:cNvGrpSpPr/>
          <p:nvPr/>
        </p:nvGrpSpPr>
        <p:grpSpPr>
          <a:xfrm>
            <a:off x="6988657" y="2648106"/>
            <a:ext cx="1048217" cy="267652"/>
            <a:chOff x="7734300" y="4753933"/>
            <a:chExt cx="967740" cy="267652"/>
          </a:xfrm>
        </p:grpSpPr>
        <p:grpSp>
          <p:nvGrpSpPr>
            <p:cNvPr id="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111" name="직선 연결선 110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배차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13" name="직선 화살표 연결선 219"/>
          <p:cNvCxnSpPr>
            <a:stCxn id="325" idx="3"/>
          </p:cNvCxnSpPr>
          <p:nvPr/>
        </p:nvCxnSpPr>
        <p:spPr>
          <a:xfrm flipV="1">
            <a:off x="6381879" y="2787384"/>
            <a:ext cx="606779" cy="129037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219"/>
          <p:cNvCxnSpPr>
            <a:stCxn id="325" idx="3"/>
          </p:cNvCxnSpPr>
          <p:nvPr/>
        </p:nvCxnSpPr>
        <p:spPr>
          <a:xfrm>
            <a:off x="6381879" y="2916421"/>
            <a:ext cx="598525" cy="213863"/>
          </a:xfrm>
          <a:prstGeom prst="bentConnector3">
            <a:avLst>
              <a:gd name="adj1" fmla="val 50804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DOCK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(PK_WMSOP000.SP_SET_DOCK)</a:t>
            </a: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74739"/>
            <a:ext cx="189399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차량정보 저장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도크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차량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5423564" y="1363968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DOCK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323" idx="0"/>
          </p:cNvCxnSpPr>
          <p:nvPr/>
        </p:nvCxnSpPr>
        <p:spPr>
          <a:xfrm rot="16200000" flipH="1">
            <a:off x="5638946" y="1994326"/>
            <a:ext cx="560699" cy="102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322" idx="2"/>
            <a:endCxn id="342" idx="0"/>
          </p:cNvCxnSpPr>
          <p:nvPr/>
        </p:nvCxnSpPr>
        <p:spPr>
          <a:xfrm rot="16200000" flipH="1">
            <a:off x="5629260" y="4636468"/>
            <a:ext cx="583276" cy="2184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순서도: 수행의 시작/종료 341"/>
          <p:cNvSpPr/>
          <p:nvPr/>
        </p:nvSpPr>
        <p:spPr>
          <a:xfrm>
            <a:off x="5426769" y="4929198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smtClean="0">
                <a:latin typeface="맑은 고딕" pitchFamily="50" charset="-127"/>
                <a:ea typeface="맑은 고딕" pitchFamily="50" charset="-127"/>
              </a:rPr>
              <a:t>DOCK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2" name="순서도: 처리 321"/>
          <p:cNvSpPr/>
          <p:nvPr/>
        </p:nvSpPr>
        <p:spPr>
          <a:xfrm>
            <a:off x="3777976" y="2278362"/>
            <a:ext cx="4283659" cy="206756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3" name="순서도: 처리 322"/>
          <p:cNvSpPr/>
          <p:nvPr/>
        </p:nvSpPr>
        <p:spPr>
          <a:xfrm>
            <a:off x="3777976" y="2275187"/>
            <a:ext cx="4283659" cy="168426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입력도크번호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.FIRST .. </a:t>
            </a:r>
            <a:r>
              <a:rPr lang="ko-KR" altLang="en-US" sz="9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입력도크번호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4" name="순서도: 처리 353"/>
          <p:cNvSpPr/>
          <p:nvPr/>
        </p:nvSpPr>
        <p:spPr>
          <a:xfrm>
            <a:off x="5464611" y="2974322"/>
            <a:ext cx="915892" cy="54864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5" name="AutoShape 41"/>
          <p:cNvCxnSpPr>
            <a:cxnSpLocks noChangeShapeType="1"/>
            <a:stCxn id="354" idx="3"/>
            <a:endCxn id="361" idx="1"/>
          </p:cNvCxnSpPr>
          <p:nvPr/>
        </p:nvCxnSpPr>
        <p:spPr bwMode="auto">
          <a:xfrm flipV="1">
            <a:off x="6380503" y="3245210"/>
            <a:ext cx="586145" cy="343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1" name="TextBox 183"/>
          <p:cNvSpPr txBox="1">
            <a:spLocks noChangeArrowheads="1"/>
          </p:cNvSpPr>
          <p:nvPr/>
        </p:nvSpPr>
        <p:spPr bwMode="auto">
          <a:xfrm>
            <a:off x="6966649" y="3137488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도크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375"/>
          <p:cNvGrpSpPr/>
          <p:nvPr/>
        </p:nvGrpSpPr>
        <p:grpSpPr>
          <a:xfrm>
            <a:off x="7028500" y="3099580"/>
            <a:ext cx="887320" cy="305752"/>
            <a:chOff x="4889454" y="4892838"/>
            <a:chExt cx="819196" cy="305752"/>
          </a:xfrm>
        </p:grpSpPr>
        <p:cxnSp>
          <p:nvCxnSpPr>
            <p:cNvPr id="362" name="직선 연결선 361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작업지시서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(PK_WMSOP020.SP_PRINT_GRN)</a:t>
            </a: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74739"/>
            <a:ext cx="1893999" cy="3801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사전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 설정에 따라 이하 처리 및 값 확인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미존재시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에러처리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제조일자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유효기간확인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주문승인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입차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작업지시서발행 저장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.GRN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리스트발행여부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5199095" y="119124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작업지시서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발행 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43" idx="0"/>
          </p:cNvCxnSpPr>
          <p:nvPr/>
        </p:nvCxnSpPr>
        <p:spPr>
          <a:xfrm rot="5400000">
            <a:off x="5381261" y="1854751"/>
            <a:ext cx="62611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endCxn id="342" idx="0"/>
          </p:cNvCxnSpPr>
          <p:nvPr/>
        </p:nvCxnSpPr>
        <p:spPr>
          <a:xfrm rot="5400000">
            <a:off x="5342688" y="4648021"/>
            <a:ext cx="704849" cy="159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순서도: 수행의 시작/종료 341"/>
          <p:cNvSpPr/>
          <p:nvPr/>
        </p:nvSpPr>
        <p:spPr>
          <a:xfrm>
            <a:off x="5199095" y="500124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작업지시서 발행 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4" name="순서도: 처리 353"/>
          <p:cNvSpPr/>
          <p:nvPr/>
        </p:nvSpPr>
        <p:spPr>
          <a:xfrm>
            <a:off x="5236370" y="2974322"/>
            <a:ext cx="915892" cy="54864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작업지시서 발행 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5" name="AutoShape 41"/>
          <p:cNvCxnSpPr>
            <a:cxnSpLocks noChangeShapeType="1"/>
            <a:stCxn id="354" idx="3"/>
            <a:endCxn id="361" idx="1"/>
          </p:cNvCxnSpPr>
          <p:nvPr/>
        </p:nvCxnSpPr>
        <p:spPr bwMode="auto">
          <a:xfrm flipV="1">
            <a:off x="6152262" y="3245210"/>
            <a:ext cx="872162" cy="343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1" name="TextBox 183"/>
          <p:cNvSpPr txBox="1">
            <a:spLocks noChangeArrowheads="1"/>
          </p:cNvSpPr>
          <p:nvPr/>
        </p:nvSpPr>
        <p:spPr bwMode="auto">
          <a:xfrm>
            <a:off x="7024424" y="3137488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375"/>
          <p:cNvGrpSpPr/>
          <p:nvPr/>
        </p:nvGrpSpPr>
        <p:grpSpPr>
          <a:xfrm>
            <a:off x="7086276" y="3099580"/>
            <a:ext cx="887320" cy="305752"/>
            <a:chOff x="4889454" y="4892838"/>
            <a:chExt cx="819196" cy="305752"/>
          </a:xfrm>
        </p:grpSpPr>
        <p:cxnSp>
          <p:nvCxnSpPr>
            <p:cNvPr id="362" name="직선 연결선 361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4023512" y="2052303"/>
            <a:ext cx="1072364" cy="830997"/>
          </a:xfrm>
          <a:prstGeom prst="rect">
            <a:avLst/>
          </a:prstGeom>
          <a:solidFill>
            <a:srgbClr val="C5D9F1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입차확인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배차확인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주문승인확인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 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제조일자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" name="AutoShape 41"/>
          <p:cNvCxnSpPr>
            <a:cxnSpLocks noChangeShapeType="1"/>
          </p:cNvCxnSpPr>
          <p:nvPr/>
        </p:nvCxnSpPr>
        <p:spPr bwMode="auto">
          <a:xfrm>
            <a:off x="5285608" y="4116431"/>
            <a:ext cx="817415" cy="4703"/>
          </a:xfrm>
          <a:prstGeom prst="straightConnector1">
            <a:avLst/>
          </a:prstGeom>
          <a:noFill/>
          <a:ln w="952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순서도: 처리 22"/>
          <p:cNvSpPr/>
          <p:nvPr/>
        </p:nvSpPr>
        <p:spPr>
          <a:xfrm>
            <a:off x="5236370" y="394587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AutoShape 41"/>
          <p:cNvCxnSpPr>
            <a:cxnSpLocks noChangeShapeType="1"/>
            <a:stCxn id="23" idx="3"/>
            <a:endCxn id="29" idx="1"/>
          </p:cNvCxnSpPr>
          <p:nvPr/>
        </p:nvCxnSpPr>
        <p:spPr bwMode="auto">
          <a:xfrm>
            <a:off x="6152262" y="4121134"/>
            <a:ext cx="872162" cy="37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3969191" y="3977148"/>
            <a:ext cx="668544" cy="305751"/>
            <a:chOff x="6900488" y="2500306"/>
            <a:chExt cx="647703" cy="287340"/>
          </a:xfrm>
        </p:grpSpPr>
        <p:sp>
          <p:nvSpPr>
            <p:cNvPr id="26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183"/>
          <p:cNvSpPr txBox="1">
            <a:spLocks noChangeArrowheads="1"/>
          </p:cNvSpPr>
          <p:nvPr/>
        </p:nvSpPr>
        <p:spPr bwMode="auto">
          <a:xfrm>
            <a:off x="7024424" y="4013788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" name="그룹 375"/>
          <p:cNvGrpSpPr/>
          <p:nvPr/>
        </p:nvGrpSpPr>
        <p:grpSpPr>
          <a:xfrm>
            <a:off x="7086276" y="3975880"/>
            <a:ext cx="887320" cy="305752"/>
            <a:chOff x="4889454" y="4892838"/>
            <a:chExt cx="819196" cy="305752"/>
          </a:xfrm>
        </p:grpSpPr>
        <p:cxnSp>
          <p:nvCxnSpPr>
            <p:cNvPr id="31" name="직선 연결선 30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화살표 연결선 33"/>
          <p:cNvCxnSpPr>
            <a:stCxn id="43" idx="2"/>
            <a:endCxn id="354" idx="0"/>
          </p:cNvCxnSpPr>
          <p:nvPr/>
        </p:nvCxnSpPr>
        <p:spPr>
          <a:xfrm rot="5400000">
            <a:off x="5476060" y="2755999"/>
            <a:ext cx="43651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5482861" y="3734351"/>
            <a:ext cx="42291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순서도: 판단 42"/>
          <p:cNvSpPr/>
          <p:nvPr/>
        </p:nvSpPr>
        <p:spPr>
          <a:xfrm>
            <a:off x="5178461" y="216787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순서도: 처리 43"/>
          <p:cNvSpPr/>
          <p:nvPr/>
        </p:nvSpPr>
        <p:spPr>
          <a:xfrm>
            <a:off x="6750898" y="2238337"/>
            <a:ext cx="915892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6210171" y="2352046"/>
            <a:ext cx="540727" cy="15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3"/>
          <p:cNvSpPr txBox="1">
            <a:spLocks noChangeArrowheads="1"/>
          </p:cNvSpPr>
          <p:nvPr/>
        </p:nvSpPr>
        <p:spPr bwMode="auto">
          <a:xfrm>
            <a:off x="6181100" y="2149802"/>
            <a:ext cx="6680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183"/>
          <p:cNvSpPr txBox="1">
            <a:spLocks noChangeArrowheads="1"/>
          </p:cNvSpPr>
          <p:nvPr/>
        </p:nvSpPr>
        <p:spPr bwMode="auto">
          <a:xfrm>
            <a:off x="5338546" y="2556634"/>
            <a:ext cx="6680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직선 화살표 연결선 37"/>
          <p:cNvCxnSpPr>
            <a:stCxn id="26" idx="3"/>
            <a:endCxn id="23" idx="1"/>
          </p:cNvCxnSpPr>
          <p:nvPr/>
        </p:nvCxnSpPr>
        <p:spPr>
          <a:xfrm>
            <a:off x="4637735" y="4116431"/>
            <a:ext cx="598635" cy="4703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입하확정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(PK_WMSOP020.SP_CONFIRM_GRN)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0174" y="1066806"/>
            <a:ext cx="1893999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정책적용 설정에 따라 주문정보의 이하 값 확인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제조일자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kumimoji="0"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무게정보확인</a:t>
            </a:r>
            <a:endParaRPr kumimoji="0"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주문승인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입차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입하작업지시서발행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QC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통과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유효기간검수</a:t>
            </a:r>
            <a:r>
              <a:rPr kumimoji="0"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무게정보검수 추가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작업정보등록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해당 주문정보가 작업테이블에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기등록여부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확인 후 작업 및 작업상세에 등록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내부</a:t>
            </a:r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LOT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유무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입력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LOT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번호가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있을경우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입력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LOT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번호로 처리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작업수량</a:t>
            </a:r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작업상태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=‘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완료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’,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확인수량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8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 입출고처리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상품 정보취득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ID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및 상품 정보조회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고객사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유효기간일수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입출고반영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재고 삭제 및 기존 재고 존재 시 수량 갱신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미존재시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신규등록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할당처리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할당테이블의 할당수량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(ALOC_QTY)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및 재고수량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(STOCK_QTY)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이 모두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0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인 경우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DELETE</a:t>
            </a:r>
          </a:p>
          <a:p>
            <a:pPr eaLnBrk="1" hangingPunct="1">
              <a:buFont typeface="Wingdings" pitchFamily="2" charset="2"/>
              <a:buChar char="§"/>
            </a:pPr>
            <a:r>
              <a:rPr kumimoji="0"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물류용기재고반영로직</a:t>
            </a:r>
            <a:r>
              <a:rPr kumimoji="0"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추가필요</a:t>
            </a:r>
            <a:endParaRPr kumimoji="0"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주문상세수정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입하수량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934109" y="106170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입하확정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순서도: 판단 125"/>
          <p:cNvSpPr/>
          <p:nvPr/>
        </p:nvSpPr>
        <p:spPr>
          <a:xfrm>
            <a:off x="3918977" y="178687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순서도: 처리 126"/>
          <p:cNvSpPr/>
          <p:nvPr/>
        </p:nvSpPr>
        <p:spPr>
          <a:xfrm>
            <a:off x="5296875" y="1858854"/>
            <a:ext cx="915892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순서도: 처리 128"/>
          <p:cNvSpPr/>
          <p:nvPr/>
        </p:nvSpPr>
        <p:spPr>
          <a:xfrm>
            <a:off x="3976886" y="2273282"/>
            <a:ext cx="915892" cy="34925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4" name="순서도: 처리 163"/>
          <p:cNvSpPr/>
          <p:nvPr/>
        </p:nvSpPr>
        <p:spPr>
          <a:xfrm>
            <a:off x="3976886" y="3314682"/>
            <a:ext cx="915892" cy="25400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내부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LOT</a:t>
            </a: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5238879" y="3289600"/>
            <a:ext cx="775845" cy="305751"/>
            <a:chOff x="6858016" y="2500306"/>
            <a:chExt cx="647704" cy="287340"/>
          </a:xfrm>
        </p:grpSpPr>
        <p:sp>
          <p:nvSpPr>
            <p:cNvPr id="166" name="TextBox 183"/>
            <p:cNvSpPr txBox="1">
              <a:spLocks noChangeArrowheads="1"/>
            </p:cNvSpPr>
            <p:nvPr/>
          </p:nvSpPr>
          <p:spPr bwMode="auto">
            <a:xfrm>
              <a:off x="6858016" y="2529961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내부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LOT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7" name="직선 연결선 166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직선 화살표 연결선 177"/>
          <p:cNvCxnSpPr>
            <a:stCxn id="125" idx="2"/>
            <a:endCxn id="121" idx="0"/>
          </p:cNvCxnSpPr>
          <p:nvPr/>
        </p:nvCxnSpPr>
        <p:spPr>
          <a:xfrm rot="16200000" flipH="1">
            <a:off x="4355365" y="1486187"/>
            <a:ext cx="152400" cy="447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/>
          <p:nvPr/>
        </p:nvCxnSpPr>
        <p:spPr>
          <a:xfrm rot="5400000">
            <a:off x="4376596" y="2214979"/>
            <a:ext cx="11647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/>
          <p:cNvCxnSpPr>
            <a:stCxn id="126" idx="3"/>
            <a:endCxn id="127" idx="1"/>
          </p:cNvCxnSpPr>
          <p:nvPr/>
        </p:nvCxnSpPr>
        <p:spPr>
          <a:xfrm>
            <a:off x="4950686" y="1971842"/>
            <a:ext cx="346189" cy="15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/>
          <p:nvPr/>
        </p:nvCxnSpPr>
        <p:spPr>
          <a:xfrm rot="5400000">
            <a:off x="4361807" y="2695491"/>
            <a:ext cx="1460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/>
          <p:cNvCxnSpPr>
            <a:endCxn id="164" idx="0"/>
          </p:cNvCxnSpPr>
          <p:nvPr/>
        </p:nvCxnSpPr>
        <p:spPr>
          <a:xfrm rot="5400000">
            <a:off x="4328529" y="3207517"/>
            <a:ext cx="213469" cy="86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>
            <a:stCxn id="164" idx="2"/>
            <a:endCxn id="386" idx="0"/>
          </p:cNvCxnSpPr>
          <p:nvPr/>
        </p:nvCxnSpPr>
        <p:spPr>
          <a:xfrm rot="5400000">
            <a:off x="4290371" y="3713077"/>
            <a:ext cx="28892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순서도: 처리 317"/>
          <p:cNvSpPr/>
          <p:nvPr/>
        </p:nvSpPr>
        <p:spPr>
          <a:xfrm>
            <a:off x="3976886" y="5054582"/>
            <a:ext cx="915892" cy="28575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수정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5238879" y="5051910"/>
            <a:ext cx="775845" cy="313822"/>
            <a:chOff x="6858016" y="2500306"/>
            <a:chExt cx="647704" cy="287340"/>
          </a:xfrm>
        </p:grpSpPr>
        <p:sp>
          <p:nvSpPr>
            <p:cNvPr id="320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1" name="직선 연결선 32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AutoShape 41"/>
          <p:cNvCxnSpPr>
            <a:cxnSpLocks noChangeShapeType="1"/>
            <a:stCxn id="318" idx="3"/>
          </p:cNvCxnSpPr>
          <p:nvPr/>
        </p:nvCxnSpPr>
        <p:spPr bwMode="auto">
          <a:xfrm flipV="1">
            <a:off x="4892778" y="5194867"/>
            <a:ext cx="346101" cy="259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9" name="AutoShape 41"/>
          <p:cNvCxnSpPr>
            <a:cxnSpLocks noChangeShapeType="1"/>
            <a:stCxn id="164" idx="3"/>
          </p:cNvCxnSpPr>
          <p:nvPr/>
        </p:nvCxnSpPr>
        <p:spPr bwMode="auto">
          <a:xfrm flipV="1">
            <a:off x="4892778" y="3441582"/>
            <a:ext cx="346101" cy="1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2" name="순서도: 수행의 시작/종료 341"/>
          <p:cNvSpPr/>
          <p:nvPr/>
        </p:nvSpPr>
        <p:spPr>
          <a:xfrm>
            <a:off x="3943050" y="593723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입하확정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3" name="직선 화살표 연결선 342"/>
          <p:cNvCxnSpPr>
            <a:stCxn id="120" idx="2"/>
            <a:endCxn id="342" idx="0"/>
          </p:cNvCxnSpPr>
          <p:nvPr/>
        </p:nvCxnSpPr>
        <p:spPr>
          <a:xfrm rot="16200000" flipH="1">
            <a:off x="4363182" y="5862144"/>
            <a:ext cx="146050" cy="412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화살표 연결선 345"/>
          <p:cNvCxnSpPr>
            <a:stCxn id="425" idx="2"/>
            <a:endCxn id="318" idx="0"/>
          </p:cNvCxnSpPr>
          <p:nvPr/>
        </p:nvCxnSpPr>
        <p:spPr>
          <a:xfrm rot="5400000">
            <a:off x="4361807" y="4981491"/>
            <a:ext cx="1460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83"/>
          <p:cNvSpPr txBox="1">
            <a:spLocks noChangeArrowheads="1"/>
          </p:cNvSpPr>
          <p:nvPr/>
        </p:nvSpPr>
        <p:spPr bwMode="auto">
          <a:xfrm>
            <a:off x="5128832" y="2795381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내부</a:t>
            </a:r>
            <a:r>
              <a:rPr kumimoji="0" lang="en-US" altLang="ko-KR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LOT </a:t>
            </a:r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존재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5" name="설명선 2(강조선) 364"/>
          <p:cNvSpPr/>
          <p:nvPr/>
        </p:nvSpPr>
        <p:spPr>
          <a:xfrm>
            <a:off x="6476929" y="3042326"/>
            <a:ext cx="2996085" cy="3167899"/>
          </a:xfrm>
          <a:prstGeom prst="accentCallout2">
            <a:avLst>
              <a:gd name="adj1" fmla="val 52425"/>
              <a:gd name="adj2" fmla="val -1962"/>
              <a:gd name="adj3" fmla="val 56634"/>
              <a:gd name="adj4" fmla="val -9091"/>
              <a:gd name="adj5" fmla="val 56811"/>
              <a:gd name="adj6" fmla="val -53270"/>
            </a:avLst>
          </a:prstGeom>
          <a:solidFill>
            <a:schemeClr val="accent6">
              <a:lumMod val="20000"/>
              <a:lumOff val="80000"/>
              <a:alpha val="2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6494098" y="3096948"/>
            <a:ext cx="2961746" cy="31463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2" name="순서도: 처리 201"/>
          <p:cNvSpPr/>
          <p:nvPr/>
        </p:nvSpPr>
        <p:spPr>
          <a:xfrm>
            <a:off x="6622869" y="3155485"/>
            <a:ext cx="2798636" cy="3024402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3" name="순서도: 처리 202"/>
          <p:cNvSpPr/>
          <p:nvPr/>
        </p:nvSpPr>
        <p:spPr>
          <a:xfrm>
            <a:off x="6622869" y="3155485"/>
            <a:ext cx="2798636" cy="121952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순서도: 처리 203"/>
          <p:cNvSpPr/>
          <p:nvPr/>
        </p:nvSpPr>
        <p:spPr>
          <a:xfrm>
            <a:off x="6777397" y="3345730"/>
            <a:ext cx="2498168" cy="2760987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" name="순서도: 처리 204"/>
          <p:cNvSpPr/>
          <p:nvPr/>
        </p:nvSpPr>
        <p:spPr>
          <a:xfrm>
            <a:off x="6777397" y="3340852"/>
            <a:ext cx="2498168" cy="12683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순서도: 처리 205"/>
          <p:cNvSpPr/>
          <p:nvPr/>
        </p:nvSpPr>
        <p:spPr>
          <a:xfrm>
            <a:off x="7013616" y="3515393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순서도: 처리 214"/>
          <p:cNvSpPr/>
          <p:nvPr/>
        </p:nvSpPr>
        <p:spPr>
          <a:xfrm>
            <a:off x="7013616" y="5607160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수불등록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순서도: 처리 215"/>
          <p:cNvSpPr/>
          <p:nvPr/>
        </p:nvSpPr>
        <p:spPr>
          <a:xfrm>
            <a:off x="7013616" y="5301336"/>
            <a:ext cx="952633" cy="19431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mtClean="0">
                <a:latin typeface="맑은 고딕" pitchFamily="50" charset="-127"/>
                <a:ea typeface="맑은 고딕" pitchFamily="50" charset="-127"/>
              </a:rPr>
              <a:t>입출고이력등록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" name="그룹 239"/>
          <p:cNvGrpSpPr/>
          <p:nvPr/>
        </p:nvGrpSpPr>
        <p:grpSpPr>
          <a:xfrm>
            <a:off x="8219638" y="5306111"/>
            <a:ext cx="1090266" cy="204866"/>
            <a:chOff x="7726680" y="5165413"/>
            <a:chExt cx="967740" cy="320019"/>
          </a:xfrm>
        </p:grpSpPr>
        <p:sp>
          <p:nvSpPr>
            <p:cNvPr id="218" name="TextBox 183"/>
            <p:cNvSpPr txBox="1">
              <a:spLocks noChangeArrowheads="1"/>
            </p:cNvSpPr>
            <p:nvPr/>
          </p:nvSpPr>
          <p:spPr bwMode="auto">
            <a:xfrm>
              <a:off x="7726680" y="5196967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입출고이력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5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219" name="직선 연결선 218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1" name="AutoShape 41"/>
          <p:cNvCxnSpPr>
            <a:cxnSpLocks noChangeShapeType="1"/>
            <a:stCxn id="216" idx="3"/>
          </p:cNvCxnSpPr>
          <p:nvPr/>
        </p:nvCxnSpPr>
        <p:spPr bwMode="auto">
          <a:xfrm flipV="1">
            <a:off x="7966248" y="5395268"/>
            <a:ext cx="253389" cy="322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2" name="TextBox 183"/>
          <p:cNvSpPr txBox="1">
            <a:spLocks noChangeArrowheads="1"/>
          </p:cNvSpPr>
          <p:nvPr/>
        </p:nvSpPr>
        <p:spPr bwMode="auto">
          <a:xfrm>
            <a:off x="8224798" y="5580428"/>
            <a:ext cx="109026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수불이력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231"/>
          <p:cNvGrpSpPr/>
          <p:nvPr/>
        </p:nvGrpSpPr>
        <p:grpSpPr>
          <a:xfrm>
            <a:off x="8293566" y="5579278"/>
            <a:ext cx="896148" cy="171342"/>
            <a:chOff x="7632501" y="5165413"/>
            <a:chExt cx="772349" cy="267652"/>
          </a:xfrm>
        </p:grpSpPr>
        <p:cxnSp>
          <p:nvCxnSpPr>
            <p:cNvPr id="244" name="직선 연결선 243"/>
            <p:cNvCxnSpPr/>
            <p:nvPr/>
          </p:nvCxnSpPr>
          <p:spPr bwMode="auto">
            <a:xfrm>
              <a:off x="7632501" y="5431376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연결선 244"/>
            <p:cNvCxnSpPr/>
            <p:nvPr/>
          </p:nvCxnSpPr>
          <p:spPr bwMode="auto">
            <a:xfrm>
              <a:off x="7639897" y="5165413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AutoShape 41"/>
          <p:cNvCxnSpPr>
            <a:cxnSpLocks noChangeShapeType="1"/>
            <a:stCxn id="215" idx="3"/>
            <a:endCxn id="242" idx="1"/>
          </p:cNvCxnSpPr>
          <p:nvPr/>
        </p:nvCxnSpPr>
        <p:spPr bwMode="auto">
          <a:xfrm>
            <a:off x="7966249" y="5668726"/>
            <a:ext cx="258549" cy="403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1" name="순서도: 처리 250"/>
          <p:cNvSpPr/>
          <p:nvPr/>
        </p:nvSpPr>
        <p:spPr>
          <a:xfrm>
            <a:off x="7013616" y="5056936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할당처리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5" name="AutoShape 41"/>
          <p:cNvCxnSpPr>
            <a:cxnSpLocks noChangeShapeType="1"/>
            <a:stCxn id="251" idx="3"/>
          </p:cNvCxnSpPr>
          <p:nvPr/>
        </p:nvCxnSpPr>
        <p:spPr bwMode="auto">
          <a:xfrm flipV="1">
            <a:off x="7966248" y="5117217"/>
            <a:ext cx="261974" cy="128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그룹 256"/>
          <p:cNvGrpSpPr/>
          <p:nvPr/>
        </p:nvGrpSpPr>
        <p:grpSpPr>
          <a:xfrm>
            <a:off x="8228223" y="5028061"/>
            <a:ext cx="1090266" cy="204866"/>
            <a:chOff x="7734300" y="4753933"/>
            <a:chExt cx="967740" cy="320019"/>
          </a:xfrm>
        </p:grpSpPr>
        <p:grpSp>
          <p:nvGrpSpPr>
            <p:cNvPr id="8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53" name="직선 연결선 252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6" name="TextBox 183"/>
            <p:cNvSpPr txBox="1">
              <a:spLocks noChangeArrowheads="1"/>
            </p:cNvSpPr>
            <p:nvPr/>
          </p:nvSpPr>
          <p:spPr bwMode="auto">
            <a:xfrm>
              <a:off x="7734300" y="4785487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할당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0" name="순서도: 처리 259"/>
          <p:cNvSpPr/>
          <p:nvPr/>
        </p:nvSpPr>
        <p:spPr>
          <a:xfrm>
            <a:off x="7013616" y="4797902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입출고 반영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1" name="AutoShape 41"/>
          <p:cNvCxnSpPr>
            <a:cxnSpLocks noChangeShapeType="1"/>
            <a:stCxn id="260" idx="3"/>
          </p:cNvCxnSpPr>
          <p:nvPr/>
        </p:nvCxnSpPr>
        <p:spPr bwMode="auto">
          <a:xfrm flipV="1">
            <a:off x="7966248" y="4858681"/>
            <a:ext cx="261974" cy="78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0" name="그룹 261"/>
          <p:cNvGrpSpPr/>
          <p:nvPr/>
        </p:nvGrpSpPr>
        <p:grpSpPr>
          <a:xfrm>
            <a:off x="8228223" y="4769523"/>
            <a:ext cx="1090266" cy="204866"/>
            <a:chOff x="7734300" y="4753933"/>
            <a:chExt cx="967740" cy="320019"/>
          </a:xfrm>
        </p:grpSpPr>
        <p:grpSp>
          <p:nvGrpSpPr>
            <p:cNvPr id="11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65" name="직선 연결선 264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4" name="TextBox 183"/>
            <p:cNvSpPr txBox="1">
              <a:spLocks noChangeArrowheads="1"/>
            </p:cNvSpPr>
            <p:nvPr/>
          </p:nvSpPr>
          <p:spPr bwMode="auto">
            <a:xfrm>
              <a:off x="7734300" y="4785487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7" name="순서도: 판단 266"/>
          <p:cNvSpPr/>
          <p:nvPr/>
        </p:nvSpPr>
        <p:spPr>
          <a:xfrm>
            <a:off x="6953384" y="4434935"/>
            <a:ext cx="1073096" cy="236822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재고확인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8" name="순서도: 처리 267"/>
          <p:cNvSpPr/>
          <p:nvPr/>
        </p:nvSpPr>
        <p:spPr>
          <a:xfrm>
            <a:off x="8392995" y="4480431"/>
            <a:ext cx="796721" cy="146604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9" name="직선 화살표 연결선 268"/>
          <p:cNvCxnSpPr>
            <a:stCxn id="267" idx="3"/>
            <a:endCxn id="268" idx="1"/>
          </p:cNvCxnSpPr>
          <p:nvPr/>
        </p:nvCxnSpPr>
        <p:spPr>
          <a:xfrm>
            <a:off x="8026481" y="4553347"/>
            <a:ext cx="366514" cy="3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순서도: 처리 277"/>
          <p:cNvSpPr/>
          <p:nvPr/>
        </p:nvSpPr>
        <p:spPr>
          <a:xfrm>
            <a:off x="7013616" y="4090594"/>
            <a:ext cx="952633" cy="21626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현재고 취득 및 수량계산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2" name="순서도: 처리 281"/>
          <p:cNvSpPr/>
          <p:nvPr/>
        </p:nvSpPr>
        <p:spPr>
          <a:xfrm>
            <a:off x="7013616" y="3762763"/>
            <a:ext cx="952633" cy="2000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상품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정보취득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4" name="직선 화살표 연결선 283"/>
          <p:cNvCxnSpPr>
            <a:stCxn id="206" idx="2"/>
            <a:endCxn id="282" idx="0"/>
          </p:cNvCxnSpPr>
          <p:nvPr/>
        </p:nvCxnSpPr>
        <p:spPr>
          <a:xfrm rot="5400000">
            <a:off x="7427813" y="3700578"/>
            <a:ext cx="124238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>
            <a:stCxn id="282" idx="2"/>
            <a:endCxn id="278" idx="0"/>
          </p:cNvCxnSpPr>
          <p:nvPr/>
        </p:nvCxnSpPr>
        <p:spPr>
          <a:xfrm rot="5400000">
            <a:off x="7426017" y="4026612"/>
            <a:ext cx="12783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/>
          <p:cNvCxnSpPr>
            <a:stCxn id="278" idx="2"/>
            <a:endCxn id="267" idx="0"/>
          </p:cNvCxnSpPr>
          <p:nvPr/>
        </p:nvCxnSpPr>
        <p:spPr>
          <a:xfrm rot="5400000">
            <a:off x="7425893" y="4370828"/>
            <a:ext cx="12808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/>
          <p:cNvCxnSpPr/>
          <p:nvPr/>
        </p:nvCxnSpPr>
        <p:spPr>
          <a:xfrm rot="16200000" flipH="1">
            <a:off x="7418709" y="4733776"/>
            <a:ext cx="136528" cy="344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화살표 연결선 304"/>
          <p:cNvCxnSpPr>
            <a:stCxn id="260" idx="2"/>
            <a:endCxn id="251" idx="0"/>
          </p:cNvCxnSpPr>
          <p:nvPr/>
        </p:nvCxnSpPr>
        <p:spPr>
          <a:xfrm rot="5400000">
            <a:off x="7421981" y="4988599"/>
            <a:ext cx="135902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>
            <a:stCxn id="251" idx="2"/>
            <a:endCxn id="216" idx="0"/>
          </p:cNvCxnSpPr>
          <p:nvPr/>
        </p:nvCxnSpPr>
        <p:spPr>
          <a:xfrm rot="5400000">
            <a:off x="7429298" y="5240316"/>
            <a:ext cx="121268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/>
          <p:cNvCxnSpPr>
            <a:stCxn id="216" idx="2"/>
            <a:endCxn id="215" idx="0"/>
          </p:cNvCxnSpPr>
          <p:nvPr/>
        </p:nvCxnSpPr>
        <p:spPr>
          <a:xfrm rot="5400000">
            <a:off x="7434175" y="5551017"/>
            <a:ext cx="111515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순서도: 처리 116"/>
          <p:cNvSpPr/>
          <p:nvPr/>
        </p:nvSpPr>
        <p:spPr>
          <a:xfrm>
            <a:off x="7013616" y="5848633"/>
            <a:ext cx="952633" cy="21626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재고관리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공통모듈 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8" name="직선 화살표 연결선 117"/>
          <p:cNvCxnSpPr>
            <a:stCxn id="215" idx="2"/>
            <a:endCxn id="117" idx="0"/>
          </p:cNvCxnSpPr>
          <p:nvPr/>
        </p:nvCxnSpPr>
        <p:spPr>
          <a:xfrm rot="5400000">
            <a:off x="7430762" y="5789076"/>
            <a:ext cx="118340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AutoShape 41"/>
          <p:cNvCxnSpPr>
            <a:cxnSpLocks noChangeShapeType="1"/>
            <a:stCxn id="117" idx="3"/>
          </p:cNvCxnSpPr>
          <p:nvPr/>
        </p:nvCxnSpPr>
        <p:spPr bwMode="auto">
          <a:xfrm>
            <a:off x="7966249" y="5956764"/>
            <a:ext cx="244804" cy="43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3" name="그룹 239"/>
          <p:cNvGrpSpPr/>
          <p:nvPr/>
        </p:nvGrpSpPr>
        <p:grpSpPr>
          <a:xfrm>
            <a:off x="8211053" y="5791108"/>
            <a:ext cx="1090266" cy="292703"/>
            <a:chOff x="7726680" y="5100250"/>
            <a:chExt cx="967740" cy="370915"/>
          </a:xfrm>
        </p:grpSpPr>
        <p:sp>
          <p:nvSpPr>
            <p:cNvPr id="145" name="TextBox 183"/>
            <p:cNvSpPr txBox="1">
              <a:spLocks noChangeArrowheads="1"/>
            </p:cNvSpPr>
            <p:nvPr/>
          </p:nvSpPr>
          <p:spPr bwMode="auto">
            <a:xfrm>
              <a:off x="7726680" y="5100250"/>
              <a:ext cx="967740" cy="35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논리재고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주문논리재고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4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47" name="직선 연결선 146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순서도: 처리 119"/>
          <p:cNvSpPr/>
          <p:nvPr/>
        </p:nvSpPr>
        <p:spPr>
          <a:xfrm>
            <a:off x="2589447" y="1570972"/>
            <a:ext cx="3689394" cy="422021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2589447" y="1564623"/>
            <a:ext cx="3688706" cy="174523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839813" y="1750042"/>
            <a:ext cx="1124904" cy="1492716"/>
          </a:xfrm>
          <a:prstGeom prst="rect">
            <a:avLst/>
          </a:prstGeom>
          <a:solidFill>
            <a:srgbClr val="C5D9F1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QC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통과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(</a:t>
            </a:r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유효기간검수</a:t>
            </a:r>
            <a:r>
              <a:rPr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무게정보검수 추가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입하지시서발행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입차확인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배차확인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주문승인확인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 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제조일자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무게정보확인</a:t>
            </a:r>
            <a:endParaRPr lang="en-US" altLang="ko-KR" sz="6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1" name="설명선 2(강조선) 140"/>
          <p:cNvSpPr/>
          <p:nvPr/>
        </p:nvSpPr>
        <p:spPr>
          <a:xfrm>
            <a:off x="6483808" y="1225532"/>
            <a:ext cx="2986799" cy="1685925"/>
          </a:xfrm>
          <a:prstGeom prst="accentCallout2">
            <a:avLst>
              <a:gd name="adj1" fmla="val 61235"/>
              <a:gd name="adj2" fmla="val -2173"/>
              <a:gd name="adj3" fmla="val 61311"/>
              <a:gd name="adj4" fmla="val -14513"/>
              <a:gd name="adj5" fmla="val 74035"/>
              <a:gd name="adj6" fmla="val -52975"/>
            </a:avLst>
          </a:prstGeom>
          <a:solidFill>
            <a:schemeClr val="accent1">
              <a:alpha val="2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494098" y="1225533"/>
            <a:ext cx="2961746" cy="16811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4" name="순서도: 처리 153"/>
          <p:cNvSpPr/>
          <p:nvPr/>
        </p:nvSpPr>
        <p:spPr>
          <a:xfrm>
            <a:off x="7505458" y="1301667"/>
            <a:ext cx="952633" cy="21439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작업정보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취득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4" name="순서도: 판단 183"/>
          <p:cNvSpPr/>
          <p:nvPr/>
        </p:nvSpPr>
        <p:spPr>
          <a:xfrm>
            <a:off x="7340815" y="1692646"/>
            <a:ext cx="1273803" cy="19565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 smtClean="0">
                <a:latin typeface="맑은 고딕" pitchFamily="50" charset="-127"/>
                <a:ea typeface="맑은 고딕" pitchFamily="50" charset="-127"/>
              </a:rPr>
              <a:t>기등록여부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6" name="순서도: 처리 185"/>
          <p:cNvSpPr/>
          <p:nvPr/>
        </p:nvSpPr>
        <p:spPr>
          <a:xfrm>
            <a:off x="8777658" y="1668445"/>
            <a:ext cx="612819" cy="238125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등록처리 종료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7" name="직선 화살표 연결선 186"/>
          <p:cNvCxnSpPr>
            <a:stCxn id="184" idx="3"/>
            <a:endCxn id="186" idx="1"/>
          </p:cNvCxnSpPr>
          <p:nvPr/>
        </p:nvCxnSpPr>
        <p:spPr>
          <a:xfrm flipV="1">
            <a:off x="8614618" y="1787508"/>
            <a:ext cx="163040" cy="296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/>
          <p:cNvCxnSpPr/>
          <p:nvPr/>
        </p:nvCxnSpPr>
        <p:spPr>
          <a:xfrm rot="16200000" flipH="1">
            <a:off x="7893482" y="1604352"/>
            <a:ext cx="176586" cy="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/>
          <p:cNvCxnSpPr>
            <a:stCxn id="184" idx="2"/>
            <a:endCxn id="291" idx="0"/>
          </p:cNvCxnSpPr>
          <p:nvPr/>
        </p:nvCxnSpPr>
        <p:spPr>
          <a:xfrm rot="16200000" flipH="1">
            <a:off x="7826615" y="2039403"/>
            <a:ext cx="306214" cy="4013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239"/>
          <p:cNvGrpSpPr/>
          <p:nvPr/>
        </p:nvGrpSpPr>
        <p:grpSpPr>
          <a:xfrm>
            <a:off x="6562060" y="1305405"/>
            <a:ext cx="803883" cy="278585"/>
            <a:chOff x="7726680" y="5165413"/>
            <a:chExt cx="967740" cy="305752"/>
          </a:xfrm>
        </p:grpSpPr>
        <p:sp>
          <p:nvSpPr>
            <p:cNvPr id="250" name="TextBox 183"/>
            <p:cNvSpPr txBox="1">
              <a:spLocks noChangeArrowheads="1"/>
            </p:cNvSpPr>
            <p:nvPr/>
          </p:nvSpPr>
          <p:spPr bwMode="auto">
            <a:xfrm>
              <a:off x="7726680" y="5165585"/>
              <a:ext cx="967740" cy="30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en-US" altLang="ko-KR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6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257" name="직선 연결선 256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직선 연결선 25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9" name="AutoShape 41"/>
          <p:cNvCxnSpPr>
            <a:cxnSpLocks noChangeShapeType="1"/>
            <a:endCxn id="154" idx="1"/>
          </p:cNvCxnSpPr>
          <p:nvPr/>
        </p:nvCxnSpPr>
        <p:spPr bwMode="auto">
          <a:xfrm flipV="1">
            <a:off x="7247287" y="1408863"/>
            <a:ext cx="258171" cy="2422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1" name="순서도: 처리 290"/>
          <p:cNvSpPr/>
          <p:nvPr/>
        </p:nvSpPr>
        <p:spPr>
          <a:xfrm>
            <a:off x="7505413" y="2194516"/>
            <a:ext cx="952633" cy="150218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작업등록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2" name="AutoShape 41"/>
          <p:cNvCxnSpPr>
            <a:cxnSpLocks noChangeShapeType="1"/>
            <a:stCxn id="291" idx="3"/>
          </p:cNvCxnSpPr>
          <p:nvPr/>
        </p:nvCxnSpPr>
        <p:spPr bwMode="auto">
          <a:xfrm>
            <a:off x="8458046" y="2269626"/>
            <a:ext cx="215541" cy="93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7" name="그룹 261"/>
          <p:cNvGrpSpPr/>
          <p:nvPr/>
        </p:nvGrpSpPr>
        <p:grpSpPr>
          <a:xfrm>
            <a:off x="8769880" y="2178229"/>
            <a:ext cx="688700" cy="184666"/>
            <a:chOff x="7734300" y="4704443"/>
            <a:chExt cx="967740" cy="349156"/>
          </a:xfrm>
        </p:grpSpPr>
        <p:grpSp>
          <p:nvGrpSpPr>
            <p:cNvPr id="18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97" name="직선 연결선 296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직선 연결선 29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6" name="TextBox 183"/>
            <p:cNvSpPr txBox="1">
              <a:spLocks noChangeArrowheads="1"/>
            </p:cNvSpPr>
            <p:nvPr/>
          </p:nvSpPr>
          <p:spPr bwMode="auto">
            <a:xfrm>
              <a:off x="7734300" y="4704443"/>
              <a:ext cx="967740" cy="34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2" name="순서도: 처리 301"/>
          <p:cNvSpPr/>
          <p:nvPr/>
        </p:nvSpPr>
        <p:spPr>
          <a:xfrm>
            <a:off x="7505395" y="2513621"/>
            <a:ext cx="952633" cy="21687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작업상세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3" name="AutoShape 41"/>
          <p:cNvCxnSpPr>
            <a:cxnSpLocks noChangeShapeType="1"/>
            <a:stCxn id="302" idx="3"/>
          </p:cNvCxnSpPr>
          <p:nvPr/>
        </p:nvCxnSpPr>
        <p:spPr bwMode="auto">
          <a:xfrm>
            <a:off x="8458028" y="2622060"/>
            <a:ext cx="210382" cy="94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9" name="그룹 261"/>
          <p:cNvGrpSpPr/>
          <p:nvPr/>
        </p:nvGrpSpPr>
        <p:grpSpPr>
          <a:xfrm>
            <a:off x="8764704" y="2530675"/>
            <a:ext cx="688700" cy="184666"/>
            <a:chOff x="7734300" y="4704443"/>
            <a:chExt cx="967740" cy="349156"/>
          </a:xfrm>
        </p:grpSpPr>
        <p:grpSp>
          <p:nvGrpSpPr>
            <p:cNvPr id="20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09" name="직선 연결선 308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직선 연결선 309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183"/>
            <p:cNvSpPr txBox="1">
              <a:spLocks noChangeArrowheads="1"/>
            </p:cNvSpPr>
            <p:nvPr/>
          </p:nvSpPr>
          <p:spPr bwMode="auto">
            <a:xfrm>
              <a:off x="7734300" y="4704443"/>
              <a:ext cx="967740" cy="34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17" name="AutoShape 41"/>
          <p:cNvCxnSpPr>
            <a:cxnSpLocks noChangeShapeType="1"/>
          </p:cNvCxnSpPr>
          <p:nvPr/>
        </p:nvCxnSpPr>
        <p:spPr bwMode="auto">
          <a:xfrm>
            <a:off x="7216336" y="2268535"/>
            <a:ext cx="304599" cy="234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1" name="그룹 261"/>
          <p:cNvGrpSpPr/>
          <p:nvPr/>
        </p:nvGrpSpPr>
        <p:grpSpPr>
          <a:xfrm>
            <a:off x="6605009" y="2173465"/>
            <a:ext cx="688700" cy="184666"/>
            <a:chOff x="7734300" y="4704443"/>
            <a:chExt cx="967740" cy="349156"/>
          </a:xfrm>
        </p:grpSpPr>
        <p:grpSp>
          <p:nvGrpSpPr>
            <p:cNvPr id="22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27" name="직선 연결선 326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6" name="TextBox 183"/>
            <p:cNvSpPr txBox="1">
              <a:spLocks noChangeArrowheads="1"/>
            </p:cNvSpPr>
            <p:nvPr/>
          </p:nvSpPr>
          <p:spPr bwMode="auto">
            <a:xfrm>
              <a:off x="7734300" y="4704443"/>
              <a:ext cx="967740" cy="34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3" name="그룹 239"/>
          <p:cNvGrpSpPr/>
          <p:nvPr/>
        </p:nvGrpSpPr>
        <p:grpSpPr>
          <a:xfrm>
            <a:off x="6582697" y="2457929"/>
            <a:ext cx="803883" cy="278585"/>
            <a:chOff x="7726680" y="5165413"/>
            <a:chExt cx="967740" cy="305752"/>
          </a:xfrm>
        </p:grpSpPr>
        <p:sp>
          <p:nvSpPr>
            <p:cNvPr id="341" name="TextBox 183"/>
            <p:cNvSpPr txBox="1">
              <a:spLocks noChangeArrowheads="1"/>
            </p:cNvSpPr>
            <p:nvPr/>
          </p:nvSpPr>
          <p:spPr bwMode="auto">
            <a:xfrm>
              <a:off x="7726680" y="5165585"/>
              <a:ext cx="967740" cy="30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en-US" altLang="ko-KR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4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345" name="직선 연결선 344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직선 연결선 346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8" name="AutoShape 41"/>
          <p:cNvCxnSpPr>
            <a:cxnSpLocks noChangeShapeType="1"/>
            <a:endCxn id="302" idx="1"/>
          </p:cNvCxnSpPr>
          <p:nvPr/>
        </p:nvCxnSpPr>
        <p:spPr bwMode="auto">
          <a:xfrm flipV="1">
            <a:off x="7242130" y="2622060"/>
            <a:ext cx="263266" cy="366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61" name="직선 화살표 연결선 360"/>
          <p:cNvCxnSpPr>
            <a:stCxn id="291" idx="2"/>
            <a:endCxn id="302" idx="0"/>
          </p:cNvCxnSpPr>
          <p:nvPr/>
        </p:nvCxnSpPr>
        <p:spPr>
          <a:xfrm rot="5400000">
            <a:off x="7897278" y="2429169"/>
            <a:ext cx="168886" cy="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순서도: 판단 371"/>
          <p:cNvSpPr/>
          <p:nvPr/>
        </p:nvSpPr>
        <p:spPr>
          <a:xfrm>
            <a:off x="3674806" y="2768583"/>
            <a:ext cx="1520052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내부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LOT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유무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8" name="TextBox 183"/>
          <p:cNvSpPr txBox="1">
            <a:spLocks noChangeArrowheads="1"/>
          </p:cNvSpPr>
          <p:nvPr/>
        </p:nvSpPr>
        <p:spPr bwMode="auto">
          <a:xfrm>
            <a:off x="3711951" y="3093831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내부</a:t>
            </a:r>
            <a:r>
              <a:rPr kumimoji="0" lang="en-US" altLang="ko-KR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LOT </a:t>
            </a:r>
            <a:r>
              <a:rPr kumimoji="0" lang="ko-KR" altLang="en-US" sz="6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미존재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" name="그룹 223"/>
          <p:cNvGrpSpPr>
            <a:grpSpLocks/>
          </p:cNvGrpSpPr>
          <p:nvPr/>
        </p:nvGrpSpPr>
        <p:grpSpPr bwMode="auto">
          <a:xfrm>
            <a:off x="2559185" y="3224830"/>
            <a:ext cx="1031709" cy="421231"/>
            <a:chOff x="6858016" y="2500306"/>
            <a:chExt cx="647704" cy="287340"/>
          </a:xfrm>
        </p:grpSpPr>
        <p:sp>
          <p:nvSpPr>
            <p:cNvPr id="380" name="TextBox 183"/>
            <p:cNvSpPr txBox="1">
              <a:spLocks noChangeArrowheads="1"/>
            </p:cNvSpPr>
            <p:nvPr/>
          </p:nvSpPr>
          <p:spPr bwMode="auto">
            <a:xfrm>
              <a:off x="6858016" y="2529967"/>
              <a:ext cx="579123" cy="2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81" name="직선 연결선 38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직선 연결선 38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3" name="AutoShape 41"/>
          <p:cNvCxnSpPr>
            <a:cxnSpLocks noChangeShapeType="1"/>
            <a:endCxn id="164" idx="1"/>
          </p:cNvCxnSpPr>
          <p:nvPr/>
        </p:nvCxnSpPr>
        <p:spPr bwMode="auto">
          <a:xfrm>
            <a:off x="3516614" y="3441682"/>
            <a:ext cx="460272" cy="1588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6" name="순서도: 처리 385"/>
          <p:cNvSpPr/>
          <p:nvPr/>
        </p:nvSpPr>
        <p:spPr>
          <a:xfrm>
            <a:off x="3976886" y="3857604"/>
            <a:ext cx="915892" cy="2794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입하장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 로케이션 지정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" name="그룹 223"/>
          <p:cNvGrpSpPr>
            <a:grpSpLocks/>
          </p:cNvGrpSpPr>
          <p:nvPr/>
        </p:nvGrpSpPr>
        <p:grpSpPr bwMode="auto">
          <a:xfrm>
            <a:off x="5222371" y="3855383"/>
            <a:ext cx="775845" cy="305751"/>
            <a:chOff x="6858016" y="2500306"/>
            <a:chExt cx="647704" cy="287340"/>
          </a:xfrm>
        </p:grpSpPr>
        <p:sp>
          <p:nvSpPr>
            <p:cNvPr id="388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89" name="직선 연결선 388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1" name="AutoShape 41"/>
          <p:cNvCxnSpPr>
            <a:cxnSpLocks noChangeShapeType="1"/>
            <a:stCxn id="386" idx="3"/>
          </p:cNvCxnSpPr>
          <p:nvPr/>
        </p:nvCxnSpPr>
        <p:spPr bwMode="auto">
          <a:xfrm>
            <a:off x="4892778" y="3997305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7" name="그룹 223"/>
          <p:cNvGrpSpPr>
            <a:grpSpLocks/>
          </p:cNvGrpSpPr>
          <p:nvPr/>
        </p:nvGrpSpPr>
        <p:grpSpPr bwMode="auto">
          <a:xfrm>
            <a:off x="2638973" y="3847762"/>
            <a:ext cx="1006949" cy="305751"/>
            <a:chOff x="6900488" y="2500306"/>
            <a:chExt cx="647703" cy="287340"/>
          </a:xfrm>
        </p:grpSpPr>
        <p:sp>
          <p:nvSpPr>
            <p:cNvPr id="393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94" name="직선 연결선 393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연결선 394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6" name="AutoShape 41"/>
          <p:cNvCxnSpPr>
            <a:cxnSpLocks noChangeShapeType="1"/>
            <a:endCxn id="386" idx="1"/>
          </p:cNvCxnSpPr>
          <p:nvPr/>
        </p:nvCxnSpPr>
        <p:spPr bwMode="auto">
          <a:xfrm>
            <a:off x="3595024" y="3993396"/>
            <a:ext cx="381861" cy="3909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97" name="직선 화살표 연결선 219"/>
          <p:cNvCxnSpPr>
            <a:stCxn id="372" idx="3"/>
          </p:cNvCxnSpPr>
          <p:nvPr/>
        </p:nvCxnSpPr>
        <p:spPr>
          <a:xfrm flipH="1">
            <a:off x="4431393" y="2953552"/>
            <a:ext cx="763465" cy="761181"/>
          </a:xfrm>
          <a:prstGeom prst="bentConnector4">
            <a:avLst>
              <a:gd name="adj1" fmla="val -129729"/>
              <a:gd name="adj2" fmla="val 100107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AutoShape 41"/>
          <p:cNvCxnSpPr>
            <a:cxnSpLocks noChangeShapeType="1"/>
            <a:endCxn id="411" idx="1"/>
          </p:cNvCxnSpPr>
          <p:nvPr/>
        </p:nvCxnSpPr>
        <p:spPr bwMode="auto">
          <a:xfrm>
            <a:off x="3508357" y="5579471"/>
            <a:ext cx="468529" cy="533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1" name="순서도: 처리 410"/>
          <p:cNvSpPr/>
          <p:nvPr/>
        </p:nvSpPr>
        <p:spPr>
          <a:xfrm>
            <a:off x="3976886" y="5473682"/>
            <a:ext cx="915892" cy="22225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2" name="AutoShape 41"/>
          <p:cNvCxnSpPr>
            <a:cxnSpLocks noChangeShapeType="1"/>
            <a:stCxn id="411" idx="3"/>
            <a:endCxn id="417" idx="1"/>
          </p:cNvCxnSpPr>
          <p:nvPr/>
        </p:nvCxnSpPr>
        <p:spPr bwMode="auto">
          <a:xfrm flipV="1">
            <a:off x="4892778" y="5584551"/>
            <a:ext cx="251184" cy="25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8" name="그룹 223"/>
          <p:cNvGrpSpPr>
            <a:grpSpLocks/>
          </p:cNvGrpSpPr>
          <p:nvPr/>
        </p:nvGrpSpPr>
        <p:grpSpPr bwMode="auto">
          <a:xfrm>
            <a:off x="2839813" y="5440188"/>
            <a:ext cx="668544" cy="305751"/>
            <a:chOff x="6900488" y="2500306"/>
            <a:chExt cx="647703" cy="287340"/>
          </a:xfrm>
        </p:grpSpPr>
        <p:sp>
          <p:nvSpPr>
            <p:cNvPr id="414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15" name="직선 연결선 41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직선 연결선 415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7" name="TextBox 183"/>
          <p:cNvSpPr txBox="1">
            <a:spLocks noChangeArrowheads="1"/>
          </p:cNvSpPr>
          <p:nvPr/>
        </p:nvSpPr>
        <p:spPr bwMode="auto">
          <a:xfrm>
            <a:off x="5143962" y="5476828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9" name="그룹 417"/>
          <p:cNvGrpSpPr/>
          <p:nvPr/>
        </p:nvGrpSpPr>
        <p:grpSpPr>
          <a:xfrm>
            <a:off x="5205813" y="5438920"/>
            <a:ext cx="887320" cy="305752"/>
            <a:chOff x="4889454" y="4892838"/>
            <a:chExt cx="819196" cy="305752"/>
          </a:xfrm>
        </p:grpSpPr>
        <p:cxnSp>
          <p:nvCxnSpPr>
            <p:cNvPr id="419" name="직선 연결선 418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직선 연결선 419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5" name="순서도: 처리 424"/>
          <p:cNvSpPr/>
          <p:nvPr/>
        </p:nvSpPr>
        <p:spPr>
          <a:xfrm>
            <a:off x="3976886" y="4735496"/>
            <a:ext cx="915892" cy="17303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입출고처리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4" name="순서도: 처리 453"/>
          <p:cNvSpPr/>
          <p:nvPr/>
        </p:nvSpPr>
        <p:spPr>
          <a:xfrm>
            <a:off x="3976886" y="4294168"/>
            <a:ext cx="915892" cy="25558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작업수량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</p:txBody>
      </p:sp>
      <p:cxnSp>
        <p:nvCxnSpPr>
          <p:cNvPr id="467" name="직선 화살표 연결선 466"/>
          <p:cNvCxnSpPr>
            <a:stCxn id="318" idx="2"/>
            <a:endCxn id="411" idx="0"/>
          </p:cNvCxnSpPr>
          <p:nvPr/>
        </p:nvCxnSpPr>
        <p:spPr>
          <a:xfrm rot="5400000">
            <a:off x="4368157" y="5406941"/>
            <a:ext cx="1333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/>
          <p:cNvCxnSpPr>
            <a:stCxn id="386" idx="2"/>
            <a:endCxn id="454" idx="0"/>
          </p:cNvCxnSpPr>
          <p:nvPr/>
        </p:nvCxnSpPr>
        <p:spPr>
          <a:xfrm rot="5400000">
            <a:off x="4356251" y="4215519"/>
            <a:ext cx="15716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23"/>
          <p:cNvGrpSpPr>
            <a:grpSpLocks/>
          </p:cNvGrpSpPr>
          <p:nvPr/>
        </p:nvGrpSpPr>
        <p:grpSpPr bwMode="auto">
          <a:xfrm>
            <a:off x="5220997" y="4254030"/>
            <a:ext cx="997320" cy="428557"/>
            <a:chOff x="6879605" y="2495309"/>
            <a:chExt cx="626115" cy="292337"/>
          </a:xfrm>
        </p:grpSpPr>
        <p:sp>
          <p:nvSpPr>
            <p:cNvPr id="483" name="TextBox 183"/>
            <p:cNvSpPr txBox="1">
              <a:spLocks noChangeArrowheads="1"/>
            </p:cNvSpPr>
            <p:nvPr/>
          </p:nvSpPr>
          <p:spPr bwMode="auto">
            <a:xfrm>
              <a:off x="6879605" y="2495309"/>
              <a:ext cx="579123" cy="2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</a:p>
          </p:txBody>
        </p:sp>
        <p:cxnSp>
          <p:nvCxnSpPr>
            <p:cNvPr id="484" name="직선 연결선 483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직선 연결선 484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6" name="AutoShape 41"/>
          <p:cNvCxnSpPr>
            <a:cxnSpLocks noChangeShapeType="1"/>
            <a:stCxn id="454" idx="3"/>
          </p:cNvCxnSpPr>
          <p:nvPr/>
        </p:nvCxnSpPr>
        <p:spPr bwMode="auto">
          <a:xfrm>
            <a:off x="4892778" y="4421962"/>
            <a:ext cx="328218" cy="134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89" name="직선 화살표 연결선 488"/>
          <p:cNvCxnSpPr>
            <a:stCxn id="454" idx="2"/>
            <a:endCxn id="425" idx="0"/>
          </p:cNvCxnSpPr>
          <p:nvPr/>
        </p:nvCxnSpPr>
        <p:spPr>
          <a:xfrm rot="5400000">
            <a:off x="4341962" y="4642558"/>
            <a:ext cx="18574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83"/>
          <p:cNvSpPr txBox="1">
            <a:spLocks noChangeArrowheads="1"/>
          </p:cNvSpPr>
          <p:nvPr/>
        </p:nvSpPr>
        <p:spPr bwMode="auto">
          <a:xfrm>
            <a:off x="8398993" y="1616656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등록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3" name="TextBox 183"/>
          <p:cNvSpPr txBox="1">
            <a:spLocks noChangeArrowheads="1"/>
          </p:cNvSpPr>
          <p:nvPr/>
        </p:nvSpPr>
        <p:spPr bwMode="auto">
          <a:xfrm>
            <a:off x="7594259" y="1892881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미등록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4" name="TextBox 183"/>
          <p:cNvSpPr txBox="1">
            <a:spLocks noChangeArrowheads="1"/>
          </p:cNvSpPr>
          <p:nvPr/>
        </p:nvSpPr>
        <p:spPr bwMode="auto">
          <a:xfrm>
            <a:off x="7931284" y="4398429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TextBox 183"/>
          <p:cNvSpPr txBox="1">
            <a:spLocks noChangeArrowheads="1"/>
          </p:cNvSpPr>
          <p:nvPr/>
        </p:nvSpPr>
        <p:spPr bwMode="auto">
          <a:xfrm>
            <a:off x="7164380" y="4617504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6162946" y="5169049"/>
            <a:ext cx="940919" cy="33855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물류용기 </a:t>
            </a:r>
            <a:r>
              <a:rPr lang="ko-KR" altLang="en-US" sz="800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재고반영로직추가</a:t>
            </a:r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필요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설명선 2(강조선) 364"/>
          <p:cNvSpPr/>
          <p:nvPr/>
        </p:nvSpPr>
        <p:spPr>
          <a:xfrm>
            <a:off x="6575974" y="1149967"/>
            <a:ext cx="2880533" cy="4948555"/>
          </a:xfrm>
          <a:prstGeom prst="accentCallout2">
            <a:avLst>
              <a:gd name="adj1" fmla="val 18596"/>
              <a:gd name="adj2" fmla="val -3462"/>
              <a:gd name="adj3" fmla="val 18750"/>
              <a:gd name="adj4" fmla="val -16667"/>
              <a:gd name="adj5" fmla="val 76614"/>
              <a:gd name="adj6" fmla="val -59561"/>
            </a:avLst>
          </a:prstGeom>
          <a:solidFill>
            <a:srgbClr val="947CFC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입고확정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(PK_WMSOP020.SP_IN_COMPLETE)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0174" y="1000108"/>
            <a:ext cx="1972286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 설정에 따라 주문정보의 이하 값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생산자로트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제조일자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주문승인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입차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입하작업지시서발행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QC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통과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</a:t>
            </a: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무게정보검수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PLT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수량입력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수동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적치지시서 발행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적치여부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&gt; 0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이면 입고장물건을 출고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(GRN)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선택하지 않으면 입하장 물량을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(-)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할필요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없음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작업정보등록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=‘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완료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’,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확인수량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입출고처리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입출고반영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재고 삭제 및 기존 재고 존재 시 수량 갱신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미존재시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신규등록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할당처리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할당테이블의 할당수량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(ALOC_QTY)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및 재고수량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(STOCK_QTY)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이 모두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0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인 경우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DELETE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주문수정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실입고수량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수정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934109" y="106170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입고확정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순서도: 판단 125"/>
          <p:cNvSpPr/>
          <p:nvPr/>
        </p:nvSpPr>
        <p:spPr>
          <a:xfrm>
            <a:off x="3914162" y="190117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순서도: 처리 126"/>
          <p:cNvSpPr/>
          <p:nvPr/>
        </p:nvSpPr>
        <p:spPr>
          <a:xfrm>
            <a:off x="2648820" y="1973154"/>
            <a:ext cx="915892" cy="229009"/>
          </a:xfrm>
          <a:prstGeom prst="flowChartProces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순서도: 처리 128"/>
          <p:cNvSpPr/>
          <p:nvPr/>
        </p:nvSpPr>
        <p:spPr>
          <a:xfrm>
            <a:off x="3972071" y="3138850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0" name="순서도: 판단 129"/>
          <p:cNvSpPr/>
          <p:nvPr/>
        </p:nvSpPr>
        <p:spPr>
          <a:xfrm>
            <a:off x="3907284" y="2482833"/>
            <a:ext cx="1045466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적치여부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순서도: 처리 130"/>
          <p:cNvSpPr/>
          <p:nvPr/>
        </p:nvSpPr>
        <p:spPr>
          <a:xfrm>
            <a:off x="3972071" y="3614403"/>
            <a:ext cx="915892" cy="31016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입하장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 로케이션 지정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5222371" y="3087671"/>
            <a:ext cx="775845" cy="305751"/>
            <a:chOff x="6858016" y="2500306"/>
            <a:chExt cx="647704" cy="287340"/>
          </a:xfrm>
        </p:grpSpPr>
        <p:sp>
          <p:nvSpPr>
            <p:cNvPr id="13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내부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LOT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8" name="AutoShape 41"/>
          <p:cNvCxnSpPr>
            <a:cxnSpLocks noChangeShapeType="1"/>
            <a:stCxn id="129" idx="3"/>
          </p:cNvCxnSpPr>
          <p:nvPr/>
        </p:nvCxnSpPr>
        <p:spPr bwMode="auto">
          <a:xfrm flipV="1">
            <a:off x="4887963" y="3233853"/>
            <a:ext cx="334408" cy="116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2638973" y="3095291"/>
            <a:ext cx="1006949" cy="305751"/>
            <a:chOff x="6900488" y="2500306"/>
            <a:chExt cx="647703" cy="287340"/>
          </a:xfrm>
        </p:grpSpPr>
        <p:sp>
          <p:nvSpPr>
            <p:cNvPr id="148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주문내역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49" name="직선 연결선 148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AutoShape 41"/>
          <p:cNvCxnSpPr>
            <a:cxnSpLocks noChangeShapeType="1"/>
            <a:endCxn id="129" idx="1"/>
          </p:cNvCxnSpPr>
          <p:nvPr/>
        </p:nvCxnSpPr>
        <p:spPr bwMode="auto">
          <a:xfrm>
            <a:off x="3588147" y="3234573"/>
            <a:ext cx="383925" cy="448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5222371" y="3636311"/>
            <a:ext cx="775845" cy="305751"/>
            <a:chOff x="6858016" y="2500306"/>
            <a:chExt cx="647704" cy="287340"/>
          </a:xfrm>
        </p:grpSpPr>
        <p:sp>
          <p:nvSpPr>
            <p:cNvPr id="15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6" name="직선 연결선 15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AutoShape 41"/>
          <p:cNvCxnSpPr>
            <a:cxnSpLocks noChangeShapeType="1"/>
            <a:stCxn id="131" idx="3"/>
          </p:cNvCxnSpPr>
          <p:nvPr/>
        </p:nvCxnSpPr>
        <p:spPr bwMode="auto">
          <a:xfrm>
            <a:off x="4887963" y="3769486"/>
            <a:ext cx="334408" cy="610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5" name="그룹 223"/>
          <p:cNvGrpSpPr>
            <a:grpSpLocks/>
          </p:cNvGrpSpPr>
          <p:nvPr/>
        </p:nvGrpSpPr>
        <p:grpSpPr bwMode="auto">
          <a:xfrm>
            <a:off x="2638973" y="3628691"/>
            <a:ext cx="1006949" cy="305751"/>
            <a:chOff x="6900488" y="2500306"/>
            <a:chExt cx="647703" cy="287340"/>
          </a:xfrm>
        </p:grpSpPr>
        <p:sp>
          <p:nvSpPr>
            <p:cNvPr id="160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1" name="직선 연결선 16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3" name="AutoShape 41"/>
          <p:cNvCxnSpPr>
            <a:cxnSpLocks noChangeShapeType="1"/>
            <a:endCxn id="131" idx="1"/>
          </p:cNvCxnSpPr>
          <p:nvPr/>
        </p:nvCxnSpPr>
        <p:spPr bwMode="auto">
          <a:xfrm>
            <a:off x="3588147" y="3767974"/>
            <a:ext cx="383925" cy="151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4" name="순서도: 처리 163"/>
          <p:cNvSpPr/>
          <p:nvPr/>
        </p:nvSpPr>
        <p:spPr>
          <a:xfrm>
            <a:off x="3972071" y="4224003"/>
            <a:ext cx="915892" cy="35814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223"/>
          <p:cNvGrpSpPr>
            <a:grpSpLocks/>
          </p:cNvGrpSpPr>
          <p:nvPr/>
        </p:nvGrpSpPr>
        <p:grpSpPr bwMode="auto">
          <a:xfrm>
            <a:off x="5238879" y="4261151"/>
            <a:ext cx="775845" cy="305751"/>
            <a:chOff x="6858016" y="2500306"/>
            <a:chExt cx="647704" cy="287340"/>
          </a:xfrm>
        </p:grpSpPr>
        <p:sp>
          <p:nvSpPr>
            <p:cNvPr id="166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7" name="직선 연결선 166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순서도: 처리 168"/>
          <p:cNvSpPr/>
          <p:nvPr/>
        </p:nvSpPr>
        <p:spPr>
          <a:xfrm>
            <a:off x="3972071" y="4792390"/>
            <a:ext cx="915892" cy="26981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입출고처리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0" name="직선 화살표 연결선 219"/>
          <p:cNvCxnSpPr>
            <a:stCxn id="130" idx="3"/>
          </p:cNvCxnSpPr>
          <p:nvPr/>
        </p:nvCxnSpPr>
        <p:spPr>
          <a:xfrm flipH="1">
            <a:off x="4433113" y="2667801"/>
            <a:ext cx="519637" cy="1405706"/>
          </a:xfrm>
          <a:prstGeom prst="bentConnector4">
            <a:avLst>
              <a:gd name="adj1" fmla="val -234283"/>
              <a:gd name="adj2" fmla="val 99945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>
            <a:stCxn id="125" idx="2"/>
            <a:endCxn id="121" idx="0"/>
          </p:cNvCxnSpPr>
          <p:nvPr/>
        </p:nvCxnSpPr>
        <p:spPr>
          <a:xfrm rot="16200000" flipH="1">
            <a:off x="4355365" y="1486187"/>
            <a:ext cx="152400" cy="447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/>
          <p:nvPr/>
        </p:nvCxnSpPr>
        <p:spPr>
          <a:xfrm rot="5400000">
            <a:off x="4324157" y="2376904"/>
            <a:ext cx="21172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/>
          <p:cNvCxnSpPr/>
          <p:nvPr/>
        </p:nvCxnSpPr>
        <p:spPr>
          <a:xfrm rot="5400000">
            <a:off x="4286977" y="2995743"/>
            <a:ext cx="28608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/>
          <p:cNvCxnSpPr>
            <a:stCxn id="126" idx="1"/>
            <a:endCxn id="127" idx="3"/>
          </p:cNvCxnSpPr>
          <p:nvPr/>
        </p:nvCxnSpPr>
        <p:spPr>
          <a:xfrm rot="10800000" flipV="1">
            <a:off x="3564714" y="2086141"/>
            <a:ext cx="349450" cy="15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/>
          <p:nvPr/>
        </p:nvCxnSpPr>
        <p:spPr>
          <a:xfrm rot="5400000">
            <a:off x="4288413" y="3472731"/>
            <a:ext cx="28321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/>
          <p:cNvCxnSpPr>
            <a:stCxn id="131" idx="2"/>
            <a:endCxn id="164" idx="0"/>
          </p:cNvCxnSpPr>
          <p:nvPr/>
        </p:nvCxnSpPr>
        <p:spPr>
          <a:xfrm rot="5400000">
            <a:off x="4280302" y="4074219"/>
            <a:ext cx="29943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/>
          <p:nvPr/>
        </p:nvCxnSpPr>
        <p:spPr>
          <a:xfrm rot="5400000">
            <a:off x="4324894" y="4687200"/>
            <a:ext cx="210246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/>
          <p:cNvSpPr/>
          <p:nvPr/>
        </p:nvSpPr>
        <p:spPr>
          <a:xfrm>
            <a:off x="6608988" y="1183622"/>
            <a:ext cx="2847519" cy="49149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2" name="순서도: 처리 201"/>
          <p:cNvSpPr/>
          <p:nvPr/>
        </p:nvSpPr>
        <p:spPr>
          <a:xfrm>
            <a:off x="6732793" y="1275062"/>
            <a:ext cx="2690699" cy="47244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3" name="순서도: 처리 202"/>
          <p:cNvSpPr/>
          <p:nvPr/>
        </p:nvSpPr>
        <p:spPr>
          <a:xfrm>
            <a:off x="6732793" y="1275062"/>
            <a:ext cx="2690699" cy="1905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순서도: 처리 203"/>
          <p:cNvSpPr/>
          <p:nvPr/>
        </p:nvSpPr>
        <p:spPr>
          <a:xfrm>
            <a:off x="6881359" y="1572242"/>
            <a:ext cx="2401820" cy="43129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" name="순서도: 처리 204"/>
          <p:cNvSpPr/>
          <p:nvPr/>
        </p:nvSpPr>
        <p:spPr>
          <a:xfrm>
            <a:off x="6881359" y="1564623"/>
            <a:ext cx="2401820" cy="1981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순서도: 처리 205"/>
          <p:cNvSpPr/>
          <p:nvPr/>
        </p:nvSpPr>
        <p:spPr>
          <a:xfrm>
            <a:off x="7108468" y="1896790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2" name="직선 화살표 연결선 211"/>
          <p:cNvCxnSpPr/>
          <p:nvPr/>
        </p:nvCxnSpPr>
        <p:spPr>
          <a:xfrm rot="5400000">
            <a:off x="4340627" y="3702457"/>
            <a:ext cx="178783" cy="172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순서도: 처리 214"/>
          <p:cNvSpPr/>
          <p:nvPr/>
        </p:nvSpPr>
        <p:spPr>
          <a:xfrm>
            <a:off x="7108468" y="5104810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수불등록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순서도: 처리 215"/>
          <p:cNvSpPr/>
          <p:nvPr/>
        </p:nvSpPr>
        <p:spPr>
          <a:xfrm>
            <a:off x="7108468" y="4627082"/>
            <a:ext cx="915892" cy="30353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입출고이력등록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" name="그룹 239"/>
          <p:cNvGrpSpPr/>
          <p:nvPr/>
        </p:nvGrpSpPr>
        <p:grpSpPr>
          <a:xfrm>
            <a:off x="8267977" y="4634535"/>
            <a:ext cx="1048217" cy="305752"/>
            <a:chOff x="7726680" y="5165413"/>
            <a:chExt cx="967740" cy="305752"/>
          </a:xfrm>
        </p:grpSpPr>
        <p:sp>
          <p:nvSpPr>
            <p:cNvPr id="218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입출고이력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219" name="직선 연결선 218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1" name="AutoShape 41"/>
          <p:cNvCxnSpPr>
            <a:cxnSpLocks noChangeShapeType="1"/>
            <a:stCxn id="216" idx="3"/>
          </p:cNvCxnSpPr>
          <p:nvPr/>
        </p:nvCxnSpPr>
        <p:spPr bwMode="auto">
          <a:xfrm flipV="1">
            <a:off x="8024361" y="4773813"/>
            <a:ext cx="243617" cy="503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2" name="TextBox 183"/>
          <p:cNvSpPr txBox="1">
            <a:spLocks noChangeArrowheads="1"/>
          </p:cNvSpPr>
          <p:nvPr/>
        </p:nvSpPr>
        <p:spPr bwMode="auto">
          <a:xfrm>
            <a:off x="8267977" y="5092810"/>
            <a:ext cx="104821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수불이력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231"/>
          <p:cNvGrpSpPr/>
          <p:nvPr/>
        </p:nvGrpSpPr>
        <p:grpSpPr>
          <a:xfrm>
            <a:off x="8339055" y="5061255"/>
            <a:ext cx="861585" cy="267652"/>
            <a:chOff x="7632501" y="5165413"/>
            <a:chExt cx="772349" cy="267652"/>
          </a:xfrm>
        </p:grpSpPr>
        <p:cxnSp>
          <p:nvCxnSpPr>
            <p:cNvPr id="244" name="직선 연결선 243"/>
            <p:cNvCxnSpPr/>
            <p:nvPr/>
          </p:nvCxnSpPr>
          <p:spPr bwMode="auto">
            <a:xfrm>
              <a:off x="7632501" y="5431376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연결선 244"/>
            <p:cNvCxnSpPr/>
            <p:nvPr/>
          </p:nvCxnSpPr>
          <p:spPr bwMode="auto">
            <a:xfrm>
              <a:off x="7639897" y="5165413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AutoShape 41"/>
          <p:cNvCxnSpPr>
            <a:cxnSpLocks noChangeShapeType="1"/>
            <a:stCxn id="215" idx="3"/>
            <a:endCxn id="242" idx="1"/>
          </p:cNvCxnSpPr>
          <p:nvPr/>
        </p:nvCxnSpPr>
        <p:spPr bwMode="auto">
          <a:xfrm flipV="1">
            <a:off x="8024361" y="5200533"/>
            <a:ext cx="243617" cy="44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1" name="순서도: 처리 250"/>
          <p:cNvSpPr/>
          <p:nvPr/>
        </p:nvSpPr>
        <p:spPr>
          <a:xfrm>
            <a:off x="7108468" y="4245308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할당처리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5" name="AutoShape 41"/>
          <p:cNvCxnSpPr>
            <a:cxnSpLocks noChangeShapeType="1"/>
            <a:stCxn id="251" idx="3"/>
          </p:cNvCxnSpPr>
          <p:nvPr/>
        </p:nvCxnSpPr>
        <p:spPr bwMode="auto">
          <a:xfrm flipV="1">
            <a:off x="8024361" y="4339473"/>
            <a:ext cx="251870" cy="200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" name="그룹 256"/>
          <p:cNvGrpSpPr/>
          <p:nvPr/>
        </p:nvGrpSpPr>
        <p:grpSpPr>
          <a:xfrm>
            <a:off x="8276231" y="4200195"/>
            <a:ext cx="1048217" cy="267652"/>
            <a:chOff x="7734300" y="4753933"/>
            <a:chExt cx="967740" cy="267652"/>
          </a:xfrm>
        </p:grpSpPr>
        <p:grpSp>
          <p:nvGrpSpPr>
            <p:cNvPr id="13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53" name="직선 연결선 252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6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할당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0" name="순서도: 처리 259"/>
          <p:cNvSpPr/>
          <p:nvPr/>
        </p:nvSpPr>
        <p:spPr>
          <a:xfrm>
            <a:off x="7108468" y="3840673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입출고 반영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1" name="AutoShape 41"/>
          <p:cNvCxnSpPr>
            <a:cxnSpLocks noChangeShapeType="1"/>
            <a:stCxn id="260" idx="3"/>
          </p:cNvCxnSpPr>
          <p:nvPr/>
        </p:nvCxnSpPr>
        <p:spPr bwMode="auto">
          <a:xfrm flipV="1">
            <a:off x="8024361" y="3935612"/>
            <a:ext cx="251870" cy="123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" name="그룹 261"/>
          <p:cNvGrpSpPr/>
          <p:nvPr/>
        </p:nvGrpSpPr>
        <p:grpSpPr>
          <a:xfrm>
            <a:off x="8276231" y="3796335"/>
            <a:ext cx="1048217" cy="267652"/>
            <a:chOff x="7734300" y="4753933"/>
            <a:chExt cx="967740" cy="267652"/>
          </a:xfrm>
        </p:grpSpPr>
        <p:grpSp>
          <p:nvGrpSpPr>
            <p:cNvPr id="15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65" name="직선 연결선 264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4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7" name="순서도: 판단 266"/>
          <p:cNvSpPr/>
          <p:nvPr/>
        </p:nvSpPr>
        <p:spPr>
          <a:xfrm>
            <a:off x="7050559" y="327368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재고확인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8" name="순서도: 처리 267"/>
          <p:cNvSpPr/>
          <p:nvPr/>
        </p:nvSpPr>
        <p:spPr>
          <a:xfrm>
            <a:off x="8434649" y="3344754"/>
            <a:ext cx="765994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9" name="직선 화살표 연결선 268"/>
          <p:cNvCxnSpPr>
            <a:stCxn id="267" idx="3"/>
            <a:endCxn id="268" idx="1"/>
          </p:cNvCxnSpPr>
          <p:nvPr/>
        </p:nvCxnSpPr>
        <p:spPr>
          <a:xfrm>
            <a:off x="8082270" y="3458652"/>
            <a:ext cx="352379" cy="60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순서도: 처리 277"/>
          <p:cNvSpPr/>
          <p:nvPr/>
        </p:nvSpPr>
        <p:spPr>
          <a:xfrm>
            <a:off x="7108468" y="2715951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현재고 취득 및 수량계산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2" name="순서도: 처리 281"/>
          <p:cNvSpPr/>
          <p:nvPr/>
        </p:nvSpPr>
        <p:spPr>
          <a:xfrm>
            <a:off x="7108468" y="2273283"/>
            <a:ext cx="915892" cy="3124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상품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정보취득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4" name="직선 화살표 연결선 283"/>
          <p:cNvCxnSpPr>
            <a:stCxn id="206" idx="2"/>
            <a:endCxn id="282" idx="0"/>
          </p:cNvCxnSpPr>
          <p:nvPr/>
        </p:nvCxnSpPr>
        <p:spPr>
          <a:xfrm rot="5400000">
            <a:off x="7474340" y="2181141"/>
            <a:ext cx="18415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>
            <a:stCxn id="282" idx="2"/>
            <a:endCxn id="278" idx="0"/>
          </p:cNvCxnSpPr>
          <p:nvPr/>
        </p:nvCxnSpPr>
        <p:spPr>
          <a:xfrm rot="5400000">
            <a:off x="7501290" y="2650761"/>
            <a:ext cx="130248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/>
          <p:cNvCxnSpPr>
            <a:stCxn id="278" idx="2"/>
            <a:endCxn id="267" idx="0"/>
          </p:cNvCxnSpPr>
          <p:nvPr/>
        </p:nvCxnSpPr>
        <p:spPr>
          <a:xfrm rot="5400000">
            <a:off x="7456458" y="3163661"/>
            <a:ext cx="21991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/>
          <p:cNvCxnSpPr>
            <a:stCxn id="267" idx="2"/>
            <a:endCxn id="260" idx="0"/>
          </p:cNvCxnSpPr>
          <p:nvPr/>
        </p:nvCxnSpPr>
        <p:spPr>
          <a:xfrm rot="5400000">
            <a:off x="7467888" y="3742080"/>
            <a:ext cx="19705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화살표 연결선 304"/>
          <p:cNvCxnSpPr>
            <a:stCxn id="260" idx="2"/>
            <a:endCxn id="251" idx="0"/>
          </p:cNvCxnSpPr>
          <p:nvPr/>
        </p:nvCxnSpPr>
        <p:spPr>
          <a:xfrm rot="5400000">
            <a:off x="7460268" y="4139095"/>
            <a:ext cx="21229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>
            <a:stCxn id="251" idx="2"/>
            <a:endCxn id="216" idx="0"/>
          </p:cNvCxnSpPr>
          <p:nvPr/>
        </p:nvCxnSpPr>
        <p:spPr>
          <a:xfrm rot="5400000">
            <a:off x="7471698" y="4532300"/>
            <a:ext cx="18943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/>
          <p:cNvCxnSpPr>
            <a:stCxn id="216" idx="2"/>
            <a:endCxn id="215" idx="0"/>
          </p:cNvCxnSpPr>
          <p:nvPr/>
        </p:nvCxnSpPr>
        <p:spPr>
          <a:xfrm rot="5400000">
            <a:off x="7479317" y="5017644"/>
            <a:ext cx="174197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순서도: 처리 317"/>
          <p:cNvSpPr/>
          <p:nvPr/>
        </p:nvSpPr>
        <p:spPr>
          <a:xfrm>
            <a:off x="3972071" y="5226730"/>
            <a:ext cx="915892" cy="26981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주문수정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" name="그룹 223"/>
          <p:cNvGrpSpPr>
            <a:grpSpLocks/>
          </p:cNvGrpSpPr>
          <p:nvPr/>
        </p:nvGrpSpPr>
        <p:grpSpPr bwMode="auto">
          <a:xfrm>
            <a:off x="5238879" y="5221271"/>
            <a:ext cx="775845" cy="305751"/>
            <a:chOff x="6858016" y="2500306"/>
            <a:chExt cx="647704" cy="287340"/>
          </a:xfrm>
        </p:grpSpPr>
        <p:sp>
          <p:nvSpPr>
            <p:cNvPr id="320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1" name="직선 연결선 32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AutoShape 41"/>
          <p:cNvCxnSpPr>
            <a:cxnSpLocks noChangeShapeType="1"/>
            <a:stCxn id="318" idx="3"/>
          </p:cNvCxnSpPr>
          <p:nvPr/>
        </p:nvCxnSpPr>
        <p:spPr bwMode="auto">
          <a:xfrm flipV="1">
            <a:off x="4887963" y="5360550"/>
            <a:ext cx="350916" cy="1086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9" name="AutoShape 41"/>
          <p:cNvCxnSpPr>
            <a:cxnSpLocks noChangeShapeType="1"/>
            <a:stCxn id="164" idx="3"/>
          </p:cNvCxnSpPr>
          <p:nvPr/>
        </p:nvCxnSpPr>
        <p:spPr bwMode="auto">
          <a:xfrm flipV="1">
            <a:off x="4887963" y="4400431"/>
            <a:ext cx="350916" cy="264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7" name="그룹 223"/>
          <p:cNvGrpSpPr>
            <a:grpSpLocks/>
          </p:cNvGrpSpPr>
          <p:nvPr/>
        </p:nvGrpSpPr>
        <p:grpSpPr bwMode="auto">
          <a:xfrm>
            <a:off x="2655480" y="5221271"/>
            <a:ext cx="1006949" cy="305751"/>
            <a:chOff x="6900488" y="2500306"/>
            <a:chExt cx="647703" cy="287340"/>
          </a:xfrm>
        </p:grpSpPr>
        <p:sp>
          <p:nvSpPr>
            <p:cNvPr id="33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8" name="직선 연결선 33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0" name="AutoShape 41"/>
          <p:cNvCxnSpPr>
            <a:cxnSpLocks noChangeShapeType="1"/>
            <a:endCxn id="318" idx="1"/>
          </p:cNvCxnSpPr>
          <p:nvPr/>
        </p:nvCxnSpPr>
        <p:spPr bwMode="auto">
          <a:xfrm>
            <a:off x="3604654" y="5360554"/>
            <a:ext cx="367418" cy="108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2" name="순서도: 수행의 시작/종료 341"/>
          <p:cNvSpPr/>
          <p:nvPr/>
        </p:nvSpPr>
        <p:spPr>
          <a:xfrm>
            <a:off x="3935430" y="585468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입고확정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3" name="직선 화살표 연결선 342"/>
          <p:cNvCxnSpPr>
            <a:stCxn id="120" idx="2"/>
            <a:endCxn id="342" idx="0"/>
          </p:cNvCxnSpPr>
          <p:nvPr/>
        </p:nvCxnSpPr>
        <p:spPr>
          <a:xfrm rot="5400000">
            <a:off x="4329528" y="5750066"/>
            <a:ext cx="205740" cy="3493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화살표 연결선 345"/>
          <p:cNvCxnSpPr/>
          <p:nvPr/>
        </p:nvCxnSpPr>
        <p:spPr>
          <a:xfrm rot="5400000">
            <a:off x="4347755" y="5144399"/>
            <a:ext cx="164527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83"/>
          <p:cNvSpPr txBox="1">
            <a:spLocks noChangeArrowheads="1"/>
          </p:cNvSpPr>
          <p:nvPr/>
        </p:nvSpPr>
        <p:spPr bwMode="auto">
          <a:xfrm>
            <a:off x="4991271" y="2471531"/>
            <a:ext cx="100694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입하수량 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1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83"/>
          <p:cNvSpPr txBox="1">
            <a:spLocks noChangeArrowheads="1"/>
          </p:cNvSpPr>
          <p:nvPr/>
        </p:nvSpPr>
        <p:spPr bwMode="auto">
          <a:xfrm>
            <a:off x="3643171" y="2842371"/>
            <a:ext cx="100694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입하수량 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 0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7" name="순서도: 처리 116"/>
          <p:cNvSpPr/>
          <p:nvPr/>
        </p:nvSpPr>
        <p:spPr>
          <a:xfrm>
            <a:off x="7108468" y="5482011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재고관리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공통모듈 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8" name="직선 화살표 연결선 117"/>
          <p:cNvCxnSpPr>
            <a:stCxn id="215" idx="2"/>
            <a:endCxn id="117" idx="0"/>
          </p:cNvCxnSpPr>
          <p:nvPr/>
        </p:nvCxnSpPr>
        <p:spPr>
          <a:xfrm rot="5400000">
            <a:off x="7473986" y="5389515"/>
            <a:ext cx="184859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AutoShape 41"/>
          <p:cNvCxnSpPr>
            <a:cxnSpLocks noChangeShapeType="1"/>
            <a:stCxn id="117" idx="3"/>
          </p:cNvCxnSpPr>
          <p:nvPr/>
        </p:nvCxnSpPr>
        <p:spPr bwMode="auto">
          <a:xfrm flipV="1">
            <a:off x="8024361" y="5650707"/>
            <a:ext cx="235363" cy="21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8" name="그룹 239"/>
          <p:cNvGrpSpPr/>
          <p:nvPr/>
        </p:nvGrpSpPr>
        <p:grpSpPr>
          <a:xfrm>
            <a:off x="8259723" y="5449876"/>
            <a:ext cx="1048217" cy="370109"/>
            <a:chOff x="7726680" y="5165413"/>
            <a:chExt cx="967740" cy="370109"/>
          </a:xfrm>
        </p:grpSpPr>
        <p:sp>
          <p:nvSpPr>
            <p:cNvPr id="145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논리재고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주문논리재고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9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47" name="직선 연결선 146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순서도: 처리 119"/>
          <p:cNvSpPr/>
          <p:nvPr/>
        </p:nvSpPr>
        <p:spPr>
          <a:xfrm>
            <a:off x="2589447" y="1564622"/>
            <a:ext cx="3689394" cy="40843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2589447" y="1564623"/>
            <a:ext cx="3688706" cy="174523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TextBox 183"/>
          <p:cNvSpPr txBox="1">
            <a:spLocks noChangeArrowheads="1"/>
          </p:cNvSpPr>
          <p:nvPr/>
        </p:nvSpPr>
        <p:spPr bwMode="auto">
          <a:xfrm>
            <a:off x="7986309" y="3293529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TextBox 183"/>
          <p:cNvSpPr txBox="1">
            <a:spLocks noChangeArrowheads="1"/>
          </p:cNvSpPr>
          <p:nvPr/>
        </p:nvSpPr>
        <p:spPr bwMode="auto">
          <a:xfrm>
            <a:off x="7229722" y="3611029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출고등록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(PK_WMSOP030.SP_INSERT_ORDER)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000108"/>
            <a:ext cx="1893999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마감일자 이전 주문 에러처리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주문</a:t>
            </a:r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마스터</a:t>
            </a:r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등록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입력 주문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가 있으면 해당 주문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가 없으면 신규등록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주문상세 등록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입력 주문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SEQ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가 있으면 해당 주문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SEQ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가 없으면 신규등록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입력 주문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가 없을 경우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신규등록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마스터정보에서 취득한 유효기간</a:t>
            </a: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 등록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790357" y="110742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출고등록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순서도: 처리 128"/>
          <p:cNvSpPr/>
          <p:nvPr/>
        </p:nvSpPr>
        <p:spPr>
          <a:xfrm>
            <a:off x="3827632" y="3516040"/>
            <a:ext cx="915892" cy="33839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5032537" y="3548681"/>
            <a:ext cx="775845" cy="305751"/>
            <a:chOff x="6858016" y="2500306"/>
            <a:chExt cx="647704" cy="287340"/>
          </a:xfrm>
        </p:grpSpPr>
        <p:sp>
          <p:nvSpPr>
            <p:cNvPr id="13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8" name="AutoShape 41"/>
          <p:cNvCxnSpPr>
            <a:cxnSpLocks noChangeShapeType="1"/>
            <a:stCxn id="129" idx="3"/>
          </p:cNvCxnSpPr>
          <p:nvPr/>
        </p:nvCxnSpPr>
        <p:spPr bwMode="auto">
          <a:xfrm>
            <a:off x="4743523" y="3685236"/>
            <a:ext cx="289013" cy="272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8" name="직선 화살표 연결선 177"/>
          <p:cNvCxnSpPr>
            <a:stCxn id="125" idx="2"/>
            <a:endCxn id="116" idx="0"/>
          </p:cNvCxnSpPr>
          <p:nvPr/>
        </p:nvCxnSpPr>
        <p:spPr>
          <a:xfrm rot="5400000">
            <a:off x="4180455" y="1562999"/>
            <a:ext cx="210247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>
            <a:stCxn id="129" idx="2"/>
            <a:endCxn id="222" idx="0"/>
          </p:cNvCxnSpPr>
          <p:nvPr/>
        </p:nvCxnSpPr>
        <p:spPr>
          <a:xfrm rot="5400000">
            <a:off x="3956013" y="4183931"/>
            <a:ext cx="65913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AutoShape 41"/>
          <p:cNvCxnSpPr>
            <a:cxnSpLocks noChangeShapeType="1"/>
            <a:endCxn id="222" idx="1"/>
          </p:cNvCxnSpPr>
          <p:nvPr/>
        </p:nvCxnSpPr>
        <p:spPr bwMode="auto">
          <a:xfrm flipV="1">
            <a:off x="3439576" y="4688824"/>
            <a:ext cx="388056" cy="164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16" name="순서도: 처리 115"/>
          <p:cNvSpPr/>
          <p:nvPr/>
        </p:nvSpPr>
        <p:spPr>
          <a:xfrm>
            <a:off x="3827632" y="1668190"/>
            <a:ext cx="915892" cy="23933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7" name="순서도: 처리 116"/>
          <p:cNvSpPr/>
          <p:nvPr/>
        </p:nvSpPr>
        <p:spPr>
          <a:xfrm>
            <a:off x="3827632" y="2174626"/>
            <a:ext cx="915892" cy="34630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마스터</a:t>
            </a: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5040791" y="2207561"/>
            <a:ext cx="775845" cy="305751"/>
            <a:chOff x="6858016" y="2500306"/>
            <a:chExt cx="647704" cy="287340"/>
          </a:xfrm>
        </p:grpSpPr>
        <p:sp>
          <p:nvSpPr>
            <p:cNvPr id="119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0" name="직선 연결선 119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AutoShape 41"/>
          <p:cNvCxnSpPr>
            <a:cxnSpLocks noChangeShapeType="1"/>
            <a:stCxn id="117" idx="3"/>
          </p:cNvCxnSpPr>
          <p:nvPr/>
        </p:nvCxnSpPr>
        <p:spPr bwMode="auto">
          <a:xfrm flipV="1">
            <a:off x="4743523" y="2346841"/>
            <a:ext cx="297267" cy="9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24" name="순서도: 처리 123"/>
          <p:cNvSpPr/>
          <p:nvPr/>
        </p:nvSpPr>
        <p:spPr>
          <a:xfrm>
            <a:off x="2737670" y="2819382"/>
            <a:ext cx="3520549" cy="19177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2" name="순서도: 처리 221"/>
          <p:cNvSpPr/>
          <p:nvPr/>
        </p:nvSpPr>
        <p:spPr>
          <a:xfrm>
            <a:off x="3827632" y="451356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7" name="AutoShape 41"/>
          <p:cNvCxnSpPr>
            <a:cxnSpLocks noChangeShapeType="1"/>
            <a:stCxn id="222" idx="3"/>
          </p:cNvCxnSpPr>
          <p:nvPr/>
        </p:nvCxnSpPr>
        <p:spPr bwMode="auto">
          <a:xfrm flipV="1">
            <a:off x="4743523" y="4683447"/>
            <a:ext cx="297267" cy="537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33" name="직선 화살표 연결선 232"/>
          <p:cNvCxnSpPr>
            <a:stCxn id="116" idx="2"/>
            <a:endCxn id="117" idx="0"/>
          </p:cNvCxnSpPr>
          <p:nvPr/>
        </p:nvCxnSpPr>
        <p:spPr>
          <a:xfrm rot="5400000">
            <a:off x="4152026" y="2041008"/>
            <a:ext cx="267104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화살표 연결선 235"/>
          <p:cNvCxnSpPr>
            <a:stCxn id="117" idx="2"/>
          </p:cNvCxnSpPr>
          <p:nvPr/>
        </p:nvCxnSpPr>
        <p:spPr>
          <a:xfrm rot="16200000" flipH="1">
            <a:off x="4124340" y="2682169"/>
            <a:ext cx="323850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설명선 2(강조선) 285"/>
          <p:cNvSpPr/>
          <p:nvPr/>
        </p:nvSpPr>
        <p:spPr>
          <a:xfrm>
            <a:off x="6611052" y="1333482"/>
            <a:ext cx="2841328" cy="3454400"/>
          </a:xfrm>
          <a:prstGeom prst="accentCallout2">
            <a:avLst>
              <a:gd name="adj1" fmla="val 19485"/>
              <a:gd name="adj2" fmla="val -4702"/>
              <a:gd name="adj3" fmla="val 12675"/>
              <a:gd name="adj4" fmla="val -24224"/>
              <a:gd name="adj5" fmla="val 12658"/>
              <a:gd name="adj6" fmla="val -66743"/>
            </a:avLst>
          </a:prstGeom>
          <a:solidFill>
            <a:srgbClr val="C5D9F1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7" name="직선 화살표 연결선 246"/>
          <p:cNvCxnSpPr>
            <a:endCxn id="342" idx="0"/>
          </p:cNvCxnSpPr>
          <p:nvPr/>
        </p:nvCxnSpPr>
        <p:spPr>
          <a:xfrm rot="16200000" flipH="1">
            <a:off x="4051155" y="5619731"/>
            <a:ext cx="457200" cy="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직사각형 286"/>
          <p:cNvSpPr/>
          <p:nvPr/>
        </p:nvSpPr>
        <p:spPr>
          <a:xfrm>
            <a:off x="6599358" y="1346182"/>
            <a:ext cx="2847519" cy="343535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3" name="순서도: 처리 292"/>
          <p:cNvSpPr/>
          <p:nvPr/>
        </p:nvSpPr>
        <p:spPr>
          <a:xfrm>
            <a:off x="7673845" y="2698732"/>
            <a:ext cx="915892" cy="33655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취득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4" name="직선 화살표 연결선 293"/>
          <p:cNvCxnSpPr>
            <a:stCxn id="293" idx="2"/>
            <a:endCxn id="335" idx="0"/>
          </p:cNvCxnSpPr>
          <p:nvPr/>
        </p:nvCxnSpPr>
        <p:spPr>
          <a:xfrm rot="5400000">
            <a:off x="7985287" y="3181721"/>
            <a:ext cx="29301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순서도: 판단 334"/>
          <p:cNvSpPr/>
          <p:nvPr/>
        </p:nvSpPr>
        <p:spPr>
          <a:xfrm>
            <a:off x="7438482" y="3328293"/>
            <a:ext cx="1386618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마감일자비교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1" name="순서도: 처리 340"/>
          <p:cNvSpPr/>
          <p:nvPr/>
        </p:nvSpPr>
        <p:spPr>
          <a:xfrm>
            <a:off x="8563956" y="3869264"/>
            <a:ext cx="699965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8" name="직선 화살표 연결선 219"/>
          <p:cNvCxnSpPr>
            <a:stCxn id="335" idx="3"/>
            <a:endCxn id="341" idx="0"/>
          </p:cNvCxnSpPr>
          <p:nvPr/>
        </p:nvCxnSpPr>
        <p:spPr>
          <a:xfrm>
            <a:off x="8825100" y="3513263"/>
            <a:ext cx="88839" cy="356001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6701158" y="2727468"/>
            <a:ext cx="742827" cy="305751"/>
            <a:chOff x="6900488" y="2500306"/>
            <a:chExt cx="647703" cy="287340"/>
          </a:xfrm>
        </p:grpSpPr>
        <p:sp>
          <p:nvSpPr>
            <p:cNvPr id="364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업무마감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66" name="직선 연결선 36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8" name="AutoShape 41"/>
          <p:cNvCxnSpPr>
            <a:cxnSpLocks noChangeShapeType="1"/>
            <a:endCxn id="293" idx="1"/>
          </p:cNvCxnSpPr>
          <p:nvPr/>
        </p:nvCxnSpPr>
        <p:spPr bwMode="auto">
          <a:xfrm>
            <a:off x="7443985" y="2866751"/>
            <a:ext cx="229861" cy="25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75" name="순서도: 수행의 시작/종료 374"/>
          <p:cNvSpPr/>
          <p:nvPr/>
        </p:nvSpPr>
        <p:spPr>
          <a:xfrm>
            <a:off x="7636571" y="1479532"/>
            <a:ext cx="990441" cy="2997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6" name="순서도: 수행의 시작/종료 375"/>
          <p:cNvSpPr/>
          <p:nvPr/>
        </p:nvSpPr>
        <p:spPr>
          <a:xfrm>
            <a:off x="7636571" y="4367512"/>
            <a:ext cx="990441" cy="2997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7" name="직선 화살표 연결선 376"/>
          <p:cNvCxnSpPr>
            <a:stCxn id="375" idx="2"/>
            <a:endCxn id="384" idx="0"/>
          </p:cNvCxnSpPr>
          <p:nvPr/>
        </p:nvCxnSpPr>
        <p:spPr>
          <a:xfrm rot="5400000">
            <a:off x="8035452" y="1875526"/>
            <a:ext cx="19268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순서도: 판단 383"/>
          <p:cNvSpPr/>
          <p:nvPr/>
        </p:nvSpPr>
        <p:spPr>
          <a:xfrm>
            <a:off x="7438482" y="1971934"/>
            <a:ext cx="1386618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주문일자 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LOOP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6" name="직선 화살표 연결선 385"/>
          <p:cNvCxnSpPr>
            <a:stCxn id="384" idx="2"/>
            <a:endCxn id="293" idx="0"/>
          </p:cNvCxnSpPr>
          <p:nvPr/>
        </p:nvCxnSpPr>
        <p:spPr>
          <a:xfrm rot="5400000">
            <a:off x="7953362" y="2520234"/>
            <a:ext cx="35686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화살표 연결선 219"/>
          <p:cNvCxnSpPr>
            <a:stCxn id="335" idx="2"/>
          </p:cNvCxnSpPr>
          <p:nvPr/>
        </p:nvCxnSpPr>
        <p:spPr>
          <a:xfrm rot="5400000" flipH="1">
            <a:off x="7505519" y="3071958"/>
            <a:ext cx="1248418" cy="4127"/>
          </a:xfrm>
          <a:prstGeom prst="bentConnector5">
            <a:avLst>
              <a:gd name="adj1" fmla="val -25942"/>
              <a:gd name="adj2" fmla="val 35300011"/>
              <a:gd name="adj3" fmla="val 99964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219"/>
          <p:cNvCxnSpPr>
            <a:stCxn id="384" idx="3"/>
            <a:endCxn id="376" idx="0"/>
          </p:cNvCxnSpPr>
          <p:nvPr/>
        </p:nvCxnSpPr>
        <p:spPr>
          <a:xfrm flipH="1">
            <a:off x="8131791" y="2156902"/>
            <a:ext cx="693309" cy="2210610"/>
          </a:xfrm>
          <a:prstGeom prst="bentConnector4">
            <a:avLst>
              <a:gd name="adj1" fmla="val -78373"/>
              <a:gd name="adj2" fmla="val 92101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183"/>
          <p:cNvSpPr txBox="1">
            <a:spLocks noChangeArrowheads="1"/>
          </p:cNvSpPr>
          <p:nvPr/>
        </p:nvSpPr>
        <p:spPr bwMode="auto">
          <a:xfrm>
            <a:off x="8643524" y="1954641"/>
            <a:ext cx="7951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LOOP END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4" name="TextBox 183"/>
          <p:cNvSpPr txBox="1">
            <a:spLocks noChangeArrowheads="1"/>
          </p:cNvSpPr>
          <p:nvPr/>
        </p:nvSpPr>
        <p:spPr bwMode="auto">
          <a:xfrm>
            <a:off x="8148303" y="2361041"/>
            <a:ext cx="7951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LOOP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223"/>
          <p:cNvGrpSpPr>
            <a:grpSpLocks/>
          </p:cNvGrpSpPr>
          <p:nvPr/>
        </p:nvGrpSpPr>
        <p:grpSpPr bwMode="auto">
          <a:xfrm>
            <a:off x="2771032" y="4551188"/>
            <a:ext cx="668544" cy="305751"/>
            <a:chOff x="6900488" y="2500306"/>
            <a:chExt cx="647703" cy="287340"/>
          </a:xfrm>
        </p:grpSpPr>
        <p:sp>
          <p:nvSpPr>
            <p:cNvPr id="33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8" name="직선 연결선 33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223"/>
          <p:cNvGrpSpPr>
            <a:grpSpLocks/>
          </p:cNvGrpSpPr>
          <p:nvPr/>
        </p:nvGrpSpPr>
        <p:grpSpPr bwMode="auto">
          <a:xfrm>
            <a:off x="5040791" y="4482608"/>
            <a:ext cx="1081231" cy="305751"/>
            <a:chOff x="6858016" y="2500306"/>
            <a:chExt cx="647704" cy="287340"/>
          </a:xfrm>
        </p:grpSpPr>
        <p:sp>
          <p:nvSpPr>
            <p:cNvPr id="224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5" name="직선 연결선 22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순서도: 처리 122"/>
          <p:cNvSpPr/>
          <p:nvPr/>
        </p:nvSpPr>
        <p:spPr>
          <a:xfrm>
            <a:off x="2738013" y="2825732"/>
            <a:ext cx="3524320" cy="25654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2" name="순서도: 수행의 시작/종료 341"/>
          <p:cNvSpPr/>
          <p:nvPr/>
        </p:nvSpPr>
        <p:spPr>
          <a:xfrm>
            <a:off x="3784535" y="584833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출고등록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TextBox 183"/>
          <p:cNvSpPr txBox="1">
            <a:spLocks noChangeArrowheads="1"/>
          </p:cNvSpPr>
          <p:nvPr/>
        </p:nvSpPr>
        <p:spPr bwMode="auto">
          <a:xfrm>
            <a:off x="6988657" y="3725021"/>
            <a:ext cx="13109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주문일자 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마감일자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TextBox 183"/>
          <p:cNvSpPr txBox="1">
            <a:spLocks noChangeArrowheads="1"/>
          </p:cNvSpPr>
          <p:nvPr/>
        </p:nvSpPr>
        <p:spPr bwMode="auto">
          <a:xfrm>
            <a:off x="8234963" y="3248771"/>
            <a:ext cx="135222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주문일자 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&lt;=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마감일자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905979" y="4884403"/>
            <a:ext cx="408557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출고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NULL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주문입력상태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:100&gt;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2.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주문입력상태이고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PAY_YN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'Y'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대금결제확인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:120&gt;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3.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주문입력상태이거나 대금결제확인 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4.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OR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물량할당취소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ALOC_QTY = OUT_ORD_QTY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물량할당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:200&gt;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5.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물량할당상태이고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ALOC_QTY =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물량할당취소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:210&gt;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주문등록상태 이후 혹은 로케이션지정 취소 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OUT_LOC_QTY &gt;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로케이션지정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:230&gt;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7. WORK_STAT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가 로케이션지정 상태이고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OUT_LOC_QTY =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로케이션지정취소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:240&gt;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8. WORK_STAT &gt;=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(100)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OUT_DSP_QTY &gt;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배차상태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:300&gt;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9. WORK_STAT =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배차상태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(300)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OUT_DSP_QTY =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배차취소상태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:310&gt;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10. &lt;</a:t>
            </a:r>
            <a:r>
              <a:rPr lang="ko-KR" altLang="en-US" sz="600" dirty="0" err="1" smtClean="0">
                <a:latin typeface="맑은 고딕" pitchFamily="50" charset="-127"/>
                <a:ea typeface="맑은 고딕" pitchFamily="50" charset="-127"/>
              </a:rPr>
              <a:t>피킹리스트발행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:400&gt;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11. WORK_STAT &gt;=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(100)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PICKING_QTY &gt;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err="1" smtClean="0">
                <a:latin typeface="맑은 고딕" pitchFamily="50" charset="-127"/>
                <a:ea typeface="맑은 고딕" pitchFamily="50" charset="-127"/>
              </a:rPr>
              <a:t>피킹확정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:490&gt;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12. WORK_STAT &gt;=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(100)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LOAD_QTY &gt; 0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상차상태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:500&gt;</a:t>
            </a:r>
          </a:p>
          <a:p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13. WORK_STAT &gt;=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주문등록상태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(100)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OUT_ORD_QTY = REAL_OUT_QTY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이면 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출고확정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:990&gt;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51942" y="3590512"/>
            <a:ext cx="940919" cy="33855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유효기간</a:t>
            </a:r>
            <a:r>
              <a:rPr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 등록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(PK_WMSOP010.SP_APPROVE_ORDER)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0174" y="1000108"/>
            <a:ext cx="1972286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대금결제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정책적용에 따라  주문정보의 대금결제확인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비용청구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정책적용에 따라 비용청구 여부 확인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현재 정산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미구현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거래처별유효기간확인</a:t>
            </a:r>
            <a:endParaRPr kumimoji="0" lang="en-US" altLang="ko-KR" sz="900" b="1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정책적용에 따라 해당 주문의 거래처별 유효기간을 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UOM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입력오류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주문정보상세의 입고주문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UOMID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의 정합성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재고관리 공통모듈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주문정보를 논리재고 정보에 반영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(*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실제처리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안함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5511077" y="110742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순서도: 처리 130"/>
          <p:cNvSpPr/>
          <p:nvPr/>
        </p:nvSpPr>
        <p:spPr>
          <a:xfrm>
            <a:off x="5542001" y="3480517"/>
            <a:ext cx="915892" cy="310166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7285791" y="3502644"/>
            <a:ext cx="775845" cy="305751"/>
            <a:chOff x="6858016" y="2500306"/>
            <a:chExt cx="647704" cy="287340"/>
          </a:xfrm>
        </p:grpSpPr>
        <p:sp>
          <p:nvSpPr>
            <p:cNvPr id="15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6" name="직선 연결선 15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AutoShape 41"/>
          <p:cNvCxnSpPr>
            <a:cxnSpLocks noChangeShapeType="1"/>
            <a:stCxn id="131" idx="3"/>
          </p:cNvCxnSpPr>
          <p:nvPr/>
        </p:nvCxnSpPr>
        <p:spPr bwMode="auto">
          <a:xfrm>
            <a:off x="6457894" y="3635600"/>
            <a:ext cx="821547" cy="632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8" name="직선 화살표 연결선 177"/>
          <p:cNvCxnSpPr/>
          <p:nvPr/>
        </p:nvCxnSpPr>
        <p:spPr>
          <a:xfrm rot="16200000" flipH="1">
            <a:off x="5903427" y="1560812"/>
            <a:ext cx="205740" cy="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>
            <a:stCxn id="89" idx="2"/>
            <a:endCxn id="131" idx="0"/>
          </p:cNvCxnSpPr>
          <p:nvPr/>
        </p:nvCxnSpPr>
        <p:spPr>
          <a:xfrm rot="5400000">
            <a:off x="5918841" y="3398328"/>
            <a:ext cx="163295" cy="108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AutoShape 41"/>
          <p:cNvCxnSpPr>
            <a:cxnSpLocks noChangeShapeType="1"/>
            <a:endCxn id="188" idx="1"/>
          </p:cNvCxnSpPr>
          <p:nvPr/>
        </p:nvCxnSpPr>
        <p:spPr bwMode="auto">
          <a:xfrm>
            <a:off x="4683978" y="5418181"/>
            <a:ext cx="870896" cy="414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7" name="직선 화살표 연결선 176"/>
          <p:cNvCxnSpPr>
            <a:stCxn id="131" idx="2"/>
          </p:cNvCxnSpPr>
          <p:nvPr/>
        </p:nvCxnSpPr>
        <p:spPr>
          <a:xfrm rot="16200000" flipH="1">
            <a:off x="5929696" y="3860934"/>
            <a:ext cx="143761" cy="325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/>
          <p:cNvCxnSpPr/>
          <p:nvPr/>
        </p:nvCxnSpPr>
        <p:spPr>
          <a:xfrm rot="5400000">
            <a:off x="5908942" y="2515353"/>
            <a:ext cx="19471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87" idx="2"/>
            <a:endCxn id="342" idx="0"/>
          </p:cNvCxnSpPr>
          <p:nvPr/>
        </p:nvCxnSpPr>
        <p:spPr>
          <a:xfrm rot="5400000">
            <a:off x="5910500" y="5843167"/>
            <a:ext cx="175260" cy="17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4009084" y="5278898"/>
            <a:ext cx="668544" cy="305751"/>
            <a:chOff x="6900488" y="2500306"/>
            <a:chExt cx="647703" cy="287340"/>
          </a:xfrm>
        </p:grpSpPr>
        <p:sp>
          <p:nvSpPr>
            <p:cNvPr id="33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8" name="직선 연결선 33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순서도: 수행의 시작/종료 341"/>
          <p:cNvSpPr/>
          <p:nvPr/>
        </p:nvSpPr>
        <p:spPr>
          <a:xfrm>
            <a:off x="5502823" y="593088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승인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순서도: 처리 86"/>
          <p:cNvSpPr/>
          <p:nvPr/>
        </p:nvSpPr>
        <p:spPr>
          <a:xfrm>
            <a:off x="3282756" y="1663682"/>
            <a:ext cx="5430920" cy="409194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순서도: 처리 87"/>
          <p:cNvSpPr/>
          <p:nvPr/>
        </p:nvSpPr>
        <p:spPr>
          <a:xfrm>
            <a:off x="3282756" y="1663682"/>
            <a:ext cx="5430920" cy="1905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순서도: 처리 88"/>
          <p:cNvSpPr/>
          <p:nvPr/>
        </p:nvSpPr>
        <p:spPr>
          <a:xfrm>
            <a:off x="3428695" y="1960862"/>
            <a:ext cx="5144668" cy="135636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순서도: 처리 89"/>
          <p:cNvSpPr/>
          <p:nvPr/>
        </p:nvSpPr>
        <p:spPr>
          <a:xfrm>
            <a:off x="3428061" y="1953243"/>
            <a:ext cx="5144668" cy="1981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순서도: 처리 96"/>
          <p:cNvSpPr/>
          <p:nvPr/>
        </p:nvSpPr>
        <p:spPr>
          <a:xfrm>
            <a:off x="3420441" y="3942062"/>
            <a:ext cx="5144668" cy="17602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순서도: 처리 97"/>
          <p:cNvSpPr/>
          <p:nvPr/>
        </p:nvSpPr>
        <p:spPr>
          <a:xfrm>
            <a:off x="3420441" y="3934443"/>
            <a:ext cx="5144668" cy="19812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순서도: 판단 100"/>
          <p:cNvSpPr/>
          <p:nvPr/>
        </p:nvSpPr>
        <p:spPr>
          <a:xfrm>
            <a:off x="5164594" y="4721484"/>
            <a:ext cx="1692004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UOM</a:t>
            </a: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입력오류확인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순서도: 처리 101"/>
          <p:cNvSpPr/>
          <p:nvPr/>
        </p:nvSpPr>
        <p:spPr>
          <a:xfrm>
            <a:off x="7493730" y="4792554"/>
            <a:ext cx="765994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2" name="AutoShape 41"/>
          <p:cNvCxnSpPr>
            <a:cxnSpLocks noChangeShapeType="1"/>
            <a:endCxn id="73" idx="1"/>
          </p:cNvCxnSpPr>
          <p:nvPr/>
        </p:nvCxnSpPr>
        <p:spPr bwMode="auto">
          <a:xfrm flipV="1">
            <a:off x="4718896" y="2342692"/>
            <a:ext cx="437826" cy="4629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4050352" y="2208038"/>
            <a:ext cx="668544" cy="305751"/>
            <a:chOff x="6900488" y="2500306"/>
            <a:chExt cx="647703" cy="287340"/>
          </a:xfrm>
        </p:grpSpPr>
        <p:sp>
          <p:nvSpPr>
            <p:cNvPr id="118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6" name="직선 연결선 12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AutoShape 41"/>
          <p:cNvCxnSpPr>
            <a:cxnSpLocks noChangeShapeType="1"/>
            <a:stCxn id="132" idx="3"/>
            <a:endCxn id="74" idx="1"/>
          </p:cNvCxnSpPr>
          <p:nvPr/>
        </p:nvCxnSpPr>
        <p:spPr bwMode="auto">
          <a:xfrm>
            <a:off x="4718896" y="2750012"/>
            <a:ext cx="437826" cy="326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5" name="그룹 223"/>
          <p:cNvGrpSpPr>
            <a:grpSpLocks/>
          </p:cNvGrpSpPr>
          <p:nvPr/>
        </p:nvGrpSpPr>
        <p:grpSpPr bwMode="auto">
          <a:xfrm>
            <a:off x="4050352" y="2602224"/>
            <a:ext cx="668544" cy="314255"/>
            <a:chOff x="6900488" y="2492314"/>
            <a:chExt cx="647703" cy="295332"/>
          </a:xfrm>
        </p:grpSpPr>
        <p:sp>
          <p:nvSpPr>
            <p:cNvPr id="132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3" name="직선 연결선 132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>
              <a:off x="6929454" y="2492314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TextBox 183"/>
          <p:cNvSpPr txBox="1">
            <a:spLocks noChangeArrowheads="1"/>
          </p:cNvSpPr>
          <p:nvPr/>
        </p:nvSpPr>
        <p:spPr bwMode="auto">
          <a:xfrm>
            <a:off x="3431329" y="4799920"/>
            <a:ext cx="132883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UOM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159"/>
          <p:cNvGrpSpPr/>
          <p:nvPr/>
        </p:nvGrpSpPr>
        <p:grpSpPr>
          <a:xfrm>
            <a:off x="3518971" y="4775979"/>
            <a:ext cx="1109135" cy="305751"/>
            <a:chOff x="3136538" y="4201956"/>
            <a:chExt cx="1328793" cy="305751"/>
          </a:xfrm>
        </p:grpSpPr>
        <p:cxnSp>
          <p:nvCxnSpPr>
            <p:cNvPr id="147" name="직선 연결선 146"/>
            <p:cNvCxnSpPr/>
            <p:nvPr/>
          </p:nvCxnSpPr>
          <p:spPr bwMode="auto">
            <a:xfrm>
              <a:off x="3136538" y="4506018"/>
              <a:ext cx="132879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 bwMode="auto">
            <a:xfrm>
              <a:off x="3136538" y="4201956"/>
              <a:ext cx="132879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AutoShape 41"/>
          <p:cNvCxnSpPr>
            <a:cxnSpLocks noChangeShapeType="1"/>
            <a:stCxn id="146" idx="3"/>
            <a:endCxn id="101" idx="1"/>
          </p:cNvCxnSpPr>
          <p:nvPr/>
        </p:nvCxnSpPr>
        <p:spPr bwMode="auto">
          <a:xfrm flipV="1">
            <a:off x="4760166" y="4906452"/>
            <a:ext cx="404429" cy="1190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8" name="순서도: 처리 187"/>
          <p:cNvSpPr/>
          <p:nvPr/>
        </p:nvSpPr>
        <p:spPr>
          <a:xfrm>
            <a:off x="5554873" y="5253411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재고관리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공통모듈 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9" name="직선 화살표 연결선 188"/>
          <p:cNvCxnSpPr>
            <a:stCxn id="234" idx="2"/>
            <a:endCxn id="101" idx="0"/>
          </p:cNvCxnSpPr>
          <p:nvPr/>
        </p:nvCxnSpPr>
        <p:spPr>
          <a:xfrm rot="5400000">
            <a:off x="5935212" y="4646031"/>
            <a:ext cx="15077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AutoShape 41"/>
          <p:cNvCxnSpPr>
            <a:cxnSpLocks noChangeShapeType="1"/>
            <a:stCxn id="188" idx="3"/>
            <a:endCxn id="193" idx="1"/>
          </p:cNvCxnSpPr>
          <p:nvPr/>
        </p:nvCxnSpPr>
        <p:spPr bwMode="auto">
          <a:xfrm flipV="1">
            <a:off x="6470765" y="5422107"/>
            <a:ext cx="806771" cy="21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3" name="TextBox 183"/>
          <p:cNvSpPr txBox="1">
            <a:spLocks noChangeArrowheads="1"/>
          </p:cNvSpPr>
          <p:nvPr/>
        </p:nvSpPr>
        <p:spPr bwMode="auto">
          <a:xfrm>
            <a:off x="7277536" y="5252830"/>
            <a:ext cx="10482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논리재고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</a:p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주문논리재고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" name="그룹 231"/>
          <p:cNvGrpSpPr/>
          <p:nvPr/>
        </p:nvGrpSpPr>
        <p:grpSpPr>
          <a:xfrm>
            <a:off x="7356864" y="5256512"/>
            <a:ext cx="853338" cy="342901"/>
            <a:chOff x="7639897" y="5165413"/>
            <a:chExt cx="764956" cy="305752"/>
          </a:xfrm>
        </p:grpSpPr>
        <p:cxnSp>
          <p:nvCxnSpPr>
            <p:cNvPr id="195" name="직선 연결선 194"/>
            <p:cNvCxnSpPr/>
            <p:nvPr/>
          </p:nvCxnSpPr>
          <p:spPr bwMode="auto">
            <a:xfrm>
              <a:off x="7639900" y="5469476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 bwMode="auto">
            <a:xfrm>
              <a:off x="7639897" y="5165413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1" name="직선 화살표 연결선 200"/>
          <p:cNvCxnSpPr>
            <a:stCxn id="101" idx="2"/>
            <a:endCxn id="188" idx="0"/>
          </p:cNvCxnSpPr>
          <p:nvPr/>
        </p:nvCxnSpPr>
        <p:spPr>
          <a:xfrm rot="16200000" flipH="1">
            <a:off x="5930712" y="5171304"/>
            <a:ext cx="161990" cy="2223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AutoShape 41"/>
          <p:cNvCxnSpPr>
            <a:cxnSpLocks noChangeShapeType="1"/>
            <a:endCxn id="234" idx="1"/>
          </p:cNvCxnSpPr>
          <p:nvPr/>
        </p:nvCxnSpPr>
        <p:spPr bwMode="auto">
          <a:xfrm flipV="1">
            <a:off x="4652867" y="4395454"/>
            <a:ext cx="899784" cy="164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4" name="순서도: 처리 233"/>
          <p:cNvSpPr/>
          <p:nvPr/>
        </p:nvSpPr>
        <p:spPr>
          <a:xfrm>
            <a:off x="5552650" y="422019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5" name="AutoShape 41"/>
          <p:cNvCxnSpPr>
            <a:cxnSpLocks noChangeShapeType="1"/>
            <a:stCxn id="234" idx="3"/>
          </p:cNvCxnSpPr>
          <p:nvPr/>
        </p:nvCxnSpPr>
        <p:spPr bwMode="auto">
          <a:xfrm flipV="1">
            <a:off x="6468543" y="4384023"/>
            <a:ext cx="825501" cy="1143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8" name="그룹 223"/>
          <p:cNvGrpSpPr>
            <a:grpSpLocks/>
          </p:cNvGrpSpPr>
          <p:nvPr/>
        </p:nvGrpSpPr>
        <p:grpSpPr bwMode="auto">
          <a:xfrm>
            <a:off x="3984322" y="4257818"/>
            <a:ext cx="668544" cy="305751"/>
            <a:chOff x="6900488" y="2500306"/>
            <a:chExt cx="647703" cy="287340"/>
          </a:xfrm>
        </p:grpSpPr>
        <p:sp>
          <p:nvSpPr>
            <p:cNvPr id="238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39" name="직선 연결선 238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223"/>
          <p:cNvGrpSpPr>
            <a:grpSpLocks/>
          </p:cNvGrpSpPr>
          <p:nvPr/>
        </p:nvGrpSpPr>
        <p:grpSpPr bwMode="auto">
          <a:xfrm>
            <a:off x="7244522" y="4212098"/>
            <a:ext cx="1081231" cy="305751"/>
            <a:chOff x="6858016" y="2500306"/>
            <a:chExt cx="647704" cy="287340"/>
          </a:xfrm>
        </p:grpSpPr>
        <p:sp>
          <p:nvSpPr>
            <p:cNvPr id="242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3" name="직선 연결선 242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연결선 243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183"/>
          <p:cNvSpPr txBox="1">
            <a:spLocks noChangeArrowheads="1"/>
          </p:cNvSpPr>
          <p:nvPr/>
        </p:nvSpPr>
        <p:spPr bwMode="auto">
          <a:xfrm>
            <a:off x="6732793" y="4715621"/>
            <a:ext cx="70981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UOM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TextBox 183"/>
          <p:cNvSpPr txBox="1">
            <a:spLocks noChangeArrowheads="1"/>
          </p:cNvSpPr>
          <p:nvPr/>
        </p:nvSpPr>
        <p:spPr bwMode="auto">
          <a:xfrm>
            <a:off x="5626800" y="5012801"/>
            <a:ext cx="5364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순서도: 판단 72"/>
          <p:cNvSpPr/>
          <p:nvPr/>
        </p:nvSpPr>
        <p:spPr>
          <a:xfrm>
            <a:off x="5156722" y="2204703"/>
            <a:ext cx="1692004" cy="27597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 smtClean="0">
                <a:latin typeface="맑은 고딕" pitchFamily="50" charset="-127"/>
                <a:ea typeface="맑은 고딕" pitchFamily="50" charset="-127"/>
              </a:rPr>
              <a:t>재금결제확인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순서도: 판단 73"/>
          <p:cNvSpPr/>
          <p:nvPr/>
        </p:nvSpPr>
        <p:spPr>
          <a:xfrm>
            <a:off x="5156722" y="2648273"/>
            <a:ext cx="1692004" cy="204130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비용청구확인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순서도: 처리 74"/>
          <p:cNvSpPr/>
          <p:nvPr/>
        </p:nvSpPr>
        <p:spPr>
          <a:xfrm>
            <a:off x="7609281" y="2963754"/>
            <a:ext cx="765994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8" name="직선 화살표 연결선 219"/>
          <p:cNvCxnSpPr>
            <a:stCxn id="74" idx="3"/>
            <a:endCxn id="75" idx="1"/>
          </p:cNvCxnSpPr>
          <p:nvPr/>
        </p:nvCxnSpPr>
        <p:spPr>
          <a:xfrm>
            <a:off x="6848726" y="2750338"/>
            <a:ext cx="760555" cy="327920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219"/>
          <p:cNvCxnSpPr>
            <a:stCxn id="73" idx="3"/>
            <a:endCxn id="75" idx="0"/>
          </p:cNvCxnSpPr>
          <p:nvPr/>
        </p:nvCxnSpPr>
        <p:spPr>
          <a:xfrm>
            <a:off x="6848726" y="2342691"/>
            <a:ext cx="1143552" cy="621062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219"/>
          <p:cNvCxnSpPr>
            <a:stCxn id="101" idx="3"/>
            <a:endCxn id="102" idx="1"/>
          </p:cNvCxnSpPr>
          <p:nvPr/>
        </p:nvCxnSpPr>
        <p:spPr>
          <a:xfrm>
            <a:off x="6856599" y="4906452"/>
            <a:ext cx="637131" cy="606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183"/>
          <p:cNvSpPr txBox="1">
            <a:spLocks noChangeArrowheads="1"/>
          </p:cNvSpPr>
          <p:nvPr/>
        </p:nvSpPr>
        <p:spPr bwMode="auto">
          <a:xfrm>
            <a:off x="6749300" y="2155301"/>
            <a:ext cx="70981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미결제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183"/>
          <p:cNvSpPr txBox="1">
            <a:spLocks noChangeArrowheads="1"/>
          </p:cNvSpPr>
          <p:nvPr/>
        </p:nvSpPr>
        <p:spPr bwMode="auto">
          <a:xfrm>
            <a:off x="6757554" y="2543921"/>
            <a:ext cx="70981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순서도: 판단 85"/>
          <p:cNvSpPr/>
          <p:nvPr/>
        </p:nvSpPr>
        <p:spPr>
          <a:xfrm>
            <a:off x="5156722" y="2975933"/>
            <a:ext cx="1692004" cy="204130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거래처별 유효기간확인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1" name="직선 화살표 연결선 90"/>
          <p:cNvCxnSpPr>
            <a:stCxn id="74" idx="2"/>
            <a:endCxn id="86" idx="0"/>
          </p:cNvCxnSpPr>
          <p:nvPr/>
        </p:nvCxnSpPr>
        <p:spPr>
          <a:xfrm rot="5400000">
            <a:off x="5940959" y="2914102"/>
            <a:ext cx="12353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219"/>
          <p:cNvCxnSpPr>
            <a:stCxn id="86" idx="3"/>
            <a:endCxn id="75" idx="1"/>
          </p:cNvCxnSpPr>
          <p:nvPr/>
        </p:nvCxnSpPr>
        <p:spPr>
          <a:xfrm>
            <a:off x="6848726" y="3077998"/>
            <a:ext cx="760555" cy="260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83"/>
          <p:cNvSpPr txBox="1">
            <a:spLocks noChangeArrowheads="1"/>
          </p:cNvSpPr>
          <p:nvPr/>
        </p:nvSpPr>
        <p:spPr bwMode="auto">
          <a:xfrm>
            <a:off x="6749300" y="2902061"/>
            <a:ext cx="70981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로케이션지정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(PK_WMSOP010_SABLE7.SP_SAVE_LOC)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74739"/>
            <a:ext cx="196621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확인수량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주문정보존재확인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 정보가 존재하는 경우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파렛트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수량 및 박스 수량을 계산하여 반영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ko-KR" altLang="en-US" sz="900" b="1" dirty="0" err="1" smtClean="0">
                <a:latin typeface="맑은 고딕" pitchFamily="50" charset="-127"/>
                <a:ea typeface="맑은 고딕" pitchFamily="50" charset="-127"/>
              </a:rPr>
              <a:t>파렛트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및 박스당 상품수량 취득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변환 하고자 하는 상품이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UOM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별로 환산정보가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있을경우만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계산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5504199" y="1107422"/>
            <a:ext cx="990441" cy="30861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로케이션지정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88" idx="0"/>
          </p:cNvCxnSpPr>
          <p:nvPr/>
        </p:nvCxnSpPr>
        <p:spPr>
          <a:xfrm rot="5400000">
            <a:off x="5909918" y="1504332"/>
            <a:ext cx="177800" cy="1203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순서도: 처리 115"/>
          <p:cNvSpPr/>
          <p:nvPr/>
        </p:nvSpPr>
        <p:spPr>
          <a:xfrm>
            <a:off x="5548351" y="1840213"/>
            <a:ext cx="915892" cy="28194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취득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7" name="직선 화살표 연결선 176"/>
          <p:cNvCxnSpPr>
            <a:stCxn id="74" idx="2"/>
            <a:endCxn id="100" idx="0"/>
          </p:cNvCxnSpPr>
          <p:nvPr/>
        </p:nvCxnSpPr>
        <p:spPr>
          <a:xfrm rot="5400000">
            <a:off x="5947997" y="2570077"/>
            <a:ext cx="12382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/>
          <p:cNvCxnSpPr>
            <a:endCxn id="74" idx="0"/>
          </p:cNvCxnSpPr>
          <p:nvPr/>
        </p:nvCxnSpPr>
        <p:spPr>
          <a:xfrm rot="16200000" flipH="1">
            <a:off x="5932539" y="2176862"/>
            <a:ext cx="151128" cy="361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87" idx="2"/>
            <a:endCxn id="342" idx="0"/>
          </p:cNvCxnSpPr>
          <p:nvPr/>
        </p:nvCxnSpPr>
        <p:spPr>
          <a:xfrm rot="5400000">
            <a:off x="5918755" y="5775222"/>
            <a:ext cx="158750" cy="17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순서도: 수행의 시작/종료 341"/>
          <p:cNvSpPr/>
          <p:nvPr/>
        </p:nvSpPr>
        <p:spPr>
          <a:xfrm>
            <a:off x="5502823" y="585468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로케이션지정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순서도: 처리 86"/>
          <p:cNvSpPr/>
          <p:nvPr/>
        </p:nvSpPr>
        <p:spPr>
          <a:xfrm>
            <a:off x="3282756" y="1593832"/>
            <a:ext cx="5430920" cy="41021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순서도: 처리 87"/>
          <p:cNvSpPr/>
          <p:nvPr/>
        </p:nvSpPr>
        <p:spPr>
          <a:xfrm>
            <a:off x="3282756" y="1593832"/>
            <a:ext cx="5430920" cy="1905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2" name="AutoShape 41"/>
          <p:cNvCxnSpPr>
            <a:cxnSpLocks noChangeShapeType="1"/>
            <a:endCxn id="116" idx="1"/>
          </p:cNvCxnSpPr>
          <p:nvPr/>
        </p:nvCxnSpPr>
        <p:spPr bwMode="auto">
          <a:xfrm flipV="1">
            <a:off x="4718895" y="1981184"/>
            <a:ext cx="829456" cy="164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4050352" y="1843548"/>
            <a:ext cx="668544" cy="305751"/>
            <a:chOff x="6900488" y="2500306"/>
            <a:chExt cx="647703" cy="287340"/>
          </a:xfrm>
        </p:grpSpPr>
        <p:sp>
          <p:nvSpPr>
            <p:cNvPr id="118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6" name="직선 연결선 12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9" name="직선 화살표 연결선 188"/>
          <p:cNvCxnSpPr>
            <a:stCxn id="100" idx="2"/>
            <a:endCxn id="143" idx="0"/>
          </p:cNvCxnSpPr>
          <p:nvPr/>
        </p:nvCxnSpPr>
        <p:spPr>
          <a:xfrm rot="5400000">
            <a:off x="5955933" y="2965363"/>
            <a:ext cx="1079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순서도: 처리 73"/>
          <p:cNvSpPr/>
          <p:nvPr/>
        </p:nvSpPr>
        <p:spPr>
          <a:xfrm>
            <a:off x="5551962" y="2254232"/>
            <a:ext cx="915892" cy="25400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내부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LOT</a:t>
            </a: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23"/>
          <p:cNvGrpSpPr>
            <a:grpSpLocks/>
          </p:cNvGrpSpPr>
          <p:nvPr/>
        </p:nvGrpSpPr>
        <p:grpSpPr bwMode="auto">
          <a:xfrm>
            <a:off x="6813956" y="2229151"/>
            <a:ext cx="775845" cy="305751"/>
            <a:chOff x="6858016" y="2500306"/>
            <a:chExt cx="647704" cy="287340"/>
          </a:xfrm>
        </p:grpSpPr>
        <p:sp>
          <p:nvSpPr>
            <p:cNvPr id="76" name="TextBox 183"/>
            <p:cNvSpPr txBox="1">
              <a:spLocks noChangeArrowheads="1"/>
            </p:cNvSpPr>
            <p:nvPr/>
          </p:nvSpPr>
          <p:spPr bwMode="auto">
            <a:xfrm>
              <a:off x="6858016" y="2529961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내부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LOT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77" name="직선 연결선 76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AutoShape 41"/>
          <p:cNvCxnSpPr>
            <a:cxnSpLocks noChangeShapeType="1"/>
            <a:stCxn id="74" idx="3"/>
          </p:cNvCxnSpPr>
          <p:nvPr/>
        </p:nvCxnSpPr>
        <p:spPr bwMode="auto">
          <a:xfrm flipV="1">
            <a:off x="6467855" y="2381132"/>
            <a:ext cx="346101" cy="1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4" name="그룹 223"/>
          <p:cNvGrpSpPr>
            <a:grpSpLocks/>
          </p:cNvGrpSpPr>
          <p:nvPr/>
        </p:nvGrpSpPr>
        <p:grpSpPr bwMode="auto">
          <a:xfrm>
            <a:off x="3948554" y="2164380"/>
            <a:ext cx="1031709" cy="421231"/>
            <a:chOff x="6858016" y="2500306"/>
            <a:chExt cx="647704" cy="287340"/>
          </a:xfrm>
        </p:grpSpPr>
        <p:sp>
          <p:nvSpPr>
            <p:cNvPr id="85" name="TextBox 183"/>
            <p:cNvSpPr txBox="1">
              <a:spLocks noChangeArrowheads="1"/>
            </p:cNvSpPr>
            <p:nvPr/>
          </p:nvSpPr>
          <p:spPr bwMode="auto">
            <a:xfrm>
              <a:off x="6858016" y="2529967"/>
              <a:ext cx="579123" cy="2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6" name="직선 연결선 8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AutoShape 41"/>
          <p:cNvCxnSpPr>
            <a:cxnSpLocks noChangeShapeType="1"/>
            <a:endCxn id="74" idx="1"/>
          </p:cNvCxnSpPr>
          <p:nvPr/>
        </p:nvCxnSpPr>
        <p:spPr bwMode="auto">
          <a:xfrm>
            <a:off x="5091691" y="2381232"/>
            <a:ext cx="460272" cy="1588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00" name="순서도: 처리 99"/>
          <p:cNvSpPr/>
          <p:nvPr/>
        </p:nvSpPr>
        <p:spPr>
          <a:xfrm>
            <a:off x="5551962" y="2632054"/>
            <a:ext cx="915892" cy="2794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로케이션정보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223"/>
          <p:cNvGrpSpPr>
            <a:grpSpLocks/>
          </p:cNvGrpSpPr>
          <p:nvPr/>
        </p:nvGrpSpPr>
        <p:grpSpPr bwMode="auto">
          <a:xfrm>
            <a:off x="6797448" y="2629833"/>
            <a:ext cx="775845" cy="305751"/>
            <a:chOff x="6858016" y="2500306"/>
            <a:chExt cx="647704" cy="287340"/>
          </a:xfrm>
        </p:grpSpPr>
        <p:sp>
          <p:nvSpPr>
            <p:cNvPr id="104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5" name="직선 연결선 10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" name="AutoShape 41"/>
          <p:cNvCxnSpPr>
            <a:cxnSpLocks noChangeShapeType="1"/>
            <a:stCxn id="100" idx="3"/>
          </p:cNvCxnSpPr>
          <p:nvPr/>
        </p:nvCxnSpPr>
        <p:spPr bwMode="auto">
          <a:xfrm>
            <a:off x="6467855" y="2771755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6" name="그룹 223"/>
          <p:cNvGrpSpPr>
            <a:grpSpLocks/>
          </p:cNvGrpSpPr>
          <p:nvPr/>
        </p:nvGrpSpPr>
        <p:grpSpPr bwMode="auto">
          <a:xfrm>
            <a:off x="4028342" y="2622213"/>
            <a:ext cx="1006949" cy="305751"/>
            <a:chOff x="6900488" y="2500306"/>
            <a:chExt cx="647703" cy="287340"/>
          </a:xfrm>
        </p:grpSpPr>
        <p:sp>
          <p:nvSpPr>
            <p:cNvPr id="111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13" name="직선 연결선 112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" name="AutoShape 41"/>
          <p:cNvCxnSpPr>
            <a:cxnSpLocks noChangeShapeType="1"/>
            <a:endCxn id="100" idx="1"/>
          </p:cNvCxnSpPr>
          <p:nvPr/>
        </p:nvCxnSpPr>
        <p:spPr bwMode="auto">
          <a:xfrm>
            <a:off x="5170101" y="2767846"/>
            <a:ext cx="381861" cy="3909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43" name="순서도: 처리 142"/>
          <p:cNvSpPr/>
          <p:nvPr/>
        </p:nvSpPr>
        <p:spPr>
          <a:xfrm>
            <a:off x="5551962" y="3019404"/>
            <a:ext cx="915892" cy="2794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작업상세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UPDATE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" name="그룹 223"/>
          <p:cNvGrpSpPr>
            <a:grpSpLocks/>
          </p:cNvGrpSpPr>
          <p:nvPr/>
        </p:nvGrpSpPr>
        <p:grpSpPr bwMode="auto">
          <a:xfrm>
            <a:off x="6797448" y="3017183"/>
            <a:ext cx="775845" cy="305751"/>
            <a:chOff x="6858016" y="2500306"/>
            <a:chExt cx="647704" cy="287340"/>
          </a:xfrm>
        </p:grpSpPr>
        <p:sp>
          <p:nvSpPr>
            <p:cNvPr id="145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0" name="직선 연결선 149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AutoShape 41"/>
          <p:cNvCxnSpPr>
            <a:cxnSpLocks noChangeShapeType="1"/>
            <a:stCxn id="143" idx="3"/>
          </p:cNvCxnSpPr>
          <p:nvPr/>
        </p:nvCxnSpPr>
        <p:spPr bwMode="auto">
          <a:xfrm>
            <a:off x="6467855" y="3159105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60" name="순서도: 처리 159"/>
          <p:cNvSpPr/>
          <p:nvPr/>
        </p:nvSpPr>
        <p:spPr>
          <a:xfrm>
            <a:off x="5551962" y="3806804"/>
            <a:ext cx="915892" cy="2794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 smtClean="0">
                <a:latin typeface="맑은 고딕" pitchFamily="50" charset="-127"/>
                <a:ea typeface="맑은 고딕" pitchFamily="50" charset="-127"/>
              </a:rPr>
              <a:t>파렛트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 및 박스당 상품수량 취득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순서도: 처리 161"/>
          <p:cNvSpPr/>
          <p:nvPr/>
        </p:nvSpPr>
        <p:spPr>
          <a:xfrm>
            <a:off x="5551962" y="4219554"/>
            <a:ext cx="915892" cy="168278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주문량 조회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5" name="순서도: 처리 164"/>
          <p:cNvSpPr/>
          <p:nvPr/>
        </p:nvSpPr>
        <p:spPr>
          <a:xfrm>
            <a:off x="5551962" y="4508482"/>
            <a:ext cx="915892" cy="2667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</p:txBody>
      </p:sp>
      <p:sp>
        <p:nvSpPr>
          <p:cNvPr id="166" name="순서도: 처리 165"/>
          <p:cNvSpPr/>
          <p:nvPr/>
        </p:nvSpPr>
        <p:spPr>
          <a:xfrm>
            <a:off x="5551962" y="4921232"/>
            <a:ext cx="915892" cy="2667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로케이션정보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</p:txBody>
      </p:sp>
      <p:sp>
        <p:nvSpPr>
          <p:cNvPr id="167" name="순서도: 처리 166"/>
          <p:cNvSpPr/>
          <p:nvPr/>
        </p:nvSpPr>
        <p:spPr>
          <a:xfrm>
            <a:off x="5551962" y="5368904"/>
            <a:ext cx="915892" cy="168278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23"/>
          <p:cNvGrpSpPr>
            <a:grpSpLocks/>
          </p:cNvGrpSpPr>
          <p:nvPr/>
        </p:nvGrpSpPr>
        <p:grpSpPr bwMode="auto">
          <a:xfrm>
            <a:off x="6797448" y="4522133"/>
            <a:ext cx="775845" cy="305751"/>
            <a:chOff x="6858016" y="2500306"/>
            <a:chExt cx="647704" cy="287340"/>
          </a:xfrm>
        </p:grpSpPr>
        <p:sp>
          <p:nvSpPr>
            <p:cNvPr id="169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0" name="직선 연결선 169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AutoShape 41"/>
          <p:cNvCxnSpPr>
            <a:cxnSpLocks noChangeShapeType="1"/>
          </p:cNvCxnSpPr>
          <p:nvPr/>
        </p:nvCxnSpPr>
        <p:spPr bwMode="auto">
          <a:xfrm>
            <a:off x="6467855" y="4664055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0" name="그룹 223"/>
          <p:cNvGrpSpPr>
            <a:grpSpLocks/>
          </p:cNvGrpSpPr>
          <p:nvPr/>
        </p:nvGrpSpPr>
        <p:grpSpPr bwMode="auto">
          <a:xfrm>
            <a:off x="6797448" y="4915833"/>
            <a:ext cx="775845" cy="305751"/>
            <a:chOff x="6858016" y="2500306"/>
            <a:chExt cx="647704" cy="287340"/>
          </a:xfrm>
        </p:grpSpPr>
        <p:sp>
          <p:nvSpPr>
            <p:cNvPr id="174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5" name="직선 연결선 17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AutoShape 41"/>
          <p:cNvCxnSpPr>
            <a:cxnSpLocks noChangeShapeType="1"/>
          </p:cNvCxnSpPr>
          <p:nvPr/>
        </p:nvCxnSpPr>
        <p:spPr bwMode="auto">
          <a:xfrm>
            <a:off x="6467855" y="5057755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0" name="AutoShape 41"/>
          <p:cNvCxnSpPr>
            <a:cxnSpLocks noChangeShapeType="1"/>
          </p:cNvCxnSpPr>
          <p:nvPr/>
        </p:nvCxnSpPr>
        <p:spPr bwMode="auto">
          <a:xfrm>
            <a:off x="5090312" y="5446121"/>
            <a:ext cx="480222" cy="470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1" name="AutoShape 41"/>
          <p:cNvCxnSpPr>
            <a:cxnSpLocks noChangeShapeType="1"/>
            <a:stCxn id="167" idx="3"/>
          </p:cNvCxnSpPr>
          <p:nvPr/>
        </p:nvCxnSpPr>
        <p:spPr bwMode="auto">
          <a:xfrm flipV="1">
            <a:off x="6467854" y="5452601"/>
            <a:ext cx="381870" cy="44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1" name="그룹 196"/>
          <p:cNvGrpSpPr/>
          <p:nvPr/>
        </p:nvGrpSpPr>
        <p:grpSpPr>
          <a:xfrm>
            <a:off x="4421767" y="5333982"/>
            <a:ext cx="668544" cy="228600"/>
            <a:chOff x="4175764" y="5410200"/>
            <a:chExt cx="617216" cy="228600"/>
          </a:xfrm>
        </p:grpSpPr>
        <p:sp>
          <p:nvSpPr>
            <p:cNvPr id="183" name="TextBox 183"/>
            <p:cNvSpPr txBox="1">
              <a:spLocks noChangeArrowheads="1"/>
            </p:cNvSpPr>
            <p:nvPr/>
          </p:nvSpPr>
          <p:spPr bwMode="auto">
            <a:xfrm>
              <a:off x="4175764" y="5421097"/>
              <a:ext cx="61721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4" name="직선 연결선 183"/>
            <p:cNvCxnSpPr/>
            <p:nvPr/>
          </p:nvCxnSpPr>
          <p:spPr bwMode="auto">
            <a:xfrm>
              <a:off x="4203367" y="5637537"/>
              <a:ext cx="549141" cy="12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/>
            <p:cNvCxnSpPr/>
            <p:nvPr/>
          </p:nvCxnSpPr>
          <p:spPr bwMode="auto">
            <a:xfrm>
              <a:off x="4203367" y="5410200"/>
              <a:ext cx="549141" cy="12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202"/>
          <p:cNvGrpSpPr/>
          <p:nvPr/>
        </p:nvGrpSpPr>
        <p:grpSpPr>
          <a:xfrm>
            <a:off x="6849724" y="5333982"/>
            <a:ext cx="668544" cy="228600"/>
            <a:chOff x="4175764" y="5410200"/>
            <a:chExt cx="617216" cy="228600"/>
          </a:xfrm>
        </p:grpSpPr>
        <p:sp>
          <p:nvSpPr>
            <p:cNvPr id="204" name="TextBox 183"/>
            <p:cNvSpPr txBox="1">
              <a:spLocks noChangeArrowheads="1"/>
            </p:cNvSpPr>
            <p:nvPr/>
          </p:nvSpPr>
          <p:spPr bwMode="auto">
            <a:xfrm>
              <a:off x="4175764" y="5421097"/>
              <a:ext cx="61721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5" name="직선 연결선 204"/>
            <p:cNvCxnSpPr/>
            <p:nvPr/>
          </p:nvCxnSpPr>
          <p:spPr bwMode="auto">
            <a:xfrm>
              <a:off x="4203367" y="5637537"/>
              <a:ext cx="549141" cy="12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 bwMode="auto">
            <a:xfrm>
              <a:off x="4203367" y="5410200"/>
              <a:ext cx="549141" cy="12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9" name="직선 화살표 연결선 208"/>
          <p:cNvCxnSpPr>
            <a:stCxn id="143" idx="2"/>
            <a:endCxn id="260" idx="0"/>
          </p:cNvCxnSpPr>
          <p:nvPr/>
        </p:nvCxnSpPr>
        <p:spPr>
          <a:xfrm rot="16200000" flipH="1">
            <a:off x="5958657" y="3350055"/>
            <a:ext cx="103191" cy="6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/>
          <p:cNvCxnSpPr>
            <a:stCxn id="160" idx="2"/>
            <a:endCxn id="162" idx="0"/>
          </p:cNvCxnSpPr>
          <p:nvPr/>
        </p:nvCxnSpPr>
        <p:spPr>
          <a:xfrm rot="5400000">
            <a:off x="5943233" y="4152813"/>
            <a:ext cx="1333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/>
          <p:cNvCxnSpPr>
            <a:stCxn id="162" idx="2"/>
            <a:endCxn id="165" idx="0"/>
          </p:cNvCxnSpPr>
          <p:nvPr/>
        </p:nvCxnSpPr>
        <p:spPr>
          <a:xfrm rot="5400000">
            <a:off x="5949583" y="4448091"/>
            <a:ext cx="1206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화살표 연결선 220"/>
          <p:cNvCxnSpPr>
            <a:stCxn id="165" idx="2"/>
            <a:endCxn id="166" idx="0"/>
          </p:cNvCxnSpPr>
          <p:nvPr/>
        </p:nvCxnSpPr>
        <p:spPr>
          <a:xfrm rot="5400000">
            <a:off x="5936883" y="4848141"/>
            <a:ext cx="14605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224"/>
          <p:cNvCxnSpPr>
            <a:stCxn id="166" idx="2"/>
            <a:endCxn id="167" idx="0"/>
          </p:cNvCxnSpPr>
          <p:nvPr/>
        </p:nvCxnSpPr>
        <p:spPr>
          <a:xfrm rot="5400000">
            <a:off x="5919422" y="5278352"/>
            <a:ext cx="180972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223"/>
          <p:cNvGrpSpPr>
            <a:grpSpLocks/>
          </p:cNvGrpSpPr>
          <p:nvPr/>
        </p:nvGrpSpPr>
        <p:grpSpPr bwMode="auto">
          <a:xfrm>
            <a:off x="4028342" y="3015913"/>
            <a:ext cx="1006949" cy="305751"/>
            <a:chOff x="6900488" y="2500306"/>
            <a:chExt cx="647703" cy="287340"/>
          </a:xfrm>
        </p:grpSpPr>
        <p:sp>
          <p:nvSpPr>
            <p:cNvPr id="249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50" name="직선 연결선 249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2" name="AutoShape 41"/>
          <p:cNvCxnSpPr>
            <a:cxnSpLocks noChangeShapeType="1"/>
            <a:endCxn id="143" idx="1"/>
          </p:cNvCxnSpPr>
          <p:nvPr/>
        </p:nvCxnSpPr>
        <p:spPr bwMode="auto">
          <a:xfrm flipV="1">
            <a:off x="5170101" y="3159105"/>
            <a:ext cx="381861" cy="244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5" name="그룹 223"/>
          <p:cNvGrpSpPr>
            <a:grpSpLocks/>
          </p:cNvGrpSpPr>
          <p:nvPr/>
        </p:nvGrpSpPr>
        <p:grpSpPr bwMode="auto">
          <a:xfrm>
            <a:off x="4035220" y="3816013"/>
            <a:ext cx="1006949" cy="305751"/>
            <a:chOff x="6900488" y="2500306"/>
            <a:chExt cx="647703" cy="287340"/>
          </a:xfrm>
        </p:grpSpPr>
        <p:sp>
          <p:nvSpPr>
            <p:cNvPr id="255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UOM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환산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56" name="직선 연결선 25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연결선 25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8" name="AutoShape 41"/>
          <p:cNvCxnSpPr>
            <a:cxnSpLocks noChangeShapeType="1"/>
          </p:cNvCxnSpPr>
          <p:nvPr/>
        </p:nvCxnSpPr>
        <p:spPr bwMode="auto">
          <a:xfrm flipV="1">
            <a:off x="5176979" y="3959204"/>
            <a:ext cx="381861" cy="244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0" name="순서도: 판단 259"/>
          <p:cNvSpPr/>
          <p:nvPr/>
        </p:nvSpPr>
        <p:spPr>
          <a:xfrm>
            <a:off x="5309034" y="3401996"/>
            <a:ext cx="1403125" cy="3000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주문정보</a:t>
            </a:r>
            <a:endParaRPr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존재확인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1" name="직선 화살표 연결선 219"/>
          <p:cNvCxnSpPr>
            <a:stCxn id="260" idx="3"/>
            <a:endCxn id="87" idx="2"/>
          </p:cNvCxnSpPr>
          <p:nvPr/>
        </p:nvCxnSpPr>
        <p:spPr>
          <a:xfrm flipH="1">
            <a:off x="5998216" y="3552014"/>
            <a:ext cx="713943" cy="2143918"/>
          </a:xfrm>
          <a:prstGeom prst="bentConnector4">
            <a:avLst>
              <a:gd name="adj1" fmla="val -228324"/>
              <a:gd name="adj2" fmla="val 95261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화살표 연결선 267"/>
          <p:cNvCxnSpPr>
            <a:stCxn id="260" idx="2"/>
            <a:endCxn id="160" idx="0"/>
          </p:cNvCxnSpPr>
          <p:nvPr/>
        </p:nvCxnSpPr>
        <p:spPr>
          <a:xfrm rot="5400000">
            <a:off x="5957867" y="3754075"/>
            <a:ext cx="104772" cy="6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183"/>
          <p:cNvSpPr txBox="1">
            <a:spLocks noChangeArrowheads="1"/>
          </p:cNvSpPr>
          <p:nvPr/>
        </p:nvSpPr>
        <p:spPr bwMode="auto">
          <a:xfrm>
            <a:off x="6897867" y="3389741"/>
            <a:ext cx="13109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주문정보 </a:t>
            </a:r>
            <a:r>
              <a:rPr kumimoji="0" lang="ko-KR" altLang="en-US" sz="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미존재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183"/>
          <p:cNvSpPr txBox="1">
            <a:spLocks noChangeArrowheads="1"/>
          </p:cNvSpPr>
          <p:nvPr/>
        </p:nvSpPr>
        <p:spPr bwMode="auto">
          <a:xfrm>
            <a:off x="5090311" y="3572621"/>
            <a:ext cx="13109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주문정보 존재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452404" y="3766118"/>
            <a:ext cx="1841259" cy="5232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수량관련 프로세스 협의 필요 </a:t>
            </a:r>
            <a:endParaRPr lang="ko-KR" altLang="en-US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(PK_WMSOP000. SP_SAVE_DSP)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6241" y="1174739"/>
            <a:ext cx="1893999" cy="46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사전 확인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 설정에 따라 주문정보에 이하 값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랙보충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출고로케이션확인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할당확인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출고승인확인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거래처별유효기간확인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대금결제확인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비용확인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배차수량저장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입고배차수량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출고배차수량 저장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작업상태지정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주문의 승인여부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주문상세의 작업상태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입차수량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지정수량 등의 정보를 기반으로 현재 작업상태를 갱신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7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948374" y="113028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159" idx="0"/>
          </p:cNvCxnSpPr>
          <p:nvPr/>
        </p:nvCxnSpPr>
        <p:spPr>
          <a:xfrm rot="16200000" flipH="1">
            <a:off x="4299164" y="1625232"/>
            <a:ext cx="294018" cy="515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322" idx="2"/>
            <a:endCxn id="342" idx="0"/>
          </p:cNvCxnSpPr>
          <p:nvPr/>
        </p:nvCxnSpPr>
        <p:spPr>
          <a:xfrm rot="5400000">
            <a:off x="4243079" y="5667907"/>
            <a:ext cx="419100" cy="17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순서도: 수행의 시작/종료 341"/>
          <p:cNvSpPr/>
          <p:nvPr/>
        </p:nvSpPr>
        <p:spPr>
          <a:xfrm>
            <a:off x="3957322" y="587754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608988" y="1183622"/>
            <a:ext cx="2847519" cy="49149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순서도: 처리 73"/>
          <p:cNvSpPr/>
          <p:nvPr/>
        </p:nvSpPr>
        <p:spPr>
          <a:xfrm>
            <a:off x="6732793" y="1275062"/>
            <a:ext cx="2690699" cy="47244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설명선 2(강조선) 71"/>
          <p:cNvSpPr/>
          <p:nvPr/>
        </p:nvSpPr>
        <p:spPr>
          <a:xfrm>
            <a:off x="6608988" y="1196958"/>
            <a:ext cx="2866089" cy="4948555"/>
          </a:xfrm>
          <a:prstGeom prst="accentCallout2">
            <a:avLst>
              <a:gd name="adj1" fmla="val 26963"/>
              <a:gd name="adj2" fmla="val -4035"/>
              <a:gd name="adj3" fmla="val 18429"/>
              <a:gd name="adj4" fmla="val -18160"/>
              <a:gd name="adj5" fmla="val 17029"/>
              <a:gd name="adj6" fmla="val -59083"/>
            </a:avLst>
          </a:prstGeom>
          <a:solidFill>
            <a:srgbClr val="C5D9F1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순서도: 처리 74"/>
          <p:cNvSpPr/>
          <p:nvPr/>
        </p:nvSpPr>
        <p:spPr>
          <a:xfrm>
            <a:off x="6732793" y="1275062"/>
            <a:ext cx="2690699" cy="1905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배차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배차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순서도: 처리 95"/>
          <p:cNvSpPr/>
          <p:nvPr/>
        </p:nvSpPr>
        <p:spPr>
          <a:xfrm>
            <a:off x="7100215" y="3170888"/>
            <a:ext cx="915892" cy="1923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9" name="AutoShape 41"/>
          <p:cNvCxnSpPr>
            <a:cxnSpLocks noChangeShapeType="1"/>
            <a:stCxn id="96" idx="3"/>
          </p:cNvCxnSpPr>
          <p:nvPr/>
        </p:nvCxnSpPr>
        <p:spPr bwMode="auto">
          <a:xfrm flipV="1">
            <a:off x="8016107" y="3265053"/>
            <a:ext cx="251870" cy="200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" name="그룹 256"/>
          <p:cNvGrpSpPr/>
          <p:nvPr/>
        </p:nvGrpSpPr>
        <p:grpSpPr>
          <a:xfrm>
            <a:off x="8276231" y="3125775"/>
            <a:ext cx="1048217" cy="267652"/>
            <a:chOff x="7734300" y="4753933"/>
            <a:chExt cx="967740" cy="267652"/>
          </a:xfrm>
        </p:grpSpPr>
        <p:grpSp>
          <p:nvGrpSpPr>
            <p:cNvPr id="3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105" name="직선 연결선 104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차량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2" name="순서도: 판단 121"/>
          <p:cNvSpPr/>
          <p:nvPr/>
        </p:nvSpPr>
        <p:spPr>
          <a:xfrm>
            <a:off x="6856598" y="2077344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latin typeface="맑은 고딕" pitchFamily="50" charset="-127"/>
                <a:ea typeface="맑은 고딕" pitchFamily="50" charset="-127"/>
              </a:rPr>
              <a:t>차량지정확인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7" name="직선 화살표 연결선 136"/>
          <p:cNvCxnSpPr>
            <a:stCxn id="102" idx="2"/>
            <a:endCxn id="122" idx="0"/>
          </p:cNvCxnSpPr>
          <p:nvPr/>
        </p:nvCxnSpPr>
        <p:spPr>
          <a:xfrm rot="5400000">
            <a:off x="7475974" y="1995090"/>
            <a:ext cx="164374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122" idx="2"/>
            <a:endCxn id="204" idx="0"/>
          </p:cNvCxnSpPr>
          <p:nvPr/>
        </p:nvCxnSpPr>
        <p:spPr>
          <a:xfrm rot="5400000">
            <a:off x="7475774" y="2529601"/>
            <a:ext cx="16477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/>
          <p:cNvCxnSpPr>
            <a:stCxn id="204" idx="2"/>
            <a:endCxn id="96" idx="0"/>
          </p:cNvCxnSpPr>
          <p:nvPr/>
        </p:nvCxnSpPr>
        <p:spPr>
          <a:xfrm rot="5400000">
            <a:off x="7463714" y="3076373"/>
            <a:ext cx="18889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/>
          <p:cNvCxnSpPr>
            <a:stCxn id="96" idx="2"/>
            <a:endCxn id="249" idx="0"/>
          </p:cNvCxnSpPr>
          <p:nvPr/>
        </p:nvCxnSpPr>
        <p:spPr>
          <a:xfrm rot="5400000">
            <a:off x="7392729" y="3528596"/>
            <a:ext cx="33086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endCxn id="143" idx="0"/>
          </p:cNvCxnSpPr>
          <p:nvPr/>
        </p:nvCxnSpPr>
        <p:spPr>
          <a:xfrm rot="5400000">
            <a:off x="7291542" y="5206279"/>
            <a:ext cx="550606" cy="86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순서도: 처리 142"/>
          <p:cNvSpPr/>
          <p:nvPr/>
        </p:nvSpPr>
        <p:spPr>
          <a:xfrm>
            <a:off x="7108468" y="5482011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배차주문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5" name="AutoShape 41"/>
          <p:cNvCxnSpPr>
            <a:cxnSpLocks noChangeShapeType="1"/>
            <a:stCxn id="143" idx="3"/>
          </p:cNvCxnSpPr>
          <p:nvPr/>
        </p:nvCxnSpPr>
        <p:spPr bwMode="auto">
          <a:xfrm>
            <a:off x="8024360" y="5650921"/>
            <a:ext cx="322945" cy="158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4" name="그룹 239"/>
          <p:cNvGrpSpPr/>
          <p:nvPr/>
        </p:nvGrpSpPr>
        <p:grpSpPr>
          <a:xfrm>
            <a:off x="8258558" y="5514040"/>
            <a:ext cx="1213292" cy="305752"/>
            <a:chOff x="7726680" y="5165413"/>
            <a:chExt cx="967740" cy="305752"/>
          </a:xfrm>
        </p:grpSpPr>
        <p:sp>
          <p:nvSpPr>
            <p:cNvPr id="151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배차회전별상품목록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5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53" name="직선 연결선 152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9" name="순서도: 처리 158"/>
          <p:cNvSpPr/>
          <p:nvPr/>
        </p:nvSpPr>
        <p:spPr>
          <a:xfrm>
            <a:off x="3990807" y="1774821"/>
            <a:ext cx="915892" cy="34289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배차입력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순서도: 판단 203"/>
          <p:cNvSpPr/>
          <p:nvPr/>
        </p:nvSpPr>
        <p:spPr>
          <a:xfrm>
            <a:off x="6856598" y="2612056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신규차량확인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9" name="직선 화살표 연결선 219"/>
          <p:cNvCxnSpPr>
            <a:stCxn id="122" idx="3"/>
          </p:cNvCxnSpPr>
          <p:nvPr/>
        </p:nvCxnSpPr>
        <p:spPr>
          <a:xfrm flipH="1">
            <a:off x="7561772" y="2262313"/>
            <a:ext cx="697951" cy="1273033"/>
          </a:xfrm>
          <a:prstGeom prst="bentConnector4">
            <a:avLst>
              <a:gd name="adj1" fmla="val -153733"/>
              <a:gd name="adj2" fmla="val 99913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/>
          <p:cNvCxnSpPr>
            <a:stCxn id="204" idx="3"/>
          </p:cNvCxnSpPr>
          <p:nvPr/>
        </p:nvCxnSpPr>
        <p:spPr>
          <a:xfrm flipH="1">
            <a:off x="7559194" y="2797025"/>
            <a:ext cx="700530" cy="731177"/>
          </a:xfrm>
          <a:prstGeom prst="bentConnector4">
            <a:avLst>
              <a:gd name="adj1" fmla="val -153166"/>
              <a:gd name="adj2" fmla="val 100102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순서도: 처리 230"/>
          <p:cNvSpPr/>
          <p:nvPr/>
        </p:nvSpPr>
        <p:spPr>
          <a:xfrm>
            <a:off x="7100215" y="4787640"/>
            <a:ext cx="915892" cy="24789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차량등록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6" name="AutoShape 41"/>
          <p:cNvCxnSpPr>
            <a:cxnSpLocks noChangeShapeType="1"/>
            <a:stCxn id="231" idx="3"/>
          </p:cNvCxnSpPr>
          <p:nvPr/>
        </p:nvCxnSpPr>
        <p:spPr bwMode="auto">
          <a:xfrm flipV="1">
            <a:off x="8016107" y="4908532"/>
            <a:ext cx="280758" cy="305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6" name="그룹 256"/>
          <p:cNvGrpSpPr/>
          <p:nvPr/>
        </p:nvGrpSpPr>
        <p:grpSpPr>
          <a:xfrm>
            <a:off x="8276231" y="4767927"/>
            <a:ext cx="1048217" cy="267652"/>
            <a:chOff x="7734300" y="4753933"/>
            <a:chExt cx="967740" cy="267652"/>
          </a:xfrm>
        </p:grpSpPr>
        <p:grpSp>
          <p:nvGrpSpPr>
            <p:cNvPr id="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46" name="직선 연결선 245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5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차량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49" name="순서도: 판단 248"/>
          <p:cNvSpPr/>
          <p:nvPr/>
        </p:nvSpPr>
        <p:spPr>
          <a:xfrm>
            <a:off x="6856598" y="3694096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배차지정확인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1" name="직선 화살표 연결선 250"/>
          <p:cNvCxnSpPr>
            <a:stCxn id="249" idx="2"/>
            <a:endCxn id="253" idx="0"/>
          </p:cNvCxnSpPr>
          <p:nvPr/>
        </p:nvCxnSpPr>
        <p:spPr>
          <a:xfrm rot="5400000">
            <a:off x="7475774" y="4146353"/>
            <a:ext cx="16477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화살표 연결선 251"/>
          <p:cNvCxnSpPr>
            <a:stCxn id="253" idx="2"/>
            <a:endCxn id="231" idx="0"/>
          </p:cNvCxnSpPr>
          <p:nvPr/>
        </p:nvCxnSpPr>
        <p:spPr>
          <a:xfrm rot="5400000">
            <a:off x="7463714" y="4693125"/>
            <a:ext cx="18889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순서도: 판단 252"/>
          <p:cNvSpPr/>
          <p:nvPr/>
        </p:nvSpPr>
        <p:spPr>
          <a:xfrm>
            <a:off x="6856598" y="4228808"/>
            <a:ext cx="1403125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신규차량확인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4" name="직선 화살표 연결선 219"/>
          <p:cNvCxnSpPr>
            <a:stCxn id="249" idx="3"/>
          </p:cNvCxnSpPr>
          <p:nvPr/>
        </p:nvCxnSpPr>
        <p:spPr>
          <a:xfrm flipH="1">
            <a:off x="7569510" y="3879064"/>
            <a:ext cx="690213" cy="1399356"/>
          </a:xfrm>
          <a:prstGeom prst="bentConnector4">
            <a:avLst>
              <a:gd name="adj1" fmla="val -155829"/>
              <a:gd name="adj2" fmla="val 100002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화살표 연결선 219"/>
          <p:cNvCxnSpPr>
            <a:stCxn id="253" idx="3"/>
          </p:cNvCxnSpPr>
          <p:nvPr/>
        </p:nvCxnSpPr>
        <p:spPr>
          <a:xfrm flipH="1">
            <a:off x="7572090" y="4413777"/>
            <a:ext cx="687634" cy="867025"/>
          </a:xfrm>
          <a:prstGeom prst="bentConnector4">
            <a:avLst>
              <a:gd name="adj1" fmla="val -155588"/>
              <a:gd name="adj2" fmla="val 99941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순서도: 처리 281"/>
          <p:cNvSpPr/>
          <p:nvPr/>
        </p:nvSpPr>
        <p:spPr>
          <a:xfrm>
            <a:off x="2709125" y="2367038"/>
            <a:ext cx="3487179" cy="1179441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3" name="순서도: 처리 282"/>
          <p:cNvSpPr/>
          <p:nvPr/>
        </p:nvSpPr>
        <p:spPr>
          <a:xfrm>
            <a:off x="2709125" y="2365378"/>
            <a:ext cx="3487179" cy="168426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6" name="직선 화살표 연결선 285"/>
          <p:cNvCxnSpPr>
            <a:stCxn id="159" idx="2"/>
            <a:endCxn id="283" idx="0"/>
          </p:cNvCxnSpPr>
          <p:nvPr/>
        </p:nvCxnSpPr>
        <p:spPr>
          <a:xfrm rot="16200000" flipH="1">
            <a:off x="4326905" y="2239568"/>
            <a:ext cx="247659" cy="396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/>
          <p:cNvCxnSpPr>
            <a:stCxn id="293" idx="2"/>
            <a:endCxn id="292" idx="0"/>
          </p:cNvCxnSpPr>
          <p:nvPr/>
        </p:nvCxnSpPr>
        <p:spPr>
          <a:xfrm rot="16200000" flipH="1">
            <a:off x="4425048" y="3013379"/>
            <a:ext cx="154379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순서도: 처리 291"/>
          <p:cNvSpPr/>
          <p:nvPr/>
        </p:nvSpPr>
        <p:spPr>
          <a:xfrm>
            <a:off x="4044978" y="3091257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여부저장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3" name="순서도: 처리 292"/>
          <p:cNvSpPr/>
          <p:nvPr/>
        </p:nvSpPr>
        <p:spPr>
          <a:xfrm>
            <a:off x="4043603" y="2625486"/>
            <a:ext cx="915892" cy="31139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주문상태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변경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39"/>
          <p:cNvGrpSpPr/>
          <p:nvPr/>
        </p:nvGrpSpPr>
        <p:grpSpPr>
          <a:xfrm>
            <a:off x="2651349" y="2620972"/>
            <a:ext cx="1213292" cy="305752"/>
            <a:chOff x="7726680" y="5165413"/>
            <a:chExt cx="967740" cy="305752"/>
          </a:xfrm>
        </p:grpSpPr>
        <p:sp>
          <p:nvSpPr>
            <p:cNvPr id="298" name="TextBox 183"/>
            <p:cNvSpPr txBox="1">
              <a:spLocks noChangeArrowheads="1"/>
            </p:cNvSpPr>
            <p:nvPr/>
          </p:nvSpPr>
          <p:spPr bwMode="auto">
            <a:xfrm>
              <a:off x="7726680" y="519696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배차회전별상품목록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0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300" name="직선 연결선 299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직선 연결선 300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02" name="AutoShape 41"/>
          <p:cNvCxnSpPr>
            <a:cxnSpLocks noChangeShapeType="1"/>
            <a:endCxn id="293" idx="1"/>
          </p:cNvCxnSpPr>
          <p:nvPr/>
        </p:nvCxnSpPr>
        <p:spPr bwMode="auto">
          <a:xfrm flipV="1">
            <a:off x="3733957" y="2781182"/>
            <a:ext cx="309646" cy="3296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6" name="AutoShape 41"/>
          <p:cNvCxnSpPr>
            <a:cxnSpLocks noChangeShapeType="1"/>
            <a:stCxn id="293" idx="3"/>
            <a:endCxn id="309" idx="1"/>
          </p:cNvCxnSpPr>
          <p:nvPr/>
        </p:nvCxnSpPr>
        <p:spPr bwMode="auto">
          <a:xfrm>
            <a:off x="4959495" y="2781183"/>
            <a:ext cx="253246" cy="1276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1" name="그룹 256"/>
          <p:cNvGrpSpPr/>
          <p:nvPr/>
        </p:nvGrpSpPr>
        <p:grpSpPr>
          <a:xfrm>
            <a:off x="5212741" y="2643182"/>
            <a:ext cx="1048217" cy="267652"/>
            <a:chOff x="7734300" y="4753933"/>
            <a:chExt cx="967740" cy="267652"/>
          </a:xfrm>
        </p:grpSpPr>
        <p:grpSp>
          <p:nvGrpSpPr>
            <p:cNvPr id="13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10" name="직선 연결선 309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직선 연결선 310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14" name="AutoShape 41"/>
          <p:cNvCxnSpPr>
            <a:cxnSpLocks noChangeShapeType="1"/>
            <a:stCxn id="292" idx="3"/>
          </p:cNvCxnSpPr>
          <p:nvPr/>
        </p:nvCxnSpPr>
        <p:spPr bwMode="auto">
          <a:xfrm flipV="1">
            <a:off x="4960871" y="3259401"/>
            <a:ext cx="251870" cy="76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4" name="그룹 256"/>
          <p:cNvGrpSpPr/>
          <p:nvPr/>
        </p:nvGrpSpPr>
        <p:grpSpPr>
          <a:xfrm>
            <a:off x="5212741" y="3120123"/>
            <a:ext cx="1048217" cy="267652"/>
            <a:chOff x="7734300" y="4753933"/>
            <a:chExt cx="967740" cy="267652"/>
          </a:xfrm>
        </p:grpSpPr>
        <p:grpSp>
          <p:nvGrpSpPr>
            <p:cNvPr id="15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18" name="직선 연결선 317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직선 연결선 31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7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22" name="순서도: 처리 321"/>
          <p:cNvSpPr/>
          <p:nvPr/>
        </p:nvSpPr>
        <p:spPr>
          <a:xfrm>
            <a:off x="2709125" y="3947142"/>
            <a:ext cx="3487179" cy="15113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3" name="순서도: 처리 322"/>
          <p:cNvSpPr/>
          <p:nvPr/>
        </p:nvSpPr>
        <p:spPr>
          <a:xfrm>
            <a:off x="2709125" y="3943967"/>
            <a:ext cx="3487179" cy="168426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5" name="순서도: 처리 324"/>
          <p:cNvSpPr/>
          <p:nvPr/>
        </p:nvSpPr>
        <p:spPr>
          <a:xfrm>
            <a:off x="3996832" y="4307261"/>
            <a:ext cx="915892" cy="33782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배차수량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저장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4" name="AutoShape 41"/>
          <p:cNvCxnSpPr>
            <a:cxnSpLocks noChangeShapeType="1"/>
            <a:stCxn id="325" idx="3"/>
          </p:cNvCxnSpPr>
          <p:nvPr/>
        </p:nvCxnSpPr>
        <p:spPr bwMode="auto">
          <a:xfrm flipV="1">
            <a:off x="4912725" y="4475405"/>
            <a:ext cx="251870" cy="76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6" name="그룹 256"/>
          <p:cNvGrpSpPr/>
          <p:nvPr/>
        </p:nvGrpSpPr>
        <p:grpSpPr>
          <a:xfrm>
            <a:off x="5164594" y="4352637"/>
            <a:ext cx="1048217" cy="267652"/>
            <a:chOff x="7734300" y="4753933"/>
            <a:chExt cx="967740" cy="267652"/>
          </a:xfrm>
        </p:grpSpPr>
        <p:grpSp>
          <p:nvGrpSpPr>
            <p:cNvPr id="1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48" name="직선 연결선 347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" name="TextBox 183"/>
            <p:cNvSpPr txBox="1">
              <a:spLocks noChangeArrowheads="1"/>
            </p:cNvSpPr>
            <p:nvPr/>
          </p:nvSpPr>
          <p:spPr bwMode="auto">
            <a:xfrm>
              <a:off x="7734300" y="4785488"/>
              <a:ext cx="96774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50" name="직선 화살표 연결선 349"/>
          <p:cNvCxnSpPr>
            <a:stCxn id="282" idx="2"/>
            <a:endCxn id="323" idx="0"/>
          </p:cNvCxnSpPr>
          <p:nvPr/>
        </p:nvCxnSpPr>
        <p:spPr>
          <a:xfrm rot="5400000">
            <a:off x="4253971" y="3745156"/>
            <a:ext cx="397489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AutoShape 41"/>
          <p:cNvCxnSpPr>
            <a:cxnSpLocks noChangeShapeType="1"/>
            <a:endCxn id="354" idx="1"/>
          </p:cNvCxnSpPr>
          <p:nvPr/>
        </p:nvCxnSpPr>
        <p:spPr bwMode="auto">
          <a:xfrm>
            <a:off x="3515235" y="5007971"/>
            <a:ext cx="480222" cy="470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54" name="순서도: 처리 353"/>
          <p:cNvSpPr/>
          <p:nvPr/>
        </p:nvSpPr>
        <p:spPr>
          <a:xfrm>
            <a:off x="3995456" y="4837414"/>
            <a:ext cx="915892" cy="35051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5" name="AutoShape 41"/>
          <p:cNvCxnSpPr>
            <a:cxnSpLocks noChangeShapeType="1"/>
            <a:stCxn id="354" idx="3"/>
            <a:endCxn id="361" idx="1"/>
          </p:cNvCxnSpPr>
          <p:nvPr/>
        </p:nvCxnSpPr>
        <p:spPr bwMode="auto">
          <a:xfrm>
            <a:off x="4911348" y="5012674"/>
            <a:ext cx="239491" cy="37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8" name="그룹 223"/>
          <p:cNvGrpSpPr>
            <a:grpSpLocks/>
          </p:cNvGrpSpPr>
          <p:nvPr/>
        </p:nvGrpSpPr>
        <p:grpSpPr bwMode="auto">
          <a:xfrm>
            <a:off x="2846691" y="4868688"/>
            <a:ext cx="668544" cy="305751"/>
            <a:chOff x="6900488" y="2500306"/>
            <a:chExt cx="647703" cy="287340"/>
          </a:xfrm>
        </p:grpSpPr>
        <p:sp>
          <p:nvSpPr>
            <p:cNvPr id="35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58" name="직선 연결선 357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1" name="TextBox 183"/>
          <p:cNvSpPr txBox="1">
            <a:spLocks noChangeArrowheads="1"/>
          </p:cNvSpPr>
          <p:nvPr/>
        </p:nvSpPr>
        <p:spPr bwMode="auto">
          <a:xfrm>
            <a:off x="5150840" y="4905328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770725" y="1260447"/>
            <a:ext cx="1253183" cy="954107"/>
          </a:xfrm>
          <a:prstGeom prst="rect">
            <a:avLst/>
          </a:prstGeom>
          <a:solidFill>
            <a:srgbClr val="C5D9F1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랙보충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출고로케이션지정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할당 확인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출고승인 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거래처별유효기간확인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대금결제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비용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9" name="그룹 375"/>
          <p:cNvGrpSpPr/>
          <p:nvPr/>
        </p:nvGrpSpPr>
        <p:grpSpPr>
          <a:xfrm>
            <a:off x="5212691" y="4867420"/>
            <a:ext cx="887320" cy="305752"/>
            <a:chOff x="4889454" y="4892838"/>
            <a:chExt cx="819196" cy="305752"/>
          </a:xfrm>
        </p:grpSpPr>
        <p:cxnSp>
          <p:nvCxnSpPr>
            <p:cNvPr id="362" name="직선 연결선 361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4" name="직선 화살표 연결선 363"/>
          <p:cNvCxnSpPr>
            <a:stCxn id="325" idx="2"/>
            <a:endCxn id="354" idx="0"/>
          </p:cNvCxnSpPr>
          <p:nvPr/>
        </p:nvCxnSpPr>
        <p:spPr>
          <a:xfrm rot="5400000">
            <a:off x="4357924" y="4740559"/>
            <a:ext cx="192332" cy="137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순서도: 판단 101"/>
          <p:cNvSpPr/>
          <p:nvPr/>
        </p:nvSpPr>
        <p:spPr>
          <a:xfrm>
            <a:off x="7042306" y="154303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순서도: 처리 108"/>
          <p:cNvSpPr/>
          <p:nvPr/>
        </p:nvSpPr>
        <p:spPr>
          <a:xfrm>
            <a:off x="8409887" y="1615014"/>
            <a:ext cx="915892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0" name="직선 화살표 연결선 109"/>
          <p:cNvCxnSpPr>
            <a:stCxn id="102" idx="3"/>
            <a:endCxn id="109" idx="1"/>
          </p:cNvCxnSpPr>
          <p:nvPr/>
        </p:nvCxnSpPr>
        <p:spPr>
          <a:xfrm>
            <a:off x="8074016" y="1728002"/>
            <a:ext cx="335872" cy="15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83"/>
          <p:cNvSpPr txBox="1">
            <a:spLocks noChangeArrowheads="1"/>
          </p:cNvSpPr>
          <p:nvPr/>
        </p:nvSpPr>
        <p:spPr bwMode="auto">
          <a:xfrm>
            <a:off x="8201948" y="2086721"/>
            <a:ext cx="79235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지정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83"/>
          <p:cNvSpPr txBox="1">
            <a:spLocks noChangeArrowheads="1"/>
          </p:cNvSpPr>
          <p:nvPr/>
        </p:nvSpPr>
        <p:spPr bwMode="auto">
          <a:xfrm>
            <a:off x="7079447" y="2399141"/>
            <a:ext cx="79235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미지정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991630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991630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err="1" smtClean="0">
                <a:latin typeface="맑은 고딕" pitchFamily="50" charset="-127"/>
                <a:ea typeface="맑은 고딕" pitchFamily="50" charset="-127"/>
              </a:rPr>
              <a:t>피킹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(PK_WMSOP030.SP_NEW_PICKING)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99997" y="1007510"/>
            <a:ext cx="1893999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정책적용 설정에 따라 주문정보의 이하 값 확인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비용확인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대금결제확인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거래처별유효기간확인</a:t>
            </a:r>
            <a:endParaRPr kumimoji="0"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출고승인확인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할당확인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출고로케이션지정확인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렉보충확인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출고배차확인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파킹리스트발행확인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작업정보설정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사전에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LOC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설정이 없는 경우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GRN)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작업상세 정보를 참조하여 작업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LOC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정보 등록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사전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LOC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지정의 경우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PICKING),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LOC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정보를 참조하여 등록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 입출고처리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상품 정보취득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ID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및 상품 정보조회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고객사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유효기간일수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입출고반영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재고 삭제 및 기존 재고 존재 시 수량 갱신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미존재시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신규등록</a:t>
            </a: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할당처리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할당테이블의 할당수량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(ALOC_QTY)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및 재고수량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(STOCK_QTY)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이 모두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0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인 경우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DELETE</a:t>
            </a: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800" b="1" dirty="0" smtClean="0">
                <a:latin typeface="맑은 고딕" pitchFamily="50" charset="-127"/>
                <a:ea typeface="맑은 고딕" pitchFamily="50" charset="-127"/>
              </a:rPr>
              <a:t>주문상세수정</a:t>
            </a:r>
            <a:endParaRPr kumimoji="0" lang="en-US" altLang="ko-KR" sz="8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800" dirty="0" err="1" smtClean="0">
                <a:latin typeface="맑은 고딕" pitchFamily="50" charset="-127"/>
                <a:ea typeface="맑은 고딕" pitchFamily="50" charset="-127"/>
              </a:rPr>
              <a:t>피킹수량</a:t>
            </a:r>
            <a:r>
              <a:rPr kumimoji="0" lang="ko-KR" altLang="en-US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8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934109" y="1053224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피킹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순서도: 판단 125"/>
          <p:cNvSpPr/>
          <p:nvPr/>
        </p:nvSpPr>
        <p:spPr>
          <a:xfrm>
            <a:off x="3918977" y="1778395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순서도: 처리 126"/>
          <p:cNvSpPr/>
          <p:nvPr/>
        </p:nvSpPr>
        <p:spPr>
          <a:xfrm>
            <a:off x="5272114" y="1850376"/>
            <a:ext cx="915892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순서도: 처리 128"/>
          <p:cNvSpPr/>
          <p:nvPr/>
        </p:nvSpPr>
        <p:spPr>
          <a:xfrm>
            <a:off x="3976886" y="2904884"/>
            <a:ext cx="915892" cy="34925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설정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121" idx="0"/>
          </p:cNvCxnSpPr>
          <p:nvPr/>
        </p:nvCxnSpPr>
        <p:spPr>
          <a:xfrm rot="16200000" flipH="1">
            <a:off x="4355365" y="1477709"/>
            <a:ext cx="152400" cy="447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>
            <a:stCxn id="126" idx="2"/>
          </p:cNvCxnSpPr>
          <p:nvPr/>
        </p:nvCxnSpPr>
        <p:spPr>
          <a:xfrm rot="5400000">
            <a:off x="4353736" y="2229361"/>
            <a:ext cx="16219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/>
          <p:cNvCxnSpPr>
            <a:stCxn id="129" idx="2"/>
            <a:endCxn id="425" idx="0"/>
          </p:cNvCxnSpPr>
          <p:nvPr/>
        </p:nvCxnSpPr>
        <p:spPr>
          <a:xfrm rot="5400000">
            <a:off x="4247031" y="3441869"/>
            <a:ext cx="375603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순서도: 처리 317"/>
          <p:cNvSpPr/>
          <p:nvPr/>
        </p:nvSpPr>
        <p:spPr>
          <a:xfrm>
            <a:off x="3976886" y="4360366"/>
            <a:ext cx="915892" cy="28575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수정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5238879" y="4357694"/>
            <a:ext cx="775845" cy="313822"/>
            <a:chOff x="6858016" y="2500306"/>
            <a:chExt cx="647704" cy="287340"/>
          </a:xfrm>
        </p:grpSpPr>
        <p:sp>
          <p:nvSpPr>
            <p:cNvPr id="320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1" name="직선 연결선 32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AutoShape 41"/>
          <p:cNvCxnSpPr>
            <a:cxnSpLocks noChangeShapeType="1"/>
            <a:stCxn id="318" idx="3"/>
          </p:cNvCxnSpPr>
          <p:nvPr/>
        </p:nvCxnSpPr>
        <p:spPr bwMode="auto">
          <a:xfrm flipV="1">
            <a:off x="4892778" y="4500651"/>
            <a:ext cx="346101" cy="259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2" name="순서도: 수행의 시작/종료 341"/>
          <p:cNvSpPr/>
          <p:nvPr/>
        </p:nvSpPr>
        <p:spPr>
          <a:xfrm>
            <a:off x="3943050" y="5928754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피킹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6" name="직선 화살표 연결선 345"/>
          <p:cNvCxnSpPr>
            <a:stCxn id="425" idx="2"/>
            <a:endCxn id="318" idx="0"/>
          </p:cNvCxnSpPr>
          <p:nvPr/>
        </p:nvCxnSpPr>
        <p:spPr>
          <a:xfrm rot="5400000">
            <a:off x="4183342" y="4108875"/>
            <a:ext cx="502981" cy="15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설명선 2(강조선) 364"/>
          <p:cNvSpPr/>
          <p:nvPr/>
        </p:nvSpPr>
        <p:spPr>
          <a:xfrm>
            <a:off x="6476929" y="2195648"/>
            <a:ext cx="2996085" cy="3167899"/>
          </a:xfrm>
          <a:prstGeom prst="accentCallout2">
            <a:avLst>
              <a:gd name="adj1" fmla="val 52425"/>
              <a:gd name="adj2" fmla="val -1962"/>
              <a:gd name="adj3" fmla="val 48696"/>
              <a:gd name="adj4" fmla="val -9642"/>
              <a:gd name="adj5" fmla="val 48873"/>
              <a:gd name="adj6" fmla="val -52719"/>
            </a:avLst>
          </a:prstGeom>
          <a:solidFill>
            <a:srgbClr val="F2F2F2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6494098" y="2250270"/>
            <a:ext cx="2961746" cy="3146354"/>
          </a:xfrm>
          <a:prstGeom prst="rect">
            <a:avLst/>
          </a:prstGeom>
          <a:solidFill>
            <a:srgbClr val="F2F2F2"/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2" name="순서도: 처리 201"/>
          <p:cNvSpPr/>
          <p:nvPr/>
        </p:nvSpPr>
        <p:spPr>
          <a:xfrm>
            <a:off x="6622869" y="2308807"/>
            <a:ext cx="2798636" cy="3024402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3" name="순서도: 처리 202"/>
          <p:cNvSpPr/>
          <p:nvPr/>
        </p:nvSpPr>
        <p:spPr>
          <a:xfrm>
            <a:off x="6622869" y="2308807"/>
            <a:ext cx="2798636" cy="121952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순서도: 처리 203"/>
          <p:cNvSpPr/>
          <p:nvPr/>
        </p:nvSpPr>
        <p:spPr>
          <a:xfrm>
            <a:off x="6777397" y="2499052"/>
            <a:ext cx="2498168" cy="2760987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" name="순서도: 처리 204"/>
          <p:cNvSpPr/>
          <p:nvPr/>
        </p:nvSpPr>
        <p:spPr>
          <a:xfrm>
            <a:off x="6777397" y="2494174"/>
            <a:ext cx="2498168" cy="12683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순서도: 처리 205"/>
          <p:cNvSpPr/>
          <p:nvPr/>
        </p:nvSpPr>
        <p:spPr>
          <a:xfrm>
            <a:off x="7013616" y="2668715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순서도: 처리 214"/>
          <p:cNvSpPr/>
          <p:nvPr/>
        </p:nvSpPr>
        <p:spPr>
          <a:xfrm>
            <a:off x="7013616" y="4760482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수불등록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순서도: 처리 215"/>
          <p:cNvSpPr/>
          <p:nvPr/>
        </p:nvSpPr>
        <p:spPr>
          <a:xfrm>
            <a:off x="7013616" y="4454658"/>
            <a:ext cx="952633" cy="19431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mtClean="0">
                <a:latin typeface="맑은 고딕" pitchFamily="50" charset="-127"/>
                <a:ea typeface="맑은 고딕" pitchFamily="50" charset="-127"/>
              </a:rPr>
              <a:t>입출고이력등록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39"/>
          <p:cNvGrpSpPr/>
          <p:nvPr/>
        </p:nvGrpSpPr>
        <p:grpSpPr>
          <a:xfrm>
            <a:off x="8219638" y="4459429"/>
            <a:ext cx="1090266" cy="204860"/>
            <a:chOff x="7726680" y="5165413"/>
            <a:chExt cx="967740" cy="320010"/>
          </a:xfrm>
        </p:grpSpPr>
        <p:sp>
          <p:nvSpPr>
            <p:cNvPr id="218" name="TextBox 183"/>
            <p:cNvSpPr txBox="1">
              <a:spLocks noChangeArrowheads="1"/>
            </p:cNvSpPr>
            <p:nvPr/>
          </p:nvSpPr>
          <p:spPr bwMode="auto">
            <a:xfrm>
              <a:off x="7726680" y="5196958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입출고이력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4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219" name="직선 연결선 218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1" name="AutoShape 41"/>
          <p:cNvCxnSpPr>
            <a:cxnSpLocks noChangeShapeType="1"/>
            <a:stCxn id="216" idx="3"/>
          </p:cNvCxnSpPr>
          <p:nvPr/>
        </p:nvCxnSpPr>
        <p:spPr bwMode="auto">
          <a:xfrm flipV="1">
            <a:off x="7966248" y="4548590"/>
            <a:ext cx="253389" cy="322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2" name="TextBox 183"/>
          <p:cNvSpPr txBox="1">
            <a:spLocks noChangeArrowheads="1"/>
          </p:cNvSpPr>
          <p:nvPr/>
        </p:nvSpPr>
        <p:spPr bwMode="auto">
          <a:xfrm>
            <a:off x="8224798" y="4733750"/>
            <a:ext cx="109026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수불이력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231"/>
          <p:cNvGrpSpPr/>
          <p:nvPr/>
        </p:nvGrpSpPr>
        <p:grpSpPr>
          <a:xfrm>
            <a:off x="8293566" y="4732600"/>
            <a:ext cx="896148" cy="171342"/>
            <a:chOff x="7632501" y="5165413"/>
            <a:chExt cx="772349" cy="267652"/>
          </a:xfrm>
        </p:grpSpPr>
        <p:cxnSp>
          <p:nvCxnSpPr>
            <p:cNvPr id="244" name="직선 연결선 243"/>
            <p:cNvCxnSpPr/>
            <p:nvPr/>
          </p:nvCxnSpPr>
          <p:spPr bwMode="auto">
            <a:xfrm>
              <a:off x="7632501" y="5431376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연결선 244"/>
            <p:cNvCxnSpPr/>
            <p:nvPr/>
          </p:nvCxnSpPr>
          <p:spPr bwMode="auto">
            <a:xfrm>
              <a:off x="7639897" y="5165413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AutoShape 41"/>
          <p:cNvCxnSpPr>
            <a:cxnSpLocks noChangeShapeType="1"/>
            <a:stCxn id="215" idx="3"/>
            <a:endCxn id="242" idx="1"/>
          </p:cNvCxnSpPr>
          <p:nvPr/>
        </p:nvCxnSpPr>
        <p:spPr bwMode="auto">
          <a:xfrm>
            <a:off x="7966249" y="4822048"/>
            <a:ext cx="258549" cy="403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1" name="순서도: 처리 250"/>
          <p:cNvSpPr/>
          <p:nvPr/>
        </p:nvSpPr>
        <p:spPr>
          <a:xfrm>
            <a:off x="7013616" y="4210258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할당처리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5" name="AutoShape 41"/>
          <p:cNvCxnSpPr>
            <a:cxnSpLocks noChangeShapeType="1"/>
            <a:stCxn id="251" idx="3"/>
          </p:cNvCxnSpPr>
          <p:nvPr/>
        </p:nvCxnSpPr>
        <p:spPr bwMode="auto">
          <a:xfrm flipV="1">
            <a:off x="7966248" y="4270539"/>
            <a:ext cx="261974" cy="128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6" name="그룹 256"/>
          <p:cNvGrpSpPr/>
          <p:nvPr/>
        </p:nvGrpSpPr>
        <p:grpSpPr>
          <a:xfrm>
            <a:off x="8228223" y="4181378"/>
            <a:ext cx="1090266" cy="204863"/>
            <a:chOff x="7734300" y="4753933"/>
            <a:chExt cx="967740" cy="320015"/>
          </a:xfrm>
        </p:grpSpPr>
        <p:grpSp>
          <p:nvGrpSpPr>
            <p:cNvPr id="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53" name="직선 연결선 252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6" name="TextBox 183"/>
            <p:cNvSpPr txBox="1">
              <a:spLocks noChangeArrowheads="1"/>
            </p:cNvSpPr>
            <p:nvPr/>
          </p:nvSpPr>
          <p:spPr bwMode="auto">
            <a:xfrm>
              <a:off x="7734300" y="4785483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할당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0" name="순서도: 처리 259"/>
          <p:cNvSpPr/>
          <p:nvPr/>
        </p:nvSpPr>
        <p:spPr>
          <a:xfrm>
            <a:off x="7013616" y="3951224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입출고 반영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1" name="AutoShape 41"/>
          <p:cNvCxnSpPr>
            <a:cxnSpLocks noChangeShapeType="1"/>
            <a:stCxn id="260" idx="3"/>
          </p:cNvCxnSpPr>
          <p:nvPr/>
        </p:nvCxnSpPr>
        <p:spPr bwMode="auto">
          <a:xfrm flipV="1">
            <a:off x="7966248" y="4012003"/>
            <a:ext cx="261974" cy="78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" name="그룹 261"/>
          <p:cNvGrpSpPr/>
          <p:nvPr/>
        </p:nvGrpSpPr>
        <p:grpSpPr>
          <a:xfrm>
            <a:off x="8228223" y="3922840"/>
            <a:ext cx="1090266" cy="204863"/>
            <a:chOff x="7734300" y="4753933"/>
            <a:chExt cx="967740" cy="320015"/>
          </a:xfrm>
        </p:grpSpPr>
        <p:grpSp>
          <p:nvGrpSpPr>
            <p:cNvPr id="10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65" name="직선 연결선 264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4" name="TextBox 183"/>
            <p:cNvSpPr txBox="1">
              <a:spLocks noChangeArrowheads="1"/>
            </p:cNvSpPr>
            <p:nvPr/>
          </p:nvSpPr>
          <p:spPr bwMode="auto">
            <a:xfrm>
              <a:off x="7734300" y="4785483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7" name="순서도: 판단 266"/>
          <p:cNvSpPr/>
          <p:nvPr/>
        </p:nvSpPr>
        <p:spPr>
          <a:xfrm>
            <a:off x="6953384" y="3588257"/>
            <a:ext cx="1073096" cy="236822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재고확인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8" name="순서도: 처리 267"/>
          <p:cNvSpPr/>
          <p:nvPr/>
        </p:nvSpPr>
        <p:spPr>
          <a:xfrm>
            <a:off x="8392995" y="3633753"/>
            <a:ext cx="796721" cy="146604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9" name="직선 화살표 연결선 268"/>
          <p:cNvCxnSpPr>
            <a:stCxn id="267" idx="3"/>
            <a:endCxn id="268" idx="1"/>
          </p:cNvCxnSpPr>
          <p:nvPr/>
        </p:nvCxnSpPr>
        <p:spPr>
          <a:xfrm>
            <a:off x="8026481" y="3706669"/>
            <a:ext cx="366514" cy="3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순서도: 처리 277"/>
          <p:cNvSpPr/>
          <p:nvPr/>
        </p:nvSpPr>
        <p:spPr>
          <a:xfrm>
            <a:off x="7013616" y="3243916"/>
            <a:ext cx="952633" cy="21626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현재고 취득 및 수량계산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2" name="순서도: 처리 281"/>
          <p:cNvSpPr/>
          <p:nvPr/>
        </p:nvSpPr>
        <p:spPr>
          <a:xfrm>
            <a:off x="7013616" y="2916085"/>
            <a:ext cx="952633" cy="2000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상품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정보취득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4" name="직선 화살표 연결선 283"/>
          <p:cNvCxnSpPr>
            <a:stCxn id="206" idx="2"/>
            <a:endCxn id="282" idx="0"/>
          </p:cNvCxnSpPr>
          <p:nvPr/>
        </p:nvCxnSpPr>
        <p:spPr>
          <a:xfrm rot="5400000">
            <a:off x="7427813" y="2853900"/>
            <a:ext cx="124238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>
            <a:stCxn id="282" idx="2"/>
            <a:endCxn id="278" idx="0"/>
          </p:cNvCxnSpPr>
          <p:nvPr/>
        </p:nvCxnSpPr>
        <p:spPr>
          <a:xfrm rot="5400000">
            <a:off x="7426017" y="3179934"/>
            <a:ext cx="12783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/>
          <p:cNvCxnSpPr>
            <a:stCxn id="278" idx="2"/>
            <a:endCxn id="267" idx="0"/>
          </p:cNvCxnSpPr>
          <p:nvPr/>
        </p:nvCxnSpPr>
        <p:spPr>
          <a:xfrm rot="5400000">
            <a:off x="7425893" y="3524150"/>
            <a:ext cx="128081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/>
          <p:cNvCxnSpPr/>
          <p:nvPr/>
        </p:nvCxnSpPr>
        <p:spPr>
          <a:xfrm rot="16200000" flipH="1">
            <a:off x="7418709" y="3887098"/>
            <a:ext cx="136528" cy="344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화살표 연결선 304"/>
          <p:cNvCxnSpPr>
            <a:stCxn id="260" idx="2"/>
            <a:endCxn id="251" idx="0"/>
          </p:cNvCxnSpPr>
          <p:nvPr/>
        </p:nvCxnSpPr>
        <p:spPr>
          <a:xfrm rot="5400000">
            <a:off x="7421981" y="4141921"/>
            <a:ext cx="135902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>
            <a:stCxn id="251" idx="2"/>
            <a:endCxn id="216" idx="0"/>
          </p:cNvCxnSpPr>
          <p:nvPr/>
        </p:nvCxnSpPr>
        <p:spPr>
          <a:xfrm rot="5400000">
            <a:off x="7429298" y="4393638"/>
            <a:ext cx="121268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/>
          <p:cNvCxnSpPr>
            <a:stCxn id="216" idx="2"/>
            <a:endCxn id="215" idx="0"/>
          </p:cNvCxnSpPr>
          <p:nvPr/>
        </p:nvCxnSpPr>
        <p:spPr>
          <a:xfrm rot="5400000">
            <a:off x="7434175" y="4704339"/>
            <a:ext cx="111515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순서도: 처리 116"/>
          <p:cNvSpPr/>
          <p:nvPr/>
        </p:nvSpPr>
        <p:spPr>
          <a:xfrm>
            <a:off x="7013616" y="5001955"/>
            <a:ext cx="952633" cy="21626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재고관리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공통모듈 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8" name="직선 화살표 연결선 117"/>
          <p:cNvCxnSpPr>
            <a:stCxn id="215" idx="2"/>
            <a:endCxn id="117" idx="0"/>
          </p:cNvCxnSpPr>
          <p:nvPr/>
        </p:nvCxnSpPr>
        <p:spPr>
          <a:xfrm rot="5400000">
            <a:off x="7430762" y="4942398"/>
            <a:ext cx="118340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AutoShape 41"/>
          <p:cNvCxnSpPr>
            <a:cxnSpLocks noChangeShapeType="1"/>
            <a:stCxn id="117" idx="3"/>
          </p:cNvCxnSpPr>
          <p:nvPr/>
        </p:nvCxnSpPr>
        <p:spPr bwMode="auto">
          <a:xfrm>
            <a:off x="7966249" y="5110086"/>
            <a:ext cx="244804" cy="43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" name="그룹 239"/>
          <p:cNvGrpSpPr/>
          <p:nvPr/>
        </p:nvGrpSpPr>
        <p:grpSpPr>
          <a:xfrm>
            <a:off x="8211053" y="4944425"/>
            <a:ext cx="1090266" cy="292706"/>
            <a:chOff x="7726680" y="5100246"/>
            <a:chExt cx="967740" cy="370919"/>
          </a:xfrm>
        </p:grpSpPr>
        <p:sp>
          <p:nvSpPr>
            <p:cNvPr id="145" name="TextBox 183"/>
            <p:cNvSpPr txBox="1">
              <a:spLocks noChangeArrowheads="1"/>
            </p:cNvSpPr>
            <p:nvPr/>
          </p:nvSpPr>
          <p:spPr bwMode="auto">
            <a:xfrm>
              <a:off x="7726680" y="5100246"/>
              <a:ext cx="967740" cy="35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논리재고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주문논리재고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47" name="직선 연결선 146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순서도: 처리 119"/>
          <p:cNvSpPr/>
          <p:nvPr/>
        </p:nvSpPr>
        <p:spPr>
          <a:xfrm>
            <a:off x="2589447" y="1562494"/>
            <a:ext cx="3689394" cy="77851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2589447" y="1556145"/>
            <a:ext cx="3688706" cy="174523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0" name="AutoShape 41"/>
          <p:cNvCxnSpPr>
            <a:cxnSpLocks noChangeShapeType="1"/>
            <a:endCxn id="411" idx="1"/>
          </p:cNvCxnSpPr>
          <p:nvPr/>
        </p:nvCxnSpPr>
        <p:spPr bwMode="auto">
          <a:xfrm>
            <a:off x="3508357" y="5334234"/>
            <a:ext cx="468529" cy="5337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1" name="순서도: 처리 410"/>
          <p:cNvSpPr/>
          <p:nvPr/>
        </p:nvSpPr>
        <p:spPr>
          <a:xfrm>
            <a:off x="3976886" y="5228445"/>
            <a:ext cx="915892" cy="22225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2" name="AutoShape 41"/>
          <p:cNvCxnSpPr>
            <a:cxnSpLocks noChangeShapeType="1"/>
            <a:stCxn id="411" idx="3"/>
          </p:cNvCxnSpPr>
          <p:nvPr/>
        </p:nvCxnSpPr>
        <p:spPr bwMode="auto">
          <a:xfrm flipV="1">
            <a:off x="4892778" y="5339314"/>
            <a:ext cx="251184" cy="25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" name="그룹 223"/>
          <p:cNvGrpSpPr>
            <a:grpSpLocks/>
          </p:cNvGrpSpPr>
          <p:nvPr/>
        </p:nvGrpSpPr>
        <p:grpSpPr bwMode="auto">
          <a:xfrm>
            <a:off x="2839813" y="5194951"/>
            <a:ext cx="668544" cy="305751"/>
            <a:chOff x="6900488" y="2500306"/>
            <a:chExt cx="647703" cy="287340"/>
          </a:xfrm>
        </p:grpSpPr>
        <p:sp>
          <p:nvSpPr>
            <p:cNvPr id="414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15" name="직선 연결선 41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직선 연결선 415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7" name="TextBox 183"/>
          <p:cNvSpPr txBox="1">
            <a:spLocks noChangeArrowheads="1"/>
          </p:cNvSpPr>
          <p:nvPr/>
        </p:nvSpPr>
        <p:spPr bwMode="auto">
          <a:xfrm>
            <a:off x="5143962" y="5246831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5" name="그룹 417"/>
          <p:cNvGrpSpPr/>
          <p:nvPr/>
        </p:nvGrpSpPr>
        <p:grpSpPr>
          <a:xfrm>
            <a:off x="5205813" y="5193683"/>
            <a:ext cx="887320" cy="305752"/>
            <a:chOff x="4889454" y="4892838"/>
            <a:chExt cx="819196" cy="305752"/>
          </a:xfrm>
        </p:grpSpPr>
        <p:cxnSp>
          <p:nvCxnSpPr>
            <p:cNvPr id="419" name="직선 연결선 418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직선 연결선 419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5" name="순서도: 처리 424"/>
          <p:cNvSpPr/>
          <p:nvPr/>
        </p:nvSpPr>
        <p:spPr>
          <a:xfrm>
            <a:off x="3976886" y="3629738"/>
            <a:ext cx="915892" cy="22764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입출고처리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67" name="직선 화살표 연결선 466"/>
          <p:cNvCxnSpPr>
            <a:stCxn id="318" idx="2"/>
            <a:endCxn id="411" idx="0"/>
          </p:cNvCxnSpPr>
          <p:nvPr/>
        </p:nvCxnSpPr>
        <p:spPr>
          <a:xfrm rot="5400000">
            <a:off x="4143668" y="4937280"/>
            <a:ext cx="582329" cy="15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83"/>
          <p:cNvSpPr txBox="1">
            <a:spLocks noChangeArrowheads="1"/>
          </p:cNvSpPr>
          <p:nvPr/>
        </p:nvSpPr>
        <p:spPr bwMode="auto">
          <a:xfrm>
            <a:off x="7931284" y="3551751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TextBox 183"/>
          <p:cNvSpPr txBox="1">
            <a:spLocks noChangeArrowheads="1"/>
          </p:cNvSpPr>
          <p:nvPr/>
        </p:nvSpPr>
        <p:spPr bwMode="auto">
          <a:xfrm>
            <a:off x="7164380" y="3770826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2523417" y="1741565"/>
            <a:ext cx="1411379" cy="1200329"/>
          </a:xfrm>
          <a:prstGeom prst="rect">
            <a:avLst/>
          </a:prstGeom>
          <a:solidFill>
            <a:srgbClr val="C5D9F1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피킹리스트발행확인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출고배차확인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랙보충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출고로케이션지정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할당 확인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출고승인 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거래처별유효기간확인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대금결제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비용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3" name="직선 화살표 연결선 219"/>
          <p:cNvCxnSpPr>
            <a:stCxn id="126" idx="3"/>
            <a:endCxn id="127" idx="1"/>
          </p:cNvCxnSpPr>
          <p:nvPr/>
        </p:nvCxnSpPr>
        <p:spPr>
          <a:xfrm>
            <a:off x="4950686" y="1963364"/>
            <a:ext cx="321428" cy="1517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183"/>
          <p:cNvSpPr txBox="1">
            <a:spLocks noChangeArrowheads="1"/>
          </p:cNvSpPr>
          <p:nvPr/>
        </p:nvSpPr>
        <p:spPr bwMode="auto">
          <a:xfrm>
            <a:off x="4042094" y="2063003"/>
            <a:ext cx="47871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7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7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" name="그룹 223"/>
          <p:cNvGrpSpPr>
            <a:grpSpLocks/>
          </p:cNvGrpSpPr>
          <p:nvPr/>
        </p:nvGrpSpPr>
        <p:grpSpPr bwMode="auto">
          <a:xfrm>
            <a:off x="2630719" y="4365127"/>
            <a:ext cx="1006949" cy="305751"/>
            <a:chOff x="6900488" y="2500306"/>
            <a:chExt cx="647703" cy="287340"/>
          </a:xfrm>
        </p:grpSpPr>
        <p:sp>
          <p:nvSpPr>
            <p:cNvPr id="217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2" name="직선 연결선 221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4" name="AutoShape 41"/>
          <p:cNvCxnSpPr>
            <a:cxnSpLocks noChangeShapeType="1"/>
          </p:cNvCxnSpPr>
          <p:nvPr/>
        </p:nvCxnSpPr>
        <p:spPr bwMode="auto">
          <a:xfrm>
            <a:off x="3586771" y="4510760"/>
            <a:ext cx="381861" cy="3909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5" name="TextBox 183"/>
          <p:cNvSpPr txBox="1">
            <a:spLocks noChangeArrowheads="1"/>
          </p:cNvSpPr>
          <p:nvPr/>
        </p:nvSpPr>
        <p:spPr bwMode="auto">
          <a:xfrm>
            <a:off x="4842701" y="1788682"/>
            <a:ext cx="47871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7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7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0" name="직선 화살표 연결선 229"/>
          <p:cNvCxnSpPr>
            <a:stCxn id="120" idx="2"/>
            <a:endCxn id="129" idx="0"/>
          </p:cNvCxnSpPr>
          <p:nvPr/>
        </p:nvCxnSpPr>
        <p:spPr>
          <a:xfrm rot="16200000" flipH="1">
            <a:off x="4152549" y="2622599"/>
            <a:ext cx="563879" cy="6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223"/>
          <p:cNvGrpSpPr>
            <a:grpSpLocks/>
          </p:cNvGrpSpPr>
          <p:nvPr/>
        </p:nvGrpSpPr>
        <p:grpSpPr bwMode="auto">
          <a:xfrm>
            <a:off x="5222371" y="2917265"/>
            <a:ext cx="775845" cy="305751"/>
            <a:chOff x="6858016" y="2500306"/>
            <a:chExt cx="647704" cy="287340"/>
          </a:xfrm>
        </p:grpSpPr>
        <p:sp>
          <p:nvSpPr>
            <p:cNvPr id="234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35" name="직선 연결선 23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7" name="AutoShape 41"/>
          <p:cNvCxnSpPr>
            <a:cxnSpLocks noChangeShapeType="1"/>
          </p:cNvCxnSpPr>
          <p:nvPr/>
        </p:nvCxnSpPr>
        <p:spPr bwMode="auto">
          <a:xfrm>
            <a:off x="4892778" y="3059187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9" name="TextBox 108"/>
          <p:cNvSpPr txBox="1"/>
          <p:nvPr/>
        </p:nvSpPr>
        <p:spPr>
          <a:xfrm>
            <a:off x="6376972" y="785794"/>
            <a:ext cx="2831700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피킹관련</a:t>
            </a:r>
            <a:r>
              <a:rPr lang="ko-KR" altLang="en-US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추가협의 필요 </a:t>
            </a:r>
            <a:endParaRPr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0" name="직선 화살표 연결선 109"/>
          <p:cNvCxnSpPr>
            <a:stCxn id="411" idx="2"/>
            <a:endCxn id="342" idx="0"/>
          </p:cNvCxnSpPr>
          <p:nvPr/>
        </p:nvCxnSpPr>
        <p:spPr>
          <a:xfrm rot="16200000" flipH="1">
            <a:off x="4197522" y="5688004"/>
            <a:ext cx="478059" cy="343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529608" y="1000108"/>
            <a:ext cx="7001870" cy="53304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 sz="9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380174" y="1000108"/>
            <a:ext cx="1972286" cy="53631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2286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en-US" altLang="ko-KR" sz="9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06" name="제목 2"/>
          <p:cNvSpPr txBox="1">
            <a:spLocks/>
          </p:cNvSpPr>
          <p:nvPr/>
        </p:nvSpPr>
        <p:spPr>
          <a:xfrm>
            <a:off x="495221" y="367166"/>
            <a:ext cx="8913972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20000"/>
              </a:lnSpc>
              <a:spcBef>
                <a:spcPct val="0"/>
              </a:spcBef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출고프로세스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출고확정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(PK_WMSOP030.SP_OUT_COMPLETE)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07" name="TextBox 216"/>
          <p:cNvSpPr txBox="1">
            <a:spLocks noChangeArrowheads="1"/>
          </p:cNvSpPr>
          <p:nvPr/>
        </p:nvSpPr>
        <p:spPr bwMode="auto">
          <a:xfrm>
            <a:off x="380174" y="1000108"/>
            <a:ext cx="1972286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센터별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정책적용 설정에 따라 주문정보에 이하 값 확인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무게정보확인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출고전표발행확인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상차리스트발행확인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피킹확정여부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피킹리스트발행확인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출고배차확인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랙보충여부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출고로케이션지정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할당확인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출고승인결제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거래처별유효기간확인</a:t>
            </a:r>
            <a:endParaRPr kumimoji="0" lang="en-US" altLang="ko-KR" sz="9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대금결제 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비용확인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작업정보등록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주문정보에서 취득한 정보를 작업 및 작업상세에 등록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기존에 등록되어있던 작업상세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LOC,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Packing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정보는 삭제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작업상태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=‘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완료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’,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확인수량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 입출고처리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입출고반영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재고 삭제 및 기존 재고 존재 시 수량 갱신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dirty="0" err="1" smtClean="0">
                <a:latin typeface="맑은 고딕" pitchFamily="50" charset="-127"/>
                <a:ea typeface="맑은 고딕" pitchFamily="50" charset="-127"/>
              </a:rPr>
              <a:t>미존재시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신규등록</a:t>
            </a: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 할당처리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할당테이블의 할당수량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(ALOC_QTY)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및 재고수량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(STOCK_QTY)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이 모두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0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인 경우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DELETE</a:t>
            </a:r>
          </a:p>
          <a:p>
            <a:pPr eaLnBrk="1" hangingPunct="1">
              <a:buFont typeface="Wingdings" pitchFamily="2" charset="2"/>
              <a:buChar char="§"/>
            </a:pPr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b="1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900" b="1" dirty="0" smtClean="0">
                <a:latin typeface="맑은 고딕" pitchFamily="50" charset="-127"/>
                <a:ea typeface="맑은 고딕" pitchFamily="50" charset="-127"/>
              </a:rPr>
              <a:t>주문상세수정</a:t>
            </a:r>
            <a:endParaRPr kumimoji="0" lang="en-US" altLang="ko-KR" sz="900" b="1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900" dirty="0" smtClean="0">
                <a:latin typeface="맑은 고딕" pitchFamily="50" charset="-127"/>
                <a:ea typeface="맑은 고딕" pitchFamily="50" charset="-127"/>
              </a:rPr>
              <a:t>입하수량 </a:t>
            </a:r>
            <a:r>
              <a:rPr kumimoji="0"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eaLnBrk="1" hangingPunct="1"/>
            <a:endParaRPr kumimoji="0"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순서도: 수행의 시작/종료 124"/>
          <p:cNvSpPr/>
          <p:nvPr/>
        </p:nvSpPr>
        <p:spPr>
          <a:xfrm>
            <a:off x="3934109" y="1061702"/>
            <a:ext cx="990441" cy="35052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출고확정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시작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순서도: 판단 125"/>
          <p:cNvSpPr/>
          <p:nvPr/>
        </p:nvSpPr>
        <p:spPr>
          <a:xfrm>
            <a:off x="3918977" y="1786873"/>
            <a:ext cx="1031710" cy="369937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사전체크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순서도: 처리 126"/>
          <p:cNvSpPr/>
          <p:nvPr/>
        </p:nvSpPr>
        <p:spPr>
          <a:xfrm>
            <a:off x="5296875" y="1858854"/>
            <a:ext cx="915892" cy="229009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순서도: 처리 128"/>
          <p:cNvSpPr/>
          <p:nvPr/>
        </p:nvSpPr>
        <p:spPr>
          <a:xfrm>
            <a:off x="3976886" y="2486658"/>
            <a:ext cx="915892" cy="34925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작업정보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직선 화살표 연결선 177"/>
          <p:cNvCxnSpPr>
            <a:stCxn id="125" idx="2"/>
            <a:endCxn id="121" idx="0"/>
          </p:cNvCxnSpPr>
          <p:nvPr/>
        </p:nvCxnSpPr>
        <p:spPr>
          <a:xfrm rot="16200000" flipH="1">
            <a:off x="4355365" y="1486187"/>
            <a:ext cx="152400" cy="447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>
            <a:stCxn id="120" idx="2"/>
            <a:endCxn id="129" idx="0"/>
          </p:cNvCxnSpPr>
          <p:nvPr/>
        </p:nvCxnSpPr>
        <p:spPr>
          <a:xfrm rot="16200000" flipH="1">
            <a:off x="4297321" y="2349145"/>
            <a:ext cx="274335" cy="6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/>
          <p:cNvCxnSpPr>
            <a:stCxn id="126" idx="3"/>
            <a:endCxn id="127" idx="1"/>
          </p:cNvCxnSpPr>
          <p:nvPr/>
        </p:nvCxnSpPr>
        <p:spPr>
          <a:xfrm>
            <a:off x="4950686" y="1971842"/>
            <a:ext cx="346189" cy="15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순서도: 처리 317"/>
          <p:cNvSpPr/>
          <p:nvPr/>
        </p:nvSpPr>
        <p:spPr>
          <a:xfrm>
            <a:off x="3976886" y="4918054"/>
            <a:ext cx="915892" cy="28575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주문상세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수정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223"/>
          <p:cNvGrpSpPr>
            <a:grpSpLocks/>
          </p:cNvGrpSpPr>
          <p:nvPr/>
        </p:nvGrpSpPr>
        <p:grpSpPr bwMode="auto">
          <a:xfrm>
            <a:off x="5238879" y="4915382"/>
            <a:ext cx="775845" cy="313822"/>
            <a:chOff x="6858016" y="2500306"/>
            <a:chExt cx="647704" cy="287340"/>
          </a:xfrm>
        </p:grpSpPr>
        <p:sp>
          <p:nvSpPr>
            <p:cNvPr id="320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1" name="직선 연결선 320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AutoShape 41"/>
          <p:cNvCxnSpPr>
            <a:cxnSpLocks noChangeShapeType="1"/>
            <a:stCxn id="318" idx="3"/>
          </p:cNvCxnSpPr>
          <p:nvPr/>
        </p:nvCxnSpPr>
        <p:spPr bwMode="auto">
          <a:xfrm flipV="1">
            <a:off x="4892778" y="5058339"/>
            <a:ext cx="346101" cy="259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42" name="순서도: 수행의 시작/종료 341"/>
          <p:cNvSpPr/>
          <p:nvPr/>
        </p:nvSpPr>
        <p:spPr>
          <a:xfrm>
            <a:off x="3943050" y="5962632"/>
            <a:ext cx="990441" cy="318770"/>
          </a:xfrm>
          <a:prstGeom prst="flowChartTerminator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출고확정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46" name="직선 화살표 연결선 345"/>
          <p:cNvCxnSpPr>
            <a:stCxn id="425" idx="2"/>
            <a:endCxn id="318" idx="0"/>
          </p:cNvCxnSpPr>
          <p:nvPr/>
        </p:nvCxnSpPr>
        <p:spPr>
          <a:xfrm rot="5400000">
            <a:off x="4342758" y="4825913"/>
            <a:ext cx="184149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설명선 2(강조선) 364"/>
          <p:cNvSpPr/>
          <p:nvPr/>
        </p:nvSpPr>
        <p:spPr>
          <a:xfrm>
            <a:off x="6476929" y="3042326"/>
            <a:ext cx="2996085" cy="3167899"/>
          </a:xfrm>
          <a:prstGeom prst="accentCallout2">
            <a:avLst>
              <a:gd name="adj1" fmla="val 38794"/>
              <a:gd name="adj2" fmla="val -1732"/>
              <a:gd name="adj3" fmla="val 50420"/>
              <a:gd name="adj4" fmla="val -10928"/>
              <a:gd name="adj5" fmla="val 50597"/>
              <a:gd name="adj6" fmla="val -53040"/>
            </a:avLst>
          </a:prstGeom>
          <a:solidFill>
            <a:srgbClr val="C5D9F1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6494098" y="3096948"/>
            <a:ext cx="2961746" cy="3146354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2" name="순서도: 처리 201"/>
          <p:cNvSpPr/>
          <p:nvPr/>
        </p:nvSpPr>
        <p:spPr>
          <a:xfrm>
            <a:off x="6622869" y="3155485"/>
            <a:ext cx="2798636" cy="3024402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3" name="순서도: 처리 202"/>
          <p:cNvSpPr/>
          <p:nvPr/>
        </p:nvSpPr>
        <p:spPr>
          <a:xfrm>
            <a:off x="6622869" y="3155485"/>
            <a:ext cx="2798636" cy="121952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순서도: 처리 203"/>
          <p:cNvSpPr/>
          <p:nvPr/>
        </p:nvSpPr>
        <p:spPr>
          <a:xfrm>
            <a:off x="6777397" y="3345730"/>
            <a:ext cx="2498168" cy="2760987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" name="순서도: 처리 204"/>
          <p:cNvSpPr/>
          <p:nvPr/>
        </p:nvSpPr>
        <p:spPr>
          <a:xfrm>
            <a:off x="6777397" y="3340852"/>
            <a:ext cx="2498168" cy="12683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순서도: 처리 205"/>
          <p:cNvSpPr/>
          <p:nvPr/>
        </p:nvSpPr>
        <p:spPr>
          <a:xfrm>
            <a:off x="7013616" y="3500438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마감확인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순서도: 처리 214"/>
          <p:cNvSpPr/>
          <p:nvPr/>
        </p:nvSpPr>
        <p:spPr>
          <a:xfrm>
            <a:off x="7013616" y="5607160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수불등록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순서도: 처리 215"/>
          <p:cNvSpPr/>
          <p:nvPr/>
        </p:nvSpPr>
        <p:spPr>
          <a:xfrm>
            <a:off x="7013616" y="5301336"/>
            <a:ext cx="952633" cy="19431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mtClean="0">
                <a:latin typeface="맑은 고딕" pitchFamily="50" charset="-127"/>
                <a:ea typeface="맑은 고딕" pitchFamily="50" charset="-127"/>
              </a:rPr>
              <a:t>입출고이력등록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39"/>
          <p:cNvGrpSpPr/>
          <p:nvPr/>
        </p:nvGrpSpPr>
        <p:grpSpPr>
          <a:xfrm>
            <a:off x="8219638" y="5306111"/>
            <a:ext cx="1090266" cy="204866"/>
            <a:chOff x="7726680" y="5165413"/>
            <a:chExt cx="967740" cy="320019"/>
          </a:xfrm>
        </p:grpSpPr>
        <p:sp>
          <p:nvSpPr>
            <p:cNvPr id="218" name="TextBox 183"/>
            <p:cNvSpPr txBox="1">
              <a:spLocks noChangeArrowheads="1"/>
            </p:cNvSpPr>
            <p:nvPr/>
          </p:nvSpPr>
          <p:spPr bwMode="auto">
            <a:xfrm>
              <a:off x="7726680" y="5196967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입출고이력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4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219" name="직선 연결선 218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1" name="AutoShape 41"/>
          <p:cNvCxnSpPr>
            <a:cxnSpLocks noChangeShapeType="1"/>
            <a:stCxn id="216" idx="3"/>
          </p:cNvCxnSpPr>
          <p:nvPr/>
        </p:nvCxnSpPr>
        <p:spPr bwMode="auto">
          <a:xfrm flipV="1">
            <a:off x="7966248" y="5395268"/>
            <a:ext cx="253389" cy="322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42" name="TextBox 183"/>
          <p:cNvSpPr txBox="1">
            <a:spLocks noChangeArrowheads="1"/>
          </p:cNvSpPr>
          <p:nvPr/>
        </p:nvSpPr>
        <p:spPr bwMode="auto">
          <a:xfrm>
            <a:off x="8224798" y="5580428"/>
            <a:ext cx="109026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수불이력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231"/>
          <p:cNvGrpSpPr/>
          <p:nvPr/>
        </p:nvGrpSpPr>
        <p:grpSpPr>
          <a:xfrm>
            <a:off x="8293566" y="5579278"/>
            <a:ext cx="896148" cy="171342"/>
            <a:chOff x="7632501" y="5165413"/>
            <a:chExt cx="772349" cy="267652"/>
          </a:xfrm>
        </p:grpSpPr>
        <p:cxnSp>
          <p:nvCxnSpPr>
            <p:cNvPr id="244" name="직선 연결선 243"/>
            <p:cNvCxnSpPr/>
            <p:nvPr/>
          </p:nvCxnSpPr>
          <p:spPr bwMode="auto">
            <a:xfrm>
              <a:off x="7632501" y="5431376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연결선 244"/>
            <p:cNvCxnSpPr/>
            <p:nvPr/>
          </p:nvCxnSpPr>
          <p:spPr bwMode="auto">
            <a:xfrm>
              <a:off x="7639897" y="5165413"/>
              <a:ext cx="764953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AutoShape 41"/>
          <p:cNvCxnSpPr>
            <a:cxnSpLocks noChangeShapeType="1"/>
            <a:stCxn id="215" idx="3"/>
            <a:endCxn id="242" idx="1"/>
          </p:cNvCxnSpPr>
          <p:nvPr/>
        </p:nvCxnSpPr>
        <p:spPr bwMode="auto">
          <a:xfrm>
            <a:off x="7966249" y="5668726"/>
            <a:ext cx="258549" cy="403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1" name="순서도: 처리 250"/>
          <p:cNvSpPr/>
          <p:nvPr/>
        </p:nvSpPr>
        <p:spPr>
          <a:xfrm>
            <a:off x="7013616" y="5056936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할당처리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5" name="AutoShape 41"/>
          <p:cNvCxnSpPr>
            <a:cxnSpLocks noChangeShapeType="1"/>
            <a:stCxn id="251" idx="3"/>
          </p:cNvCxnSpPr>
          <p:nvPr/>
        </p:nvCxnSpPr>
        <p:spPr bwMode="auto">
          <a:xfrm flipV="1">
            <a:off x="7966248" y="5117217"/>
            <a:ext cx="261974" cy="128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6" name="그룹 256"/>
          <p:cNvGrpSpPr/>
          <p:nvPr/>
        </p:nvGrpSpPr>
        <p:grpSpPr>
          <a:xfrm>
            <a:off x="8228223" y="5028061"/>
            <a:ext cx="1090266" cy="204866"/>
            <a:chOff x="7734300" y="4753933"/>
            <a:chExt cx="967740" cy="320019"/>
          </a:xfrm>
        </p:grpSpPr>
        <p:grpSp>
          <p:nvGrpSpPr>
            <p:cNvPr id="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53" name="직선 연결선 252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6" name="TextBox 183"/>
            <p:cNvSpPr txBox="1">
              <a:spLocks noChangeArrowheads="1"/>
            </p:cNvSpPr>
            <p:nvPr/>
          </p:nvSpPr>
          <p:spPr bwMode="auto">
            <a:xfrm>
              <a:off x="7734300" y="4785487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할당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0" name="순서도: 처리 259"/>
          <p:cNvSpPr/>
          <p:nvPr/>
        </p:nvSpPr>
        <p:spPr>
          <a:xfrm>
            <a:off x="7013616" y="4797902"/>
            <a:ext cx="952633" cy="123132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입출고 반영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1" name="AutoShape 41"/>
          <p:cNvCxnSpPr>
            <a:cxnSpLocks noChangeShapeType="1"/>
            <a:stCxn id="260" idx="3"/>
          </p:cNvCxnSpPr>
          <p:nvPr/>
        </p:nvCxnSpPr>
        <p:spPr bwMode="auto">
          <a:xfrm flipV="1">
            <a:off x="7966248" y="4858681"/>
            <a:ext cx="261974" cy="78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8" name="그룹 261"/>
          <p:cNvGrpSpPr/>
          <p:nvPr/>
        </p:nvGrpSpPr>
        <p:grpSpPr>
          <a:xfrm>
            <a:off x="8228223" y="4769523"/>
            <a:ext cx="1090266" cy="204866"/>
            <a:chOff x="7734300" y="4753933"/>
            <a:chExt cx="967740" cy="320019"/>
          </a:xfrm>
        </p:grpSpPr>
        <p:grpSp>
          <p:nvGrpSpPr>
            <p:cNvPr id="10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65" name="직선 연결선 264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4" name="TextBox 183"/>
            <p:cNvSpPr txBox="1">
              <a:spLocks noChangeArrowheads="1"/>
            </p:cNvSpPr>
            <p:nvPr/>
          </p:nvSpPr>
          <p:spPr bwMode="auto">
            <a:xfrm>
              <a:off x="7734300" y="4785487"/>
              <a:ext cx="967740" cy="28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7" name="순서도: 판단 266"/>
          <p:cNvSpPr/>
          <p:nvPr/>
        </p:nvSpPr>
        <p:spPr>
          <a:xfrm>
            <a:off x="6953384" y="4434935"/>
            <a:ext cx="1073096" cy="236822"/>
          </a:xfrm>
          <a:prstGeom prst="flowChartDecisio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재고확인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8" name="순서도: 처리 267"/>
          <p:cNvSpPr/>
          <p:nvPr/>
        </p:nvSpPr>
        <p:spPr>
          <a:xfrm>
            <a:off x="8392995" y="4480431"/>
            <a:ext cx="796721" cy="146604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에러처리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9" name="직선 화살표 연결선 268"/>
          <p:cNvCxnSpPr>
            <a:stCxn id="267" idx="3"/>
            <a:endCxn id="268" idx="1"/>
          </p:cNvCxnSpPr>
          <p:nvPr/>
        </p:nvCxnSpPr>
        <p:spPr>
          <a:xfrm>
            <a:off x="8026481" y="4553347"/>
            <a:ext cx="366514" cy="3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순서도: 처리 277"/>
          <p:cNvSpPr/>
          <p:nvPr/>
        </p:nvSpPr>
        <p:spPr>
          <a:xfrm>
            <a:off x="7013616" y="4090594"/>
            <a:ext cx="952633" cy="21626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현재고 취득 및 수량계산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2" name="순서도: 처리 281"/>
          <p:cNvSpPr/>
          <p:nvPr/>
        </p:nvSpPr>
        <p:spPr>
          <a:xfrm>
            <a:off x="7013616" y="3750063"/>
            <a:ext cx="952633" cy="2000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6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상품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정보취득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4" name="직선 화살표 연결선 283"/>
          <p:cNvCxnSpPr>
            <a:stCxn id="206" idx="2"/>
            <a:endCxn id="282" idx="0"/>
          </p:cNvCxnSpPr>
          <p:nvPr/>
        </p:nvCxnSpPr>
        <p:spPr>
          <a:xfrm rot="5400000">
            <a:off x="7426687" y="3686816"/>
            <a:ext cx="126493" cy="15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>
            <a:stCxn id="282" idx="2"/>
            <a:endCxn id="278" idx="0"/>
          </p:cNvCxnSpPr>
          <p:nvPr/>
        </p:nvCxnSpPr>
        <p:spPr>
          <a:xfrm rot="5400000">
            <a:off x="7419668" y="4020328"/>
            <a:ext cx="140531" cy="158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/>
          <p:cNvCxnSpPr>
            <a:stCxn id="278" idx="2"/>
            <a:endCxn id="267" idx="0"/>
          </p:cNvCxnSpPr>
          <p:nvPr/>
        </p:nvCxnSpPr>
        <p:spPr>
          <a:xfrm rot="5400000">
            <a:off x="7425893" y="4370895"/>
            <a:ext cx="128080" cy="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/>
          <p:cNvCxnSpPr>
            <a:stCxn id="267" idx="2"/>
            <a:endCxn id="260" idx="0"/>
          </p:cNvCxnSpPr>
          <p:nvPr/>
        </p:nvCxnSpPr>
        <p:spPr>
          <a:xfrm rot="5400000">
            <a:off x="7426861" y="4734763"/>
            <a:ext cx="126145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화살표 연결선 304"/>
          <p:cNvCxnSpPr>
            <a:stCxn id="260" idx="2"/>
            <a:endCxn id="251" idx="0"/>
          </p:cNvCxnSpPr>
          <p:nvPr/>
        </p:nvCxnSpPr>
        <p:spPr>
          <a:xfrm rot="5400000">
            <a:off x="7421981" y="4988599"/>
            <a:ext cx="135902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>
            <a:stCxn id="251" idx="2"/>
            <a:endCxn id="216" idx="0"/>
          </p:cNvCxnSpPr>
          <p:nvPr/>
        </p:nvCxnSpPr>
        <p:spPr>
          <a:xfrm rot="5400000">
            <a:off x="7429298" y="5240316"/>
            <a:ext cx="121268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/>
          <p:cNvCxnSpPr>
            <a:stCxn id="216" idx="2"/>
            <a:endCxn id="215" idx="0"/>
          </p:cNvCxnSpPr>
          <p:nvPr/>
        </p:nvCxnSpPr>
        <p:spPr>
          <a:xfrm rot="5400000">
            <a:off x="7434175" y="5551017"/>
            <a:ext cx="111515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순서도: 처리 116"/>
          <p:cNvSpPr/>
          <p:nvPr/>
        </p:nvSpPr>
        <p:spPr>
          <a:xfrm>
            <a:off x="7013616" y="5848633"/>
            <a:ext cx="952633" cy="216261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재고관리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공통모듈 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8" name="직선 화살표 연결선 117"/>
          <p:cNvCxnSpPr>
            <a:stCxn id="215" idx="2"/>
            <a:endCxn id="117" idx="0"/>
          </p:cNvCxnSpPr>
          <p:nvPr/>
        </p:nvCxnSpPr>
        <p:spPr>
          <a:xfrm rot="5400000">
            <a:off x="7430762" y="5789076"/>
            <a:ext cx="118340" cy="1789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AutoShape 41"/>
          <p:cNvCxnSpPr>
            <a:cxnSpLocks noChangeShapeType="1"/>
            <a:stCxn id="117" idx="3"/>
          </p:cNvCxnSpPr>
          <p:nvPr/>
        </p:nvCxnSpPr>
        <p:spPr bwMode="auto">
          <a:xfrm>
            <a:off x="7966249" y="5956764"/>
            <a:ext cx="244804" cy="43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1" name="그룹 239"/>
          <p:cNvGrpSpPr/>
          <p:nvPr/>
        </p:nvGrpSpPr>
        <p:grpSpPr>
          <a:xfrm>
            <a:off x="8211053" y="5791108"/>
            <a:ext cx="1090266" cy="292703"/>
            <a:chOff x="7726680" y="5100250"/>
            <a:chExt cx="967740" cy="370915"/>
          </a:xfrm>
        </p:grpSpPr>
        <p:sp>
          <p:nvSpPr>
            <p:cNvPr id="145" name="TextBox 183"/>
            <p:cNvSpPr txBox="1">
              <a:spLocks noChangeArrowheads="1"/>
            </p:cNvSpPr>
            <p:nvPr/>
          </p:nvSpPr>
          <p:spPr bwMode="auto">
            <a:xfrm>
              <a:off x="7726680" y="5100250"/>
              <a:ext cx="967740" cy="35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논리재고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주문논리재고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147" name="직선 연결선 146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순서도: 처리 119"/>
          <p:cNvSpPr/>
          <p:nvPr/>
        </p:nvSpPr>
        <p:spPr>
          <a:xfrm>
            <a:off x="2589447" y="1570972"/>
            <a:ext cx="3689394" cy="64135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2589447" y="1564623"/>
            <a:ext cx="3688706" cy="174523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1" name="설명선 2(강조선) 140"/>
          <p:cNvSpPr/>
          <p:nvPr/>
        </p:nvSpPr>
        <p:spPr>
          <a:xfrm>
            <a:off x="6505469" y="1225532"/>
            <a:ext cx="2986799" cy="1685925"/>
          </a:xfrm>
          <a:prstGeom prst="accentCallout2">
            <a:avLst>
              <a:gd name="adj1" fmla="val 64794"/>
              <a:gd name="adj2" fmla="val -3037"/>
              <a:gd name="adj3" fmla="val 64796"/>
              <a:gd name="adj4" fmla="val -15170"/>
              <a:gd name="adj5" fmla="val 84299"/>
              <a:gd name="adj6" fmla="val -54240"/>
            </a:avLst>
          </a:prstGeom>
          <a:solidFill>
            <a:srgbClr val="C5D9F1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494098" y="1225533"/>
            <a:ext cx="2961746" cy="1681163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1" name="순서도: 처리 290"/>
          <p:cNvSpPr/>
          <p:nvPr/>
        </p:nvSpPr>
        <p:spPr>
          <a:xfrm>
            <a:off x="7505413" y="1295356"/>
            <a:ext cx="952633" cy="150218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작업등록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2" name="AutoShape 41"/>
          <p:cNvCxnSpPr>
            <a:cxnSpLocks noChangeShapeType="1"/>
            <a:stCxn id="291" idx="3"/>
          </p:cNvCxnSpPr>
          <p:nvPr/>
        </p:nvCxnSpPr>
        <p:spPr bwMode="auto">
          <a:xfrm>
            <a:off x="8458046" y="1370466"/>
            <a:ext cx="215541" cy="93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4" name="그룹 261"/>
          <p:cNvGrpSpPr/>
          <p:nvPr/>
        </p:nvGrpSpPr>
        <p:grpSpPr>
          <a:xfrm>
            <a:off x="8769880" y="1279069"/>
            <a:ext cx="688700" cy="184666"/>
            <a:chOff x="7734300" y="4704443"/>
            <a:chExt cx="967740" cy="349156"/>
          </a:xfrm>
        </p:grpSpPr>
        <p:grpSp>
          <p:nvGrpSpPr>
            <p:cNvPr id="15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297" name="직선 연결선 296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직선 연결선 298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6" name="TextBox 183"/>
            <p:cNvSpPr txBox="1">
              <a:spLocks noChangeArrowheads="1"/>
            </p:cNvSpPr>
            <p:nvPr/>
          </p:nvSpPr>
          <p:spPr bwMode="auto">
            <a:xfrm>
              <a:off x="7734300" y="4704443"/>
              <a:ext cx="967740" cy="34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2" name="순서도: 처리 301"/>
          <p:cNvSpPr/>
          <p:nvPr/>
        </p:nvSpPr>
        <p:spPr>
          <a:xfrm>
            <a:off x="7505395" y="2376461"/>
            <a:ext cx="952633" cy="21687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작업상세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등록</a:t>
            </a:r>
            <a:endParaRPr lang="ko-KR" altLang="en-US" sz="6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3" name="AutoShape 41"/>
          <p:cNvCxnSpPr>
            <a:cxnSpLocks noChangeShapeType="1"/>
            <a:stCxn id="302" idx="3"/>
          </p:cNvCxnSpPr>
          <p:nvPr/>
        </p:nvCxnSpPr>
        <p:spPr bwMode="auto">
          <a:xfrm>
            <a:off x="8458028" y="2484900"/>
            <a:ext cx="210382" cy="94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6" name="그룹 261"/>
          <p:cNvGrpSpPr/>
          <p:nvPr/>
        </p:nvGrpSpPr>
        <p:grpSpPr>
          <a:xfrm>
            <a:off x="8723435" y="2393515"/>
            <a:ext cx="688700" cy="184666"/>
            <a:chOff x="7734300" y="4704443"/>
            <a:chExt cx="967740" cy="349156"/>
          </a:xfrm>
        </p:grpSpPr>
        <p:grpSp>
          <p:nvGrpSpPr>
            <p:cNvPr id="17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09" name="직선 연결선 308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직선 연결선 309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183"/>
            <p:cNvSpPr txBox="1">
              <a:spLocks noChangeArrowheads="1"/>
            </p:cNvSpPr>
            <p:nvPr/>
          </p:nvSpPr>
          <p:spPr bwMode="auto">
            <a:xfrm>
              <a:off x="7734300" y="4704443"/>
              <a:ext cx="967740" cy="34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17" name="AutoShape 41"/>
          <p:cNvCxnSpPr>
            <a:cxnSpLocks noChangeShapeType="1"/>
          </p:cNvCxnSpPr>
          <p:nvPr/>
        </p:nvCxnSpPr>
        <p:spPr bwMode="auto">
          <a:xfrm>
            <a:off x="7216336" y="1369375"/>
            <a:ext cx="304599" cy="2341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8" name="그룹 261"/>
          <p:cNvGrpSpPr/>
          <p:nvPr/>
        </p:nvGrpSpPr>
        <p:grpSpPr>
          <a:xfrm>
            <a:off x="6605009" y="1274305"/>
            <a:ext cx="688700" cy="184666"/>
            <a:chOff x="7734300" y="4704443"/>
            <a:chExt cx="967740" cy="349156"/>
          </a:xfrm>
        </p:grpSpPr>
        <p:grpSp>
          <p:nvGrpSpPr>
            <p:cNvPr id="19" name="그룹 231"/>
            <p:cNvGrpSpPr/>
            <p:nvPr/>
          </p:nvGrpSpPr>
          <p:grpSpPr>
            <a:xfrm>
              <a:off x="7792300" y="4753933"/>
              <a:ext cx="795437" cy="267652"/>
              <a:chOff x="7632501" y="5165413"/>
              <a:chExt cx="772349" cy="267652"/>
            </a:xfrm>
          </p:grpSpPr>
          <p:cxnSp>
            <p:nvCxnSpPr>
              <p:cNvPr id="327" name="직선 연결선 326"/>
              <p:cNvCxnSpPr/>
              <p:nvPr/>
            </p:nvCxnSpPr>
            <p:spPr bwMode="auto">
              <a:xfrm>
                <a:off x="7632501" y="54313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6" name="TextBox 183"/>
            <p:cNvSpPr txBox="1">
              <a:spLocks noChangeArrowheads="1"/>
            </p:cNvSpPr>
            <p:nvPr/>
          </p:nvSpPr>
          <p:spPr bwMode="auto">
            <a:xfrm>
              <a:off x="7734300" y="4704443"/>
              <a:ext cx="967740" cy="34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endParaRPr kumimoji="0" lang="ko-KR" altLang="en-US" sz="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0" name="그룹 239"/>
          <p:cNvGrpSpPr/>
          <p:nvPr/>
        </p:nvGrpSpPr>
        <p:grpSpPr>
          <a:xfrm>
            <a:off x="6582697" y="2320769"/>
            <a:ext cx="803883" cy="278585"/>
            <a:chOff x="7726680" y="5165413"/>
            <a:chExt cx="967740" cy="305752"/>
          </a:xfrm>
        </p:grpSpPr>
        <p:sp>
          <p:nvSpPr>
            <p:cNvPr id="341" name="TextBox 183"/>
            <p:cNvSpPr txBox="1">
              <a:spLocks noChangeArrowheads="1"/>
            </p:cNvSpPr>
            <p:nvPr/>
          </p:nvSpPr>
          <p:spPr bwMode="auto">
            <a:xfrm>
              <a:off x="7726680" y="5165585"/>
              <a:ext cx="967740" cy="30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endParaRPr kumimoji="0" lang="en-US" altLang="ko-KR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1" name="그룹 231"/>
            <p:cNvGrpSpPr/>
            <p:nvPr/>
          </p:nvGrpSpPr>
          <p:grpSpPr>
            <a:xfrm>
              <a:off x="7799917" y="5165413"/>
              <a:ext cx="787823" cy="305752"/>
              <a:chOff x="7639897" y="5165413"/>
              <a:chExt cx="764956" cy="305752"/>
            </a:xfrm>
          </p:grpSpPr>
          <p:cxnSp>
            <p:nvCxnSpPr>
              <p:cNvPr id="345" name="직선 연결선 344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직선 연결선 346"/>
              <p:cNvCxnSpPr/>
              <p:nvPr/>
            </p:nvCxnSpPr>
            <p:spPr bwMode="auto">
              <a:xfrm>
                <a:off x="7639897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8" name="AutoShape 41"/>
          <p:cNvCxnSpPr>
            <a:cxnSpLocks noChangeShapeType="1"/>
            <a:endCxn id="302" idx="1"/>
          </p:cNvCxnSpPr>
          <p:nvPr/>
        </p:nvCxnSpPr>
        <p:spPr bwMode="auto">
          <a:xfrm flipV="1">
            <a:off x="7242130" y="2484900"/>
            <a:ext cx="263266" cy="3663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1" name="직선 화살표 연결선 360"/>
          <p:cNvCxnSpPr>
            <a:stCxn id="291" idx="2"/>
            <a:endCxn id="544" idx="0"/>
          </p:cNvCxnSpPr>
          <p:nvPr/>
        </p:nvCxnSpPr>
        <p:spPr>
          <a:xfrm rot="5400000">
            <a:off x="7889658" y="1537629"/>
            <a:ext cx="184126" cy="1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순서도: 처리 385"/>
          <p:cNvSpPr/>
          <p:nvPr/>
        </p:nvSpPr>
        <p:spPr>
          <a:xfrm>
            <a:off x="3976886" y="3448026"/>
            <a:ext cx="915892" cy="2794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 로케이션정보 등록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2" name="그룹 223"/>
          <p:cNvGrpSpPr>
            <a:grpSpLocks/>
          </p:cNvGrpSpPr>
          <p:nvPr/>
        </p:nvGrpSpPr>
        <p:grpSpPr bwMode="auto">
          <a:xfrm>
            <a:off x="5222371" y="3445805"/>
            <a:ext cx="775845" cy="305751"/>
            <a:chOff x="6858016" y="2500306"/>
            <a:chExt cx="647704" cy="287340"/>
          </a:xfrm>
        </p:grpSpPr>
        <p:sp>
          <p:nvSpPr>
            <p:cNvPr id="388" name="TextBox 183"/>
            <p:cNvSpPr txBox="1">
              <a:spLocks noChangeArrowheads="1"/>
            </p:cNvSpPr>
            <p:nvPr/>
          </p:nvSpPr>
          <p:spPr bwMode="auto">
            <a:xfrm>
              <a:off x="6858016" y="2529964"/>
              <a:ext cx="579123" cy="20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89" name="직선 연결선 388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1" name="AutoShape 41"/>
          <p:cNvCxnSpPr>
            <a:cxnSpLocks noChangeShapeType="1"/>
            <a:stCxn id="386" idx="3"/>
          </p:cNvCxnSpPr>
          <p:nvPr/>
        </p:nvCxnSpPr>
        <p:spPr bwMode="auto">
          <a:xfrm>
            <a:off x="4892778" y="3587727"/>
            <a:ext cx="336472" cy="370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96" name="AutoShape 41"/>
          <p:cNvCxnSpPr>
            <a:cxnSpLocks noChangeShapeType="1"/>
            <a:endCxn id="386" idx="1"/>
          </p:cNvCxnSpPr>
          <p:nvPr/>
        </p:nvCxnSpPr>
        <p:spPr bwMode="auto">
          <a:xfrm>
            <a:off x="3595024" y="3583818"/>
            <a:ext cx="381861" cy="3909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10" name="AutoShape 41"/>
          <p:cNvCxnSpPr>
            <a:cxnSpLocks noChangeShapeType="1"/>
            <a:endCxn id="411" idx="1"/>
          </p:cNvCxnSpPr>
          <p:nvPr/>
        </p:nvCxnSpPr>
        <p:spPr bwMode="auto">
          <a:xfrm>
            <a:off x="3508357" y="5542751"/>
            <a:ext cx="468529" cy="778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1" name="순서도: 처리 410"/>
          <p:cNvSpPr/>
          <p:nvPr/>
        </p:nvSpPr>
        <p:spPr>
          <a:xfrm>
            <a:off x="3976886" y="5432404"/>
            <a:ext cx="915892" cy="22225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작업상태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지정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2" name="AutoShape 41"/>
          <p:cNvCxnSpPr>
            <a:cxnSpLocks noChangeShapeType="1"/>
            <a:stCxn id="411" idx="3"/>
            <a:endCxn id="417" idx="1"/>
          </p:cNvCxnSpPr>
          <p:nvPr/>
        </p:nvCxnSpPr>
        <p:spPr bwMode="auto">
          <a:xfrm flipV="1">
            <a:off x="4892778" y="5543273"/>
            <a:ext cx="251184" cy="25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3" name="그룹 223"/>
          <p:cNvGrpSpPr>
            <a:grpSpLocks/>
          </p:cNvGrpSpPr>
          <p:nvPr/>
        </p:nvGrpSpPr>
        <p:grpSpPr bwMode="auto">
          <a:xfrm>
            <a:off x="2839813" y="5448914"/>
            <a:ext cx="668544" cy="231932"/>
            <a:chOff x="6900488" y="2524899"/>
            <a:chExt cx="647703" cy="262747"/>
          </a:xfrm>
        </p:grpSpPr>
        <p:sp>
          <p:nvSpPr>
            <p:cNvPr id="414" name="TextBox 183"/>
            <p:cNvSpPr txBox="1">
              <a:spLocks noChangeArrowheads="1"/>
            </p:cNvSpPr>
            <p:nvPr/>
          </p:nvSpPr>
          <p:spPr bwMode="auto">
            <a:xfrm>
              <a:off x="6900488" y="2529967"/>
              <a:ext cx="647703" cy="244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주문정보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15" name="직선 연결선 414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직선 연결선 415"/>
            <p:cNvCxnSpPr/>
            <p:nvPr/>
          </p:nvCxnSpPr>
          <p:spPr>
            <a:xfrm>
              <a:off x="6929454" y="2524899"/>
              <a:ext cx="576265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7" name="TextBox 183"/>
          <p:cNvSpPr txBox="1">
            <a:spLocks noChangeArrowheads="1"/>
          </p:cNvSpPr>
          <p:nvPr/>
        </p:nvSpPr>
        <p:spPr bwMode="auto">
          <a:xfrm>
            <a:off x="5143962" y="5435550"/>
            <a:ext cx="9560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주문상세</a:t>
            </a:r>
            <a:endParaRPr kumimoji="0" lang="ko-KR" altLang="en-US" sz="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4" name="그룹 417"/>
          <p:cNvGrpSpPr/>
          <p:nvPr/>
        </p:nvGrpSpPr>
        <p:grpSpPr>
          <a:xfrm>
            <a:off x="5205813" y="5397642"/>
            <a:ext cx="887320" cy="305752"/>
            <a:chOff x="4889454" y="4892838"/>
            <a:chExt cx="819196" cy="305752"/>
          </a:xfrm>
        </p:grpSpPr>
        <p:cxnSp>
          <p:nvCxnSpPr>
            <p:cNvPr id="419" name="직선 연결선 418"/>
            <p:cNvCxnSpPr/>
            <p:nvPr/>
          </p:nvCxnSpPr>
          <p:spPr bwMode="auto">
            <a:xfrm>
              <a:off x="4889454" y="5196901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직선 연결선 419"/>
            <p:cNvCxnSpPr/>
            <p:nvPr/>
          </p:nvCxnSpPr>
          <p:spPr bwMode="auto">
            <a:xfrm>
              <a:off x="4889454" y="4892838"/>
              <a:ext cx="819196" cy="16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5" name="순서도: 처리 424"/>
          <p:cNvSpPr/>
          <p:nvPr/>
        </p:nvSpPr>
        <p:spPr>
          <a:xfrm>
            <a:off x="3976886" y="4467205"/>
            <a:ext cx="915892" cy="266700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입출고처리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4" name="순서도: 처리 453"/>
          <p:cNvSpPr/>
          <p:nvPr/>
        </p:nvSpPr>
        <p:spPr>
          <a:xfrm>
            <a:off x="3976886" y="3962371"/>
            <a:ext cx="915892" cy="25558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작업수량</a:t>
            </a:r>
            <a:endParaRPr lang="en-US" altLang="ko-KR" sz="900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UPDATE</a:t>
            </a:r>
          </a:p>
        </p:txBody>
      </p:sp>
      <p:cxnSp>
        <p:nvCxnSpPr>
          <p:cNvPr id="467" name="직선 화살표 연결선 466"/>
          <p:cNvCxnSpPr>
            <a:stCxn id="318" idx="2"/>
            <a:endCxn id="411" idx="0"/>
          </p:cNvCxnSpPr>
          <p:nvPr/>
        </p:nvCxnSpPr>
        <p:spPr>
          <a:xfrm rot="5400000">
            <a:off x="4320532" y="5318038"/>
            <a:ext cx="228600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/>
          <p:cNvCxnSpPr>
            <a:stCxn id="386" idx="2"/>
            <a:endCxn id="454" idx="0"/>
          </p:cNvCxnSpPr>
          <p:nvPr/>
        </p:nvCxnSpPr>
        <p:spPr>
          <a:xfrm rot="5400000">
            <a:off x="4317360" y="3844832"/>
            <a:ext cx="234944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23"/>
          <p:cNvGrpSpPr>
            <a:grpSpLocks/>
          </p:cNvGrpSpPr>
          <p:nvPr/>
        </p:nvGrpSpPr>
        <p:grpSpPr bwMode="auto">
          <a:xfrm>
            <a:off x="5220997" y="3922232"/>
            <a:ext cx="997320" cy="428557"/>
            <a:chOff x="6879605" y="2495309"/>
            <a:chExt cx="626115" cy="292337"/>
          </a:xfrm>
        </p:grpSpPr>
        <p:sp>
          <p:nvSpPr>
            <p:cNvPr id="483" name="TextBox 183"/>
            <p:cNvSpPr txBox="1">
              <a:spLocks noChangeArrowheads="1"/>
            </p:cNvSpPr>
            <p:nvPr/>
          </p:nvSpPr>
          <p:spPr bwMode="auto">
            <a:xfrm>
              <a:off x="6879605" y="2495309"/>
              <a:ext cx="579123" cy="2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</a:t>
              </a:r>
            </a:p>
          </p:txBody>
        </p:sp>
        <p:cxnSp>
          <p:nvCxnSpPr>
            <p:cNvPr id="484" name="직선 연결선 483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직선 연결선 484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6" name="AutoShape 41"/>
          <p:cNvCxnSpPr>
            <a:cxnSpLocks noChangeShapeType="1"/>
            <a:stCxn id="454" idx="3"/>
          </p:cNvCxnSpPr>
          <p:nvPr/>
        </p:nvCxnSpPr>
        <p:spPr bwMode="auto">
          <a:xfrm>
            <a:off x="4892778" y="4090165"/>
            <a:ext cx="328218" cy="134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89" name="직선 화살표 연결선 488"/>
          <p:cNvCxnSpPr>
            <a:stCxn id="454" idx="2"/>
            <a:endCxn id="425" idx="0"/>
          </p:cNvCxnSpPr>
          <p:nvPr/>
        </p:nvCxnSpPr>
        <p:spPr>
          <a:xfrm rot="5400000">
            <a:off x="4310208" y="4342515"/>
            <a:ext cx="249248" cy="172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순서도: 처리 539"/>
          <p:cNvSpPr/>
          <p:nvPr/>
        </p:nvSpPr>
        <p:spPr>
          <a:xfrm>
            <a:off x="2589447" y="3101954"/>
            <a:ext cx="3689394" cy="267970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1" name="순서도: 처리 540"/>
          <p:cNvSpPr/>
          <p:nvPr/>
        </p:nvSpPr>
        <p:spPr>
          <a:xfrm>
            <a:off x="2589447" y="3105765"/>
            <a:ext cx="3688706" cy="174523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주문</a:t>
            </a: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4" name="순서도: 처리 543"/>
          <p:cNvSpPr/>
          <p:nvPr/>
        </p:nvSpPr>
        <p:spPr>
          <a:xfrm>
            <a:off x="7505395" y="1629700"/>
            <a:ext cx="952633" cy="216877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latin typeface="맑은 고딕" pitchFamily="50" charset="-127"/>
                <a:ea typeface="맑은 고딕" pitchFamily="50" charset="-127"/>
              </a:rPr>
              <a:t>기존작업 상세정보삭제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" name="그룹 239"/>
          <p:cNvGrpSpPr/>
          <p:nvPr/>
        </p:nvGrpSpPr>
        <p:grpSpPr>
          <a:xfrm>
            <a:off x="8588340" y="1596868"/>
            <a:ext cx="909435" cy="278585"/>
            <a:chOff x="7655620" y="5165413"/>
            <a:chExt cx="967740" cy="305752"/>
          </a:xfrm>
        </p:grpSpPr>
        <p:sp>
          <p:nvSpPr>
            <p:cNvPr id="546" name="TextBox 183"/>
            <p:cNvSpPr txBox="1">
              <a:spLocks noChangeArrowheads="1"/>
            </p:cNvSpPr>
            <p:nvPr/>
          </p:nvSpPr>
          <p:spPr bwMode="auto">
            <a:xfrm>
              <a:off x="7655620" y="5165590"/>
              <a:ext cx="967740" cy="30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LOC, </a:t>
              </a:r>
            </a:p>
            <a:p>
              <a:pPr eaLnBrk="1" hangingPunct="1"/>
              <a:r>
                <a:rPr kumimoji="0" lang="ko-KR" altLang="en-US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주문상세</a:t>
              </a:r>
              <a:r>
                <a:rPr kumimoji="0" lang="en-US" altLang="ko-KR" sz="6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Packing</a:t>
              </a:r>
            </a:p>
          </p:txBody>
        </p:sp>
        <p:grpSp>
          <p:nvGrpSpPr>
            <p:cNvPr id="27" name="그룹 231"/>
            <p:cNvGrpSpPr/>
            <p:nvPr/>
          </p:nvGrpSpPr>
          <p:grpSpPr>
            <a:xfrm>
              <a:off x="7799919" y="5165413"/>
              <a:ext cx="787821" cy="305752"/>
              <a:chOff x="7639899" y="5165413"/>
              <a:chExt cx="764954" cy="305752"/>
            </a:xfrm>
          </p:grpSpPr>
          <p:cxnSp>
            <p:nvCxnSpPr>
              <p:cNvPr id="548" name="직선 연결선 547"/>
              <p:cNvCxnSpPr/>
              <p:nvPr/>
            </p:nvCxnSpPr>
            <p:spPr bwMode="auto">
              <a:xfrm>
                <a:off x="7639900" y="5469476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/>
              <p:cNvCxnSpPr/>
              <p:nvPr/>
            </p:nvCxnSpPr>
            <p:spPr bwMode="auto">
              <a:xfrm>
                <a:off x="7639899" y="5165413"/>
                <a:ext cx="764953" cy="16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50" name="AutoShape 41"/>
          <p:cNvCxnSpPr>
            <a:cxnSpLocks noChangeShapeType="1"/>
            <a:stCxn id="544" idx="3"/>
          </p:cNvCxnSpPr>
          <p:nvPr/>
        </p:nvCxnSpPr>
        <p:spPr bwMode="auto">
          <a:xfrm>
            <a:off x="8458028" y="1738140"/>
            <a:ext cx="230886" cy="174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61" name="순서도: 처리 560"/>
          <p:cNvSpPr/>
          <p:nvPr/>
        </p:nvSpPr>
        <p:spPr>
          <a:xfrm>
            <a:off x="6556372" y="2073190"/>
            <a:ext cx="2855772" cy="680153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2" name="순서도: 처리 561"/>
          <p:cNvSpPr/>
          <p:nvPr/>
        </p:nvSpPr>
        <p:spPr>
          <a:xfrm>
            <a:off x="6556372" y="2068312"/>
            <a:ext cx="2855772" cy="144010"/>
          </a:xfrm>
          <a:prstGeom prst="flowChartProcess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SEQ.FIRST .. </a:t>
            </a:r>
            <a:r>
              <a:rPr lang="ko-KR" altLang="en-US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</a:t>
            </a:r>
            <a:r>
              <a:rPr lang="en-US" altLang="ko-KR" sz="6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SEQ.LAST</a:t>
            </a:r>
            <a:endParaRPr lang="ko-KR" altLang="en-US" sz="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4" name="직선 화살표 연결선 563"/>
          <p:cNvCxnSpPr>
            <a:stCxn id="544" idx="2"/>
            <a:endCxn id="562" idx="0"/>
          </p:cNvCxnSpPr>
          <p:nvPr/>
        </p:nvCxnSpPr>
        <p:spPr>
          <a:xfrm rot="16200000" flipH="1">
            <a:off x="7872118" y="1956171"/>
            <a:ext cx="221735" cy="254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화살표 연결선 567"/>
          <p:cNvCxnSpPr>
            <a:stCxn id="129" idx="2"/>
            <a:endCxn id="541" idx="0"/>
          </p:cNvCxnSpPr>
          <p:nvPr/>
        </p:nvCxnSpPr>
        <p:spPr>
          <a:xfrm rot="5400000">
            <a:off x="4299388" y="2970321"/>
            <a:ext cx="269856" cy="1031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23"/>
          <p:cNvGrpSpPr>
            <a:grpSpLocks/>
          </p:cNvGrpSpPr>
          <p:nvPr/>
        </p:nvGrpSpPr>
        <p:grpSpPr bwMode="auto">
          <a:xfrm>
            <a:off x="2724260" y="3425351"/>
            <a:ext cx="997320" cy="428557"/>
            <a:chOff x="6879605" y="2495309"/>
            <a:chExt cx="626115" cy="292337"/>
          </a:xfrm>
        </p:grpSpPr>
        <p:sp>
          <p:nvSpPr>
            <p:cNvPr id="575" name="TextBox 183"/>
            <p:cNvSpPr txBox="1">
              <a:spLocks noChangeArrowheads="1"/>
            </p:cNvSpPr>
            <p:nvPr/>
          </p:nvSpPr>
          <p:spPr bwMode="auto">
            <a:xfrm>
              <a:off x="6879605" y="2495309"/>
              <a:ext cx="579123" cy="2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LOC,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endParaRPr kumimoji="0" lang="en-US" altLang="ko-KR" sz="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76" name="직선 연결선 575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직선 연결선 576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0" name="직선 화살표 연결선 579"/>
          <p:cNvCxnSpPr>
            <a:stCxn id="540" idx="2"/>
            <a:endCxn id="342" idx="0"/>
          </p:cNvCxnSpPr>
          <p:nvPr/>
        </p:nvCxnSpPr>
        <p:spPr>
          <a:xfrm rot="16200000" flipH="1">
            <a:off x="4345718" y="5870080"/>
            <a:ext cx="180978" cy="4127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AutoShape 41"/>
          <p:cNvCxnSpPr>
            <a:cxnSpLocks noChangeShapeType="1"/>
            <a:endCxn id="318" idx="1"/>
          </p:cNvCxnSpPr>
          <p:nvPr/>
        </p:nvCxnSpPr>
        <p:spPr bwMode="auto">
          <a:xfrm>
            <a:off x="3508357" y="5056985"/>
            <a:ext cx="468529" cy="3944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" name="그룹 223"/>
          <p:cNvGrpSpPr>
            <a:grpSpLocks/>
          </p:cNvGrpSpPr>
          <p:nvPr/>
        </p:nvGrpSpPr>
        <p:grpSpPr bwMode="auto">
          <a:xfrm>
            <a:off x="2839813" y="4947423"/>
            <a:ext cx="668544" cy="240506"/>
            <a:chOff x="6900488" y="2500306"/>
            <a:chExt cx="647703" cy="287340"/>
          </a:xfrm>
        </p:grpSpPr>
        <p:sp>
          <p:nvSpPr>
            <p:cNvPr id="588" name="TextBox 183"/>
            <p:cNvSpPr txBox="1">
              <a:spLocks noChangeArrowheads="1"/>
            </p:cNvSpPr>
            <p:nvPr/>
          </p:nvSpPr>
          <p:spPr bwMode="auto">
            <a:xfrm>
              <a:off x="6900488" y="2529968"/>
              <a:ext cx="647703" cy="257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kumimoji="0" lang="ko-KR" altLang="en-US" sz="8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작업상세</a:t>
              </a:r>
              <a:endParaRPr kumimoji="0" lang="ko-KR" altLang="en-US" sz="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89" name="직선 연결선 588"/>
            <p:cNvCxnSpPr/>
            <p:nvPr/>
          </p:nvCxnSpPr>
          <p:spPr>
            <a:xfrm>
              <a:off x="6929454" y="2786059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직선 연결선 589"/>
            <p:cNvCxnSpPr/>
            <p:nvPr/>
          </p:nvCxnSpPr>
          <p:spPr>
            <a:xfrm>
              <a:off x="6929454" y="2500306"/>
              <a:ext cx="576266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TextBox 183"/>
          <p:cNvSpPr txBox="1">
            <a:spLocks noChangeArrowheads="1"/>
          </p:cNvSpPr>
          <p:nvPr/>
        </p:nvSpPr>
        <p:spPr bwMode="auto">
          <a:xfrm>
            <a:off x="4842701" y="1797160"/>
            <a:ext cx="47871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7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오류</a:t>
            </a:r>
            <a:endParaRPr kumimoji="0" lang="ko-KR" altLang="en-US" sz="7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1" name="TextBox 183"/>
          <p:cNvSpPr txBox="1">
            <a:spLocks noChangeArrowheads="1"/>
          </p:cNvSpPr>
          <p:nvPr/>
        </p:nvSpPr>
        <p:spPr bwMode="auto">
          <a:xfrm>
            <a:off x="4116303" y="2157375"/>
            <a:ext cx="47871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7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7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TextBox 183"/>
          <p:cNvSpPr txBox="1">
            <a:spLocks noChangeArrowheads="1"/>
          </p:cNvSpPr>
          <p:nvPr/>
        </p:nvSpPr>
        <p:spPr bwMode="auto">
          <a:xfrm>
            <a:off x="7928533" y="4398429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" name="TextBox 183"/>
          <p:cNvSpPr txBox="1">
            <a:spLocks noChangeArrowheads="1"/>
          </p:cNvSpPr>
          <p:nvPr/>
        </p:nvSpPr>
        <p:spPr bwMode="auto">
          <a:xfrm>
            <a:off x="7160941" y="4619409"/>
            <a:ext cx="10069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ko-KR" altLang="en-US" sz="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정상</a:t>
            </a:r>
            <a:endParaRPr kumimoji="0" lang="ko-KR" altLang="en-US" sz="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469257" y="1785926"/>
            <a:ext cx="1411379" cy="1692771"/>
          </a:xfrm>
          <a:prstGeom prst="rect">
            <a:avLst/>
          </a:prstGeom>
          <a:solidFill>
            <a:srgbClr val="C5D9F1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무게정보확인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출고전표발행확인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상차리스트발행확인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피킹확정여부확인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피킹리스트발행확인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출고배차확인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랙보충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출고로케이션지정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할당 확인</a:t>
            </a:r>
            <a:endParaRPr lang="en-US" altLang="ko-KR" sz="6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출고승인 확인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sz="8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거래처별유효기간확인</a:t>
            </a:r>
            <a:endParaRPr lang="en-US" altLang="ko-KR" sz="8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대금결제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비용 확인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2075" tIns="46038" rIns="92075" bIns="46038" numCol="1" rtlCol="0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>
            <a:solidFill>
              <a:schemeClr val="tx1"/>
            </a:solidFill>
            <a:latin typeface="바탕체" pitchFamily="17" charset="-127"/>
            <a:ea typeface="바탕체" pitchFamily="17" charset="-127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체" pitchFamily="17" charset="-127"/>
            <a:ea typeface="바탕체" pitchFamily="17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5941</TotalTime>
  <Words>2442</Words>
  <Application>Microsoft Office PowerPoint</Application>
  <PresentationFormat>사용자 지정</PresentationFormat>
  <Paragraphs>945</Paragraphs>
  <Slides>16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1_기본 디자인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Company>엠투엠글로벌(주)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박종대</dc:creator>
  <cp:lastModifiedBy>M2M</cp:lastModifiedBy>
  <cp:revision>400</cp:revision>
  <cp:lastPrinted>2015-07-07T07:00:16Z</cp:lastPrinted>
  <dcterms:created xsi:type="dcterms:W3CDTF">2010-06-22T01:24:59Z</dcterms:created>
  <dcterms:modified xsi:type="dcterms:W3CDTF">2015-07-08T01:57:16Z</dcterms:modified>
</cp:coreProperties>
</file>