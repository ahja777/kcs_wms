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2"/>
  </p:notesMasterIdLst>
  <p:sldIdLst>
    <p:sldId id="391" r:id="rId2"/>
    <p:sldId id="392" r:id="rId3"/>
    <p:sldId id="431" r:id="rId4"/>
    <p:sldId id="432" r:id="rId5"/>
    <p:sldId id="433" r:id="rId6"/>
    <p:sldId id="434" r:id="rId7"/>
    <p:sldId id="393" r:id="rId8"/>
    <p:sldId id="397" r:id="rId9"/>
    <p:sldId id="412" r:id="rId10"/>
    <p:sldId id="413" r:id="rId11"/>
    <p:sldId id="396" r:id="rId12"/>
    <p:sldId id="488" r:id="rId13"/>
    <p:sldId id="414" r:id="rId14"/>
    <p:sldId id="394" r:id="rId15"/>
    <p:sldId id="487" r:id="rId16"/>
    <p:sldId id="415" r:id="rId17"/>
    <p:sldId id="416" r:id="rId18"/>
    <p:sldId id="417" r:id="rId19"/>
    <p:sldId id="418" r:id="rId20"/>
    <p:sldId id="419" r:id="rId21"/>
    <p:sldId id="420" r:id="rId22"/>
    <p:sldId id="439" r:id="rId23"/>
    <p:sldId id="435" r:id="rId24"/>
    <p:sldId id="436" r:id="rId25"/>
    <p:sldId id="437" r:id="rId26"/>
    <p:sldId id="438" r:id="rId27"/>
    <p:sldId id="440" r:id="rId28"/>
    <p:sldId id="472" r:id="rId29"/>
    <p:sldId id="470" r:id="rId30"/>
    <p:sldId id="471" r:id="rId31"/>
    <p:sldId id="395" r:id="rId32"/>
    <p:sldId id="484" r:id="rId33"/>
    <p:sldId id="442" r:id="rId34"/>
    <p:sldId id="443" r:id="rId35"/>
    <p:sldId id="444" r:id="rId36"/>
    <p:sldId id="445" r:id="rId37"/>
    <p:sldId id="446" r:id="rId38"/>
    <p:sldId id="452" r:id="rId39"/>
    <p:sldId id="447" r:id="rId40"/>
    <p:sldId id="448" r:id="rId41"/>
    <p:sldId id="449" r:id="rId42"/>
    <p:sldId id="478" r:id="rId43"/>
    <p:sldId id="450" r:id="rId44"/>
    <p:sldId id="451" r:id="rId45"/>
    <p:sldId id="409" r:id="rId46"/>
    <p:sldId id="410" r:id="rId47"/>
    <p:sldId id="411" r:id="rId48"/>
    <p:sldId id="421" r:id="rId49"/>
    <p:sldId id="422" r:id="rId50"/>
    <p:sldId id="423" r:id="rId51"/>
    <p:sldId id="479" r:id="rId52"/>
    <p:sldId id="424" r:id="rId53"/>
    <p:sldId id="402" r:id="rId54"/>
    <p:sldId id="404" r:id="rId55"/>
    <p:sldId id="426" r:id="rId56"/>
    <p:sldId id="428" r:id="rId57"/>
    <p:sldId id="403" r:id="rId58"/>
    <p:sldId id="429" r:id="rId59"/>
    <p:sldId id="401" r:id="rId60"/>
    <p:sldId id="480" r:id="rId61"/>
    <p:sldId id="481" r:id="rId62"/>
    <p:sldId id="483" r:id="rId63"/>
    <p:sldId id="485" r:id="rId64"/>
    <p:sldId id="486" r:id="rId65"/>
    <p:sldId id="461" r:id="rId66"/>
    <p:sldId id="469" r:id="rId67"/>
    <p:sldId id="464" r:id="rId68"/>
    <p:sldId id="462" r:id="rId69"/>
    <p:sldId id="463" r:id="rId70"/>
    <p:sldId id="465" r:id="rId71"/>
    <p:sldId id="466" r:id="rId72"/>
    <p:sldId id="467" r:id="rId73"/>
    <p:sldId id="468" r:id="rId74"/>
    <p:sldId id="477" r:id="rId75"/>
    <p:sldId id="489" r:id="rId76"/>
    <p:sldId id="490" r:id="rId77"/>
    <p:sldId id="493" r:id="rId78"/>
    <p:sldId id="492" r:id="rId79"/>
    <p:sldId id="494" r:id="rId80"/>
    <p:sldId id="473" r:id="rId81"/>
    <p:sldId id="474" r:id="rId82"/>
    <p:sldId id="475" r:id="rId83"/>
    <p:sldId id="476" r:id="rId84"/>
    <p:sldId id="454" r:id="rId85"/>
    <p:sldId id="455" r:id="rId86"/>
    <p:sldId id="456" r:id="rId87"/>
    <p:sldId id="457" r:id="rId88"/>
    <p:sldId id="458" r:id="rId89"/>
    <p:sldId id="459" r:id="rId90"/>
    <p:sldId id="460" r:id="rId91"/>
  </p:sldIdLst>
  <p:sldSz cx="9904413" cy="6858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5D9F1"/>
    <a:srgbClr val="F2F2F2"/>
    <a:srgbClr val="FF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71" autoAdjust="0"/>
    <p:restoredTop sz="94672"/>
  </p:normalViewPr>
  <p:slideViewPr>
    <p:cSldViewPr snapToObjects="1">
      <p:cViewPr varScale="1">
        <p:scale>
          <a:sx n="134" d="100"/>
          <a:sy n="134" d="100"/>
        </p:scale>
        <p:origin x="1784" y="17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383DDFE-F530-460E-B213-7901B82A33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5782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ln/>
        </p:spPr>
      </p:sp>
      <p:sp>
        <p:nvSpPr>
          <p:cNvPr id="614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>
              <a:ea typeface="굴림" charset="-127"/>
            </a:endParaRPr>
          </a:p>
        </p:txBody>
      </p:sp>
      <p:sp>
        <p:nvSpPr>
          <p:cNvPr id="6148" name="슬라이드 번호 개체 틀 3"/>
          <p:cNvSpPr txBox="1">
            <a:spLocks noGrp="1"/>
          </p:cNvSpPr>
          <p:nvPr/>
        </p:nvSpPr>
        <p:spPr bwMode="auto">
          <a:xfrm>
            <a:off x="3852864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97" tIns="45999" rIns="91997" bIns="45999" anchor="b"/>
          <a:lstStyle/>
          <a:p>
            <a:pPr algn="r" defTabSz="919163"/>
            <a:fld id="{8AFEDCC6-548A-4006-B5C9-58C21904A755}" type="slidenum">
              <a:rPr lang="en-US" altLang="ko-KR" sz="1200" smtClean="0">
                <a:solidFill>
                  <a:prstClr val="black"/>
                </a:solidFill>
                <a:latin typeface="Times New Roman" pitchFamily="18" charset="0"/>
              </a:rPr>
              <a:pPr algn="r" defTabSz="919163"/>
              <a:t>1</a:t>
            </a:fld>
            <a:endParaRPr lang="en-US" altLang="ko-KR" sz="1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24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7953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724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770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3252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04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69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698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3933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2589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1400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1400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0314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138094" y="73025"/>
            <a:ext cx="4812529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just">
              <a:defRPr/>
            </a:pP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글로벌 </a:t>
            </a:r>
            <a:r>
              <a:rPr lang="ko-KR" altLang="en-US" sz="1100" b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웹기반</a:t>
            </a: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WMS </a:t>
            </a: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시스템 개발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480728" y="66675"/>
            <a:ext cx="322369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r">
              <a:defRPr/>
            </a:pP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화면설계서</a:t>
            </a:r>
            <a:endParaRPr lang="en-US" altLang="ko-KR" sz="11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14" name="Line 390"/>
          <p:cNvSpPr>
            <a:spLocks noChangeShapeType="1"/>
          </p:cNvSpPr>
          <p:nvPr/>
        </p:nvSpPr>
        <p:spPr bwMode="auto">
          <a:xfrm>
            <a:off x="228564" y="382588"/>
            <a:ext cx="9447286" cy="0"/>
          </a:xfrm>
          <a:prstGeom prst="line">
            <a:avLst/>
          </a:prstGeom>
          <a:noFill/>
          <a:ln w="57150" cmpd="thinThick">
            <a:solidFill>
              <a:srgbClr val="00808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ko-KR" altLang="en-US" sz="1200" b="1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415" name="Line 391"/>
          <p:cNvSpPr>
            <a:spLocks noChangeShapeType="1"/>
          </p:cNvSpPr>
          <p:nvPr/>
        </p:nvSpPr>
        <p:spPr bwMode="auto">
          <a:xfrm>
            <a:off x="263483" y="6524625"/>
            <a:ext cx="944728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ko-KR" altLang="en-US" sz="120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416" name="Text Box 392"/>
          <p:cNvSpPr txBox="1">
            <a:spLocks noChangeArrowheads="1"/>
          </p:cNvSpPr>
          <p:nvPr/>
        </p:nvSpPr>
        <p:spPr bwMode="auto">
          <a:xfrm>
            <a:off x="4530003" y="6551620"/>
            <a:ext cx="853938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29" tIns="45715" rIns="91429" bIns="45715">
            <a:spAutoFit/>
          </a:bodyPr>
          <a:lstStyle/>
          <a:p>
            <a:pPr algn="ctr" latinLnBrk="0">
              <a:spcBef>
                <a:spcPct val="50000"/>
              </a:spcBef>
              <a:defRPr/>
            </a:pPr>
            <a:r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t>- </a:t>
            </a:r>
            <a:fld id="{D5E4FDBA-393A-4F52-8997-A50FB0DC6AFF}" type="slidenum"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pPr algn="ctr" latinLnBrk="0">
                <a:spcBef>
                  <a:spcPct val="50000"/>
                </a:spcBef>
                <a:defRPr/>
              </a:pPr>
              <a:t>‹#›</a:t>
            </a:fld>
            <a:r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t> -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75888" y="6569075"/>
            <a:ext cx="1017425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6" descr="http://uln.logisall.com/img/logo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5071" y="6570663"/>
            <a:ext cx="143487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ChangeArrowheads="1"/>
          </p:cNvSpPr>
          <p:nvPr/>
        </p:nvSpPr>
        <p:spPr bwMode="auto">
          <a:xfrm>
            <a:off x="5852180" y="3286129"/>
            <a:ext cx="3347501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>
            <a:spAutoFit/>
          </a:bodyPr>
          <a:lstStyle/>
          <a:p>
            <a:pPr algn="r" fontAlgn="b"/>
            <a:r>
              <a:rPr lang="en-US" altLang="ko-KR" sz="2000" b="1" dirty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ULN_WNS_DE_03</a:t>
            </a:r>
            <a:endParaRPr lang="ko-KR" altLang="en-US" sz="2000" b="1" dirty="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2051" name="Rectangle 12"/>
          <p:cNvSpPr>
            <a:spLocks noChangeArrowheads="1"/>
          </p:cNvSpPr>
          <p:nvPr/>
        </p:nvSpPr>
        <p:spPr bwMode="auto">
          <a:xfrm>
            <a:off x="8407641" y="3660775"/>
            <a:ext cx="761878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/>
          <a:lstStyle/>
          <a:p>
            <a:pPr algn="r" fontAlgn="b"/>
            <a:r>
              <a:rPr lang="en-US" altLang="ko-KR" sz="1200" b="1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Ver 1.0</a:t>
            </a:r>
            <a:endParaRPr lang="en-US" altLang="ko-KR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2" name="Rectangle 303"/>
          <p:cNvSpPr>
            <a:spLocks noChangeArrowheads="1"/>
          </p:cNvSpPr>
          <p:nvPr/>
        </p:nvSpPr>
        <p:spPr bwMode="auto">
          <a:xfrm>
            <a:off x="5355367" y="1570038"/>
            <a:ext cx="3891926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r"/>
            <a:r>
              <a:rPr lang="ko-KR" altLang="en-US" sz="2000" b="1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글로벌 웹기반 </a:t>
            </a:r>
            <a:r>
              <a:rPr lang="en-US" altLang="ko-KR" sz="2000" b="1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WMS </a:t>
            </a:r>
            <a:r>
              <a:rPr lang="ko-KR" altLang="en-US" sz="2000" b="1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시스템 개발</a:t>
            </a:r>
          </a:p>
        </p:txBody>
      </p:sp>
      <p:graphicFrame>
        <p:nvGraphicFramePr>
          <p:cNvPr id="44048" name="Group 16"/>
          <p:cNvGraphicFramePr>
            <a:graphicFrameLocks noGrp="1"/>
          </p:cNvGraphicFramePr>
          <p:nvPr/>
        </p:nvGraphicFramePr>
        <p:xfrm>
          <a:off x="704742" y="1960567"/>
          <a:ext cx="8567952" cy="1108075"/>
        </p:xfrm>
        <a:graphic>
          <a:graphicData uri="http://schemas.openxmlformats.org/drawingml/2006/table">
            <a:tbl>
              <a:tblPr/>
              <a:tblGrid>
                <a:gridCol w="856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80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바탕체" pitchFamily="17" charset="-127"/>
                          <a:ea typeface="바탕체" pitchFamily="17" charset="-127"/>
                        </a:rPr>
                        <a:t>화면설계서</a:t>
                      </a:r>
                      <a:endParaRPr kumimoji="1" lang="en-US" altLang="ko-KR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굴림" pitchFamily="50" charset="-127"/>
                      </a:endParaRPr>
                    </a:p>
                  </a:txBody>
                  <a:tcPr marL="91414" marR="91414"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6" name="Rectangle 15"/>
          <p:cNvSpPr>
            <a:spLocks noChangeArrowheads="1"/>
          </p:cNvSpPr>
          <p:nvPr/>
        </p:nvSpPr>
        <p:spPr bwMode="auto">
          <a:xfrm>
            <a:off x="5599803" y="4157666"/>
            <a:ext cx="374748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fontAlgn="t"/>
            <a:r>
              <a:rPr lang="ko-KR" altLang="en-US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단      계 </a:t>
            </a:r>
            <a:r>
              <a:rPr lang="en-US" altLang="ko-KR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설계</a:t>
            </a:r>
          </a:p>
          <a:p>
            <a:pPr fontAlgn="t"/>
            <a:r>
              <a:rPr lang="ko-KR" altLang="en-US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관리부서 </a:t>
            </a:r>
            <a:r>
              <a:rPr lang="en-US" altLang="ko-KR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유로지스넷 </a:t>
            </a:r>
            <a:r>
              <a:rPr lang="en-US" altLang="ko-KR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SM</a:t>
            </a:r>
            <a:r>
              <a:rPr lang="ko-KR" altLang="en-US" b="1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팀</a:t>
            </a:r>
          </a:p>
        </p:txBody>
      </p:sp>
      <p:pic>
        <p:nvPicPr>
          <p:cNvPr id="2057" name="Picture 16" descr="http://uln.logisall.com/img/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863" y="549275"/>
            <a:ext cx="1769779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17204" y="5907088"/>
            <a:ext cx="1752319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92"/>
          <p:cNvSpPr>
            <a:spLocks noChangeArrowheads="1"/>
          </p:cNvSpPr>
          <p:nvPr/>
        </p:nvSpPr>
        <p:spPr bwMode="auto">
          <a:xfrm>
            <a:off x="4506193" y="635000"/>
            <a:ext cx="1296779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ctr"/>
            <a:r>
              <a:rPr lang="ko-KR" altLang="en-US" sz="1600" b="1" u="sng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개 정 이 력</a:t>
            </a:r>
            <a:endParaRPr lang="ko-KR" altLang="en-US" sz="1100" b="1" u="sng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graphicFrame>
        <p:nvGraphicFramePr>
          <p:cNvPr id="45121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01198"/>
              </p:ext>
            </p:extLst>
          </p:nvPr>
        </p:nvGraphicFramePr>
        <p:xfrm>
          <a:off x="920602" y="1125538"/>
          <a:ext cx="8064796" cy="2526555"/>
        </p:xfrm>
        <a:graphic>
          <a:graphicData uri="http://schemas.openxmlformats.org/drawingml/2006/table">
            <a:tbl>
              <a:tblPr/>
              <a:tblGrid>
                <a:gridCol w="558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9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변경내용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2015-05-22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작성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김원태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화면목록</a:t>
            </a: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908720"/>
          <a:ext cx="8980165" cy="5565986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0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28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시스템관리</a:t>
                      </a: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TMSYS010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권한관리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권한관리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TMSYS020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사용자관리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사용자관리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프로그램관리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프로그램관리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TMSYS040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인터페이스 현황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인터페이스현황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TMSYS090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HelpDesk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HelpDesk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TMSYS130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다국어관리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다국어관리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WMSYS020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템플릿관리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템플릿관리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WMSYS030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844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운영관리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주문현황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입출고현황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WMSOP010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입고리스트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입고리스트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WMSOP020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입고등록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입고등록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WMSOP999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WMSOP020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출고리스트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출고리스트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6" marR="9526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출고등록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출고등록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WMSOP999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9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배차작업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배차작업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WMSOP000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작업지시서출력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입고작업 지시서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입고작업 지시서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TMSYS999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피킹리스트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피킹리스트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TMSYS999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상차리스트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상차리스트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TMSYS999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화면목록</a:t>
            </a: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908720"/>
          <a:ext cx="8980165" cy="5577470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0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28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재고관리</a:t>
                      </a: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현재고조회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현재고 조회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현재고 조회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WMSST010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용기재고 조회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용기재고 조회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WMSST011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 입출고내역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 입출고내역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WMSST020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재고이동현황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재고이동현황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WMSST040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주문현황팝업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주문현황팝업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WMSST040E2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재고실사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재고실사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WMSST060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명의변경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명의변경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WMSST100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명의변경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팝업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WMSST100E2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WMSST070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WMSST070E2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재고조정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재고조정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재고조정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WMSST050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순환재고조사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순환재고조사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WMSTG050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84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WMSMS030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WMSMS040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WMSMS081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WMSMS080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WMSMS010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매출거래처정보관리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매출거래처정보관리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WMSMS011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가용물류기기설정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가용물류기기설정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화면목록</a:t>
            </a: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785192"/>
          <a:ext cx="8980165" cy="5577470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4">
                <a:tc rowSpan="2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WMSMS100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WMSMS050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입고상품관리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입고상품관리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WMSMS100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세트상품구성정보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세트상품구성정보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WMSMS092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센터별작업정책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센터별작업정책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WMSMS094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물류용기관리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물류용기관리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WMSPL010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물류용기군관리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물류용기군관리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WMSPL020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latin typeface="맑은 고딕" pitchFamily="50" charset="-127"/>
                          <a:ea typeface="맑은 고딕" pitchFamily="50" charset="-127"/>
                        </a:rPr>
                        <a:t>화주별거래처상품관리</a:t>
                      </a:r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latin typeface="맑은 고딕" pitchFamily="50" charset="-127"/>
                          <a:ea typeface="맑은 고딕" pitchFamily="50" charset="-127"/>
                        </a:rPr>
                        <a:t>화주별거래처상품관리</a:t>
                      </a:r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WMSMS095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마감관리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마감관리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WMSMS130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팝업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TMSCM010Q1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WMSCM040Q1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WMSCM081Q1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WMSCM080Q1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WMSCM011Q1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WMSCM091Q1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WMSCM100Q1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WMSCM120Q1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WMSCM050Q1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LOC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 입고상품팝업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LOC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 입고상품팝업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화면목록</a:t>
            </a: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908720"/>
          <a:ext cx="8980165" cy="3783258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28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직원정보팝업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직원정보팝업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장비정보팝업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장비정보팝업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상품군정보팝업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상품군정보팝업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물류용기정보팝업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물류용기정보팝업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WMSCM091Q1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정산관리</a:t>
                      </a: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정산단가관리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정산단가관리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WMSAC010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정산산출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정산산출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WMSAC020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통계</a:t>
                      </a: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WMSTG020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로케이션별재고조회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WMSTG040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WMSTG050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제품군별창고사용현황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제품군별창고사용현황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WMSTG060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LOT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별재고조회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WMSTG070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등급별재고현황조회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등급별재고현황조회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WMSTG100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거래처별출고내역조회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거래처별출고내역조회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WMSTG130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TMSYS010	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8551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공통코드를 등록하는 화면으로 관리자가 사용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유형코드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코드유형목록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버튼으로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코드레벨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기초코드목록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 버튼으로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코드유형 더블클릭 시 해당 기초코드 정보가 기초코드목록에 표시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 정보 삭제 시 실제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ROW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삭제가 아닌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DEL_YN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값을 변경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344277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621918"/>
              <a:ext cx="2376264" cy="68740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TMSYS010, TMSYS030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987" y="1271595"/>
            <a:ext cx="6639264" cy="3371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43602"/>
            <a:chOff x="343694" y="692696"/>
            <a:chExt cx="9217024" cy="5643602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권한관리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8564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권한 별 메뉴 및 화면 권한을 설정하는 화면으로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관리가자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3-2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3-3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권한목록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권한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권한코드는 자동 생성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 목록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권한에 할당된 프로그램 목록 및 권한관리 목록이 해당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프로그램목록의 순서에 따라 해당 권한의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대메뉴가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값이 없으면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대메뉴에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표시되지 않음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 관리 목록의 순서에 따라 해당 권한의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중메뉴가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값이 없으면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소메뉴에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표시되지 않음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5557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0" name="직사각형 69"/>
          <p:cNvSpPr/>
          <p:nvPr/>
        </p:nvSpPr>
        <p:spPr bwMode="auto">
          <a:xfrm>
            <a:off x="4737892" y="5572140"/>
            <a:ext cx="2376264" cy="741038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TMSYS030, TMSYS050</a:t>
            </a:r>
          </a:p>
          <a:p>
            <a:pPr>
              <a:defRPr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TMSYS060, TMSYS070</a:t>
            </a:r>
          </a:p>
          <a:p>
            <a:pPr>
              <a:defRPr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TMSYS080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4742206" y="5294499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717" y="1285884"/>
            <a:ext cx="6683579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3694" y="66983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사용자관리목록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98715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사용자정보를 관리하는 화면으로 관리자가 사용 사용자관리목록과 사용자관리상세 탭으로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사용자아이디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핸드폰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이메일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물류센터에 존재하는 사용자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아이디 검색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사용자관리목록 각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더블클릭시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사용자관리상세 화면으로 이동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245921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23562"/>
              <a:ext cx="2376264" cy="78575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: TMSYS090, WMSMS010, WMSMS011, WMSMS012, WMSMS030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402" y="1319220"/>
            <a:ext cx="6495506" cy="411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237298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TMSYS030E2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사용자관리상세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408551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사용자정보를 관리하는 화면으로 관리자가 사용 사용자관리목록과 사용자관리상세 탭으로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소속사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핸드폰번호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E-MAIL,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초기접속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물류센터목록 체크박스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초기접속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박스로 변경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RESET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비밀번호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1111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초기화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중복확인 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중복여부 체크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65164" y="5336166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60072" y="5621918"/>
              <a:ext cx="2376264" cy="64294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테이블 </a:t>
              </a:r>
              <a:r>
                <a:rPr lang="en-US" altLang="ko-KR" sz="1200" dirty="0">
                  <a:latin typeface="+mn-ea"/>
                </a:rPr>
                <a:t>: </a:t>
              </a:r>
              <a:r>
                <a:rPr lang="en-US" altLang="ko-KR" sz="1200" dirty="0"/>
                <a:t>WMSMS030,</a:t>
              </a:r>
            </a:p>
            <a:p>
              <a:pPr>
                <a:defRPr/>
              </a:pPr>
              <a:r>
                <a:rPr lang="en-US" altLang="ko-KR" sz="1200" dirty="0"/>
                <a:t>TMSYS091, TMSYS090</a:t>
              </a:r>
              <a:endParaRPr lang="en-US" altLang="ko-KR" sz="1200" dirty="0">
                <a:latin typeface="+mn-ea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8736" y="1309694"/>
            <a:ext cx="6694724" cy="3905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114" cy="5616624"/>
            <a:chOff x="343694" y="692696"/>
            <a:chExt cx="921711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TMSYS040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프로그램관리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1407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프로그램메뉴를 관리하는 화면으로 관리자가 사용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화면구분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VIEW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URL,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 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View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URL,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87313" indent="-87313"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 메뉴를 신규로 저장하고 권한관리 화면에서 권한을 부여해야 실제 사용자 메뉴에 반영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URL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로의 연결 시 해당 사용자의 권한확인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로직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로그인정보가 없을 시 로그인 화면으로 이동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808" y="526472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TMSYS080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489" y="1285860"/>
            <a:ext cx="6357982" cy="4496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114" cy="5616624"/>
            <a:chOff x="343694" y="692696"/>
            <a:chExt cx="921711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TMSYS090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인터페이스현황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인터페이스현황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1407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808" y="526472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594488" y="1071546"/>
            <a:ext cx="8786874" cy="5211116"/>
            <a:chOff x="594488" y="785794"/>
            <a:chExt cx="8786874" cy="5496868"/>
          </a:xfrm>
        </p:grpSpPr>
        <p:sp>
          <p:nvSpPr>
            <p:cNvPr id="16" name="직사각형 15"/>
            <p:cNvSpPr/>
            <p:nvPr/>
          </p:nvSpPr>
          <p:spPr bwMode="auto">
            <a:xfrm>
              <a:off x="594488" y="785794"/>
              <a:ext cx="8786874" cy="5496868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66124" y="3071810"/>
              <a:ext cx="5857916" cy="68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>
                  <a:latin typeface="맑은 고딕" pitchFamily="50" charset="-127"/>
                  <a:ea typeface="맑은 고딕" pitchFamily="50" charset="-127"/>
                </a:rPr>
                <a:t>향후 개발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TMSYS130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1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HelpDesk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en-US" altLang="ko-KR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HelpDesk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499108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관리자의 도움을 요청하는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요청사항키워드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요청사항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완료일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담당자답변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상세내용 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(TEXTAREA),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첨부파일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처리현황 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담당자답변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첨부파일 저장 및 다운로드 기능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일반사용자 요청내용 입력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관리자 요청내용에 대한 답변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처리현황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공지사항 입력 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0240" y="1179358"/>
            <a:ext cx="5839423" cy="4776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824570" y="5813432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TMSBA900 , TMSYS900, TMSYS030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824924" y="5535791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WMSYS020	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다국어관리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다국어관리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8551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사용자가 선택한 언어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일본어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중국어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화면표시값을 등록하는 화면으로 관리자가 사용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다국어 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 버튼으로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일본어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중국어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키값으로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설정된 단어를 키로 각 언어별 표시문구를 표시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 및 수정된 다국어의 내용은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프로퍼티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파일로 관리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344277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621918"/>
              <a:ext cx="2376264" cy="68740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674" y="1297725"/>
            <a:ext cx="6501801" cy="4307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WMSYS030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타입 별 템플릿목록을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타입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컬럼순서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ID, SEQ,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항목명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항목코드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기본값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사이즈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보기순번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데이터타입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표시형식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WMSTP010, WMSTP020, WMSTP030, WMSTP040</a:t>
              </a:r>
              <a:endParaRPr lang="en-US" sz="1000" dirty="0"/>
            </a:p>
            <a:p>
              <a:pPr>
                <a:defRPr/>
              </a:pPr>
              <a:r>
                <a:rPr lang="ko-KR" altLang="en-US" sz="1000" dirty="0"/>
                <a:t>프로시저 </a:t>
              </a:r>
              <a:r>
                <a:rPr lang="en-US" altLang="ko-KR" sz="1000" dirty="0"/>
                <a:t>: PK_WMSYS030.SP_SAVE_TEMPLATE,</a:t>
              </a:r>
            </a:p>
            <a:p>
              <a:pPr>
                <a:defRPr/>
              </a:pPr>
              <a:r>
                <a:rPr lang="en-US" altLang="ko-KR" sz="1000"/>
                <a:t>PK_WMSYS030.SP_DELETE_TEMPLATE</a:t>
              </a:r>
              <a:endParaRPr lang="en-US" sz="1000" dirty="0"/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템플릿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270974"/>
            <a:ext cx="6572296" cy="44440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WMSOP010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입출고현황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주문일자에 따른 입출고 현황 조회 및 승인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불가 처리를 하는 화면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입출고현황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주문종류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긴급여부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배송확정여부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Loc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지시여부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작업지시여부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존재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승인처리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불가처리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 목록에서 대상 주문을 선택하여 승인 및 불가 처리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3_입출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34665"/>
            <a:ext cx="6546845" cy="4766103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 bwMode="auto">
          <a:xfrm>
            <a:off x="4094950" y="5500702"/>
            <a:ext cx="3071834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4094950" y="5778342"/>
            <a:ext cx="3071744" cy="579615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WMSOP010, </a:t>
            </a:r>
            <a:r>
              <a:rPr lang="en-US" sz="1000" dirty="0"/>
              <a:t>WMSOP011, WMSOP013, WMSOP050, WMSOP051, WMSOP200, WMSMS020, WMSMS021, WMSMS100, WMSST081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입고리스트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입고목록의 검색 및 등록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입고량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배차확정여부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WORK_ID, WORK_SEQ, </a:t>
              </a:r>
              <a:r>
                <a:rPr lang="ko-KR" altLang="en-US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endParaRPr lang="en-US" altLang="ko-KR" sz="9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버튼 클릭 시  입고주문 팝업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(WMSOP999T01)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호출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템플릿 입력팝업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(WMSOP030E2)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호출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목록에서 행 선택 후 입고확정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 변경 버튼 클릭 시 각 처리 프로세스 호출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입고관리 목록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그리드에서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우클릭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시 입고프로세스 관련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우클릭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메뉴표시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우클릭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메뉴의 활성화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비활성화는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센터별작업정책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에서 설정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4666454" y="5643578"/>
            <a:ext cx="2500240" cy="571504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TMSYS030, WMSMS050, WMSMS091, WMSOP010, WMSOP011, WMSOP050, WMSOP051, WMSST501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666454" y="5357826"/>
            <a:ext cx="250033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5" name="그림 14" descr="1_입고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13" y="1261259"/>
            <a:ext cx="6429420" cy="38345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09198" y="2376480"/>
            <a:ext cx="228610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상품마스터 정보와 입고최소유효기간을 산정하여 결과를 화면에 표시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입고 주문을 등록하는 화면으로 입고주문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간편입고주문 탭으로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담당자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</a:t>
              </a:r>
              <a:b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OM, BOX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컨테이너번호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컨테이너종류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상품추가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차량배차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입력을 통해 복수의 제품정보 입력이 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상품추가 버튼 클릭 시 상품정보추가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차량배차 버튼 클릭 시  배차작업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1_입고관리_1_입고주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95" y="1285884"/>
            <a:ext cx="6450213" cy="4506802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 bwMode="auto">
          <a:xfrm>
            <a:off x="4595016" y="5286388"/>
            <a:ext cx="257176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4595016" y="5564029"/>
            <a:ext cx="2571678" cy="615964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TMSYS090, WMSMS050, WMSMS091, WMSOP010, WMSOP011, WMSOP013, WMSOP050, WMSOP051, WMSOP200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간편입고주문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입고 주문을 등록하는 화면으로 입고주문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간편입고주문 탭으로 구성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조건 검색으로 조회된 목록에서 입고정보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편집하여 입고정보를 입력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목록에서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입고등록할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상품을 선택하여 주문수량 입력 후 저장 시 해당 상품의 입고정보 등록처리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1_입고관리_2_간편입고주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66" y="1285884"/>
            <a:ext cx="6491417" cy="4572008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 bwMode="auto">
          <a:xfrm>
            <a:off x="1737496" y="5357826"/>
            <a:ext cx="550072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1737586" y="5643578"/>
            <a:ext cx="5500636" cy="722492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TMSYS050, TMSYS090, WMSMS080, WMSMS082, WMSMS083, WMSMS084, WMSMS091, WMSMS101, WMSMS130, WMSOP010, WMSOP011, WMSOP060, WMSST010, WMSST011, WMSST020, WMSST030, WMSST050, WMSST051, WMSST070, WMSST080, WMSST081, WMSST500, WMSST501, WMSST502, WMSST901, WMSST902, WMSST903, WMSST904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다수의 입고정보를 엑셀파일 입력을 통하여 등록하기 위한 화면으로 양식 다운로드 및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읽어들인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파일내용의 편집이 가능하다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자료시작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의뢰일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배송처주소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배송순위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다운로드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내용 업로드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양식다운로드 버튼 클릭 시 소정의 템플릿 양식의 엑셀파일 다운로드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파일선택 창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템플릿파일을 선택하면 템플릿 파일의 내용이 업로드 처리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표시되어 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표시된 템플릿 파일의 내용은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편집이 가능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 버튼 클릭 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그리드의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선택데이터를 입고등록 처리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487" y="1191349"/>
            <a:ext cx="6516161" cy="457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790430" y="5778343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WMSTP010, WMSTP020, WMSTP030, WMSTP040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입고확정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입고목록의 검색 및 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배차확정여부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WORK_ID, WORK_SEQ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주문승인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 순으로 작업을 완료 후 입고확정 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2666280" y="5492591"/>
            <a:ext cx="4571942" cy="722491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TMSYS050, TMSYS090, WMSMS020, WMSMS021, WMSMS080, WMSMS091, WMSMS101, WMSMS130, WMSOP010, WMSOP011, WMSOP060, WMSST010, WMSST011, WMSST020, WMSST030, WMSST050, WMSST051, WMSST070, WMSST080, WMSST081, WMSST500, WMSST501, WMSST502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2666280" y="5223061"/>
            <a:ext cx="4500504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5" name="그림 14" descr="1_입고관리_9_입고확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37" y="1285860"/>
            <a:ext cx="6430415" cy="38444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715040"/>
            <a:chOff x="343694" y="692696"/>
            <a:chExt cx="9217024" cy="5715040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출고리스트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15708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출고목록의 검색 및 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입고관리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주문중량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출고중량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송장번호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2,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WORK,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WORK,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SEQ. ORD_ID, </a:t>
              </a:r>
              <a:r>
                <a:rPr lang="ko-KR" altLang="en-US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버튼 클릭 시  출고주문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템플릿 입력팝업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목록에서 행 선택 후 출고확정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출고일 변경 버튼 클릭 시 각 처리 실행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3523446" y="5778343"/>
            <a:ext cx="3643248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WMSMS080, WMSMS091, WMSOP010, WMSOP011, WMSST010, WMSST500, WMSST501, WMSIF040, WMSIF050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3523446" y="5500702"/>
            <a:ext cx="364333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6" name="그림 15" descr="2_출고관리(개발중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308485"/>
            <a:ext cx="6574520" cy="37635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928171" y="2266942"/>
            <a:ext cx="228610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상품마스터 정보와 입고최소유효기간을 산정하여 결과를 화면에 표시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출고 주문을 등록하는 화면으로 출고주문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간편출고주문 탭으로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대금결제여부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긴급출고여부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주문중량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출고로케이션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WORK_ID, WORK_SEQ, SUBSEQ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신규배송처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초기화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입력을 통해 복수의 제품정보 입력이 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672" y="1252546"/>
            <a:ext cx="6454523" cy="4354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790430" y="5778343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TMSYS090, WMSMS130, WMSOP010, WMSOP011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WMSOP999T2</a:t>
              </a: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간편출고주문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출고 주문을 등록하는 화면으로 출고주문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간편출고주문 탭으로 구성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조건 검색으로 조회된 목록에서 출고정보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편집하여 출고정보를 입력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대금결제여부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목록에서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입고등록할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상품을 선택하여 주문수량 입력 후 저장 시 해당 상품의 입고정보 등록처리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1151" y="1285884"/>
            <a:ext cx="6500858" cy="46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직사각형 49"/>
          <p:cNvSpPr/>
          <p:nvPr/>
        </p:nvSpPr>
        <p:spPr bwMode="auto">
          <a:xfrm>
            <a:off x="2094686" y="5143512"/>
            <a:ext cx="507209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2094686" y="5421153"/>
            <a:ext cx="5072008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TMSYS090, WMSMS080, WMSMS091, WMSMS100, WMSMS101, WMSMS130, WMSOP010, WMSOP011, WMSOP060, WMSST010, WMSST011, WMSST020, WMSST030, WMSST050, WMSST051, WMSST070, WMSST080, WMSST081, WMSST500, WMSST501, WMSST502, WMSST901, WMSST902, WMSST903, WMSST904, TMSPR010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다수의 입고정보를 엑셀파일 입력을 통하여 등록하기 위한 화면으로 양식 다운로드 및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읽어들인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파일내용의 편집이 가능하다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자료시작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의뢰일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배송처주소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배송요청일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배송순위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다운로드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내용 업로드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양식다운로드 버튼 클릭 시 소정의 템플릿 양식의 엑셀파일 다운로드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파일선택 창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템플릿파일을 선택하면 템플릿 파일의 내용이 업로드 처리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표시되어 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표시된 템플릿 파일의 내용은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편집이 가능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 버튼 클릭 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그리드의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선택데이터를 입고등록 처리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487" y="1191349"/>
            <a:ext cx="6516161" cy="457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790784" y="5768818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WMSTP010, WMSTP020, WMSTP030, WMSTP040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출고확정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입고목록의 검색 및 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배차확정여부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WORK_ID, WORK_SEQ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물량할당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로케이션지정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 작업진행 후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출고화정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4452140" y="5778343"/>
            <a:ext cx="271455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WMSOP010, WMSOP011, WMSST500, WMSST501, WMSST502, TMSPR010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452140" y="5500702"/>
            <a:ext cx="2714644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6" name="그림 15" descr="2_출고관리_우클릭메뉴(개발중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0" y="1285861"/>
            <a:ext cx="6645919" cy="37297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WMSOP000Q1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배차작업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배차작업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배차내역의 검색 및 등록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작업차수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TON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배차수량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미배차내역조회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버튼 클릭 시 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미배차주문내역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454" y="1214422"/>
            <a:ext cx="6523842" cy="4560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4790430" y="5778343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WMSMS050, WMSOP010, WMSOP011, WMSOP050, WMSOP051, 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입고작업지시서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입고작업지시서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입고작업지시서를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미리보기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화면으로 조회하고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파일로 생성 및 출력가능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7219412" y="4857760"/>
            <a:ext cx="2376264" cy="1357322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TMSYS030, WMSMS100, WMSOP010, WMSOP011, WMSOP013, WMSOP050, WMSOP051, WMSOP200, 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7221198" y="4580119"/>
            <a:ext cx="237447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7" name="그림 16" descr="작업지시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86" y="1071546"/>
            <a:ext cx="4856022" cy="45005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피킹리스트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7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피킹리스트를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미리보기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화면으로 조회하고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파일로 생성 및 출력가능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7238222" y="4706772"/>
            <a:ext cx="2357454" cy="1508309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WMSMS010, WMSMS040, WMSMS080, WMSMS091, WMSMS100, WMSOP010, WMSOP011, WMSST500, WMSST501, WMSST502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7219412" y="4429132"/>
            <a:ext cx="237778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6" name="그림 15" descr="작업지시서 피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86" y="1199537"/>
            <a:ext cx="5120392" cy="47863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상차리스트 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상차리스트를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미리보기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화면으로 조회하고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파일로 생성 및 출력가능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7221198" y="4421021"/>
            <a:ext cx="2376000" cy="1794061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WMSMS010, WMSMS030, WMSMS040, WMSMS050, WMSMS080, WMSMS090, WMSMS091, WMSMS100, WMSOP010, WMSOP011, WMSOP050, WMSOP051 WMSST500, WMSST501, WMSST502, TMSPR010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7221198" y="4143380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pic>
        <p:nvPicPr>
          <p:cNvPr id="15" name="그림 14" descr="상차리스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16" y="990259"/>
            <a:ext cx="5721430" cy="487748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WMSST010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현재고조회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현재고조회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현재 재고 수량을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옵션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미재고표시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</a:rPr>
                <a:t>싱픔근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전일재고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일반출고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이벤트출고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정상재고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불량재고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AS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UOM,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적정재고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비고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2-2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상세로케이션정보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UOM, PLT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B/L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LOT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제품등급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STOCK_ID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 리스트의 상품을 클릭하면 하단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상세로케이션정보 표시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612" y="1142984"/>
            <a:ext cx="6487943" cy="511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de-DE" altLang="ko-KR" sz="1000" dirty="0">
                <a:latin typeface="맑은 고딕" pitchFamily="50" charset="-127"/>
                <a:ea typeface="맑은 고딕" pitchFamily="50" charset="-127"/>
              </a:rPr>
              <a:t>WMSST020, WMSST501, WMSOP010, </a:t>
            </a:r>
            <a:r>
              <a:rPr lang="en-US" altLang="ko-KR" sz="1000" dirty="0"/>
              <a:t>WMSST010 , WMSST070, WMSMS080, WMSST050, WMSMS090, WMSMS091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3694" y="69269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WMSST011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물류용기재고조회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물류용기재고조회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4" y="2329615"/>
          <a:ext cx="6643734" cy="1813765"/>
        </p:xfrm>
        <a:graphic>
          <a:graphicData uri="http://schemas.openxmlformats.org/drawingml/2006/table">
            <a:tbl>
              <a:tblPr/>
              <a:tblGrid>
                <a:gridCol w="14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61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화주명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물류용기명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정상재고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재고단위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적정재고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9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889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6023776" y="203258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4" y="3565862"/>
            <a:ext cx="6643734" cy="261286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536437" y="2037132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920" y="210088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물류용기재고목록</a:t>
            </a:r>
          </a:p>
        </p:txBody>
      </p:sp>
      <p:sp>
        <p:nvSpPr>
          <p:cNvPr id="66" name="직사각형 65"/>
          <p:cNvSpPr/>
          <p:nvPr/>
        </p:nvSpPr>
        <p:spPr bwMode="auto">
          <a:xfrm>
            <a:off x="7149760" y="975236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화면상세</a:t>
            </a:r>
          </a:p>
        </p:txBody>
      </p:sp>
      <p:sp>
        <p:nvSpPr>
          <p:cNvPr id="67" name="직사각형 66"/>
          <p:cNvSpPr/>
          <p:nvPr/>
        </p:nvSpPr>
        <p:spPr bwMode="auto">
          <a:xfrm>
            <a:off x="7149496" y="1252522"/>
            <a:ext cx="2376264" cy="5039926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화면정의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fontAlgn="ctr"/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물류용기군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창고 별 현재 물류용기재고 수량을 조회하는 화면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ctr"/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검색조건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코드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팝업이용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물류용기군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셀렉트박스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팝업 이용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코드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창고명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팝업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구성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그리드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구성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2-1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물류용기재고목록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컬럼명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화주코드</a:t>
            </a:r>
            <a:r>
              <a:rPr lang="en-US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화주명</a:t>
            </a:r>
            <a:r>
              <a:rPr lang="en-US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물류용기군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물류용기코드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물류용기명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정상재고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재고단위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적정재고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비고</a:t>
            </a:r>
          </a:p>
          <a:p>
            <a:pPr fontAlgn="ctr"/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2-2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로케이션정보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컬럼명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작업일자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로케이션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물류용기코드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물류용기명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재고수량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창고</a:t>
            </a:r>
          </a:p>
          <a:p>
            <a:pPr fontAlgn="ctr"/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기능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저장 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엑셀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주요로직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물류용기재고목록의 물류용기 정보를 클릭하면 하단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그리드에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해당 물류용기의 상세 로케이션정보 표시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7313" indent="-87313" fontAlgn="ctr"/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7313" indent="-87313" fontAlgn="ctr"/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386708" y="4044127"/>
          <a:ext cx="6638632" cy="1813765"/>
        </p:xfrm>
        <a:graphic>
          <a:graphicData uri="http://schemas.openxmlformats.org/drawingml/2006/table">
            <a:tbl>
              <a:tblPr/>
              <a:tblGrid>
                <a:gridCol w="224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4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3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작업일자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로케이션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물류용기명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재고수량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창고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9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889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" name="직사각형 71"/>
          <p:cNvSpPr/>
          <p:nvPr/>
        </p:nvSpPr>
        <p:spPr bwMode="auto">
          <a:xfrm>
            <a:off x="4764712" y="553530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de-DE" altLang="ko-KR" sz="1000" dirty="0">
                <a:latin typeface="맑은 고딕" pitchFamily="50" charset="-127"/>
                <a:ea typeface="맑은 고딕" pitchFamily="50" charset="-127"/>
              </a:rPr>
              <a:t>WMSST020, WMSST501, WMSOP010, </a:t>
            </a:r>
            <a:r>
              <a:rPr lang="en-US" altLang="ko-KR" sz="1000" dirty="0"/>
              <a:t>WMSST010 , WMSST070, WMSMS080, WMSST050, WMSMS090, WMSMS091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4" name="그림 7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8" y="5256990"/>
            <a:ext cx="6643734" cy="261286"/>
          </a:xfrm>
          <a:prstGeom prst="rect">
            <a:avLst/>
          </a:prstGeom>
        </p:spPr>
      </p:pic>
      <p:sp>
        <p:nvSpPr>
          <p:cNvPr id="70" name="직사각형 69"/>
          <p:cNvSpPr/>
          <p:nvPr/>
        </p:nvSpPr>
        <p:spPr bwMode="auto">
          <a:xfrm>
            <a:off x="4765066" y="524954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4454" y="3825086"/>
            <a:ext cx="1071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로케이션정보</a:t>
            </a: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559718" y="1268413"/>
          <a:ext cx="644525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4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물류용기군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69888" algn="just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물류용기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3237694" y="1285860"/>
            <a:ext cx="714380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1050" dirty="0">
                <a:solidFill>
                  <a:sysClr val="windowText" lastClr="000000"/>
                </a:solidFill>
              </a:rPr>
              <a:t>▼</a:t>
            </a:r>
          </a:p>
        </p:txBody>
      </p:sp>
      <p:grpSp>
        <p:nvGrpSpPr>
          <p:cNvPr id="79" name="그룹 41"/>
          <p:cNvGrpSpPr/>
          <p:nvPr/>
        </p:nvGrpSpPr>
        <p:grpSpPr>
          <a:xfrm>
            <a:off x="1146536" y="1328114"/>
            <a:ext cx="1071570" cy="181019"/>
            <a:chOff x="1594620" y="4991677"/>
            <a:chExt cx="1071570" cy="181019"/>
          </a:xfrm>
        </p:grpSpPr>
        <p:sp>
          <p:nvSpPr>
            <p:cNvPr id="80" name="직사각형 79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1" name="그림 80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82" name="직사각형 81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3" name="그룹 42"/>
          <p:cNvGrpSpPr/>
          <p:nvPr/>
        </p:nvGrpSpPr>
        <p:grpSpPr>
          <a:xfrm>
            <a:off x="5166520" y="1324772"/>
            <a:ext cx="1071570" cy="181019"/>
            <a:chOff x="1594620" y="4991677"/>
            <a:chExt cx="1071570" cy="181019"/>
          </a:xfrm>
        </p:grpSpPr>
        <p:sp>
          <p:nvSpPr>
            <p:cNvPr id="84" name="직사각형 83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5" name="그림 84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86" name="직사각형 85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561150" y="1542949"/>
          <a:ext cx="644525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4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창고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69888" algn="just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1" name="그룹 41"/>
          <p:cNvGrpSpPr/>
          <p:nvPr/>
        </p:nvGrpSpPr>
        <p:grpSpPr>
          <a:xfrm>
            <a:off x="1147968" y="1602650"/>
            <a:ext cx="1071570" cy="181019"/>
            <a:chOff x="1594620" y="4991677"/>
            <a:chExt cx="1071570" cy="181019"/>
          </a:xfrm>
        </p:grpSpPr>
        <p:sp>
          <p:nvSpPr>
            <p:cNvPr id="92" name="직사각형 91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3" name="그림 92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94" name="직사각형 93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" name="그림 98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40188" y="1285860"/>
            <a:ext cx="285152" cy="525784"/>
          </a:xfrm>
          <a:prstGeom prst="rect">
            <a:avLst/>
          </a:prstGeom>
        </p:spPr>
      </p:pic>
      <p:pic>
        <p:nvPicPr>
          <p:cNvPr id="100" name="그림 99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436" y="1268413"/>
            <a:ext cx="285752" cy="54308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WMSST020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재고입출고내역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재고입출고내역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재고입출고내역을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조회조건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피킹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재고관리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재고입출고내역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ID,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담당자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ID</a:t>
              </a: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 수정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조회조건에 따른 검색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입출고내역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65" y="1047402"/>
            <a:ext cx="6626710" cy="5161658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3952074" y="5435286"/>
            <a:ext cx="3188902" cy="851234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TMSYS090, WMSMS080, WMSMS091, WMSMS101, WMSMS130, WMSOP010, WMSOP011, WMSOP060, WMSST010, WMSST011, WMSST020, WMSST030, WMSST050, WMSST051, WMSST500, WMSST501, WMSST502, WMSST510, WMSST520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3952074" y="5152138"/>
            <a:ext cx="3188992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WMSST040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재고이동현황을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재고이동내역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입고창고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2-2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재고이동상세내역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FROM(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TO(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제품명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이동수량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재고이동내역의 상품을 클릭하면 하단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재고이동상세내역정보 표시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재고이동 팝업 호출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이동현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60" y="1011127"/>
            <a:ext cx="6522110" cy="5197933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WMSMS080, WMSMS091, WMSOP010, WMSOP011, WMSST010, WMSST020, WMSST050, WMSST501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WMSST040E2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재고이동등록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별 재고이동 가능 물품을 조회하고 재고이동을 등록하는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FROM(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TO(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이동수량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초기화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클릭 시 로케          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이션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팝업 호출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이동수량 변경 가능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이동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1" y="1067692"/>
            <a:ext cx="6429420" cy="4861638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094950" y="5450220"/>
            <a:ext cx="3046026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000" dirty="0"/>
              <a:t>WMSST010, WMSMS091, WMSMS090, WMSMS100, WMSMS080, WMSST070, WMSMS010</a:t>
            </a:r>
          </a:p>
          <a:p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프로시저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000" dirty="0"/>
              <a:t>PK_WMSST040.PC_SAV_MOVESTOCK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094950" y="5164468"/>
            <a:ext cx="304611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WMSST060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재고실사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재고실사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상품을 조회하고 실제 재고를 수정하는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옵션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미재고표시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실사수량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로케이션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클릭 시 로케이션 팝업 호출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클릭 시 상품 팝업 호출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재고실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2" y="1071546"/>
            <a:ext cx="6572296" cy="5143536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WMSST010, WMSST070, 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WMSST100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명의변경내역을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버튼으로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</a:rPr>
                <a:t>싱픔근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전일재고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일반출고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이벤트출고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정상재고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불량재고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AS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UOM,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적정재고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비고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신규버튼 클릭 시 명의변경 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명의변경내역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더블 클릭 시 명의변경 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명의변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3" y="1140819"/>
            <a:ext cx="6572296" cy="485994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WMSST010, WMSST101, WMSST102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WMSST100E2</a:t>
              </a: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228600" indent="-228600"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명의변경을 등록하는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양도화주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양수화주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양도상품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양수상품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양도수량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양수수량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출고료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재고목록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원재고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작업수량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UOM, SUB_LOT, STOCK_ID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입력항목 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저장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개의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로직으로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나눠짐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삭제만 가능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명의변경 확정하는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로직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실행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4.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 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상세로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들어온거면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리로드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들어온거면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신규화면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리로드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명의변경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0" y="1021088"/>
            <a:ext cx="6429420" cy="5051118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3452008" y="5450220"/>
            <a:ext cx="3688968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TMSYS050, TMSYS090, WMSMS080, WMSMS091, WMSMS101, WMSMS130, WMSOP010, WMSST051, WMSST010, WMSST101, WMSST102, WMSST011, WMSST020, WMSST030, WMSST050, WMSOP060, WMSST500WMSST501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3452008" y="5164468"/>
            <a:ext cx="368905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WMSST070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별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내역을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UOM(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단위명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임가공내역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완성품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완성품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2-2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임가공상세내역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임가공조립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임가공해체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박스 값에 따라 신규 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팝업창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달라짐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059" y="1081283"/>
            <a:ext cx="6422411" cy="491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WMSMS010, WMSMS040, WMSMS080, WMSMS090, WMSMS091, WMSMS092, WMSMS100, WMSST500,WMSST501, WMSST502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572164"/>
            <a:chOff x="343694" y="692696"/>
            <a:chExt cx="9217024" cy="557216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WMSST070E2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조립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별 완성품 내역을 조회하거나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조립하는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UOM(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단위명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로케이션지정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세트상품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세트상품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상세로케이션정보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로케이션지정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완성품내역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상품팝업 호출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7811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임가공조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2" y="1071546"/>
            <a:ext cx="6572296" cy="5137514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1951810" y="5442109"/>
            <a:ext cx="5197686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TMSYS090, WMSMS010, WMSMS020, WMSMS021, WMSMS040, WMSMS080, WMSMS090, WMSMS091, WMSMS092, WMSMS100, WMSMS101, WMSOP010, WMSOP011, WMSOP060, WMSST010, WMSST011, WMSST020, WMSST030, WMSST050, WMSST051, WMSST080, WMSST081, WMSST500, WMSST501, WMSST502, TMSPR010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1951810" y="5164468"/>
            <a:ext cx="518925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WMSST050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상품코드 별 재고를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입고주문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ID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조회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더블클릭시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재고조정 팝업호출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조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0" y="1199536"/>
            <a:ext cx="6357982" cy="4444041"/>
          </a:xfrm>
          <a:prstGeom prst="rect">
            <a:avLst/>
          </a:prstGeom>
        </p:spPr>
      </p:pic>
      <p:sp>
        <p:nvSpPr>
          <p:cNvPr id="56" name="직사각형 55"/>
          <p:cNvSpPr/>
          <p:nvPr/>
        </p:nvSpPr>
        <p:spPr bwMode="auto">
          <a:xfrm>
            <a:off x="7149760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7" name="직사각형 56"/>
          <p:cNvSpPr/>
          <p:nvPr/>
        </p:nvSpPr>
        <p:spPr bwMode="auto">
          <a:xfrm>
            <a:off x="7149760" y="5442109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WMSMS080, WMSMS101, WMSOP010, WMSST010, WMSST070,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WMSST050E2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입력조건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감소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조정수량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사유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조정내역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기존재고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작업자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직사각형 55"/>
          <p:cNvSpPr/>
          <p:nvPr/>
        </p:nvSpPr>
        <p:spPr bwMode="auto">
          <a:xfrm>
            <a:off x="7149760" y="4794433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57" name="직사각형 56"/>
          <p:cNvSpPr/>
          <p:nvPr/>
        </p:nvSpPr>
        <p:spPr bwMode="auto">
          <a:xfrm>
            <a:off x="7149760" y="5072074"/>
            <a:ext cx="2376264" cy="1143008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TMSYS050, TMSYS090, WMSMS080, WMSMS091, WMSMS101, WMSMS130, WMSOP060, WMSST010, WMSST011, WMSST020, WMSST030, WMSST050, WMSST051, WMSST060, WMSST061, WMSST062, WMSST070, WMSST500, WMSST501, WMSST502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 descr="팝업_재고조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40" y="1428736"/>
            <a:ext cx="5153745" cy="466790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순환재고조사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순환재고조사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현재 재고 수량을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옵션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미재고표시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버튼으로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latin typeface="맑은 고딕" pitchFamily="50" charset="-127"/>
                  <a:ea typeface="맑은 고딕" pitchFamily="50" charset="-127"/>
                </a:rPr>
                <a:t>싱픔근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전일재고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일반출고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이벤트출고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정상재고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불량재고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AS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UOM,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적정재고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비고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상세로케이션정보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UOM, PLT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B/L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LOT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제품등급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>
                  <a:latin typeface="맑은 고딕" pitchFamily="50" charset="-127"/>
                  <a:ea typeface="맑은 고딕" pitchFamily="50" charset="-127"/>
                </a:rPr>
                <a:t>STOCK_ID</a:t>
              </a:r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수정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 리스트의 상품을 클릭하면 하단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상세로케이션정보 표시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</a:t>
            </a: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grpSp>
        <p:nvGrpSpPr>
          <p:cNvPr id="14" name="그룹 14"/>
          <p:cNvGrpSpPr/>
          <p:nvPr/>
        </p:nvGrpSpPr>
        <p:grpSpPr>
          <a:xfrm>
            <a:off x="594488" y="1071546"/>
            <a:ext cx="6429420" cy="5211116"/>
            <a:chOff x="594488" y="785794"/>
            <a:chExt cx="8786874" cy="5496868"/>
          </a:xfrm>
        </p:grpSpPr>
        <p:sp>
          <p:nvSpPr>
            <p:cNvPr id="15" name="직사각형 14"/>
            <p:cNvSpPr/>
            <p:nvPr/>
          </p:nvSpPr>
          <p:spPr bwMode="auto">
            <a:xfrm>
              <a:off x="594488" y="785794"/>
              <a:ext cx="8786874" cy="5496868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66125" y="2368255"/>
              <a:ext cx="5857916" cy="68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>
                  <a:latin typeface="맑은 고딕" pitchFamily="50" charset="-127"/>
                  <a:ea typeface="맑은 고딕" pitchFamily="50" charset="-127"/>
                </a:rPr>
                <a:t>향후 개발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WMSTG050	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유효기간경고관리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유효기간경고관리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 별 유효기간경고재고내역을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재고리스트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버튼으로 구성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유효일수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LOT_NO,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조회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유효기간경고관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0" y="1199537"/>
            <a:ext cx="6036623" cy="4543851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7140976" y="5456242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000" dirty="0"/>
              <a:t>WMSST010, WMSST070, WMSOP010, WMSMS080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7149760" y="5178601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834796"/>
            <a:chOff x="343694" y="692696"/>
            <a:chExt cx="9217024" cy="5834796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물류센터정보관리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63376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거점코드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대표자성명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팩스번호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검색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리스트 엑셀 다운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74726" y="5384484"/>
              <a:ext cx="2376264" cy="11430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테이블 </a:t>
              </a:r>
              <a:r>
                <a:rPr lang="en-US" altLang="ko-KR" sz="1200" dirty="0">
                  <a:latin typeface="+mn-ea"/>
                </a:rPr>
                <a:t>: </a:t>
              </a:r>
              <a:r>
                <a:rPr lang="en-US" altLang="ko-KR" sz="1200" dirty="0"/>
                <a:t> WMSMS010,</a:t>
              </a:r>
            </a:p>
            <a:p>
              <a:pPr>
                <a:defRPr/>
              </a:pPr>
              <a:r>
                <a:rPr lang="en-US" altLang="ko-KR" sz="1200" dirty="0"/>
                <a:t>WMSMS011, WMSMS012, WMSMS030,</a:t>
              </a:r>
            </a:p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프로시저 </a:t>
              </a:r>
              <a:r>
                <a:rPr lang="en-US" altLang="ko-KR" sz="1200" dirty="0">
                  <a:latin typeface="+mn-ea"/>
                </a:rPr>
                <a:t>: </a:t>
              </a:r>
              <a:r>
                <a:rPr lang="en-US" altLang="ko-KR" sz="1200" dirty="0"/>
                <a:t>PK_WMSMS030.SP_NEW_LC</a:t>
              </a:r>
              <a:endParaRPr lang="en-US" altLang="ko-KR" sz="1200" dirty="0">
                <a:latin typeface="+mn-ea"/>
              </a:endParaRPr>
            </a:p>
            <a:p>
              <a:pPr>
                <a:defRPr/>
              </a:pPr>
              <a:endParaRPr lang="en-US" altLang="ko-KR" sz="1200" dirty="0"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9873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5" name="그림 14" descr="물류센터정보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68381"/>
            <a:ext cx="6572296" cy="493238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834796"/>
            <a:chOff x="343694" y="692696"/>
            <a:chExt cx="9217024" cy="5834796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WMSMS040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창고정보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창고정보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63376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창고유형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검색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리스트 엑셀 다운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74726" y="5384484"/>
              <a:ext cx="2376264" cy="11430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테이블 </a:t>
              </a:r>
              <a:r>
                <a:rPr lang="en-US" altLang="ko-KR" sz="1200" dirty="0">
                  <a:latin typeface="+mn-ea"/>
                </a:rPr>
                <a:t>: </a:t>
              </a:r>
              <a:r>
                <a:rPr lang="en-US" altLang="ko-KR" sz="1200" dirty="0"/>
                <a:t> WMSMS040,</a:t>
              </a:r>
            </a:p>
            <a:p>
              <a:pPr>
                <a:defRPr/>
              </a:pPr>
              <a:r>
                <a:rPr lang="en-US" altLang="ko-KR" sz="1200" dirty="0"/>
                <a:t>, TMSYMS030</a:t>
              </a:r>
              <a:endParaRPr lang="en-US" altLang="ko-KR" sz="1200" dirty="0"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9873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5" name="그림 14" descr="창고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25879"/>
            <a:ext cx="6572296" cy="511776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834796"/>
            <a:chOff x="343694" y="692696"/>
            <a:chExt cx="9217024" cy="5834796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WMSMS081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ZONE</a:t>
              </a:r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ZONE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63376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ZONE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ZONE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거점코드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대표자성명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팩스번호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검색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리스트 엑셀 다운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74726" y="5384484"/>
              <a:ext cx="2376264" cy="11430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테이블 </a:t>
              </a:r>
              <a:r>
                <a:rPr lang="en-US" altLang="ko-KR" sz="1200" dirty="0">
                  <a:latin typeface="+mn-ea"/>
                </a:rPr>
                <a:t>: </a:t>
              </a:r>
              <a:r>
                <a:rPr lang="en-US" altLang="ko-KR" sz="1200" dirty="0"/>
                <a:t> WMSMS010,</a:t>
              </a:r>
            </a:p>
            <a:p>
              <a:pPr>
                <a:defRPr/>
              </a:pPr>
              <a:r>
                <a:rPr lang="en-US" altLang="ko-KR" sz="1200" dirty="0"/>
                <a:t>WMSMS011, WMSMS012, WMSMS030,</a:t>
              </a:r>
            </a:p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프로시저 </a:t>
              </a:r>
              <a:r>
                <a:rPr lang="en-US" altLang="ko-KR" sz="1200" dirty="0">
                  <a:latin typeface="+mn-ea"/>
                </a:rPr>
                <a:t>: </a:t>
              </a:r>
              <a:r>
                <a:rPr lang="en-US" altLang="ko-KR" sz="1200" dirty="0"/>
                <a:t>PK_WMSMS030.SP_NEW_LC</a:t>
              </a:r>
              <a:endParaRPr lang="en-US" altLang="ko-KR" sz="1200" dirty="0">
                <a:latin typeface="+mn-ea"/>
              </a:endParaRPr>
            </a:p>
            <a:p>
              <a:pPr>
                <a:defRPr/>
              </a:pPr>
              <a:endParaRPr lang="en-US" altLang="ko-KR" sz="1200" dirty="0"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9873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5" name="그림 14" descr="zone 정보등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20896"/>
            <a:ext cx="6572296" cy="516176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WMSMS080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 정보관리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 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 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LOC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ABC,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OP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RACK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보충수량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적재가능량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통제여부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출고통제정보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등록자번호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LOC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로케이션 정보관리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출고통제 여부 및 신규 출고통제 등록 가능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로케이션정보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71546"/>
            <a:ext cx="6500857" cy="500066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 bwMode="auto">
          <a:xfrm>
            <a:off x="4832544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4832190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/>
              <a:t>WMSMS040, WMSMS080, WMSMS083, WMSST010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WMSMS010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 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사업자등록번호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사업장전화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팩스번호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우편번호ㅡ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사업장주소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홈페이지주소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출고통제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담당자이메일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신용등급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화주정보 관리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직사각형 15"/>
          <p:cNvSpPr/>
          <p:nvPr/>
        </p:nvSpPr>
        <p:spPr bwMode="auto">
          <a:xfrm>
            <a:off x="7219676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7219322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WMSMS012</a:t>
            </a:r>
          </a:p>
        </p:txBody>
      </p:sp>
      <p:pic>
        <p:nvPicPr>
          <p:cNvPr id="15" name="그림 14" descr="화주정보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42984"/>
            <a:ext cx="6572296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WMSMS011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매출거래처정보관리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 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사업자등록번호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사업장전화번호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사업장팩스번호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휴대폰번호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사업장우편번호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담당자이메일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홈페이지주소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신용등급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출고통제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대표거래처코드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거래처상태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부가세여부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유효기간통제여부</a:t>
              </a:r>
              <a:r>
                <a:rPr lang="en-US" altLang="ko-KR" sz="10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매출거래처정보 관리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매출거래처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44779"/>
            <a:ext cx="6572296" cy="5098865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 bwMode="auto">
          <a:xfrm>
            <a:off x="4846180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4845826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WMSMS095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4488" y="61306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6805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47035"/>
              <a:ext cx="2376264" cy="5062285"/>
            </a:xfrm>
            <a:prstGeom prst="rect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상품정보를 관리 하는 화면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적정재고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유통기간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3-2 UOM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환산이력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변환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그리드에서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데이터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선택시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우측에 정보를 뿌려줌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추가시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좌측 목록을 </a:t>
              </a:r>
              <a:r>
                <a:rPr lang="ko-KR" altLang="en-US" sz="9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저장후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환산이력 저장</a:t>
              </a: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유효기간통제기준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유효기간단위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소비기한단위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출하최소유효기간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출하최소유효기간단위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입고최소유효기간 추가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입고최소유효기간단위 추가</a:t>
              </a:r>
              <a:r>
                <a:rPr lang="en-US" altLang="ko-KR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17" y="1285884"/>
            <a:ext cx="6601879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직사각형 17"/>
          <p:cNvSpPr/>
          <p:nvPr/>
        </p:nvSpPr>
        <p:spPr bwMode="auto">
          <a:xfrm>
            <a:off x="4807522" y="5379206"/>
            <a:ext cx="2376264" cy="857256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>
              <a:defRPr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WMSMS091, WMSMS090</a:t>
            </a:r>
          </a:p>
          <a:p>
            <a:pPr>
              <a:defRPr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WMSMS010, WMSMS101</a:t>
            </a:r>
          </a:p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프로시저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>
              <a:defRPr/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WINUSUSR.PK_WMSMS090E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807876" y="5101565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3275794" y="3534728"/>
            <a:ext cx="3786214" cy="71438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WMSMS096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상품별용기관리</a:t>
              </a:r>
              <a:r>
                <a:rPr lang="en-US" altLang="ko-KR" sz="11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싱픔별용기관리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상품별 물류기기 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상품별 물류기기목록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커버수량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커버수량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상품별 물류기기 정보 관리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직사각형 15"/>
          <p:cNvSpPr/>
          <p:nvPr/>
        </p:nvSpPr>
        <p:spPr bwMode="auto">
          <a:xfrm>
            <a:off x="7219676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7219322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687" y="1285860"/>
            <a:ext cx="6194131" cy="4724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WMSMS100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UOM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코드를 등록하는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코드를 관리한다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+mn-ea"/>
                </a:rPr>
                <a:t>테이블 </a:t>
              </a:r>
              <a:r>
                <a:rPr lang="en-US" altLang="ko-KR" sz="1200" dirty="0">
                  <a:latin typeface="+mn-ea"/>
                </a:rPr>
                <a:t>: WMSMS100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UOM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00858" cy="507209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WMSMS120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 등록하는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접속자정보에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따라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셋팅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접속자정보에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따라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셋팅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(pop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으로도 가능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도크장순번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진입가능톤수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en-US" altLang="ko-KR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selectBox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물류센터명은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사용자가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입력하는게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아니라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접속자정보에따라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셋팅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</a:t>
              </a:r>
            </a:p>
            <a:p>
              <a:pPr>
                <a:defRPr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WMSMS120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1038149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145306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0952998" y="0"/>
            <a:ext cx="357189" cy="142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pop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18" name="그림 17" descr="도크장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52012"/>
            <a:ext cx="6572296" cy="49916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WMSMS050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차량톤수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기사명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기사연락처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톤수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기사명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연락처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 정보를 관리한다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WMSMS050</a:t>
              </a:r>
            </a:p>
            <a:p>
              <a:pPr>
                <a:defRPr/>
              </a:pP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1038149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145306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0952998" y="0"/>
            <a:ext cx="357189" cy="142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pop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18" name="그림 17" descr="차량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00858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WMSMS084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입고상품관리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LOC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입고상품관리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LOC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별입고상품목록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WMSMS084</a:t>
              </a:r>
            </a:p>
            <a:p>
              <a:pPr>
                <a:defRPr/>
              </a:pP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LOC별입고상품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07" y="1142984"/>
            <a:ext cx="6565301" cy="507209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세트상품구성정보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세트상품구성정보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1"/>
              <a:ext cx="2376264" cy="4022187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 구성정보를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UOM(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3-2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세트상품은 상품정보의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임가공상태가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‘Y’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인것만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조회하며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 상품의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 동일 해야함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272839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</a:t>
              </a:r>
            </a:p>
            <a:p>
              <a:pPr>
                <a:defRPr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WMSMS090, WMSMS091</a:t>
              </a:r>
            </a:p>
            <a:p>
              <a:pPr>
                <a:defRPr/>
              </a:pP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WMSMS010, WMSMS092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세트상품구성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84" y="1142984"/>
            <a:ext cx="6618324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WMSMS020</a:t>
              </a: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센터별작업정책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센터별작업정책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1"/>
              <a:ext cx="2376264" cy="4022187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작업정책 정보를 관리하는 화면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정산의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탭으로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이외 해당 정책버튼을 클릭하여 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제외의 정책적용 여부를 선택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조회버튼 클릭 시 현재 선택되어진 물류센터의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작업장첵을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작업정책을 클릭하여 필수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제외를 선택하여 수정 후 저장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272839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TMSYS030, WMSMS020, WMSMS021, WMSMS030, WMSMS050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센터별작업정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42984"/>
            <a:ext cx="6500858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WMSMS094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상품군타입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상품군타입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정보를 관리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WMSMS094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상품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00858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4488" y="62068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WMSPL010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6805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47036"/>
              <a:ext cx="2376264" cy="3690516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 정보를 관리하는 화면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용기군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용기코드를 조건으로 조회가능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조회된 물류용기목록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물류용기의 상세정보를 물류용기정보에 표시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2849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07476"/>
              <a:ext cx="2376264" cy="1098228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: WMSPL010, WMSPL020, WMSMS081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4" y="2130423"/>
          <a:ext cx="3571898" cy="3441717"/>
        </p:xfrm>
        <a:graphic>
          <a:graphicData uri="http://schemas.openxmlformats.org/drawingml/2006/table">
            <a:tbl>
              <a:tblPr/>
              <a:tblGrid>
                <a:gridCol w="12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용기명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입고창고코드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유통기간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유통기간일수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3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836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559718" y="1268413"/>
          <a:ext cx="644525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4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용기군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69888" algn="just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용기코드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5534671" y="165660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3237694" y="1285860"/>
            <a:ext cx="714380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1050" dirty="0">
                <a:solidFill>
                  <a:sysClr val="windowText" lastClr="000000"/>
                </a:solidFill>
              </a:rPr>
              <a:t>▼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026671" y="165660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4" y="4588926"/>
            <a:ext cx="3571900" cy="261286"/>
          </a:xfrm>
          <a:prstGeom prst="rect">
            <a:avLst/>
          </a:prstGeom>
        </p:spPr>
      </p:pic>
      <p:grpSp>
        <p:nvGrpSpPr>
          <p:cNvPr id="3" name="그룹 41"/>
          <p:cNvGrpSpPr/>
          <p:nvPr/>
        </p:nvGrpSpPr>
        <p:grpSpPr>
          <a:xfrm>
            <a:off x="1146536" y="1328114"/>
            <a:ext cx="1071570" cy="181019"/>
            <a:chOff x="1594620" y="4991677"/>
            <a:chExt cx="1071570" cy="181019"/>
          </a:xfrm>
        </p:grpSpPr>
        <p:sp>
          <p:nvSpPr>
            <p:cNvPr id="22" name="직사각형 21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1" name="그림 30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35" name="직사각형 34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" name="그룹 42"/>
          <p:cNvGrpSpPr/>
          <p:nvPr/>
        </p:nvGrpSpPr>
        <p:grpSpPr>
          <a:xfrm>
            <a:off x="5166520" y="1324772"/>
            <a:ext cx="1071570" cy="181019"/>
            <a:chOff x="1594620" y="4991677"/>
            <a:chExt cx="1071570" cy="181019"/>
          </a:xfrm>
        </p:grpSpPr>
        <p:sp>
          <p:nvSpPr>
            <p:cNvPr id="44" name="직사각형 43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5" name="그림 44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46" name="직사각형 45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6536437" y="1661149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028437" y="1661149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</a:p>
        </p:txBody>
      </p:sp>
      <p:pic>
        <p:nvPicPr>
          <p:cNvPr id="50" name="그림 49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38756" y="1277234"/>
            <a:ext cx="285152" cy="259874"/>
          </a:xfrm>
          <a:prstGeom prst="rect">
            <a:avLst/>
          </a:prstGeom>
        </p:spPr>
      </p:pic>
      <p:pic>
        <p:nvPicPr>
          <p:cNvPr id="51" name="그림 50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004" y="1277234"/>
            <a:ext cx="285752" cy="259724"/>
          </a:xfrm>
          <a:prstGeom prst="rect">
            <a:avLst/>
          </a:prstGeom>
        </p:spPr>
      </p:pic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4023512" y="1883491"/>
          <a:ext cx="3000396" cy="4214842"/>
        </p:xfrm>
        <a:graphic>
          <a:graphicData uri="http://schemas.openxmlformats.org/drawingml/2006/table">
            <a:tbl>
              <a:tblPr/>
              <a:tblGrid>
                <a:gridCol w="75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물류용기정보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                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용기코드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용기중량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화주명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용기크기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                ▼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용기명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적정재고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재고단위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                ▼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사용유무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</a:t>
                      </a: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▼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유통기간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적정재고일수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유효기간일수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입고창고코드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입고존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용기단가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>
                          <a:solidFill>
                            <a:sysClr val="windowText" lastClr="000000"/>
                          </a:solidFill>
                        </a:rPr>
                        <a:t>                 ▼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TAG PREFIX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회사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EPC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용기바코드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무게오차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허용범위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Kg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3" name="직사각형 52"/>
          <p:cNvSpPr/>
          <p:nvPr/>
        </p:nvSpPr>
        <p:spPr>
          <a:xfrm>
            <a:off x="4880768" y="216036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880768" y="2437494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880768" y="3038472"/>
            <a:ext cx="2054450" cy="13425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880768" y="3315598"/>
            <a:ext cx="2054450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880768" y="3610059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880768" y="3887102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880768" y="4155436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880768" y="444118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880768" y="474435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880768" y="5038819"/>
            <a:ext cx="2054450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354839" y="216036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372091" y="2437494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372091" y="3610059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372091" y="3887102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372091" y="4155436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372091" y="4458606"/>
            <a:ext cx="411376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372091" y="474435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880768" y="5333280"/>
            <a:ext cx="2062993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880768" y="5619032"/>
            <a:ext cx="2062993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83" name="그림 82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94" y="4465775"/>
            <a:ext cx="214314" cy="13576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27920" y="1857364"/>
            <a:ext cx="1071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물류용기목록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6380966" y="2734622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880768" y="2770818"/>
            <a:ext cx="413388" cy="1171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87" name="그림 86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396" y="2770310"/>
            <a:ext cx="214314" cy="135764"/>
          </a:xfrm>
          <a:prstGeom prst="rect">
            <a:avLst/>
          </a:prstGeom>
        </p:spPr>
      </p:pic>
      <p:sp>
        <p:nvSpPr>
          <p:cNvPr id="66" name="직사각형 65"/>
          <p:cNvSpPr/>
          <p:nvPr/>
        </p:nvSpPr>
        <p:spPr>
          <a:xfrm>
            <a:off x="4880768" y="5895992"/>
            <a:ext cx="411376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7" name="직사각형 66"/>
          <p:cNvSpPr/>
          <p:nvPr/>
        </p:nvSpPr>
        <p:spPr bwMode="auto">
          <a:xfrm>
            <a:off x="4033037" y="5767404"/>
            <a:ext cx="3000396" cy="35719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3694" y="69269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WMSPL020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 정보를 관리하는 화면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물류용기명을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조건으로 목록조회 가능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 내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용기군코드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용기군명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수정가능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: WMSPL020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4" y="1930385"/>
          <a:ext cx="6643734" cy="3441717"/>
        </p:xfrm>
        <a:graphic>
          <a:graphicData uri="http://schemas.openxmlformats.org/drawingml/2006/table">
            <a:tbl>
              <a:tblPr/>
              <a:tblGrid>
                <a:gridCol w="14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61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용기군코드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용기군명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물류센터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존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작업자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IP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등록일자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등록자번호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수정일자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수정자번호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3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836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559718" y="1268413"/>
          <a:ext cx="646419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1177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물류용기군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물류용기 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5534671" y="1643050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808934" y="1285860"/>
            <a:ext cx="1643074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026671" y="1643050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4" y="4423724"/>
            <a:ext cx="6643734" cy="261286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536437" y="164759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028437" y="164759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</a:p>
        </p:txBody>
      </p:sp>
      <p:pic>
        <p:nvPicPr>
          <p:cNvPr id="50" name="그림 49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38156" y="1277234"/>
            <a:ext cx="285152" cy="2598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7920" y="1711344"/>
            <a:ext cx="1071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맑은 고딕" pitchFamily="50" charset="-127"/>
                <a:ea typeface="맑은 고딕" pitchFamily="50" charset="-127"/>
              </a:rPr>
              <a:t>물류용기군목록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809330" y="1285860"/>
            <a:ext cx="1643074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4488" y="62068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WMSMS095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14408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424998"/>
              <a:ext cx="2376264" cy="880705"/>
            </a:xfrm>
            <a:prstGeom prst="rect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WMSMS095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,  </a:t>
              </a:r>
              <a:r>
                <a:rPr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WMSMS096</a:t>
              </a:r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, WMSMS011, WMSMS091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47036"/>
              <a:ext cx="2376264" cy="3897046"/>
            </a:xfrm>
            <a:prstGeom prst="rect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거래처의 각 상품별 유효기간관련 정보를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조건으로 조회가능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87313"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화주별거래처목록을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거래처에 등록된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화주별거래처상품군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정보목록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정보목록을 각각의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87313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상품군목록의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무게오차허용률는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퍼센테지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(percentage, %)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상품목록의 무게오차허용범위는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+-Kg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단위로 수치를 입력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상품의 무게오차 계산시 상품목록의 무게오차허용범위가 우선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상품의 무게오차허용범위가 설정되어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있지않을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경우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상품의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상품군의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무게오차허용률을 적용하여 계산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>
                <a:buFontTx/>
                <a:buChar char="-"/>
              </a:pP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6805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5" y="2130422"/>
          <a:ext cx="2928958" cy="4513287"/>
        </p:xfrm>
        <a:graphic>
          <a:graphicData uri="http://schemas.openxmlformats.org/drawingml/2006/table">
            <a:tbl>
              <a:tblPr/>
              <a:tblGrid>
                <a:gridCol w="207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화주명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거래처명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유효기간통제여부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1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57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5534671" y="1870917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026671" y="1870917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4" y="5364874"/>
            <a:ext cx="2913719" cy="261286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536437" y="187546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028437" y="187546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920" y="1857364"/>
            <a:ext cx="11238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latin typeface="맑은 고딕" pitchFamily="50" charset="-127"/>
                <a:ea typeface="맑은 고딕" pitchFamily="50" charset="-127"/>
              </a:rPr>
              <a:t>화주별거래처목록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59718" y="1268413"/>
          <a:ext cx="646419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1177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거래처명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1857512" y="1314213"/>
            <a:ext cx="571504" cy="178341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75" name="그림 74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876" y="1312874"/>
            <a:ext cx="285752" cy="181019"/>
          </a:xfrm>
          <a:prstGeom prst="rect">
            <a:avLst/>
          </a:prstGeom>
        </p:spPr>
      </p:pic>
      <p:sp>
        <p:nvSpPr>
          <p:cNvPr id="76" name="직사각형 75"/>
          <p:cNvSpPr/>
          <p:nvPr/>
        </p:nvSpPr>
        <p:spPr>
          <a:xfrm>
            <a:off x="2737628" y="1321832"/>
            <a:ext cx="714380" cy="16310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3523445" y="2130424"/>
          <a:ext cx="3500463" cy="1797315"/>
        </p:xfrm>
        <a:graphic>
          <a:graphicData uri="http://schemas.openxmlformats.org/drawingml/2006/table">
            <a:tbl>
              <a:tblPr/>
              <a:tblGrid>
                <a:gridCol w="19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2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상품군코드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상품군명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무게오차허용률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출하최소유효기간단위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70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99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3572024" y="1857364"/>
            <a:ext cx="998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맑은 고딕" pitchFamily="50" charset="-127"/>
                <a:ea typeface="맑은 고딕" pitchFamily="50" charset="-127"/>
              </a:rPr>
              <a:t>상품군목록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9" name="그림 78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46" y="3359328"/>
            <a:ext cx="3500462" cy="261286"/>
          </a:xfrm>
          <a:prstGeom prst="rect">
            <a:avLst/>
          </a:prstGeom>
        </p:spPr>
      </p:pic>
      <p:sp>
        <p:nvSpPr>
          <p:cNvPr id="81" name="직사각형 80"/>
          <p:cNvSpPr/>
          <p:nvPr/>
        </p:nvSpPr>
        <p:spPr>
          <a:xfrm>
            <a:off x="4809330" y="1314212"/>
            <a:ext cx="1571636" cy="18596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85" name="그림 84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38756" y="1277234"/>
            <a:ext cx="285152" cy="259874"/>
          </a:xfrm>
          <a:prstGeom prst="rect">
            <a:avLst/>
          </a:prstGeom>
        </p:spPr>
      </p:pic>
      <p:pic>
        <p:nvPicPr>
          <p:cNvPr id="86" name="그림 85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004" y="1277234"/>
            <a:ext cx="285752" cy="259724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>
            <a:off x="5534671" y="380174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5026671" y="380174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6536437" y="3806292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6028437" y="3806292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3523445" y="4061252"/>
          <a:ext cx="3500463" cy="1894205"/>
        </p:xfrm>
        <a:graphic>
          <a:graphicData uri="http://schemas.openxmlformats.org/drawingml/2006/table">
            <a:tbl>
              <a:tblPr/>
              <a:tblGrid>
                <a:gridCol w="19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상품명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무게오차허용범위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(Kg)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출하최소유효기간단위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19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977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572024" y="3788193"/>
            <a:ext cx="998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맑은 고딕" pitchFamily="50" charset="-127"/>
                <a:ea typeface="맑은 고딕" pitchFamily="50" charset="-127"/>
              </a:rPr>
              <a:t>상품목록</a:t>
            </a:r>
          </a:p>
        </p:txBody>
      </p:sp>
      <p:pic>
        <p:nvPicPr>
          <p:cNvPr id="55" name="그림 5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46" y="5352991"/>
            <a:ext cx="3500462" cy="261286"/>
          </a:xfrm>
          <a:prstGeom prst="rect">
            <a:avLst/>
          </a:prstGeom>
        </p:spPr>
      </p:pic>
      <p:sp>
        <p:nvSpPr>
          <p:cNvPr id="60" name="직사각형 59"/>
          <p:cNvSpPr/>
          <p:nvPr/>
        </p:nvSpPr>
        <p:spPr bwMode="auto">
          <a:xfrm>
            <a:off x="5237958" y="2130422"/>
            <a:ext cx="765026" cy="1228906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5380834" y="4061252"/>
            <a:ext cx="622150" cy="1303622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 별 마감목록을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시작월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종료월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마감월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허용일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자동여부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신규버튼 클릭 시 마감관리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WMSMS130</a:t>
              </a:r>
            </a:p>
            <a:p>
              <a:pPr>
                <a:defRPr/>
              </a:pPr>
              <a:r>
                <a:rPr lang="ko-KR" altLang="en-US" sz="1000" dirty="0"/>
                <a:t>프로시저 </a:t>
              </a:r>
              <a:r>
                <a:rPr lang="en-US" altLang="ko-KR" sz="1000" dirty="0"/>
                <a:t>: PK_WMSMS130.SP_SAVE_CLOSE</a:t>
              </a:r>
              <a:endParaRPr lang="en-US" sz="1000" dirty="0"/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마감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3" y="1142984"/>
            <a:ext cx="6500858" cy="471490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WMSMS130E2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 등록하는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자동여부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시작월일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허용일수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종료월일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마감월일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/>
                <a:t>프로시저 </a:t>
              </a:r>
              <a:r>
                <a:rPr lang="en-US" altLang="ko-KR" sz="1000" dirty="0"/>
                <a:t>: PK_WMSMS130.SP_SAVE_CLOSE</a:t>
              </a:r>
              <a:endParaRPr lang="en-US" sz="1000" dirty="0"/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" name="그림 17" descr="마감등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350006"/>
            <a:ext cx="6286544" cy="361282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TMSCM010Q1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및 거래처목록을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TMSYS030, WMSMS010, WMSMS011, WMSMS012, WMSMS030, 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 descr="팝업_거래처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6" y="1272313"/>
            <a:ext cx="6286544" cy="479989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WMSCM040Q1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창고리스트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창고구분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창고유형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WMSMS040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팝업_창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33" y="1142984"/>
            <a:ext cx="6328574" cy="4205647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WMSCM081Q1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ZONE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ZONE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ZONE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이름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ZONE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ZONE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이름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WMSMS081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ZONE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35" y="1312838"/>
            <a:ext cx="3667637" cy="475936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WMSCM080Q1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로케이션리스트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STOCK_ID, SUB_LOT_ID</a:t>
              </a: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WMSMS080, WMSST010,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 descr="팝업_로케이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70975"/>
            <a:ext cx="6357982" cy="480123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WMSCM011Q1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ECP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WMSMS010, WMSMS011, WMSMS012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화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62972"/>
            <a:ext cx="6429420" cy="480923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WMSCM091Q1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WMSMS080, WMSMS090, WMSMS091, WMSST010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팝업_상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05814"/>
            <a:ext cx="6429420" cy="512516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WMSCM100Q1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WMSMS100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U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3" y="1177235"/>
            <a:ext cx="6500858" cy="496640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WMSCM120Q1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도크장정보를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도크장번호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WMSMS100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팝업_도크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19" y="1158183"/>
            <a:ext cx="5643602" cy="5172797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WMSCM050Q1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WMSMS050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차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42" y="1142984"/>
            <a:ext cx="6325890" cy="478634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입고상품 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세트상품구성팝업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WMSCM015Q1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직원정보팝업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사원정보를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부서명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부서명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WMSMS015, WMSMS014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사원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31" y="1270974"/>
            <a:ext cx="5744377" cy="3682799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장비정보팝업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WMSCM999Q1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물류용기정보팝업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물류용기를 조회 및 선택하는 팝업화면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>
                <a:buAutoNum type="arabicPeriod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무류용기코드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물류물류용기군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indent="-228600" fontAlgn="ctr">
                <a:buAutoNum type="arabicPeriod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물류용기크기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WMSPL010, WMSPL020, WMSMS081, WMSMS040</a:t>
              </a: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470" y="1214422"/>
            <a:ext cx="653499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288" cy="5616624"/>
            <a:chOff x="343694" y="692696"/>
            <a:chExt cx="9217288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WMSAC010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단가계약리스트를 조회하거나 신규 단가계약을 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단가계약리스트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계약사원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청구단가계약 팝업호출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718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WMSAC010 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454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5" name="그림 14" descr="정산단가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64" y="1272312"/>
            <a:ext cx="6215106" cy="472845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WMSAC010E2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정산단가계약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단가계약을 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실적부서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계약사원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실적사원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결제방법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반올림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결제일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끝전단위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WMSAC010</a:t>
              </a:r>
            </a:p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프로시저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PK_WMSAC010.SP_SAVE_CONT, PK_WMSAC010.SP_DEL_CONT_DETAIL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6" name="그림 15" descr="단가계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99838"/>
            <a:ext cx="6357981" cy="472949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정산기간에 따라 산출물을 관리하는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셔틀료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더블클릭시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상세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버튼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정산단가계약 팝업 호출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WMSAC020</a:t>
              </a:r>
            </a:p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프로시저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PK_WMSAC010.SP_CALC_PERIOD,</a:t>
              </a:r>
            </a:p>
            <a:p>
              <a:pPr>
                <a:defRPr/>
              </a:pPr>
              <a:r>
                <a:rPr lang="en-US" altLang="ko-KR" sz="1000" dirty="0"/>
                <a:t>PK_WMSOP030.SP_DELETE_ORDER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5" name="그림 14" descr="청구산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36" y="1270975"/>
            <a:ext cx="6252568" cy="447714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WMSAC020E2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정산산출상세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청구산출 상세 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관리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청구산출상세리스트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보관료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WMSAC021</a:t>
              </a:r>
            </a:p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프로시저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/>
                <a:t>PK_WMSOP030.SP_DELETE_ORDER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</p:grpSp>
      <p:pic>
        <p:nvPicPr>
          <p:cNvPr id="16" name="그림 15" descr="청구산출상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34" y="1270975"/>
            <a:ext cx="5706971" cy="465835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창고목록 및 재고목록을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창고목록의 상품을 클릭하면 하단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재고목록정보 표시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WMSST010, WMSMS091,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창고별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230910"/>
            <a:ext cx="6572296" cy="4984171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WMSTG040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로케이션재고목록을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로케이션별재고목록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적치율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가용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PLT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WMSST010, WMSMS101, WMSMS091, WMSMS080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로케이션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77" y="1142984"/>
            <a:ext cx="6582531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WMSTG050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재고유효기간현황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재고유효기간현황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유효기간경고재고목록을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유효기간경고재고목록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유효열수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LOT_NO,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WMSMS080, WMSOP010, WMSST010,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재고유효기간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9493"/>
            <a:ext cx="6572296" cy="4994151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WMSTG060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제품군별창고사용현황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제품군별창고사용현황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제품군재고목록을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제품군별재고목록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삭제여부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WMSMS080, WMSMS091, WMSMS094, WMSST010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제품군별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72296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WMSTG070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LOT</a:t>
              </a:r>
              <a:r>
                <a:rPr lang="ko-KR" altLang="en-US" sz="12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LOT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별재고목록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LOT_NO,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WMSMS080, WMSST010,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 descr="LOT별재고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08" y="1071546"/>
            <a:ext cx="6568261" cy="507209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WMSTG130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거래처별출고내역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거래처별출고내역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이동수량목록을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운송사별 이동수량목록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LOT_NO,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WMSMS050, WMSOP010, WMSOP011, WMSOP050, WMSOP051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거래처별출고내역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3" y="1142984"/>
            <a:ext cx="6582445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WMSTG100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출하등급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별 재고목록을 조회하는 화면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출하등급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등급별재고목록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출하등급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/>
                <a:t>WMSMS080, WMSMS091, WMSST010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등급별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72296" cy="49292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2075" tIns="46038" rIns="92075" bIns="46038" numCol="1" rtlCol="0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>
            <a:solidFill>
              <a:schemeClr val="tx1"/>
            </a:solidFill>
            <a:latin typeface="바탕체" pitchFamily="17" charset="-127"/>
            <a:ea typeface="바탕체" pitchFamily="17" charset="-127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체" pitchFamily="17" charset="-127"/>
            <a:ea typeface="바탕체" pitchFamily="17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5853</TotalTime>
  <Words>10332</Words>
  <Application>Microsoft Macintosh PowerPoint</Application>
  <PresentationFormat>사용자 지정</PresentationFormat>
  <Paragraphs>2433</Paragraphs>
  <Slides>90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90</vt:i4>
      </vt:variant>
    </vt:vector>
  </HeadingPairs>
  <TitlesOfParts>
    <vt:vector size="99" baseType="lpstr">
      <vt:lpstr>바탕</vt:lpstr>
      <vt:lpstr>바탕체</vt:lpstr>
      <vt:lpstr>돋움</vt:lpstr>
      <vt:lpstr>굴림</vt:lpstr>
      <vt:lpstr>맑은 고딕</vt:lpstr>
      <vt:lpstr>Arial</vt:lpstr>
      <vt:lpstr>Times New Roman</vt:lpstr>
      <vt:lpstr>Wingdings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엠투엠글로벌(주)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박종대</dc:creator>
  <cp:lastModifiedBy>철원 허</cp:lastModifiedBy>
  <cp:revision>388</cp:revision>
  <cp:lastPrinted>2015-07-07T07:00:16Z</cp:lastPrinted>
  <dcterms:created xsi:type="dcterms:W3CDTF">2010-06-22T01:24:59Z</dcterms:created>
  <dcterms:modified xsi:type="dcterms:W3CDTF">2026-03-21T14:24:08Z</dcterms:modified>
</cp:coreProperties>
</file>