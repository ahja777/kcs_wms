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6" r:id="rId1"/>
  </p:sldMasterIdLst>
  <p:notesMasterIdLst>
    <p:notesMasterId r:id="rId20"/>
  </p:notesMasterIdLst>
  <p:handoutMasterIdLst>
    <p:handoutMasterId r:id="rId21"/>
  </p:handoutMasterIdLst>
  <p:sldIdLst>
    <p:sldId id="335" r:id="rId2"/>
    <p:sldId id="336" r:id="rId3"/>
    <p:sldId id="305" r:id="rId4"/>
    <p:sldId id="325" r:id="rId5"/>
    <p:sldId id="326" r:id="rId6"/>
    <p:sldId id="328" r:id="rId7"/>
    <p:sldId id="327" r:id="rId8"/>
    <p:sldId id="333" r:id="rId9"/>
    <p:sldId id="332" r:id="rId10"/>
    <p:sldId id="329" r:id="rId11"/>
    <p:sldId id="303" r:id="rId12"/>
    <p:sldId id="331" r:id="rId13"/>
    <p:sldId id="330" r:id="rId14"/>
    <p:sldId id="334" r:id="rId15"/>
    <p:sldId id="307" r:id="rId16"/>
    <p:sldId id="306" r:id="rId17"/>
    <p:sldId id="312" r:id="rId18"/>
    <p:sldId id="308" r:id="rId19"/>
  </p:sldIdLst>
  <p:sldSz cx="9906000" cy="6858000" type="A4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15">
          <p15:clr>
            <a:srgbClr val="A4A3A4"/>
          </p15:clr>
        </p15:guide>
        <p15:guide id="2" orient="horz" pos="618">
          <p15:clr>
            <a:srgbClr val="A4A3A4"/>
          </p15:clr>
        </p15:guide>
        <p15:guide id="3" orient="horz" pos="3884">
          <p15:clr>
            <a:srgbClr val="A4A3A4"/>
          </p15:clr>
        </p15:guide>
        <p15:guide id="4" pos="217">
          <p15:clr>
            <a:srgbClr val="A4A3A4"/>
          </p15:clr>
        </p15:guide>
        <p15:guide id="5" pos="6023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F8FA"/>
    <a:srgbClr val="294C8C"/>
    <a:srgbClr val="FFFF99"/>
    <a:srgbClr val="F0F0F0"/>
    <a:srgbClr val="66A324"/>
    <a:srgbClr val="84CA28"/>
    <a:srgbClr val="5685CB"/>
    <a:srgbClr val="1683C6"/>
    <a:srgbClr val="28BAEB"/>
    <a:srgbClr val="268C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03" autoAdjust="0"/>
    <p:restoredTop sz="97645" autoAdjust="0"/>
  </p:normalViewPr>
  <p:slideViewPr>
    <p:cSldViewPr>
      <p:cViewPr varScale="1">
        <p:scale>
          <a:sx n="104" d="100"/>
          <a:sy n="104" d="100"/>
        </p:scale>
        <p:origin x="-102" y="-192"/>
      </p:cViewPr>
      <p:guideLst>
        <p:guide orient="horz" pos="2115"/>
        <p:guide orient="horz" pos="618"/>
        <p:guide orient="horz" pos="3793"/>
        <p:guide pos="217"/>
        <p:guide pos="6023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77" d="100"/>
          <a:sy n="77" d="100"/>
        </p:scale>
        <p:origin x="-2616" y="-84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image" Target="../media/image13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image" Target="../media/image48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708C99-9DF7-4821-955D-9BF6EA14E170}" type="datetimeFigureOut">
              <a:rPr lang="ko-KR" altLang="en-US" smtClean="0"/>
              <a:pPr/>
              <a:t>2015-07-08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479CB2-BCB5-4CE7-9DFD-E3CF27325D7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055648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404481-C7FE-4B67-9577-DB4691256AF5}" type="datetimeFigureOut">
              <a:rPr lang="ko-KR" altLang="en-US" smtClean="0"/>
              <a:pPr/>
              <a:t>2015-07-08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11200" y="744538"/>
            <a:ext cx="537527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23DCD4-1A54-42CA-88E1-391F1FDCF6F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90833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711200" y="744538"/>
            <a:ext cx="5375275" cy="3722687"/>
          </a:xfrm>
          <a:ln/>
        </p:spPr>
      </p:sp>
      <p:sp>
        <p:nvSpPr>
          <p:cNvPr id="6147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ko-KR" altLang="en-US" smtClean="0">
              <a:ea typeface="굴림" charset="-127"/>
            </a:endParaRPr>
          </a:p>
        </p:txBody>
      </p:sp>
      <p:sp>
        <p:nvSpPr>
          <p:cNvPr id="6148" name="슬라이드 번호 개체 틀 3"/>
          <p:cNvSpPr txBox="1">
            <a:spLocks noGrp="1"/>
          </p:cNvSpPr>
          <p:nvPr/>
        </p:nvSpPr>
        <p:spPr bwMode="auto">
          <a:xfrm>
            <a:off x="3852864" y="9429750"/>
            <a:ext cx="2944812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997" tIns="45999" rIns="91997" bIns="45999" anchor="b"/>
          <a:lstStyle/>
          <a:p>
            <a:pPr algn="r" defTabSz="919163"/>
            <a:fld id="{8AFEDCC6-548A-4006-B5C9-58C21904A755}" type="slidenum">
              <a:rPr lang="en-US" altLang="ko-KR" sz="1200" smtClean="0">
                <a:solidFill>
                  <a:prstClr val="black"/>
                </a:solidFill>
                <a:latin typeface="Times New Roman" pitchFamily="18" charset="0"/>
              </a:rPr>
              <a:pPr algn="r" defTabSz="919163"/>
              <a:t>1</a:t>
            </a:fld>
            <a:endParaRPr lang="en-US" altLang="ko-KR" sz="1200" smtClean="0">
              <a:solidFill>
                <a:prstClr val="black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82467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-5138" y="6472548"/>
            <a:ext cx="9916276" cy="40080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16200000" scaled="1"/>
            <a:tileRect/>
          </a:gradFill>
          <a:ln>
            <a:noFill/>
          </a:ln>
          <a:effectLst>
            <a:outerShdw blurRad="381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Picture 16" descr="EMB1502"/>
          <p:cNvPicPr>
            <a:picLocks noChangeAspect="1" noChangeArrowheads="1"/>
          </p:cNvPicPr>
          <p:nvPr userDrawn="1"/>
        </p:nvPicPr>
        <p:blipFill>
          <a:blip r:embed="rId3" cstate="print"/>
          <a:srcRect l="37294"/>
          <a:stretch>
            <a:fillRect/>
          </a:stretch>
        </p:blipFill>
        <p:spPr bwMode="auto">
          <a:xfrm>
            <a:off x="82471" y="6536557"/>
            <a:ext cx="1440433" cy="277963"/>
          </a:xfrm>
          <a:prstGeom prst="rect">
            <a:avLst/>
          </a:prstGeom>
          <a:solidFill>
            <a:schemeClr val="bg2">
              <a:lumMod val="90000"/>
            </a:schemeClr>
          </a:solidFill>
          <a:ln w="9525">
            <a:noFill/>
            <a:miter lim="800000"/>
            <a:headEnd/>
            <a:tailEnd/>
          </a:ln>
        </p:spPr>
      </p:pic>
      <p:sp>
        <p:nvSpPr>
          <p:cNvPr id="10" name="제목 10"/>
          <p:cNvSpPr>
            <a:spLocks noGrp="1"/>
          </p:cNvSpPr>
          <p:nvPr>
            <p:ph type="title"/>
          </p:nvPr>
        </p:nvSpPr>
        <p:spPr>
          <a:xfrm>
            <a:off x="1099074" y="91279"/>
            <a:ext cx="6143668" cy="576064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11" name="직사각형 10"/>
          <p:cNvSpPr/>
          <p:nvPr userDrawn="1"/>
        </p:nvSpPr>
        <p:spPr>
          <a:xfrm>
            <a:off x="329974" y="0"/>
            <a:ext cx="648072" cy="6926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600" b="1" dirty="0">
              <a:solidFill>
                <a:srgbClr val="091D58"/>
              </a:solidFill>
            </a:endParaRPr>
          </a:p>
        </p:txBody>
      </p:sp>
      <p:sp>
        <p:nvSpPr>
          <p:cNvPr id="12" name="텍스트 개체 틀 20"/>
          <p:cNvSpPr>
            <a:spLocks noGrp="1"/>
          </p:cNvSpPr>
          <p:nvPr>
            <p:ph type="body" sz="quarter" idx="11" hasCustomPrompt="1"/>
          </p:nvPr>
        </p:nvSpPr>
        <p:spPr>
          <a:xfrm>
            <a:off x="329527" y="22578"/>
            <a:ext cx="649288" cy="65145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600" b="1">
                <a:solidFill>
                  <a:srgbClr val="1D509F"/>
                </a:solidFill>
              </a:defRPr>
            </a:lvl1pPr>
            <a:lvl3pPr marL="914400" indent="0">
              <a:buNone/>
              <a:defRPr b="1"/>
            </a:lvl3pPr>
            <a:lvl4pPr>
              <a:defRPr b="1"/>
            </a:lvl4pPr>
            <a:lvl5pPr>
              <a:defRPr b="1"/>
            </a:lvl5pPr>
          </a:lstStyle>
          <a:p>
            <a:pPr lvl="0"/>
            <a:r>
              <a:rPr lang="en-US" altLang="ko-KR" dirty="0" smtClean="0"/>
              <a:t>1</a:t>
            </a:r>
            <a:endParaRPr lang="ko-KR" altLang="en-US" dirty="0" smtClean="0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3797300" y="6492899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pPr algn="ctr"/>
            <a:r>
              <a:rPr lang="en-US" altLang="ko-KR" dirty="0" smtClean="0"/>
              <a:t>- </a:t>
            </a:r>
            <a:fld id="{245EAB29-64F1-4E1B-A99D-3BF1ED9F7005}" type="slidenum">
              <a:rPr lang="ko-KR" altLang="en-US" smtClean="0"/>
              <a:pPr algn="ctr"/>
              <a:t>‹#›</a:t>
            </a:fld>
            <a:r>
              <a:rPr lang="ko-KR" altLang="en-US" dirty="0" smtClean="0"/>
              <a:t> </a:t>
            </a:r>
            <a:r>
              <a:rPr lang="en-US" altLang="ko-KR" dirty="0" smtClean="0"/>
              <a:t>-</a:t>
            </a:r>
            <a:endParaRPr lang="ko-KR" altLang="en-US" dirty="0"/>
          </a:p>
        </p:txBody>
      </p:sp>
      <p:pic>
        <p:nvPicPr>
          <p:cNvPr id="13" name="Picture 7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776472" y="6535632"/>
            <a:ext cx="1017425" cy="280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3797300" y="6492899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pPr algn="ctr"/>
            <a:r>
              <a:rPr lang="en-US" altLang="ko-KR" dirty="0" smtClean="0"/>
              <a:t>- </a:t>
            </a:r>
            <a:fld id="{245EAB29-64F1-4E1B-A99D-3BF1ED9F7005}" type="slidenum">
              <a:rPr lang="ko-KR" altLang="en-US" smtClean="0"/>
              <a:pPr algn="ctr"/>
              <a:t>‹#›</a:t>
            </a:fld>
            <a:r>
              <a:rPr lang="ko-KR" altLang="en-US" dirty="0" smtClean="0"/>
              <a:t> </a:t>
            </a:r>
            <a:r>
              <a:rPr lang="en-US" altLang="ko-KR" dirty="0" smtClean="0"/>
              <a:t>-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028439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705" r:id="rId2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13" Type="http://schemas.openxmlformats.org/officeDocument/2006/relationships/image" Target="../media/image20.png"/><Relationship Id="rId18" Type="http://schemas.openxmlformats.org/officeDocument/2006/relationships/image" Target="../media/image25.png"/><Relationship Id="rId26" Type="http://schemas.openxmlformats.org/officeDocument/2006/relationships/image" Target="../media/image33.png"/><Relationship Id="rId39" Type="http://schemas.openxmlformats.org/officeDocument/2006/relationships/image" Target="../media/image46.png"/><Relationship Id="rId3" Type="http://schemas.openxmlformats.org/officeDocument/2006/relationships/image" Target="../media/image12.png"/><Relationship Id="rId21" Type="http://schemas.openxmlformats.org/officeDocument/2006/relationships/image" Target="../media/image28.png"/><Relationship Id="rId34" Type="http://schemas.openxmlformats.org/officeDocument/2006/relationships/image" Target="../media/image41.png"/><Relationship Id="rId7" Type="http://schemas.openxmlformats.org/officeDocument/2006/relationships/oleObject" Target="../embeddings/oleObject2.bin"/><Relationship Id="rId12" Type="http://schemas.openxmlformats.org/officeDocument/2006/relationships/image" Target="../media/image19.png"/><Relationship Id="rId17" Type="http://schemas.openxmlformats.org/officeDocument/2006/relationships/image" Target="../media/image24.png"/><Relationship Id="rId25" Type="http://schemas.openxmlformats.org/officeDocument/2006/relationships/image" Target="../media/image32.png"/><Relationship Id="rId33" Type="http://schemas.openxmlformats.org/officeDocument/2006/relationships/image" Target="../media/image40.png"/><Relationship Id="rId38" Type="http://schemas.openxmlformats.org/officeDocument/2006/relationships/image" Target="../media/image45.png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23.png"/><Relationship Id="rId20" Type="http://schemas.openxmlformats.org/officeDocument/2006/relationships/image" Target="../media/image27.png"/><Relationship Id="rId29" Type="http://schemas.openxmlformats.org/officeDocument/2006/relationships/image" Target="../media/image36.png"/><Relationship Id="rId1" Type="http://schemas.openxmlformats.org/officeDocument/2006/relationships/vmlDrawing" Target="../drawings/vmlDrawing1.vml"/><Relationship Id="rId6" Type="http://schemas.openxmlformats.org/officeDocument/2006/relationships/image" Target="../media/image15.jpeg"/><Relationship Id="rId11" Type="http://schemas.openxmlformats.org/officeDocument/2006/relationships/image" Target="../media/image18.png"/><Relationship Id="rId24" Type="http://schemas.openxmlformats.org/officeDocument/2006/relationships/image" Target="../media/image31.png"/><Relationship Id="rId32" Type="http://schemas.openxmlformats.org/officeDocument/2006/relationships/image" Target="../media/image39.png"/><Relationship Id="rId37" Type="http://schemas.openxmlformats.org/officeDocument/2006/relationships/image" Target="../media/image44.png"/><Relationship Id="rId40" Type="http://schemas.openxmlformats.org/officeDocument/2006/relationships/image" Target="../media/image47.png"/><Relationship Id="rId5" Type="http://schemas.openxmlformats.org/officeDocument/2006/relationships/image" Target="../media/image13.wmf"/><Relationship Id="rId15" Type="http://schemas.openxmlformats.org/officeDocument/2006/relationships/image" Target="../media/image22.png"/><Relationship Id="rId23" Type="http://schemas.openxmlformats.org/officeDocument/2006/relationships/image" Target="../media/image30.png"/><Relationship Id="rId28" Type="http://schemas.openxmlformats.org/officeDocument/2006/relationships/image" Target="../media/image35.png"/><Relationship Id="rId36" Type="http://schemas.openxmlformats.org/officeDocument/2006/relationships/image" Target="../media/image43.png"/><Relationship Id="rId10" Type="http://schemas.openxmlformats.org/officeDocument/2006/relationships/image" Target="../media/image17.png"/><Relationship Id="rId19" Type="http://schemas.openxmlformats.org/officeDocument/2006/relationships/image" Target="../media/image26.png"/><Relationship Id="rId31" Type="http://schemas.openxmlformats.org/officeDocument/2006/relationships/image" Target="../media/image38.png"/><Relationship Id="rId4" Type="http://schemas.openxmlformats.org/officeDocument/2006/relationships/oleObject" Target="../embeddings/oleObject1.bin"/><Relationship Id="rId9" Type="http://schemas.openxmlformats.org/officeDocument/2006/relationships/image" Target="../media/image16.png"/><Relationship Id="rId14" Type="http://schemas.openxmlformats.org/officeDocument/2006/relationships/image" Target="../media/image21.png"/><Relationship Id="rId22" Type="http://schemas.openxmlformats.org/officeDocument/2006/relationships/image" Target="../media/image29.png"/><Relationship Id="rId27" Type="http://schemas.openxmlformats.org/officeDocument/2006/relationships/image" Target="../media/image34.png"/><Relationship Id="rId30" Type="http://schemas.openxmlformats.org/officeDocument/2006/relationships/image" Target="../media/image37.png"/><Relationship Id="rId35" Type="http://schemas.openxmlformats.org/officeDocument/2006/relationships/image" Target="../media/image4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oleObject" Target="../embeddings/oleObject3.bin"/><Relationship Id="rId7" Type="http://schemas.openxmlformats.org/officeDocument/2006/relationships/image" Target="../media/image50.png"/><Relationship Id="rId12" Type="http://schemas.openxmlformats.org/officeDocument/2006/relationships/image" Target="../media/image55.e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49.png"/><Relationship Id="rId11" Type="http://schemas.openxmlformats.org/officeDocument/2006/relationships/image" Target="../media/image54.emf"/><Relationship Id="rId5" Type="http://schemas.openxmlformats.org/officeDocument/2006/relationships/oleObject" Target="../embeddings/oleObject4.bin"/><Relationship Id="rId10" Type="http://schemas.openxmlformats.org/officeDocument/2006/relationships/image" Target="../media/image53.png"/><Relationship Id="rId4" Type="http://schemas.openxmlformats.org/officeDocument/2006/relationships/image" Target="../media/image48.wmf"/><Relationship Id="rId9" Type="http://schemas.openxmlformats.org/officeDocument/2006/relationships/image" Target="../media/image5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7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7" Type="http://schemas.openxmlformats.org/officeDocument/2006/relationships/image" Target="../media/image74.jpe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3" Type="http://schemas.openxmlformats.org/officeDocument/2006/relationships/image" Target="../media/image75.png"/><Relationship Id="rId7" Type="http://schemas.openxmlformats.org/officeDocument/2006/relationships/image" Target="../media/image79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3" Type="http://schemas.openxmlformats.org/officeDocument/2006/relationships/image" Target="../media/image82.png"/><Relationship Id="rId7" Type="http://schemas.openxmlformats.org/officeDocument/2006/relationships/image" Target="../media/image86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5.png"/><Relationship Id="rId5" Type="http://schemas.openxmlformats.org/officeDocument/2006/relationships/image" Target="../media/image84.png"/><Relationship Id="rId4" Type="http://schemas.openxmlformats.org/officeDocument/2006/relationships/image" Target="../media/image83.png"/><Relationship Id="rId9" Type="http://schemas.openxmlformats.org/officeDocument/2006/relationships/image" Target="../media/image7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11"/>
          <p:cNvSpPr>
            <a:spLocks noChangeArrowheads="1"/>
          </p:cNvSpPr>
          <p:nvPr/>
        </p:nvSpPr>
        <p:spPr bwMode="auto">
          <a:xfrm>
            <a:off x="5853118" y="3286129"/>
            <a:ext cx="334803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9" tIns="45715" rIns="91429" bIns="45715" anchor="b">
            <a:spAutoFit/>
          </a:bodyPr>
          <a:lstStyle/>
          <a:p>
            <a:pPr algn="r" fontAlgn="b"/>
            <a:r>
              <a:rPr lang="en-US" altLang="ko-KR" sz="2000" b="1" dirty="0" smtClean="0">
                <a:solidFill>
                  <a:srgbClr val="000000"/>
                </a:solidFill>
                <a:latin typeface="바탕체" pitchFamily="17" charset="-127"/>
                <a:ea typeface="바탕체" pitchFamily="17" charset="-127"/>
              </a:rPr>
              <a:t>ULN_WNS_AN_05</a:t>
            </a:r>
            <a:endParaRPr lang="ko-KR" altLang="en-US" sz="2000" b="1" dirty="0" smtClean="0">
              <a:solidFill>
                <a:srgbClr val="000000"/>
              </a:solidFill>
              <a:latin typeface="바탕체" pitchFamily="17" charset="-127"/>
              <a:ea typeface="바탕체" pitchFamily="17" charset="-127"/>
            </a:endParaRPr>
          </a:p>
        </p:txBody>
      </p:sp>
      <p:sp>
        <p:nvSpPr>
          <p:cNvPr id="2051" name="Rectangle 12"/>
          <p:cNvSpPr>
            <a:spLocks noChangeArrowheads="1"/>
          </p:cNvSpPr>
          <p:nvPr/>
        </p:nvSpPr>
        <p:spPr bwMode="auto">
          <a:xfrm>
            <a:off x="8408988" y="3660775"/>
            <a:ext cx="762000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9" tIns="45715" rIns="91429" bIns="45715" anchor="b"/>
          <a:lstStyle/>
          <a:p>
            <a:pPr algn="r" fontAlgn="b"/>
            <a:r>
              <a:rPr lang="en-US" altLang="ko-KR" sz="1200" b="1" smtClean="0">
                <a:solidFill>
                  <a:srgbClr val="000000"/>
                </a:solidFill>
                <a:latin typeface="바탕체" pitchFamily="17" charset="-127"/>
                <a:ea typeface="바탕체" pitchFamily="17" charset="-127"/>
              </a:rPr>
              <a:t>Ver 1.0</a:t>
            </a:r>
            <a:endParaRPr lang="en-US" altLang="ko-KR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052" name="Rectangle 303"/>
          <p:cNvSpPr>
            <a:spLocks noChangeArrowheads="1"/>
          </p:cNvSpPr>
          <p:nvPr/>
        </p:nvSpPr>
        <p:spPr bwMode="auto">
          <a:xfrm>
            <a:off x="5356225" y="1570038"/>
            <a:ext cx="3892550" cy="4000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91429" tIns="45715" rIns="91429" bIns="45715" anchor="ctr">
            <a:spAutoFit/>
          </a:bodyPr>
          <a:lstStyle/>
          <a:p>
            <a:pPr algn="r"/>
            <a:r>
              <a:rPr lang="ko-KR" altLang="en-US" sz="2000" b="1" smtClean="0">
                <a:solidFill>
                  <a:srgbClr val="000000"/>
                </a:solidFill>
                <a:latin typeface="바탕체" pitchFamily="17" charset="-127"/>
                <a:ea typeface="바탕체" pitchFamily="17" charset="-127"/>
              </a:rPr>
              <a:t>글로벌 웹기반 </a:t>
            </a:r>
            <a:r>
              <a:rPr lang="en-US" altLang="ko-KR" sz="2000" b="1" smtClean="0">
                <a:solidFill>
                  <a:srgbClr val="000000"/>
                </a:solidFill>
                <a:latin typeface="바탕체" pitchFamily="17" charset="-127"/>
                <a:ea typeface="바탕체" pitchFamily="17" charset="-127"/>
              </a:rPr>
              <a:t>WMS </a:t>
            </a:r>
            <a:r>
              <a:rPr lang="ko-KR" altLang="en-US" sz="2000" b="1" smtClean="0">
                <a:solidFill>
                  <a:srgbClr val="000000"/>
                </a:solidFill>
                <a:latin typeface="바탕체" pitchFamily="17" charset="-127"/>
                <a:ea typeface="바탕체" pitchFamily="17" charset="-127"/>
              </a:rPr>
              <a:t>시스템 개발</a:t>
            </a:r>
          </a:p>
        </p:txBody>
      </p:sp>
      <p:graphicFrame>
        <p:nvGraphicFramePr>
          <p:cNvPr id="44048" name="Group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1515629"/>
              </p:ext>
            </p:extLst>
          </p:nvPr>
        </p:nvGraphicFramePr>
        <p:xfrm>
          <a:off x="704855" y="1960568"/>
          <a:ext cx="8569325" cy="1108075"/>
        </p:xfrm>
        <a:graphic>
          <a:graphicData uri="http://schemas.openxmlformats.org/drawingml/2006/table">
            <a:tbl>
              <a:tblPr/>
              <a:tblGrid>
                <a:gridCol w="8569325"/>
              </a:tblGrid>
              <a:tr h="1108075"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1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바탕체" pitchFamily="17" charset="-127"/>
                          <a:ea typeface="바탕체" pitchFamily="17" charset="-127"/>
                        </a:rPr>
                        <a:t>프레임워크정의서</a:t>
                      </a:r>
                      <a:endParaRPr kumimoji="1" lang="en-US" altLang="ko-KR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ea typeface="굴림" pitchFamily="50" charset="-127"/>
                      </a:endParaRPr>
                    </a:p>
                  </a:txBody>
                  <a:tcPr marL="91429" marR="91429" marT="45715" marB="45715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056" name="Rectangle 15"/>
          <p:cNvSpPr>
            <a:spLocks noChangeArrowheads="1"/>
          </p:cNvSpPr>
          <p:nvPr/>
        </p:nvSpPr>
        <p:spPr bwMode="auto">
          <a:xfrm>
            <a:off x="5600700" y="4157667"/>
            <a:ext cx="3748088" cy="676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9" tIns="45715" rIns="91429" bIns="45715"/>
          <a:lstStyle/>
          <a:p>
            <a:pPr fontAlgn="t"/>
            <a:r>
              <a:rPr lang="ko-KR" altLang="en-US" b="1" dirty="0" smtClean="0">
                <a:solidFill>
                  <a:srgbClr val="000000"/>
                </a:solidFill>
                <a:latin typeface="바탕" pitchFamily="18" charset="-127"/>
                <a:ea typeface="바탕" pitchFamily="18" charset="-127"/>
              </a:rPr>
              <a:t>단      계 </a:t>
            </a:r>
            <a:r>
              <a:rPr lang="en-US" altLang="ko-KR" b="1" dirty="0" smtClean="0">
                <a:solidFill>
                  <a:srgbClr val="000000"/>
                </a:solidFill>
                <a:latin typeface="바탕" pitchFamily="18" charset="-127"/>
                <a:ea typeface="바탕" pitchFamily="18" charset="-127"/>
              </a:rPr>
              <a:t>: </a:t>
            </a:r>
            <a:r>
              <a:rPr lang="ko-KR" altLang="en-US" b="1" dirty="0" smtClean="0">
                <a:solidFill>
                  <a:srgbClr val="000000"/>
                </a:solidFill>
                <a:latin typeface="바탕" pitchFamily="18" charset="-127"/>
                <a:ea typeface="바탕" pitchFamily="18" charset="-127"/>
              </a:rPr>
              <a:t>분</a:t>
            </a:r>
            <a:r>
              <a:rPr lang="ko-KR" altLang="en-US" b="1" dirty="0">
                <a:solidFill>
                  <a:srgbClr val="000000"/>
                </a:solidFill>
                <a:latin typeface="바탕" pitchFamily="18" charset="-127"/>
                <a:ea typeface="바탕" pitchFamily="18" charset="-127"/>
              </a:rPr>
              <a:t>석</a:t>
            </a:r>
            <a:endParaRPr lang="ko-KR" altLang="en-US" b="1" dirty="0" smtClean="0">
              <a:solidFill>
                <a:srgbClr val="000000"/>
              </a:solidFill>
              <a:latin typeface="바탕" pitchFamily="18" charset="-127"/>
              <a:ea typeface="바탕" pitchFamily="18" charset="-127"/>
            </a:endParaRPr>
          </a:p>
          <a:p>
            <a:pPr fontAlgn="t"/>
            <a:r>
              <a:rPr lang="ko-KR" altLang="en-US" b="1" dirty="0" smtClean="0">
                <a:solidFill>
                  <a:srgbClr val="000000"/>
                </a:solidFill>
                <a:latin typeface="바탕" pitchFamily="18" charset="-127"/>
                <a:ea typeface="바탕" pitchFamily="18" charset="-127"/>
              </a:rPr>
              <a:t>관리부서 </a:t>
            </a:r>
            <a:r>
              <a:rPr lang="en-US" altLang="ko-KR" b="1" dirty="0" smtClean="0">
                <a:solidFill>
                  <a:srgbClr val="000000"/>
                </a:solidFill>
                <a:latin typeface="바탕" pitchFamily="18" charset="-127"/>
                <a:ea typeface="바탕" pitchFamily="18" charset="-127"/>
              </a:rPr>
              <a:t>: </a:t>
            </a:r>
            <a:r>
              <a:rPr lang="ko-KR" altLang="en-US" b="1" dirty="0" err="1" smtClean="0">
                <a:solidFill>
                  <a:srgbClr val="000000"/>
                </a:solidFill>
                <a:latin typeface="바탕" pitchFamily="18" charset="-127"/>
                <a:ea typeface="바탕" pitchFamily="18" charset="-127"/>
              </a:rPr>
              <a:t>유로지스넷</a:t>
            </a:r>
            <a:r>
              <a:rPr lang="ko-KR" altLang="en-US" b="1" dirty="0" smtClean="0">
                <a:solidFill>
                  <a:srgbClr val="000000"/>
                </a:solidFill>
                <a:latin typeface="바탕" pitchFamily="18" charset="-127"/>
                <a:ea typeface="바탕" pitchFamily="18" charset="-127"/>
              </a:rPr>
              <a:t> </a:t>
            </a:r>
            <a:r>
              <a:rPr lang="en-US" altLang="ko-KR" b="1" dirty="0" smtClean="0">
                <a:solidFill>
                  <a:srgbClr val="000000"/>
                </a:solidFill>
                <a:latin typeface="바탕" pitchFamily="18" charset="-127"/>
                <a:ea typeface="바탕" pitchFamily="18" charset="-127"/>
              </a:rPr>
              <a:t>SM</a:t>
            </a:r>
            <a:r>
              <a:rPr lang="ko-KR" altLang="en-US" b="1" dirty="0" smtClean="0">
                <a:solidFill>
                  <a:srgbClr val="000000"/>
                </a:solidFill>
                <a:latin typeface="바탕" pitchFamily="18" charset="-127"/>
                <a:ea typeface="바탕" pitchFamily="18" charset="-127"/>
              </a:rPr>
              <a:t>팀</a:t>
            </a:r>
          </a:p>
        </p:txBody>
      </p:sp>
      <p:pic>
        <p:nvPicPr>
          <p:cNvPr id="2057" name="Picture 16" descr="http://uln.logisall.com/img/logo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15930" y="549275"/>
            <a:ext cx="1770063" cy="29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8" name="Picture 7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418393" y="5907088"/>
            <a:ext cx="1752600" cy="48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512168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392"/>
          <p:cNvSpPr>
            <a:spLocks noChangeArrowheads="1"/>
          </p:cNvSpPr>
          <p:nvPr/>
        </p:nvSpPr>
        <p:spPr bwMode="auto">
          <a:xfrm>
            <a:off x="4506913" y="635000"/>
            <a:ext cx="1296987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91429" tIns="45715" rIns="91429" bIns="45715" anchor="ctr">
            <a:spAutoFit/>
          </a:bodyPr>
          <a:lstStyle/>
          <a:p>
            <a:pPr algn="ctr"/>
            <a:r>
              <a:rPr lang="ko-KR" altLang="en-US" sz="1600" u="sng"/>
              <a:t>개 정 이 력</a:t>
            </a:r>
            <a:endParaRPr lang="ko-KR" altLang="en-US" sz="1100" u="sng"/>
          </a:p>
        </p:txBody>
      </p:sp>
      <p:graphicFrame>
        <p:nvGraphicFramePr>
          <p:cNvPr id="45121" name="Group 6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127169"/>
              </p:ext>
            </p:extLst>
          </p:nvPr>
        </p:nvGraphicFramePr>
        <p:xfrm>
          <a:off x="920750" y="1125538"/>
          <a:ext cx="8066088" cy="2450570"/>
        </p:xfrm>
        <a:graphic>
          <a:graphicData uri="http://schemas.openxmlformats.org/drawingml/2006/table">
            <a:tbl>
              <a:tblPr/>
              <a:tblGrid>
                <a:gridCol w="558800"/>
                <a:gridCol w="882650"/>
                <a:gridCol w="5730875"/>
                <a:gridCol w="893763"/>
              </a:tblGrid>
              <a:tr h="258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버전</a:t>
                      </a:r>
                    </a:p>
                  </a:txBody>
                  <a:tcPr marL="91429" marR="91429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작성일</a:t>
                      </a:r>
                    </a:p>
                  </a:txBody>
                  <a:tcPr marL="91429" marR="91429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변경내용</a:t>
                      </a:r>
                    </a:p>
                  </a:txBody>
                  <a:tcPr marL="91429" marR="91429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작성자</a:t>
                      </a:r>
                    </a:p>
                  </a:txBody>
                  <a:tcPr marL="91429" marR="91429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</a:tr>
              <a:tr h="25823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1.0</a:t>
                      </a:r>
                      <a:endParaRPr kumimoji="1" lang="ko-KR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29" marR="91429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2015-05-31</a:t>
                      </a:r>
                      <a:endParaRPr kumimoji="1" lang="ko-KR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29" marR="91429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최초 작성</a:t>
                      </a:r>
                    </a:p>
                  </a:txBody>
                  <a:tcPr marL="91429" marR="91429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김원태</a:t>
                      </a:r>
                    </a:p>
                  </a:txBody>
                  <a:tcPr marL="91429" marR="91429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29" marR="91429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29" marR="91429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29" marR="91429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29" marR="91429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29" marR="91429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29" marR="91429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29" marR="91429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29" marR="91429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29" marR="91429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29" marR="91429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29" marR="91429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29" marR="91429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29" marR="91429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29" marR="91429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29" marR="91429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29" marR="91429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29" marR="91429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29" marR="91429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29" marR="91429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29" marR="91429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29" marR="91429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29" marR="91429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29" marR="91429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29" marR="91429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29" marR="91429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29" marR="91429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29" marR="91429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29" marR="91429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29" marR="91429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29" marR="91429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29" marR="91429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29" marR="91429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" name="직사각형 3"/>
          <p:cNvSpPr/>
          <p:nvPr/>
        </p:nvSpPr>
        <p:spPr>
          <a:xfrm>
            <a:off x="-5138" y="6472548"/>
            <a:ext cx="9916276" cy="40080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16200000" scaled="1"/>
            <a:tileRect/>
          </a:gradFill>
          <a:ln>
            <a:noFill/>
          </a:ln>
          <a:effectLst>
            <a:outerShdw blurRad="381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Picture 16" descr="EMB1502"/>
          <p:cNvPicPr>
            <a:picLocks noChangeAspect="1" noChangeArrowheads="1"/>
          </p:cNvPicPr>
          <p:nvPr/>
        </p:nvPicPr>
        <p:blipFill>
          <a:blip r:embed="rId2" cstate="print"/>
          <a:srcRect l="37294"/>
          <a:stretch>
            <a:fillRect/>
          </a:stretch>
        </p:blipFill>
        <p:spPr bwMode="auto">
          <a:xfrm>
            <a:off x="82471" y="6536557"/>
            <a:ext cx="1440433" cy="277963"/>
          </a:xfrm>
          <a:prstGeom prst="rect">
            <a:avLst/>
          </a:prstGeom>
          <a:solidFill>
            <a:schemeClr val="bg2">
              <a:lumMod val="90000"/>
            </a:schemeClr>
          </a:solidFill>
          <a:ln w="9525">
            <a:noFill/>
            <a:miter lim="800000"/>
            <a:headEnd/>
            <a:tailEnd/>
          </a:ln>
        </p:spPr>
      </p:pic>
      <p:sp>
        <p:nvSpPr>
          <p:cNvPr id="6" name="슬라이드 번호 개체 틀 5"/>
          <p:cNvSpPr txBox="1">
            <a:spLocks/>
          </p:cNvSpPr>
          <p:nvPr/>
        </p:nvSpPr>
        <p:spPr>
          <a:xfrm>
            <a:off x="3797300" y="6492899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b="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dirty="0" smtClean="0"/>
              <a:t>- 2</a:t>
            </a:r>
            <a:r>
              <a:rPr lang="ko-KR" altLang="en-US" dirty="0" smtClean="0"/>
              <a:t> </a:t>
            </a:r>
            <a:r>
              <a:rPr lang="en-US" altLang="ko-KR" dirty="0" smtClean="0"/>
              <a:t>-</a:t>
            </a:r>
            <a:endParaRPr lang="ko-KR" altLang="en-US" dirty="0"/>
          </a:p>
        </p:txBody>
      </p:sp>
      <p:pic>
        <p:nvPicPr>
          <p:cNvPr id="7" name="Picture 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776472" y="6535632"/>
            <a:ext cx="1017425" cy="280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9304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Framework - </a:t>
            </a:r>
            <a:r>
              <a:rPr lang="ko-KR" altLang="en-US" dirty="0" smtClean="0"/>
              <a:t>개념</a:t>
            </a:r>
            <a:endParaRPr lang="ko-KR" altLang="en-US" dirty="0"/>
          </a:p>
        </p:txBody>
      </p:sp>
      <p:sp>
        <p:nvSpPr>
          <p:cNvPr id="225" name="텍스트 개체 틀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 smtClean="0"/>
              <a:t>1</a:t>
            </a:r>
            <a:endParaRPr lang="ko-KR" altLang="en-US" dirty="0"/>
          </a:p>
        </p:txBody>
      </p:sp>
      <p:sp>
        <p:nvSpPr>
          <p:cNvPr id="118" name="AutoShape 278"/>
          <p:cNvSpPr>
            <a:spLocks noChangeArrowheads="1"/>
          </p:cNvSpPr>
          <p:nvPr/>
        </p:nvSpPr>
        <p:spPr bwMode="auto">
          <a:xfrm>
            <a:off x="452313" y="3824560"/>
            <a:ext cx="4446588" cy="2268538"/>
          </a:xfrm>
          <a:prstGeom prst="roundRect">
            <a:avLst>
              <a:gd name="adj" fmla="val 3861"/>
            </a:avLst>
          </a:prstGeom>
          <a:solidFill>
            <a:srgbClr val="EAEAEA"/>
          </a:solidFill>
          <a:ln w="9525">
            <a:noFill/>
            <a:round/>
            <a:headEnd/>
            <a:tailEnd/>
          </a:ln>
          <a:effectLst>
            <a:outerShdw dist="12700" dir="5400000" algn="ctr" rotWithShape="0">
              <a:srgbClr val="99CCFF"/>
            </a:outerShdw>
          </a:effectLst>
        </p:spPr>
        <p:txBody>
          <a:bodyPr wrap="none" anchor="ctr"/>
          <a:lstStyle/>
          <a:p>
            <a:pPr defTabSz="914400" eaLnBrk="1" fontAlgn="auto" hangingPunct="1">
              <a:lnSpc>
                <a:spcPct val="110000"/>
              </a:lnSpc>
              <a:spcBef>
                <a:spcPts val="0"/>
              </a:spcBef>
              <a:spcAft>
                <a:spcPct val="20000"/>
              </a:spcAft>
              <a:buClrTx/>
              <a:buSzTx/>
              <a:buFontTx/>
              <a:buChar char="•"/>
              <a:defRPr/>
            </a:pPr>
            <a:endParaRPr lang="ko-KR" altLang="ko-KR" sz="900" kern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3" name="직사각형 122"/>
          <p:cNvSpPr/>
          <p:nvPr/>
        </p:nvSpPr>
        <p:spPr bwMode="auto">
          <a:xfrm>
            <a:off x="1584201" y="4265885"/>
            <a:ext cx="2109787" cy="1711325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anchor="ctr"/>
          <a:lstStyle/>
          <a:p>
            <a:pPr algn="ctr" defTabSz="91440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ko-KR" altLang="en-US" sz="1800" kern="0">
                <a:solidFill>
                  <a:sysClr val="window" lastClr="FFFFFF"/>
                </a:solidFill>
                <a:latin typeface="맑은 고딕" pitchFamily="50" charset="-127"/>
                <a:ea typeface="맑은 고딕" pitchFamily="50" charset="-127"/>
              </a:rPr>
              <a:t>리</a:t>
            </a:r>
          </a:p>
        </p:txBody>
      </p:sp>
      <p:sp>
        <p:nvSpPr>
          <p:cNvPr id="129" name="직사각형 128"/>
          <p:cNvSpPr/>
          <p:nvPr/>
        </p:nvSpPr>
        <p:spPr bwMode="auto">
          <a:xfrm>
            <a:off x="1828676" y="5535885"/>
            <a:ext cx="1652587" cy="377825"/>
          </a:xfrm>
          <a:prstGeom prst="rect">
            <a:avLst/>
          </a:prstGeom>
          <a:solidFill>
            <a:srgbClr val="1D8FD5"/>
          </a:solidFill>
          <a:ln w="9525">
            <a:solidFill>
              <a:sysClr val="window" lastClr="FFFFFF"/>
            </a:solidFill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ctr" defTabSz="91440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ko-KR" sz="1200" kern="0" dirty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Framework</a:t>
            </a:r>
            <a:endParaRPr lang="ko-KR" altLang="en-US" sz="1200" kern="0" dirty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1" name="직사각형 130"/>
          <p:cNvSpPr/>
          <p:nvPr/>
        </p:nvSpPr>
        <p:spPr bwMode="auto">
          <a:xfrm>
            <a:off x="1828676" y="5073923"/>
            <a:ext cx="1652587" cy="377825"/>
          </a:xfrm>
          <a:prstGeom prst="rect">
            <a:avLst/>
          </a:prstGeom>
          <a:solidFill>
            <a:srgbClr val="55B0DD"/>
          </a:solidFill>
          <a:ln w="9525" algn="ctr">
            <a:solidFill>
              <a:sysClr val="window" lastClr="FFFFFF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defTabSz="91440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ko-KR" sz="1200" kern="0" dirty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Common Component</a:t>
            </a:r>
            <a:endParaRPr lang="ko-KR" altLang="en-US" sz="1200" kern="0" dirty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3" name="그룹 64"/>
          <p:cNvGrpSpPr>
            <a:grpSpLocks/>
          </p:cNvGrpSpPr>
          <p:nvPr/>
        </p:nvGrpSpPr>
        <p:grpSpPr bwMode="auto">
          <a:xfrm>
            <a:off x="1828121" y="4401659"/>
            <a:ext cx="1628675" cy="567035"/>
            <a:chOff x="1268760" y="4551096"/>
            <a:chExt cx="2460962" cy="905960"/>
          </a:xfrm>
        </p:grpSpPr>
        <p:sp>
          <p:nvSpPr>
            <p:cNvPr id="210" name="직사각형 209"/>
            <p:cNvSpPr/>
            <p:nvPr/>
          </p:nvSpPr>
          <p:spPr>
            <a:xfrm>
              <a:off x="1269599" y="5168635"/>
              <a:ext cx="2461113" cy="289146"/>
            </a:xfrm>
            <a:prstGeom prst="rect">
              <a:avLst/>
            </a:prstGeom>
            <a:solidFill>
              <a:srgbClr val="93CCE9"/>
            </a:solidFill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defTabSz="914400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kern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11" name="Rectangle 5"/>
            <p:cNvSpPr>
              <a:spLocks noChangeArrowheads="1"/>
            </p:cNvSpPr>
            <p:nvPr/>
          </p:nvSpPr>
          <p:spPr bwMode="auto">
            <a:xfrm>
              <a:off x="1269599" y="4917533"/>
              <a:ext cx="287849" cy="459084"/>
            </a:xfrm>
            <a:prstGeom prst="rect">
              <a:avLst/>
            </a:prstGeom>
            <a:solidFill>
              <a:srgbClr val="93CCE9"/>
            </a:solidFill>
            <a:ln w="9525" algn="ctr">
              <a:noFill/>
              <a:miter lim="800000"/>
              <a:headEnd/>
              <a:tailEnd/>
            </a:ln>
            <a:effectLst/>
            <a:extLst/>
          </p:spPr>
          <p:txBody>
            <a:bodyPr wrap="none" anchor="ctr"/>
            <a:lstStyle/>
            <a:p>
              <a:pPr defTabSz="914400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kern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12" name="Rectangle 5"/>
            <p:cNvSpPr>
              <a:spLocks noChangeArrowheads="1"/>
            </p:cNvSpPr>
            <p:nvPr/>
          </p:nvSpPr>
          <p:spPr bwMode="auto">
            <a:xfrm>
              <a:off x="1631808" y="4666433"/>
              <a:ext cx="287849" cy="459082"/>
            </a:xfrm>
            <a:prstGeom prst="rect">
              <a:avLst/>
            </a:prstGeom>
            <a:solidFill>
              <a:srgbClr val="93CCE9"/>
            </a:solidFill>
            <a:ln w="9525" algn="ctr">
              <a:noFill/>
              <a:miter lim="800000"/>
              <a:headEnd/>
              <a:tailEnd/>
            </a:ln>
            <a:effectLst/>
            <a:extLst/>
          </p:spPr>
          <p:txBody>
            <a:bodyPr wrap="none" anchor="ctr"/>
            <a:lstStyle/>
            <a:p>
              <a:pPr defTabSz="914400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kern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13" name="Rectangle 5"/>
            <p:cNvSpPr>
              <a:spLocks noChangeArrowheads="1"/>
            </p:cNvSpPr>
            <p:nvPr/>
          </p:nvSpPr>
          <p:spPr bwMode="auto">
            <a:xfrm>
              <a:off x="1994020" y="4917533"/>
              <a:ext cx="287849" cy="459084"/>
            </a:xfrm>
            <a:prstGeom prst="rect">
              <a:avLst/>
            </a:prstGeom>
            <a:solidFill>
              <a:srgbClr val="93CCE9"/>
            </a:solidFill>
            <a:ln w="9525" algn="ctr">
              <a:noFill/>
              <a:miter lim="800000"/>
              <a:headEnd/>
              <a:tailEnd/>
            </a:ln>
            <a:effectLst/>
            <a:extLst/>
          </p:spPr>
          <p:txBody>
            <a:bodyPr wrap="none" anchor="ctr"/>
            <a:lstStyle/>
            <a:p>
              <a:pPr defTabSz="914400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kern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14" name="Rectangle 5"/>
            <p:cNvSpPr>
              <a:spLocks noChangeArrowheads="1"/>
            </p:cNvSpPr>
            <p:nvPr/>
          </p:nvSpPr>
          <p:spPr bwMode="auto">
            <a:xfrm>
              <a:off x="2356230" y="4666433"/>
              <a:ext cx="287849" cy="459082"/>
            </a:xfrm>
            <a:prstGeom prst="rect">
              <a:avLst/>
            </a:prstGeom>
            <a:solidFill>
              <a:srgbClr val="93CCE9"/>
            </a:solidFill>
            <a:ln w="9525" algn="ctr">
              <a:noFill/>
              <a:miter lim="800000"/>
              <a:headEnd/>
              <a:tailEnd/>
            </a:ln>
            <a:effectLst/>
            <a:extLst/>
          </p:spPr>
          <p:txBody>
            <a:bodyPr wrap="none" anchor="ctr"/>
            <a:lstStyle/>
            <a:p>
              <a:pPr defTabSz="914400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kern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15" name="Rectangle 5"/>
            <p:cNvSpPr>
              <a:spLocks noChangeArrowheads="1"/>
            </p:cNvSpPr>
            <p:nvPr/>
          </p:nvSpPr>
          <p:spPr bwMode="auto">
            <a:xfrm>
              <a:off x="2718441" y="4917533"/>
              <a:ext cx="287849" cy="459084"/>
            </a:xfrm>
            <a:prstGeom prst="rect">
              <a:avLst/>
            </a:prstGeom>
            <a:solidFill>
              <a:srgbClr val="93CCE9"/>
            </a:solidFill>
            <a:ln w="9525" algn="ctr">
              <a:noFill/>
              <a:miter lim="800000"/>
              <a:headEnd/>
              <a:tailEnd/>
            </a:ln>
            <a:effectLst/>
            <a:extLst/>
          </p:spPr>
          <p:txBody>
            <a:bodyPr wrap="none" anchor="ctr"/>
            <a:lstStyle/>
            <a:p>
              <a:pPr defTabSz="914400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kern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16" name="Rectangle 5"/>
            <p:cNvSpPr>
              <a:spLocks noChangeArrowheads="1"/>
            </p:cNvSpPr>
            <p:nvPr/>
          </p:nvSpPr>
          <p:spPr bwMode="auto">
            <a:xfrm>
              <a:off x="3080651" y="4666433"/>
              <a:ext cx="287849" cy="459082"/>
            </a:xfrm>
            <a:prstGeom prst="rect">
              <a:avLst/>
            </a:prstGeom>
            <a:solidFill>
              <a:srgbClr val="93CCE9"/>
            </a:solidFill>
            <a:ln w="9525" algn="ctr">
              <a:noFill/>
              <a:miter lim="800000"/>
              <a:headEnd/>
              <a:tailEnd/>
            </a:ln>
            <a:effectLst/>
            <a:extLst/>
          </p:spPr>
          <p:txBody>
            <a:bodyPr wrap="none" anchor="ctr"/>
            <a:lstStyle/>
            <a:p>
              <a:pPr defTabSz="914400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kern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17" name="Rectangle 5"/>
            <p:cNvSpPr>
              <a:spLocks noChangeArrowheads="1"/>
            </p:cNvSpPr>
            <p:nvPr/>
          </p:nvSpPr>
          <p:spPr bwMode="auto">
            <a:xfrm>
              <a:off x="3442862" y="4917533"/>
              <a:ext cx="287849" cy="459084"/>
            </a:xfrm>
            <a:prstGeom prst="rect">
              <a:avLst/>
            </a:prstGeom>
            <a:solidFill>
              <a:srgbClr val="93CCE9"/>
            </a:solidFill>
            <a:ln w="9525" algn="ctr">
              <a:noFill/>
              <a:miter lim="800000"/>
              <a:headEnd/>
              <a:tailEnd/>
            </a:ln>
            <a:effectLst/>
            <a:extLst/>
          </p:spPr>
          <p:txBody>
            <a:bodyPr wrap="none" anchor="ctr"/>
            <a:lstStyle/>
            <a:p>
              <a:pPr defTabSz="914400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kern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18" name="직사각형 217"/>
            <p:cNvSpPr/>
            <p:nvPr/>
          </p:nvSpPr>
          <p:spPr>
            <a:xfrm>
              <a:off x="1435111" y="4564979"/>
              <a:ext cx="652459" cy="286609"/>
            </a:xfrm>
            <a:prstGeom prst="rect">
              <a:avLst/>
            </a:prstGeom>
            <a:solidFill>
              <a:srgbClr val="93CCE9"/>
            </a:solidFill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defTabSz="914400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kern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19" name="직사각형 218"/>
            <p:cNvSpPr/>
            <p:nvPr/>
          </p:nvSpPr>
          <p:spPr>
            <a:xfrm>
              <a:off x="2166730" y="4552296"/>
              <a:ext cx="650059" cy="289146"/>
            </a:xfrm>
            <a:prstGeom prst="rect">
              <a:avLst/>
            </a:prstGeom>
            <a:solidFill>
              <a:srgbClr val="93CCE9"/>
            </a:solidFill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defTabSz="914400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kern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20" name="직사각형 219"/>
            <p:cNvSpPr/>
            <p:nvPr/>
          </p:nvSpPr>
          <p:spPr>
            <a:xfrm>
              <a:off x="2886353" y="4552296"/>
              <a:ext cx="652459" cy="289146"/>
            </a:xfrm>
            <a:prstGeom prst="rect">
              <a:avLst/>
            </a:prstGeom>
            <a:solidFill>
              <a:srgbClr val="93CCE9"/>
            </a:solidFill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defTabSz="914400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kern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159" name="직사각형 158"/>
          <p:cNvSpPr/>
          <p:nvPr/>
        </p:nvSpPr>
        <p:spPr bwMode="auto">
          <a:xfrm>
            <a:off x="2190626" y="4753248"/>
            <a:ext cx="828675" cy="2873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40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ko-KR" sz="1200" kern="0" dirty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Template</a:t>
            </a:r>
            <a:endParaRPr lang="ko-KR" altLang="en-US" sz="1200" kern="0" dirty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0" name="직사각형 159"/>
          <p:cNvSpPr/>
          <p:nvPr/>
        </p:nvSpPr>
        <p:spPr bwMode="auto">
          <a:xfrm>
            <a:off x="1955676" y="4365898"/>
            <a:ext cx="417512" cy="2873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40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ko-KR" sz="1200" kern="0" dirty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Biz.</a:t>
            </a:r>
            <a:endParaRPr lang="ko-KR" altLang="en-US" sz="1200" kern="0" dirty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1" name="직사각형 160"/>
          <p:cNvSpPr/>
          <p:nvPr/>
        </p:nvSpPr>
        <p:spPr bwMode="auto">
          <a:xfrm>
            <a:off x="2443038" y="4364310"/>
            <a:ext cx="417513" cy="28733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40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ko-KR" sz="1200" kern="0" dirty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Biz.</a:t>
            </a:r>
            <a:endParaRPr lang="ko-KR" altLang="en-US" sz="1200" kern="0" dirty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2" name="직사각형 161"/>
          <p:cNvSpPr/>
          <p:nvPr/>
        </p:nvSpPr>
        <p:spPr bwMode="auto">
          <a:xfrm>
            <a:off x="2911351" y="4375423"/>
            <a:ext cx="417512" cy="2873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40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ko-KR" sz="1200" kern="0" dirty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Biz.</a:t>
            </a:r>
            <a:endParaRPr lang="ko-KR" altLang="en-US" sz="1200" kern="0" dirty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3" name="한쪽 모서리는 잘리고 다른 쪽 모서리는 둥근 사각형 162"/>
          <p:cNvSpPr/>
          <p:nvPr/>
        </p:nvSpPr>
        <p:spPr bwMode="auto">
          <a:xfrm>
            <a:off x="1566738" y="4027760"/>
            <a:ext cx="2143125" cy="250825"/>
          </a:xfrm>
          <a:prstGeom prst="snipRoundRect">
            <a:avLst/>
          </a:prstGeom>
          <a:solidFill>
            <a:srgbClr val="7CA3D6"/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0" anchor="ctr"/>
          <a:lstStyle/>
          <a:p>
            <a:pPr algn="ctr" defTabSz="914400" eaLnBrk="1" fontAlgn="auto" hangingPunct="1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ko-KR" altLang="en-US" sz="1600" b="1" kern="0" dirty="0">
                <a:solidFill>
                  <a:sysClr val="window" lastClr="FFFFFF"/>
                </a:solidFill>
                <a:latin typeface="맑은 고딕" pitchFamily="50" charset="-127"/>
                <a:ea typeface="맑은 고딕" pitchFamily="50" charset="-127"/>
              </a:rPr>
              <a:t>표준프레임워크</a:t>
            </a:r>
          </a:p>
        </p:txBody>
      </p:sp>
      <p:sp>
        <p:nvSpPr>
          <p:cNvPr id="164" name="타원형 설명선 163"/>
          <p:cNvSpPr/>
          <p:nvPr/>
        </p:nvSpPr>
        <p:spPr bwMode="auto">
          <a:xfrm>
            <a:off x="3824163" y="4221435"/>
            <a:ext cx="911225" cy="819150"/>
          </a:xfrm>
          <a:prstGeom prst="wedgeEllipseCallout">
            <a:avLst>
              <a:gd name="adj1" fmla="val -88773"/>
              <a:gd name="adj2" fmla="val 24933"/>
            </a:avLst>
          </a:prstGeom>
          <a:solidFill>
            <a:srgbClr val="1B9DBB"/>
          </a:solidFill>
          <a:ln w="9525" cap="flat" cmpd="sng" algn="ctr">
            <a:solidFill>
              <a:srgbClr val="EEECE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anchor="ctr"/>
          <a:lstStyle/>
          <a:p>
            <a:pPr algn="ctr" defTabSz="914400" eaLnBrk="1" hangingPunct="1">
              <a:lnSpc>
                <a:spcPct val="100000"/>
              </a:lnSpc>
              <a:buClrTx/>
              <a:buSzTx/>
              <a:buFontTx/>
              <a:buNone/>
              <a:defRPr/>
            </a:pPr>
            <a:endParaRPr kumimoji="1" lang="ko-KR" altLang="en-US" sz="1100" kern="0" dirty="0">
              <a:solidFill>
                <a:sysClr val="window" lastClr="FFFFFF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5" name="타원형 설명선 164"/>
          <p:cNvSpPr/>
          <p:nvPr/>
        </p:nvSpPr>
        <p:spPr bwMode="auto">
          <a:xfrm>
            <a:off x="3824163" y="5067573"/>
            <a:ext cx="911225" cy="817562"/>
          </a:xfrm>
          <a:prstGeom prst="wedgeEllipseCallout">
            <a:avLst>
              <a:gd name="adj1" fmla="val -88773"/>
              <a:gd name="adj2" fmla="val 24933"/>
            </a:avLst>
          </a:prstGeom>
          <a:solidFill>
            <a:srgbClr val="1B9DBB"/>
          </a:solidFill>
          <a:ln w="9525" cap="flat" cmpd="sng" algn="ctr">
            <a:solidFill>
              <a:srgbClr val="EEECE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anchor="ctr"/>
          <a:lstStyle/>
          <a:p>
            <a:pPr algn="ctr" defTabSz="914400" eaLnBrk="1" latinLnBrk="1" hangingPunct="1">
              <a:lnSpc>
                <a:spcPct val="100000"/>
              </a:lnSpc>
              <a:buClrTx/>
              <a:buSzTx/>
              <a:buFontTx/>
              <a:buNone/>
              <a:defRPr/>
            </a:pPr>
            <a:endParaRPr kumimoji="1" lang="ko-KR" altLang="en-US" sz="1050" kern="0" dirty="0">
              <a:solidFill>
                <a:sysClr val="window" lastClr="FFFFFF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6" name="타원형 설명선 165"/>
          <p:cNvSpPr/>
          <p:nvPr/>
        </p:nvSpPr>
        <p:spPr bwMode="auto">
          <a:xfrm flipH="1">
            <a:off x="574551" y="4250010"/>
            <a:ext cx="911225" cy="817563"/>
          </a:xfrm>
          <a:prstGeom prst="wedgeEllipseCallout">
            <a:avLst>
              <a:gd name="adj1" fmla="val -100111"/>
              <a:gd name="adj2" fmla="val -22298"/>
            </a:avLst>
          </a:prstGeom>
          <a:solidFill>
            <a:srgbClr val="1B9DBB"/>
          </a:solidFill>
          <a:ln w="9525" cap="flat" cmpd="sng" algn="ctr">
            <a:solidFill>
              <a:srgbClr val="EEECE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anchor="ctr"/>
          <a:lstStyle/>
          <a:p>
            <a:pPr algn="ctr" defTabSz="914400" eaLnBrk="1" hangingPunct="1">
              <a:lnSpc>
                <a:spcPct val="100000"/>
              </a:lnSpc>
              <a:buClrTx/>
              <a:buSzTx/>
              <a:buFontTx/>
              <a:buNone/>
              <a:defRPr/>
            </a:pPr>
            <a:endParaRPr kumimoji="1" lang="ko-KR" altLang="en-US" sz="1050" kern="0" dirty="0">
              <a:solidFill>
                <a:sysClr val="window" lastClr="FFFFFF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7" name="타원형 설명선 166"/>
          <p:cNvSpPr/>
          <p:nvPr/>
        </p:nvSpPr>
        <p:spPr bwMode="auto">
          <a:xfrm flipH="1">
            <a:off x="574551" y="5094560"/>
            <a:ext cx="911225" cy="819150"/>
          </a:xfrm>
          <a:prstGeom prst="wedgeEllipseCallout">
            <a:avLst>
              <a:gd name="adj1" fmla="val -94006"/>
              <a:gd name="adj2" fmla="val -25518"/>
            </a:avLst>
          </a:prstGeom>
          <a:solidFill>
            <a:srgbClr val="1B9DBB"/>
          </a:solidFill>
          <a:ln w="9525" cap="flat" cmpd="sng" algn="ctr">
            <a:solidFill>
              <a:srgbClr val="EEECE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anchor="ctr"/>
          <a:lstStyle/>
          <a:p>
            <a:pPr algn="ctr" defTabSz="914400" eaLnBrk="1" latinLnBrk="1" hangingPunct="1">
              <a:lnSpc>
                <a:spcPct val="100000"/>
              </a:lnSpc>
              <a:buClrTx/>
              <a:buSzTx/>
              <a:buFontTx/>
              <a:buNone/>
              <a:defRPr/>
            </a:pPr>
            <a:r>
              <a:rPr kumimoji="1" lang="ko-KR" altLang="en-US" sz="1050" kern="0" dirty="0">
                <a:solidFill>
                  <a:sysClr val="window" lastClr="FFFFFF"/>
                </a:solidFill>
                <a:latin typeface="맑은 고딕" pitchFamily="50" charset="-127"/>
                <a:ea typeface="맑은 고딕" pitchFamily="50" charset="-127"/>
              </a:rPr>
              <a:t>공통</a:t>
            </a:r>
            <a:endParaRPr kumimoji="1" lang="en-US" altLang="ko-KR" sz="1050" kern="0" dirty="0">
              <a:solidFill>
                <a:sysClr val="window" lastClr="FFFFFF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 defTabSz="914400" eaLnBrk="1" latinLnBrk="1" hangingPunct="1">
              <a:lnSpc>
                <a:spcPct val="100000"/>
              </a:lnSpc>
              <a:buClrTx/>
              <a:buSzTx/>
              <a:buFontTx/>
              <a:buNone/>
              <a:defRPr/>
            </a:pPr>
            <a:r>
              <a:rPr kumimoji="1" lang="ko-KR" altLang="en-US" sz="1050" kern="0" dirty="0">
                <a:solidFill>
                  <a:sysClr val="window" lastClr="FFFFFF"/>
                </a:solidFill>
                <a:latin typeface="맑은 고딕" pitchFamily="50" charset="-127"/>
                <a:ea typeface="맑은 고딕" pitchFamily="50" charset="-127"/>
              </a:rPr>
              <a:t>어플리케이션</a:t>
            </a:r>
            <a:endParaRPr kumimoji="1" lang="en-US" altLang="ko-KR" sz="1050" kern="0" dirty="0">
              <a:solidFill>
                <a:sysClr val="window" lastClr="FFFFFF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 defTabSz="914400" eaLnBrk="1" latinLnBrk="1" hangingPunct="1">
              <a:lnSpc>
                <a:spcPct val="100000"/>
              </a:lnSpc>
              <a:buClrTx/>
              <a:buSzTx/>
              <a:buFontTx/>
              <a:buNone/>
              <a:defRPr/>
            </a:pPr>
            <a:r>
              <a:rPr kumimoji="1" lang="ko-KR" altLang="en-US" sz="1050" kern="0" dirty="0">
                <a:solidFill>
                  <a:sysClr val="window" lastClr="FFFFFF"/>
                </a:solidFill>
                <a:latin typeface="맑은 고딕" pitchFamily="50" charset="-127"/>
                <a:ea typeface="맑은 고딕" pitchFamily="50" charset="-127"/>
              </a:rPr>
              <a:t>재사용</a:t>
            </a:r>
          </a:p>
        </p:txBody>
      </p:sp>
      <p:sp>
        <p:nvSpPr>
          <p:cNvPr id="168" name="직사각형 167"/>
          <p:cNvSpPr/>
          <p:nvPr/>
        </p:nvSpPr>
        <p:spPr bwMode="auto">
          <a:xfrm>
            <a:off x="3701926" y="5158060"/>
            <a:ext cx="1196975" cy="765175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defTabSz="914400" eaLnBrk="1" hangingPunct="1">
              <a:lnSpc>
                <a:spcPct val="100000"/>
              </a:lnSpc>
              <a:buClrTx/>
              <a:buSzTx/>
              <a:buFontTx/>
              <a:buNone/>
              <a:defRPr/>
            </a:pPr>
            <a:r>
              <a:rPr kumimoji="1" lang="ko-KR" altLang="en-US" sz="1050" kern="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표준화된</a:t>
            </a:r>
            <a:endParaRPr kumimoji="1" lang="en-US" altLang="ko-KR" sz="1050" kern="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 defTabSz="914400" eaLnBrk="1" hangingPunct="1">
              <a:lnSpc>
                <a:spcPct val="100000"/>
              </a:lnSpc>
              <a:buClrTx/>
              <a:buSzTx/>
              <a:buFontTx/>
              <a:buNone/>
              <a:defRPr/>
            </a:pPr>
            <a:r>
              <a:rPr kumimoji="1" lang="ko-KR" altLang="en-US" sz="1050" kern="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기반환경</a:t>
            </a:r>
            <a:endParaRPr kumimoji="1" lang="en-US" altLang="ko-KR" sz="1050" kern="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 defTabSz="914400" eaLnBrk="1" hangingPunct="1">
              <a:lnSpc>
                <a:spcPct val="100000"/>
              </a:lnSpc>
              <a:buClrTx/>
              <a:buSzTx/>
              <a:buFontTx/>
              <a:buNone/>
              <a:defRPr/>
            </a:pPr>
            <a:r>
              <a:rPr kumimoji="1" lang="ko-KR" altLang="en-US" sz="1050" kern="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통합</a:t>
            </a:r>
            <a:r>
              <a:rPr kumimoji="1" lang="en-US" altLang="ko-KR" sz="1050" kern="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r>
              <a:rPr kumimoji="1" lang="ko-KR" altLang="en-US" sz="1050" kern="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성능</a:t>
            </a:r>
            <a:r>
              <a:rPr kumimoji="1" lang="en-US" altLang="ko-KR" sz="1050" kern="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r>
              <a:rPr kumimoji="1" lang="ko-KR" altLang="en-US" sz="1050" kern="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튜닝</a:t>
            </a:r>
            <a:r>
              <a:rPr kumimoji="1" lang="en-US" altLang="ko-KR" sz="1050" kern="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/</a:t>
            </a:r>
          </a:p>
          <a:p>
            <a:pPr algn="ctr" defTabSz="914400" eaLnBrk="1" hangingPunct="1">
              <a:lnSpc>
                <a:spcPct val="100000"/>
              </a:lnSpc>
              <a:buClrTx/>
              <a:buSzTx/>
              <a:buFontTx/>
              <a:buNone/>
              <a:defRPr/>
            </a:pPr>
            <a:r>
              <a:rPr kumimoji="1" lang="ko-KR" altLang="en-US" sz="1050" kern="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검증</a:t>
            </a:r>
            <a:r>
              <a:rPr kumimoji="1" lang="en-US" altLang="ko-KR" sz="1050" kern="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r>
              <a:rPr kumimoji="1" lang="ko-KR" altLang="en-US" sz="1050" kern="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버그</a:t>
            </a:r>
          </a:p>
        </p:txBody>
      </p:sp>
      <p:sp>
        <p:nvSpPr>
          <p:cNvPr id="169" name="직사각형 168"/>
          <p:cNvSpPr/>
          <p:nvPr/>
        </p:nvSpPr>
        <p:spPr bwMode="auto">
          <a:xfrm>
            <a:off x="482476" y="4400823"/>
            <a:ext cx="1079500" cy="598487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defTabSz="914400" eaLnBrk="1" hangingPunct="1">
              <a:lnSpc>
                <a:spcPct val="100000"/>
              </a:lnSpc>
              <a:buClrTx/>
              <a:buSzTx/>
              <a:buFontTx/>
              <a:buNone/>
              <a:defRPr/>
            </a:pPr>
            <a:r>
              <a:rPr kumimoji="1" lang="ko-KR" altLang="en-US" sz="1050" kern="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다양한 개방형</a:t>
            </a:r>
            <a:endParaRPr kumimoji="1" lang="en-US" altLang="ko-KR" sz="1050" kern="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 defTabSz="914400" eaLnBrk="1" hangingPunct="1">
              <a:lnSpc>
                <a:spcPct val="100000"/>
              </a:lnSpc>
              <a:buClrTx/>
              <a:buSzTx/>
              <a:buFontTx/>
              <a:buNone/>
              <a:defRPr/>
            </a:pPr>
            <a:r>
              <a:rPr kumimoji="1" lang="ko-KR" altLang="en-US" sz="1050" kern="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어플리케이션</a:t>
            </a:r>
            <a:endParaRPr kumimoji="1" lang="en-US" altLang="ko-KR" sz="1050" kern="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 defTabSz="914400" eaLnBrk="1" hangingPunct="1">
              <a:lnSpc>
                <a:spcPct val="100000"/>
              </a:lnSpc>
              <a:buClrTx/>
              <a:buSzTx/>
              <a:buFontTx/>
              <a:buNone/>
              <a:defRPr/>
            </a:pPr>
            <a:r>
              <a:rPr kumimoji="1" lang="ko-KR" altLang="en-US" sz="1050" kern="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개발</a:t>
            </a:r>
            <a:r>
              <a:rPr kumimoji="1" lang="en-US" altLang="ko-KR" sz="1050" kern="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r>
              <a:rPr kumimoji="1" lang="ko-KR" altLang="en-US" sz="1050" kern="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이식</a:t>
            </a:r>
          </a:p>
        </p:txBody>
      </p:sp>
      <p:sp>
        <p:nvSpPr>
          <p:cNvPr id="170" name="직사각형 169"/>
          <p:cNvSpPr/>
          <p:nvPr/>
        </p:nvSpPr>
        <p:spPr bwMode="auto">
          <a:xfrm>
            <a:off x="3767013" y="4345260"/>
            <a:ext cx="1079500" cy="62230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defTabSz="914400" eaLnBrk="1" hangingPunct="1">
              <a:lnSpc>
                <a:spcPct val="100000"/>
              </a:lnSpc>
              <a:buClrTx/>
              <a:buSzTx/>
              <a:buFontTx/>
              <a:buNone/>
              <a:defRPr/>
            </a:pPr>
            <a:r>
              <a:rPr kumimoji="1" lang="ko-KR" altLang="en-US" sz="1100" kern="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균일한</a:t>
            </a:r>
            <a:endParaRPr kumimoji="1" lang="en-US" altLang="ko-KR" sz="1100" kern="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 defTabSz="914400" eaLnBrk="1" hangingPunct="1">
              <a:lnSpc>
                <a:spcPct val="100000"/>
              </a:lnSpc>
              <a:buClrTx/>
              <a:buSzTx/>
              <a:buFontTx/>
              <a:buNone/>
              <a:defRPr/>
            </a:pPr>
            <a:r>
              <a:rPr kumimoji="1" lang="ko-KR" altLang="en-US" sz="1100" kern="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어플리케이션</a:t>
            </a:r>
            <a:endParaRPr kumimoji="1" lang="en-US" altLang="ko-KR" sz="1100" kern="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 defTabSz="914400" eaLnBrk="1" hangingPunct="1">
              <a:lnSpc>
                <a:spcPct val="100000"/>
              </a:lnSpc>
              <a:buClrTx/>
              <a:buSzTx/>
              <a:buFontTx/>
              <a:buNone/>
              <a:defRPr/>
            </a:pPr>
            <a:r>
              <a:rPr kumimoji="1" lang="ko-KR" altLang="en-US" sz="1100" kern="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템플릿 제공</a:t>
            </a:r>
          </a:p>
        </p:txBody>
      </p:sp>
      <p:pic>
        <p:nvPicPr>
          <p:cNvPr id="171" name="Picture 223" descr="6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 flipV="1">
            <a:off x="318963" y="2816895"/>
            <a:ext cx="4681538" cy="882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2" name="Picture 231" descr="화살표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62579" y="2802571"/>
            <a:ext cx="2166272" cy="7611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4" name="Group 224"/>
          <p:cNvGrpSpPr>
            <a:grpSpLocks/>
          </p:cNvGrpSpPr>
          <p:nvPr/>
        </p:nvGrpSpPr>
        <p:grpSpPr bwMode="auto">
          <a:xfrm>
            <a:off x="685125" y="2060848"/>
            <a:ext cx="3960142" cy="629214"/>
            <a:chOff x="602" y="1999"/>
            <a:chExt cx="3226" cy="453"/>
          </a:xfrm>
        </p:grpSpPr>
        <p:sp>
          <p:nvSpPr>
            <p:cNvPr id="207" name="AutoShape 225"/>
            <p:cNvSpPr>
              <a:spLocks noChangeArrowheads="1"/>
            </p:cNvSpPr>
            <p:nvPr/>
          </p:nvSpPr>
          <p:spPr bwMode="auto">
            <a:xfrm>
              <a:off x="602" y="1999"/>
              <a:ext cx="3225" cy="437"/>
            </a:xfrm>
            <a:prstGeom prst="roundRect">
              <a:avLst>
                <a:gd name="adj" fmla="val 15565"/>
              </a:avLst>
            </a:prstGeom>
            <a:gradFill rotWithShape="1">
              <a:gsLst>
                <a:gs pos="0">
                  <a:srgbClr val="ACCBDE"/>
                </a:gs>
                <a:gs pos="100000">
                  <a:srgbClr val="ACCBDE">
                    <a:gamma/>
                    <a:tint val="0"/>
                    <a:invGamma/>
                  </a:srgb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  <a:effectLst>
              <a:outerShdw dist="25400" dir="16200000" algn="ctr" rotWithShape="0">
                <a:srgbClr val="3B77B3"/>
              </a:outerShdw>
            </a:effectLst>
          </p:spPr>
          <p:txBody>
            <a:bodyPr wrap="none" anchor="ctr"/>
            <a:lstStyle/>
            <a:p>
              <a:pPr defTabSz="914400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kern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08" name="AutoShape 226"/>
            <p:cNvSpPr>
              <a:spLocks noChangeArrowheads="1"/>
            </p:cNvSpPr>
            <p:nvPr/>
          </p:nvSpPr>
          <p:spPr bwMode="auto">
            <a:xfrm>
              <a:off x="631" y="2022"/>
              <a:ext cx="3168" cy="430"/>
            </a:xfrm>
            <a:prstGeom prst="roundRect">
              <a:avLst>
                <a:gd name="adj" fmla="val 15801"/>
              </a:avLst>
            </a:prstGeom>
            <a:solidFill>
              <a:sysClr val="window" lastClr="FFFFFF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defTabSz="914400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kern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09" name="AutoShape 227"/>
            <p:cNvSpPr>
              <a:spLocks noChangeArrowheads="1"/>
            </p:cNvSpPr>
            <p:nvPr/>
          </p:nvSpPr>
          <p:spPr bwMode="auto">
            <a:xfrm>
              <a:off x="653" y="2039"/>
              <a:ext cx="3124" cy="366"/>
            </a:xfrm>
            <a:prstGeom prst="roundRect">
              <a:avLst>
                <a:gd name="adj" fmla="val 14287"/>
              </a:avLst>
            </a:prstGeom>
            <a:gradFill rotWithShape="1">
              <a:gsLst>
                <a:gs pos="0">
                  <a:srgbClr val="E8E8E8"/>
                </a:gs>
                <a:gs pos="100000">
                  <a:srgbClr val="E8E8E8">
                    <a:gamma/>
                    <a:tint val="0"/>
                    <a:invGamma/>
                  </a:srgb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defTabSz="914400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kern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174" name="Rectangle 230"/>
          <p:cNvSpPr>
            <a:spLocks noChangeArrowheads="1"/>
          </p:cNvSpPr>
          <p:nvPr/>
        </p:nvSpPr>
        <p:spPr bwMode="auto">
          <a:xfrm>
            <a:off x="650751" y="2060848"/>
            <a:ext cx="4027487" cy="814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defTabSz="9144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ko-KR" altLang="en-US" sz="1500" b="1" kern="0" dirty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표준프레임워크는 어플리케이션의</a:t>
            </a:r>
            <a:endParaRPr lang="en-US" altLang="ko-KR" sz="1500" b="1" kern="0" dirty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 defTabSz="9144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ko-KR" altLang="en-US" sz="1500" b="1" kern="0" dirty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개발기간 및 리소스를 절감</a:t>
            </a:r>
            <a:endParaRPr lang="ko-KR" altLang="en-US" sz="1500" kern="0" dirty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5" name="직사각형 174"/>
          <p:cNvSpPr/>
          <p:nvPr/>
        </p:nvSpPr>
        <p:spPr bwMode="auto">
          <a:xfrm>
            <a:off x="1904876" y="3032398"/>
            <a:ext cx="1482725" cy="287337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defTabSz="91440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ko-KR" altLang="en-US" sz="1200" b="1" kern="0" dirty="0">
                <a:solidFill>
                  <a:sysClr val="window" lastClr="FFFFFF"/>
                </a:solidFill>
                <a:latin typeface="맑은 고딕" pitchFamily="50" charset="-127"/>
                <a:ea typeface="맑은 고딕" pitchFamily="50" charset="-127"/>
                <a:cs typeface="Arial Unicode MS" pitchFamily="50" charset="-127"/>
              </a:rPr>
              <a:t>프로젝트 품질</a:t>
            </a:r>
          </a:p>
        </p:txBody>
      </p:sp>
      <p:grpSp>
        <p:nvGrpSpPr>
          <p:cNvPr id="5" name="Group 17"/>
          <p:cNvGrpSpPr>
            <a:grpSpLocks/>
          </p:cNvGrpSpPr>
          <p:nvPr/>
        </p:nvGrpSpPr>
        <p:grpSpPr bwMode="auto">
          <a:xfrm>
            <a:off x="596758" y="3526691"/>
            <a:ext cx="998494" cy="361271"/>
            <a:chOff x="250" y="2704"/>
            <a:chExt cx="1242" cy="261"/>
          </a:xfrm>
        </p:grpSpPr>
        <p:pic>
          <p:nvPicPr>
            <p:cNvPr id="205" name="Picture 18" descr="80"/>
            <p:cNvPicPr>
              <a:picLocks noChangeAspect="1" noChangeArrowheads="1"/>
            </p:cNvPicPr>
            <p:nvPr/>
          </p:nvPicPr>
          <p:blipFill>
            <a:blip r:embed="rId4" cstate="print"/>
            <a:srcRect r="67395"/>
            <a:stretch>
              <a:fillRect/>
            </a:stretch>
          </p:blipFill>
          <p:spPr bwMode="auto">
            <a:xfrm>
              <a:off x="250" y="2704"/>
              <a:ext cx="552" cy="2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06" name="Picture 19" descr="80"/>
            <p:cNvPicPr>
              <a:picLocks noChangeAspect="1" noChangeArrowheads="1"/>
            </p:cNvPicPr>
            <p:nvPr/>
          </p:nvPicPr>
          <p:blipFill>
            <a:blip r:embed="rId4" cstate="print"/>
            <a:srcRect l="44005"/>
            <a:stretch>
              <a:fillRect/>
            </a:stretch>
          </p:blipFill>
          <p:spPr bwMode="auto">
            <a:xfrm>
              <a:off x="544" y="2704"/>
              <a:ext cx="948" cy="2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77" name="Text Box 20"/>
          <p:cNvSpPr txBox="1">
            <a:spLocks noChangeArrowheads="1"/>
          </p:cNvSpPr>
          <p:nvPr/>
        </p:nvSpPr>
        <p:spPr bwMode="auto">
          <a:xfrm>
            <a:off x="596776" y="3573735"/>
            <a:ext cx="1019175" cy="303213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>
            <a:spAutoFit/>
          </a:bodyPr>
          <a:lstStyle/>
          <a:p>
            <a:pPr algn="ctr" defTabSz="914400" eaLnBrk="1" fontAlgn="auto" hangingPunct="1">
              <a:lnSpc>
                <a:spcPct val="100000"/>
              </a:lnSpc>
              <a:spcBef>
                <a:spcPts val="0"/>
              </a:spcBef>
              <a:spcAft>
                <a:spcPct val="20000"/>
              </a:spcAft>
              <a:buClrTx/>
              <a:buSzTx/>
              <a:buFontTx/>
              <a:buNone/>
              <a:defRPr/>
            </a:pPr>
            <a:r>
              <a:rPr lang="ko-KR" altLang="en-US" sz="1300" kern="0" dirty="0">
                <a:solidFill>
                  <a:sysClr val="window" lastClr="FFFFFF"/>
                </a:solidFill>
                <a:latin typeface="맑은 고딕" pitchFamily="50" charset="-127"/>
                <a:ea typeface="맑은 고딕" pitchFamily="50" charset="-127"/>
              </a:rPr>
              <a:t>업무단순화</a:t>
            </a:r>
          </a:p>
        </p:txBody>
      </p:sp>
      <p:grpSp>
        <p:nvGrpSpPr>
          <p:cNvPr id="6" name="Group 17"/>
          <p:cNvGrpSpPr>
            <a:grpSpLocks/>
          </p:cNvGrpSpPr>
          <p:nvPr/>
        </p:nvGrpSpPr>
        <p:grpSpPr bwMode="auto">
          <a:xfrm>
            <a:off x="1651018" y="3523272"/>
            <a:ext cx="998494" cy="361271"/>
            <a:chOff x="250" y="2704"/>
            <a:chExt cx="1242" cy="261"/>
          </a:xfrm>
        </p:grpSpPr>
        <p:pic>
          <p:nvPicPr>
            <p:cNvPr id="203" name="Picture 18" descr="80"/>
            <p:cNvPicPr>
              <a:picLocks noChangeAspect="1" noChangeArrowheads="1"/>
            </p:cNvPicPr>
            <p:nvPr/>
          </p:nvPicPr>
          <p:blipFill>
            <a:blip r:embed="rId4" cstate="print"/>
            <a:srcRect r="67395"/>
            <a:stretch>
              <a:fillRect/>
            </a:stretch>
          </p:blipFill>
          <p:spPr bwMode="auto">
            <a:xfrm>
              <a:off x="250" y="2704"/>
              <a:ext cx="552" cy="2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04" name="Picture 19" descr="80"/>
            <p:cNvPicPr>
              <a:picLocks noChangeAspect="1" noChangeArrowheads="1"/>
            </p:cNvPicPr>
            <p:nvPr/>
          </p:nvPicPr>
          <p:blipFill>
            <a:blip r:embed="rId4" cstate="print"/>
            <a:srcRect l="44005"/>
            <a:stretch>
              <a:fillRect/>
            </a:stretch>
          </p:blipFill>
          <p:spPr bwMode="auto">
            <a:xfrm>
              <a:off x="544" y="2704"/>
              <a:ext cx="948" cy="2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79" name="Text Box 20"/>
          <p:cNvSpPr txBox="1">
            <a:spLocks noChangeArrowheads="1"/>
          </p:cNvSpPr>
          <p:nvPr/>
        </p:nvSpPr>
        <p:spPr bwMode="auto">
          <a:xfrm>
            <a:off x="1571501" y="3568973"/>
            <a:ext cx="1185862" cy="303212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>
            <a:spAutoFit/>
          </a:bodyPr>
          <a:lstStyle/>
          <a:p>
            <a:pPr defTabSz="914400" eaLnBrk="1" fontAlgn="auto" hangingPunct="1">
              <a:lnSpc>
                <a:spcPct val="100000"/>
              </a:lnSpc>
              <a:spcBef>
                <a:spcPts val="0"/>
              </a:spcBef>
              <a:spcAft>
                <a:spcPct val="20000"/>
              </a:spcAft>
              <a:buClrTx/>
              <a:buSzTx/>
              <a:buFontTx/>
              <a:buNone/>
              <a:defRPr/>
            </a:pPr>
            <a:r>
              <a:rPr lang="ko-KR" altLang="en-US" sz="1300" kern="0" dirty="0">
                <a:solidFill>
                  <a:sysClr val="window" lastClr="FFFFFF"/>
                </a:solidFill>
                <a:latin typeface="맑은 고딕" pitchFamily="50" charset="-127"/>
                <a:ea typeface="맑은 고딕" pitchFamily="50" charset="-127"/>
              </a:rPr>
              <a:t>성능품질보장</a:t>
            </a:r>
          </a:p>
        </p:txBody>
      </p:sp>
      <p:grpSp>
        <p:nvGrpSpPr>
          <p:cNvPr id="7" name="Group 17"/>
          <p:cNvGrpSpPr>
            <a:grpSpLocks/>
          </p:cNvGrpSpPr>
          <p:nvPr/>
        </p:nvGrpSpPr>
        <p:grpSpPr bwMode="auto">
          <a:xfrm>
            <a:off x="2705277" y="3523272"/>
            <a:ext cx="998494" cy="361271"/>
            <a:chOff x="250" y="2704"/>
            <a:chExt cx="1242" cy="261"/>
          </a:xfrm>
        </p:grpSpPr>
        <p:pic>
          <p:nvPicPr>
            <p:cNvPr id="201" name="Picture 18" descr="80"/>
            <p:cNvPicPr>
              <a:picLocks noChangeAspect="1" noChangeArrowheads="1"/>
            </p:cNvPicPr>
            <p:nvPr/>
          </p:nvPicPr>
          <p:blipFill>
            <a:blip r:embed="rId4" cstate="print"/>
            <a:srcRect r="67395"/>
            <a:stretch>
              <a:fillRect/>
            </a:stretch>
          </p:blipFill>
          <p:spPr bwMode="auto">
            <a:xfrm>
              <a:off x="250" y="2704"/>
              <a:ext cx="552" cy="2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02" name="Picture 19" descr="80"/>
            <p:cNvPicPr>
              <a:picLocks noChangeAspect="1" noChangeArrowheads="1"/>
            </p:cNvPicPr>
            <p:nvPr/>
          </p:nvPicPr>
          <p:blipFill>
            <a:blip r:embed="rId4" cstate="print"/>
            <a:srcRect l="44005"/>
            <a:stretch>
              <a:fillRect/>
            </a:stretch>
          </p:blipFill>
          <p:spPr bwMode="auto">
            <a:xfrm>
              <a:off x="544" y="2704"/>
              <a:ext cx="948" cy="2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81" name="Text Box 20"/>
          <p:cNvSpPr txBox="1">
            <a:spLocks noChangeArrowheads="1"/>
          </p:cNvSpPr>
          <p:nvPr/>
        </p:nvSpPr>
        <p:spPr bwMode="auto">
          <a:xfrm>
            <a:off x="2836738" y="3568973"/>
            <a:ext cx="852488" cy="303212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>
            <a:spAutoFit/>
          </a:bodyPr>
          <a:lstStyle/>
          <a:p>
            <a:pPr defTabSz="914400" eaLnBrk="1" fontAlgn="auto" hangingPunct="1">
              <a:lnSpc>
                <a:spcPct val="100000"/>
              </a:lnSpc>
              <a:spcBef>
                <a:spcPts val="0"/>
              </a:spcBef>
              <a:spcAft>
                <a:spcPct val="20000"/>
              </a:spcAft>
              <a:buClrTx/>
              <a:buSzTx/>
              <a:buFontTx/>
              <a:buNone/>
              <a:defRPr/>
            </a:pPr>
            <a:r>
              <a:rPr lang="ko-KR" altLang="en-US" sz="1300" kern="0" dirty="0">
                <a:solidFill>
                  <a:sysClr val="window" lastClr="FFFFFF"/>
                </a:solidFill>
                <a:latin typeface="맑은 고딕" pitchFamily="50" charset="-127"/>
                <a:ea typeface="맑은 고딕" pitchFamily="50" charset="-127"/>
              </a:rPr>
              <a:t>비용절감</a:t>
            </a:r>
          </a:p>
        </p:txBody>
      </p:sp>
      <p:grpSp>
        <p:nvGrpSpPr>
          <p:cNvPr id="8" name="Group 17"/>
          <p:cNvGrpSpPr>
            <a:grpSpLocks/>
          </p:cNvGrpSpPr>
          <p:nvPr/>
        </p:nvGrpSpPr>
        <p:grpSpPr bwMode="auto">
          <a:xfrm>
            <a:off x="3756486" y="3523272"/>
            <a:ext cx="998494" cy="361271"/>
            <a:chOff x="250" y="2704"/>
            <a:chExt cx="1242" cy="261"/>
          </a:xfrm>
        </p:grpSpPr>
        <p:pic>
          <p:nvPicPr>
            <p:cNvPr id="199" name="Picture 18" descr="80"/>
            <p:cNvPicPr>
              <a:picLocks noChangeAspect="1" noChangeArrowheads="1"/>
            </p:cNvPicPr>
            <p:nvPr/>
          </p:nvPicPr>
          <p:blipFill>
            <a:blip r:embed="rId4" cstate="print"/>
            <a:srcRect r="67395"/>
            <a:stretch>
              <a:fillRect/>
            </a:stretch>
          </p:blipFill>
          <p:spPr bwMode="auto">
            <a:xfrm>
              <a:off x="250" y="2704"/>
              <a:ext cx="552" cy="2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00" name="Picture 19" descr="80"/>
            <p:cNvPicPr>
              <a:picLocks noChangeAspect="1" noChangeArrowheads="1"/>
            </p:cNvPicPr>
            <p:nvPr/>
          </p:nvPicPr>
          <p:blipFill>
            <a:blip r:embed="rId4" cstate="print"/>
            <a:srcRect l="44005"/>
            <a:stretch>
              <a:fillRect/>
            </a:stretch>
          </p:blipFill>
          <p:spPr bwMode="auto">
            <a:xfrm>
              <a:off x="544" y="2704"/>
              <a:ext cx="948" cy="2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83" name="Text Box 20"/>
          <p:cNvSpPr txBox="1">
            <a:spLocks noChangeArrowheads="1"/>
          </p:cNvSpPr>
          <p:nvPr/>
        </p:nvSpPr>
        <p:spPr bwMode="auto">
          <a:xfrm>
            <a:off x="3867026" y="3568973"/>
            <a:ext cx="850900" cy="303212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>
            <a:spAutoFit/>
          </a:bodyPr>
          <a:lstStyle/>
          <a:p>
            <a:pPr defTabSz="914400" eaLnBrk="1" fontAlgn="auto" hangingPunct="1">
              <a:lnSpc>
                <a:spcPct val="100000"/>
              </a:lnSpc>
              <a:spcBef>
                <a:spcPts val="0"/>
              </a:spcBef>
              <a:spcAft>
                <a:spcPct val="20000"/>
              </a:spcAft>
              <a:buClrTx/>
              <a:buSzTx/>
              <a:buFontTx/>
              <a:buNone/>
              <a:defRPr/>
            </a:pPr>
            <a:r>
              <a:rPr lang="ko-KR" altLang="en-US" sz="1300" kern="0" dirty="0">
                <a:solidFill>
                  <a:sysClr val="window" lastClr="FFFFFF"/>
                </a:solidFill>
                <a:latin typeface="맑은 고딕" pitchFamily="50" charset="-127"/>
                <a:ea typeface="맑은 고딕" pitchFamily="50" charset="-127"/>
              </a:rPr>
              <a:t>납기보장</a:t>
            </a:r>
          </a:p>
        </p:txBody>
      </p:sp>
      <p:grpSp>
        <p:nvGrpSpPr>
          <p:cNvPr id="9" name="그룹 133"/>
          <p:cNvGrpSpPr>
            <a:grpSpLocks/>
          </p:cNvGrpSpPr>
          <p:nvPr/>
        </p:nvGrpSpPr>
        <p:grpSpPr bwMode="auto">
          <a:xfrm>
            <a:off x="5025901" y="2637110"/>
            <a:ext cx="4319587" cy="2808288"/>
            <a:chOff x="4906963" y="2614851"/>
            <a:chExt cx="4319587" cy="3190835"/>
          </a:xfrm>
        </p:grpSpPr>
        <p:sp>
          <p:nvSpPr>
            <p:cNvPr id="191" name="AutoShape 35"/>
            <p:cNvSpPr>
              <a:spLocks noChangeArrowheads="1"/>
            </p:cNvSpPr>
            <p:nvPr/>
          </p:nvSpPr>
          <p:spPr bwMode="auto">
            <a:xfrm>
              <a:off x="4906963" y="2614851"/>
              <a:ext cx="1050859" cy="1455136"/>
            </a:xfrm>
            <a:prstGeom prst="homePlate">
              <a:avLst>
                <a:gd name="adj" fmla="val 39532"/>
              </a:avLst>
            </a:prstGeom>
            <a:solidFill>
              <a:srgbClr val="D9ECF3"/>
            </a:solidFill>
            <a:ln w="9525" algn="ctr">
              <a:solidFill>
                <a:srgbClr val="A9D5E5"/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/>
            <a:p>
              <a:pPr algn="ctr" defTabSz="968375">
                <a:lnSpc>
                  <a:spcPct val="100000"/>
                </a:lnSpc>
              </a:pPr>
              <a:r>
                <a:rPr lang="ko-KR" altLang="en-US" sz="120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하드웨어</a:t>
              </a:r>
              <a:endParaRPr lang="en-US" altLang="ko-KR" sz="12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algn="ctr" defTabSz="968375">
                <a:lnSpc>
                  <a:spcPct val="100000"/>
                </a:lnSpc>
              </a:pPr>
              <a:r>
                <a:rPr lang="ko-KR" altLang="en-US" sz="120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중심</a:t>
              </a:r>
              <a:endParaRPr lang="en-US" altLang="ko-KR" sz="12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algn="ctr" defTabSz="968375">
                <a:lnSpc>
                  <a:spcPct val="100000"/>
                </a:lnSpc>
              </a:pPr>
              <a:r>
                <a:rPr lang="en-US" altLang="ko-KR" sz="120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(1940~60)</a:t>
              </a:r>
              <a:endParaRPr lang="ko-KR" altLang="en-US" sz="12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92" name="AutoShape 35"/>
            <p:cNvSpPr>
              <a:spLocks noChangeArrowheads="1"/>
            </p:cNvSpPr>
            <p:nvPr/>
          </p:nvSpPr>
          <p:spPr bwMode="auto">
            <a:xfrm>
              <a:off x="5996537" y="2614851"/>
              <a:ext cx="1050859" cy="1455136"/>
            </a:xfrm>
            <a:prstGeom prst="homePlate">
              <a:avLst>
                <a:gd name="adj" fmla="val 39532"/>
              </a:avLst>
            </a:prstGeom>
            <a:solidFill>
              <a:srgbClr val="A9D5E5"/>
            </a:solidFill>
            <a:ln w="9525">
              <a:noFill/>
              <a:miter lim="800000"/>
              <a:headEnd/>
              <a:tailEnd/>
            </a:ln>
          </p:spPr>
          <p:txBody>
            <a:bodyPr wrap="none" lIns="72000" tIns="0" rIns="0" bIns="0" anchor="ctr"/>
            <a:lstStyle/>
            <a:p>
              <a:pPr algn="ctr" defTabSz="968375">
                <a:lnSpc>
                  <a:spcPct val="100000"/>
                </a:lnSpc>
              </a:pPr>
              <a:r>
                <a:rPr lang="ko-KR" altLang="en-US" sz="120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프로그램</a:t>
              </a:r>
              <a:endParaRPr lang="en-US" altLang="ko-KR" sz="12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algn="ctr" defTabSz="968375">
                <a:lnSpc>
                  <a:spcPct val="100000"/>
                </a:lnSpc>
              </a:pPr>
              <a:r>
                <a:rPr lang="ko-KR" altLang="en-US" sz="120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중심</a:t>
              </a:r>
              <a:endParaRPr lang="en-US" altLang="ko-KR" sz="12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algn="ctr" defTabSz="968375">
                <a:lnSpc>
                  <a:spcPct val="100000"/>
                </a:lnSpc>
              </a:pPr>
              <a:r>
                <a:rPr lang="en-US" altLang="ko-KR" sz="120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(1970~1990)</a:t>
              </a:r>
              <a:endParaRPr lang="ko-KR" altLang="en-US" sz="12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93" name="AutoShape 35"/>
            <p:cNvSpPr>
              <a:spLocks noChangeArrowheads="1"/>
            </p:cNvSpPr>
            <p:nvPr/>
          </p:nvSpPr>
          <p:spPr bwMode="auto">
            <a:xfrm>
              <a:off x="7086117" y="2614851"/>
              <a:ext cx="1050859" cy="1455136"/>
            </a:xfrm>
            <a:prstGeom prst="homePlate">
              <a:avLst>
                <a:gd name="adj" fmla="val 39532"/>
              </a:avLst>
            </a:prstGeom>
            <a:solidFill>
              <a:srgbClr val="72BAD4"/>
            </a:solidFill>
            <a:ln w="9525">
              <a:noFill/>
              <a:miter lim="800000"/>
              <a:headEnd/>
              <a:tailEnd/>
            </a:ln>
          </p:spPr>
          <p:txBody>
            <a:bodyPr wrap="none" lIns="72000" tIns="0" rIns="0" bIns="0" anchor="ctr"/>
            <a:lstStyle/>
            <a:p>
              <a:pPr algn="ctr" defTabSz="968375">
                <a:lnSpc>
                  <a:spcPct val="100000"/>
                </a:lnSpc>
              </a:pPr>
              <a:r>
                <a:rPr lang="ko-KR" altLang="en-US" sz="120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객체지향</a:t>
              </a:r>
              <a:endParaRPr lang="en-US" altLang="ko-KR" sz="12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algn="ctr" defTabSz="968375">
                <a:lnSpc>
                  <a:spcPct val="100000"/>
                </a:lnSpc>
              </a:pPr>
              <a:r>
                <a:rPr lang="ko-KR" altLang="en-US" sz="120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중심</a:t>
              </a:r>
              <a:endParaRPr lang="en-US" altLang="ko-KR" sz="12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algn="ctr" defTabSz="968375">
                <a:lnSpc>
                  <a:spcPct val="100000"/>
                </a:lnSpc>
              </a:pPr>
              <a:r>
                <a:rPr lang="en-US" altLang="ko-KR" sz="120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(1990~2000)</a:t>
              </a:r>
              <a:endParaRPr lang="ko-KR" altLang="en-US" sz="12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94" name="AutoShape 35"/>
            <p:cNvSpPr>
              <a:spLocks noChangeArrowheads="1"/>
            </p:cNvSpPr>
            <p:nvPr/>
          </p:nvSpPr>
          <p:spPr bwMode="auto">
            <a:xfrm>
              <a:off x="8175625" y="2614851"/>
              <a:ext cx="1050925" cy="1455627"/>
            </a:xfrm>
            <a:prstGeom prst="homePlate">
              <a:avLst>
                <a:gd name="adj" fmla="val 39533"/>
              </a:avLst>
            </a:prstGeom>
            <a:solidFill>
              <a:srgbClr val="4BA8C9"/>
            </a:solidFill>
            <a:ln>
              <a:noFill/>
            </a:ln>
            <a:effectLst/>
            <a:extLst/>
          </p:spPr>
          <p:txBody>
            <a:bodyPr wrap="none" lIns="72000" tIns="0" rIns="0" bIns="0" anchor="ctr"/>
            <a:lstStyle/>
            <a:p>
              <a:pPr algn="ctr" defTabSz="968375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ko-KR" altLang="en-US" sz="1200" kern="0" dirty="0">
                  <a:solidFill>
                    <a:sysClr val="window" lastClr="FFFFFF"/>
                  </a:solidFill>
                  <a:latin typeface="맑은 고딕" pitchFamily="50" charset="-127"/>
                  <a:ea typeface="맑은 고딕" pitchFamily="50" charset="-127"/>
                </a:rPr>
                <a:t>프레임워크</a:t>
              </a:r>
              <a:endParaRPr lang="en-US" altLang="ko-KR" sz="1200" kern="0" dirty="0">
                <a:solidFill>
                  <a:sysClr val="window" lastClr="FFFFFF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algn="ctr" defTabSz="968375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ko-KR" altLang="en-US" sz="1200" kern="0" dirty="0">
                  <a:solidFill>
                    <a:sysClr val="window" lastClr="FFFFFF"/>
                  </a:solidFill>
                  <a:latin typeface="맑은 고딕" pitchFamily="50" charset="-127"/>
                  <a:ea typeface="맑은 고딕" pitchFamily="50" charset="-127"/>
                </a:rPr>
                <a:t>중심</a:t>
              </a:r>
              <a:endParaRPr lang="en-US" altLang="ko-KR" sz="1200" kern="0" dirty="0">
                <a:solidFill>
                  <a:sysClr val="window" lastClr="FFFFFF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algn="ctr" defTabSz="968375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ko-KR" sz="1200" kern="0" dirty="0">
                  <a:solidFill>
                    <a:sysClr val="window" lastClr="FFFFFF"/>
                  </a:solidFill>
                  <a:latin typeface="맑은 고딕" pitchFamily="50" charset="-127"/>
                  <a:ea typeface="맑은 고딕" pitchFamily="50" charset="-127"/>
                </a:rPr>
                <a:t>(2000~</a:t>
              </a:r>
              <a:r>
                <a:rPr lang="ko-KR" altLang="en-US" sz="1200" kern="0" dirty="0">
                  <a:solidFill>
                    <a:sysClr val="window" lastClr="FFFFFF"/>
                  </a:solidFill>
                  <a:latin typeface="맑은 고딕" pitchFamily="50" charset="-127"/>
                  <a:ea typeface="맑은 고딕" pitchFamily="50" charset="-127"/>
                </a:rPr>
                <a:t>현재</a:t>
              </a:r>
              <a:r>
                <a:rPr lang="en-US" altLang="ko-KR" sz="1200" kern="0" dirty="0">
                  <a:solidFill>
                    <a:sysClr val="window" lastClr="FFFFFF"/>
                  </a:solidFill>
                  <a:latin typeface="맑은 고딕" pitchFamily="50" charset="-127"/>
                  <a:ea typeface="맑은 고딕" pitchFamily="50" charset="-127"/>
                </a:rPr>
                <a:t>)</a:t>
              </a:r>
              <a:endParaRPr lang="ko-KR" altLang="en-US" sz="1200" kern="0" dirty="0">
                <a:solidFill>
                  <a:sysClr val="window" lastClr="FFFFFF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95" name="직사각형 127"/>
            <p:cNvSpPr>
              <a:spLocks noChangeArrowheads="1"/>
            </p:cNvSpPr>
            <p:nvPr/>
          </p:nvSpPr>
          <p:spPr bwMode="auto">
            <a:xfrm>
              <a:off x="4906963" y="4267134"/>
              <a:ext cx="1025945" cy="1538552"/>
            </a:xfrm>
            <a:prstGeom prst="rect">
              <a:avLst/>
            </a:prstGeom>
            <a:solidFill>
              <a:srgbClr val="D9ECF3"/>
            </a:solidFill>
            <a:ln w="9525" algn="ctr">
              <a:solidFill>
                <a:srgbClr val="A9D5E5"/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/>
            <a:p>
              <a:pPr algn="ctr" defTabSz="968375">
                <a:lnSpc>
                  <a:spcPct val="100000"/>
                </a:lnSpc>
              </a:pPr>
              <a:r>
                <a:rPr lang="ko-KR" altLang="en-US" sz="120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이해하기 </a:t>
              </a:r>
              <a:endParaRPr lang="en-US" altLang="ko-KR" sz="12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algn="ctr" defTabSz="968375">
                <a:lnSpc>
                  <a:spcPct val="100000"/>
                </a:lnSpc>
              </a:pPr>
              <a:r>
                <a:rPr lang="ko-KR" altLang="en-US" sz="120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쉬운 고급</a:t>
              </a:r>
              <a:endParaRPr lang="en-US" altLang="ko-KR" sz="12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algn="ctr" defTabSz="968375">
                <a:lnSpc>
                  <a:spcPct val="100000"/>
                </a:lnSpc>
              </a:pPr>
              <a:r>
                <a:rPr lang="ko-KR" altLang="en-US" sz="120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프로그램 </a:t>
              </a:r>
              <a:endParaRPr lang="en-US" altLang="ko-KR" sz="12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algn="ctr" defTabSz="968375">
                <a:lnSpc>
                  <a:spcPct val="100000"/>
                </a:lnSpc>
              </a:pPr>
              <a:r>
                <a:rPr lang="ko-KR" altLang="en-US" sz="120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언어 및 환경이</a:t>
              </a:r>
              <a:endParaRPr lang="en-US" altLang="ko-KR" sz="12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algn="ctr" defTabSz="968375">
                <a:lnSpc>
                  <a:spcPct val="100000"/>
                </a:lnSpc>
              </a:pPr>
              <a:r>
                <a:rPr lang="ko-KR" altLang="en-US" sz="120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요구</a:t>
              </a:r>
            </a:p>
          </p:txBody>
        </p:sp>
        <p:sp>
          <p:nvSpPr>
            <p:cNvPr id="196" name="직사각형 128"/>
            <p:cNvSpPr>
              <a:spLocks noChangeArrowheads="1"/>
            </p:cNvSpPr>
            <p:nvPr/>
          </p:nvSpPr>
          <p:spPr bwMode="auto">
            <a:xfrm>
              <a:off x="5984226" y="4267134"/>
              <a:ext cx="1025945" cy="1538552"/>
            </a:xfrm>
            <a:prstGeom prst="rect">
              <a:avLst/>
            </a:prstGeom>
            <a:solidFill>
              <a:srgbClr val="A9D5E5"/>
            </a:solidFill>
            <a:ln w="9525">
              <a:noFill/>
              <a:miter lim="800000"/>
              <a:headEnd/>
              <a:tailEnd/>
            </a:ln>
          </p:spPr>
          <p:txBody>
            <a:bodyPr wrap="none" lIns="72000" tIns="0" rIns="0" bIns="0" anchor="ctr"/>
            <a:lstStyle/>
            <a:p>
              <a:pPr algn="ctr" defTabSz="968375">
                <a:lnSpc>
                  <a:spcPct val="100000"/>
                </a:lnSpc>
              </a:pPr>
              <a:r>
                <a:rPr lang="ko-KR" altLang="en-US" sz="120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복잡도 증가</a:t>
              </a:r>
              <a:endParaRPr lang="en-US" altLang="ko-KR" sz="12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algn="ctr" defTabSz="968375">
                <a:lnSpc>
                  <a:spcPct val="100000"/>
                </a:lnSpc>
              </a:pPr>
              <a:r>
                <a:rPr lang="ko-KR" altLang="en-US" sz="120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시스템</a:t>
              </a:r>
              <a:endParaRPr lang="en-US" altLang="ko-KR" sz="12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algn="ctr" defTabSz="968375">
                <a:lnSpc>
                  <a:spcPct val="100000"/>
                </a:lnSpc>
              </a:pPr>
              <a:r>
                <a:rPr lang="ko-KR" altLang="en-US" sz="120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통합요구</a:t>
              </a:r>
              <a:endParaRPr lang="en-US" altLang="ko-KR" sz="12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algn="ctr" defTabSz="968375">
                <a:lnSpc>
                  <a:spcPct val="100000"/>
                </a:lnSpc>
              </a:pPr>
              <a:r>
                <a:rPr lang="ko-KR" altLang="en-US" sz="120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증가</a:t>
              </a:r>
            </a:p>
          </p:txBody>
        </p:sp>
        <p:sp>
          <p:nvSpPr>
            <p:cNvPr id="197" name="직사각형 129"/>
            <p:cNvSpPr>
              <a:spLocks noChangeArrowheads="1"/>
            </p:cNvSpPr>
            <p:nvPr/>
          </p:nvSpPr>
          <p:spPr bwMode="auto">
            <a:xfrm>
              <a:off x="7078839" y="4267134"/>
              <a:ext cx="1025945" cy="1538552"/>
            </a:xfrm>
            <a:prstGeom prst="rect">
              <a:avLst/>
            </a:prstGeom>
            <a:solidFill>
              <a:srgbClr val="72BAD4"/>
            </a:solidFill>
            <a:ln w="9525">
              <a:noFill/>
              <a:miter lim="800000"/>
              <a:headEnd/>
              <a:tailEnd/>
            </a:ln>
          </p:spPr>
          <p:txBody>
            <a:bodyPr wrap="none" lIns="72000" tIns="0" rIns="0" bIns="0" anchor="ctr"/>
            <a:lstStyle/>
            <a:p>
              <a:pPr algn="ctr" defTabSz="968375">
                <a:lnSpc>
                  <a:spcPct val="100000"/>
                </a:lnSpc>
              </a:pPr>
              <a:r>
                <a:rPr lang="ko-KR" altLang="en-US" sz="120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객체지향 </a:t>
              </a:r>
              <a:endParaRPr lang="en-US" altLang="ko-KR" sz="12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algn="ctr" defTabSz="968375">
                <a:lnSpc>
                  <a:spcPct val="100000"/>
                </a:lnSpc>
              </a:pPr>
              <a:r>
                <a:rPr lang="ko-KR" altLang="en-US" sz="120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모듈화</a:t>
              </a:r>
              <a:endParaRPr lang="en-US" altLang="ko-KR" sz="12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algn="ctr" defTabSz="968375">
                <a:lnSpc>
                  <a:spcPct val="100000"/>
                </a:lnSpc>
              </a:pPr>
              <a:r>
                <a:rPr lang="ko-KR" altLang="en-US" sz="120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재사용성은 </a:t>
              </a:r>
              <a:endParaRPr lang="en-US" altLang="ko-KR" sz="12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algn="ctr" defTabSz="968375">
                <a:lnSpc>
                  <a:spcPct val="100000"/>
                </a:lnSpc>
              </a:pPr>
              <a:r>
                <a:rPr lang="ko-KR" altLang="en-US" sz="120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떨어짐</a:t>
              </a:r>
            </a:p>
          </p:txBody>
        </p:sp>
        <p:sp>
          <p:nvSpPr>
            <p:cNvPr id="198" name="직사각형 197"/>
            <p:cNvSpPr/>
            <p:nvPr/>
          </p:nvSpPr>
          <p:spPr>
            <a:xfrm>
              <a:off x="8191500" y="4267086"/>
              <a:ext cx="1025525" cy="1538600"/>
            </a:xfrm>
            <a:prstGeom prst="rect">
              <a:avLst/>
            </a:prstGeom>
            <a:solidFill>
              <a:srgbClr val="4BA8C9"/>
            </a:solidFill>
            <a:ln>
              <a:noFill/>
            </a:ln>
            <a:effectLst/>
          </p:spPr>
          <p:txBody>
            <a:bodyPr wrap="none" lIns="72000" tIns="0" rIns="0" bIns="0" anchor="ctr"/>
            <a:lstStyle/>
            <a:p>
              <a:pPr algn="ctr" defTabSz="968375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ko-KR" altLang="en-US" sz="1200" kern="0" dirty="0">
                  <a:solidFill>
                    <a:sysClr val="window" lastClr="FFFFFF"/>
                  </a:solidFill>
                  <a:latin typeface="맑은 고딕" pitchFamily="50" charset="-127"/>
                  <a:ea typeface="맑은 고딕" pitchFamily="50" charset="-127"/>
                </a:rPr>
                <a:t>프레임워크 </a:t>
              </a:r>
              <a:endParaRPr lang="en-US" altLang="ko-KR" sz="1200" kern="0" dirty="0">
                <a:solidFill>
                  <a:sysClr val="window" lastClr="FFFFFF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algn="ctr" defTabSz="968375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ko-KR" altLang="en-US" sz="1200" kern="0" dirty="0">
                  <a:solidFill>
                    <a:sysClr val="window" lastClr="FFFFFF"/>
                  </a:solidFill>
                  <a:latin typeface="맑은 고딕" pitchFamily="50" charset="-127"/>
                  <a:ea typeface="맑은 고딕" pitchFamily="50" charset="-127"/>
                </a:rPr>
                <a:t>기반에</a:t>
              </a:r>
              <a:endParaRPr lang="en-US" altLang="ko-KR" sz="1200" kern="0" dirty="0">
                <a:solidFill>
                  <a:sysClr val="window" lastClr="FFFFFF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algn="ctr" defTabSz="968375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ko-KR" altLang="en-US" sz="1200" kern="0" dirty="0">
                  <a:solidFill>
                    <a:sysClr val="window" lastClr="FFFFFF"/>
                  </a:solidFill>
                  <a:latin typeface="맑은 고딕" pitchFamily="50" charset="-127"/>
                  <a:ea typeface="맑은 고딕" pitchFamily="50" charset="-127"/>
                </a:rPr>
                <a:t>컴포넌트 </a:t>
              </a:r>
              <a:endParaRPr lang="en-US" altLang="ko-KR" sz="1200" kern="0" dirty="0">
                <a:solidFill>
                  <a:sysClr val="window" lastClr="FFFFFF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algn="ctr" defTabSz="968375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ko-KR" altLang="en-US" sz="1200" kern="0" dirty="0" err="1">
                  <a:solidFill>
                    <a:sysClr val="window" lastClr="FFFFFF"/>
                  </a:solidFill>
                  <a:latin typeface="맑은 고딕" pitchFamily="50" charset="-127"/>
                  <a:ea typeface="맑은 고딕" pitchFamily="50" charset="-127"/>
                </a:rPr>
                <a:t>재조립</a:t>
              </a:r>
              <a:endParaRPr lang="en-US" altLang="ko-KR" sz="1200" kern="0" dirty="0">
                <a:solidFill>
                  <a:sysClr val="window" lastClr="FFFFFF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algn="ctr" defTabSz="968375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ko-KR" altLang="en-US" sz="1200" kern="0" dirty="0">
                  <a:solidFill>
                    <a:sysClr val="window" lastClr="FFFFFF"/>
                  </a:solidFill>
                  <a:latin typeface="맑은 고딕" pitchFamily="50" charset="-127"/>
                  <a:ea typeface="맑은 고딕" pitchFamily="50" charset="-127"/>
                </a:rPr>
                <a:t>적용</a:t>
              </a:r>
            </a:p>
          </p:txBody>
        </p:sp>
      </p:grpSp>
      <p:sp>
        <p:nvSpPr>
          <p:cNvPr id="185" name="오른쪽 화살표 184"/>
          <p:cNvSpPr/>
          <p:nvPr/>
        </p:nvSpPr>
        <p:spPr>
          <a:xfrm>
            <a:off x="5025901" y="5445398"/>
            <a:ext cx="4319587" cy="719137"/>
          </a:xfrm>
          <a:prstGeom prst="rightArrow">
            <a:avLst/>
          </a:prstGeom>
          <a:solidFill>
            <a:srgbClr val="4F81BD"/>
          </a:solidFill>
          <a:ln w="3175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anchor="ctr"/>
          <a:lstStyle/>
          <a:p>
            <a:pPr algn="ctr" defTabSz="91440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ko-KR" altLang="en-US" sz="1200" b="1" kern="0" err="1">
                <a:solidFill>
                  <a:sysClr val="window" lastClr="FFFFFF"/>
                </a:solidFill>
                <a:latin typeface="맑은 고딕" pitchFamily="50" charset="-127"/>
                <a:ea typeface="맑은 고딕" pitchFamily="50" charset="-127"/>
              </a:rPr>
              <a:t>재사용성</a:t>
            </a:r>
            <a:r>
              <a:rPr lang="ko-KR" altLang="en-US" sz="1200" b="1" kern="0" dirty="0">
                <a:solidFill>
                  <a:sysClr val="window" lastClr="FFFFFF"/>
                </a:solidFill>
                <a:latin typeface="맑은 고딕" pitchFamily="50" charset="-127"/>
                <a:ea typeface="맑은 고딕" pitchFamily="50" charset="-127"/>
              </a:rPr>
              <a:t> 증가</a:t>
            </a:r>
          </a:p>
        </p:txBody>
      </p:sp>
      <p:grpSp>
        <p:nvGrpSpPr>
          <p:cNvPr id="10" name="그룹 14"/>
          <p:cNvGrpSpPr>
            <a:grpSpLocks/>
          </p:cNvGrpSpPr>
          <p:nvPr/>
        </p:nvGrpSpPr>
        <p:grpSpPr bwMode="auto">
          <a:xfrm>
            <a:off x="5025901" y="2060848"/>
            <a:ext cx="1965325" cy="215900"/>
            <a:chOff x="192872" y="1687749"/>
            <a:chExt cx="1966045" cy="215444"/>
          </a:xfrm>
        </p:grpSpPr>
        <p:sp>
          <p:nvSpPr>
            <p:cNvPr id="187" name="Text Box 9"/>
            <p:cNvSpPr txBox="1">
              <a:spLocks noChangeArrowheads="1"/>
            </p:cNvSpPr>
            <p:nvPr/>
          </p:nvSpPr>
          <p:spPr bwMode="auto">
            <a:xfrm>
              <a:off x="467610" y="1687749"/>
              <a:ext cx="1691307" cy="2154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ctr"/>
            <a:lstStyle/>
            <a:p>
              <a:pPr eaLnBrk="1" hangingPunct="1">
                <a:tabLst>
                  <a:tab pos="5648325" algn="l"/>
                </a:tabLst>
              </a:pPr>
              <a:r>
                <a:rPr lang="ko-KR" altLang="en-US" sz="1300" b="1">
                  <a:solidFill>
                    <a:srgbClr val="376092"/>
                  </a:solidFill>
                  <a:latin typeface="맑은 고딕" pitchFamily="50" charset="-127"/>
                  <a:ea typeface="맑은 고딕" pitchFamily="50" charset="-127"/>
                  <a:cs typeface="Arial Unicode MS" pitchFamily="50" charset="-127"/>
                </a:rPr>
                <a:t>표준프레임워크 발전과정</a:t>
              </a:r>
            </a:p>
          </p:txBody>
        </p:sp>
        <p:grpSp>
          <p:nvGrpSpPr>
            <p:cNvPr id="11" name="그룹 67"/>
            <p:cNvGrpSpPr>
              <a:grpSpLocks/>
            </p:cNvGrpSpPr>
            <p:nvPr/>
          </p:nvGrpSpPr>
          <p:grpSpPr bwMode="auto">
            <a:xfrm>
              <a:off x="192872" y="1701226"/>
              <a:ext cx="198000" cy="198000"/>
              <a:chOff x="7889851" y="7193027"/>
              <a:chExt cx="164147" cy="164147"/>
            </a:xfrm>
          </p:grpSpPr>
          <p:sp>
            <p:nvSpPr>
              <p:cNvPr id="189" name="AutoShape 194"/>
              <p:cNvSpPr>
                <a:spLocks noChangeArrowheads="1"/>
              </p:cNvSpPr>
              <p:nvPr/>
            </p:nvSpPr>
            <p:spPr bwMode="gray">
              <a:xfrm>
                <a:off x="7889851" y="7193673"/>
                <a:ext cx="164570" cy="162849"/>
              </a:xfrm>
              <a:prstGeom prst="roundRect">
                <a:avLst>
                  <a:gd name="adj" fmla="val 16667"/>
                </a:avLst>
              </a:prstGeom>
              <a:solidFill>
                <a:srgbClr val="0C4CA0"/>
              </a:solidFill>
              <a:ln w="9525" algn="ctr">
                <a:noFill/>
                <a:round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ko-KR" altLang="en-US" sz="1500" b="1" kern="0">
                  <a:solidFill>
                    <a:sysClr val="windowText" lastClr="000000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pic>
            <p:nvPicPr>
              <p:cNvPr id="190" name="Picture 195" descr="화살2"/>
              <p:cNvPicPr>
                <a:picLocks noChangeAspect="1" noChangeArrowheads="1"/>
              </p:cNvPicPr>
              <p:nvPr/>
            </p:nvPicPr>
            <p:blipFill>
              <a:blip r:embed="rId5" cstate="print">
                <a:lum bright="30000" contrast="66000"/>
                <a:grayscl/>
                <a:biLevel thresh="50000"/>
              </a:blip>
              <a:srcRect/>
              <a:stretch>
                <a:fillRect/>
              </a:stretch>
            </p:blipFill>
            <p:spPr bwMode="gray">
              <a:xfrm>
                <a:off x="7920990" y="7224167"/>
                <a:ext cx="101869" cy="1018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</p:grpSp>
      <p:sp>
        <p:nvSpPr>
          <p:cNvPr id="224" name="Rectangle 108"/>
          <p:cNvSpPr>
            <a:spLocks noChangeArrowheads="1"/>
          </p:cNvSpPr>
          <p:nvPr/>
        </p:nvSpPr>
        <p:spPr bwMode="auto">
          <a:xfrm>
            <a:off x="344488" y="980728"/>
            <a:ext cx="9217025" cy="648072"/>
          </a:xfrm>
          <a:prstGeom prst="rect">
            <a:avLst/>
          </a:prstGeom>
          <a:solidFill>
            <a:srgbClr val="F0F8FA">
              <a:alpha val="50000"/>
            </a:srgbClr>
          </a:solidFill>
          <a:ln w="9525">
            <a:solidFill>
              <a:schemeClr val="tx2">
                <a:lumMod val="20000"/>
                <a:lumOff val="8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kumimoji="1" lang="ko-KR" altLang="en-US" sz="1400" dirty="0" smtClean="0">
                <a:solidFill>
                  <a:srgbClr val="000000"/>
                </a:solidFill>
                <a:latin typeface="맑은 고딕" pitchFamily="50" charset="-127"/>
              </a:rPr>
              <a:t>표준프레임워크는 효율적인 정보시스템 개발을 위해 소프트웨어의 설계 및 구현에 필요한 틀을 제공하는 것으로</a:t>
            </a:r>
            <a:r>
              <a:rPr kumimoji="1" lang="en-US" altLang="ko-KR" sz="1400" dirty="0" smtClean="0">
                <a:solidFill>
                  <a:srgbClr val="000000"/>
                </a:solidFill>
                <a:latin typeface="맑은 고딕" pitchFamily="50" charset="-127"/>
              </a:rPr>
              <a:t>, </a:t>
            </a:r>
            <a:r>
              <a:rPr kumimoji="1" lang="ko-KR" altLang="en-US" sz="1400" dirty="0" smtClean="0">
                <a:solidFill>
                  <a:srgbClr val="000000"/>
                </a:solidFill>
                <a:latin typeface="맑은 고딕" pitchFamily="50" charset="-127"/>
              </a:rPr>
              <a:t>어플리케이션 개발 시 재사용도가 높아져 개발기간과 리소스를 절감 할 수 있습니다</a:t>
            </a:r>
          </a:p>
        </p:txBody>
      </p:sp>
      <p:sp>
        <p:nvSpPr>
          <p:cNvPr id="72" name="슬라이드 번호 개체 틀 5"/>
          <p:cNvSpPr txBox="1">
            <a:spLocks/>
          </p:cNvSpPr>
          <p:nvPr/>
        </p:nvSpPr>
        <p:spPr>
          <a:xfrm>
            <a:off x="3797300" y="6492899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b="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dirty="0" smtClean="0"/>
              <a:t>- 3</a:t>
            </a:r>
            <a:r>
              <a:rPr lang="ko-KR" altLang="en-US" dirty="0" smtClean="0"/>
              <a:t> </a:t>
            </a:r>
            <a:r>
              <a:rPr lang="en-US" altLang="ko-KR" dirty="0" smtClean="0"/>
              <a:t>-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M2M-JDFW (1)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 smtClean="0"/>
              <a:t>2</a:t>
            </a:r>
            <a:endParaRPr lang="ko-KR" altLang="en-US" dirty="0"/>
          </a:p>
        </p:txBody>
      </p:sp>
      <p:sp>
        <p:nvSpPr>
          <p:cNvPr id="45" name="Text Box 2"/>
          <p:cNvSpPr txBox="1">
            <a:spLocks noChangeArrowheads="1"/>
          </p:cNvSpPr>
          <p:nvPr/>
        </p:nvSpPr>
        <p:spPr bwMode="auto">
          <a:xfrm>
            <a:off x="518231" y="986267"/>
            <a:ext cx="8910814" cy="8022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1253" tIns="40628" rIns="81253" bIns="40628">
            <a:spAutoFit/>
          </a:bodyPr>
          <a:lstStyle/>
          <a:p>
            <a:pPr algn="just" defTabSz="811213">
              <a:lnSpc>
                <a:spcPct val="130000"/>
              </a:lnSpc>
              <a:spcBef>
                <a:spcPct val="30000"/>
              </a:spcBef>
            </a:pPr>
            <a:r>
              <a:rPr lang="ko-KR" altLang="ko-KR" sz="1200" dirty="0" err="1">
                <a:latin typeface="맑은 고딕" pitchFamily="50" charset="-127"/>
                <a:ea typeface="맑은 고딕" pitchFamily="50" charset="-127"/>
              </a:rPr>
              <a:t>엠투엠글로벌</a:t>
            </a:r>
            <a:r>
              <a:rPr lang="ko-KR" altLang="ko-KR" sz="1200" dirty="0">
                <a:latin typeface="맑은 고딕" pitchFamily="50" charset="-127"/>
                <a:ea typeface="맑은 고딕" pitchFamily="50" charset="-127"/>
              </a:rPr>
              <a:t>㈜</a:t>
            </a:r>
            <a:r>
              <a:rPr lang="ko-KR" altLang="en-US" sz="1200" dirty="0">
                <a:latin typeface="맑은 고딕" pitchFamily="50" charset="-127"/>
                <a:ea typeface="맑은 고딕" pitchFamily="50" charset="-127"/>
              </a:rPr>
              <a:t>의</a:t>
            </a:r>
            <a:r>
              <a:rPr lang="ko-KR" altLang="ko-KR" sz="1200" dirty="0">
                <a:latin typeface="맑은 고딕" pitchFamily="50" charset="-127"/>
                <a:ea typeface="맑은 고딕" pitchFamily="50" charset="-127"/>
              </a:rPr>
              <a:t> 개발 </a:t>
            </a:r>
            <a:r>
              <a:rPr lang="ko-KR" altLang="en-US" sz="1200" dirty="0" smtClean="0">
                <a:latin typeface="맑은 고딕" pitchFamily="50" charset="-127"/>
                <a:ea typeface="맑은 고딕" pitchFamily="50" charset="-127"/>
              </a:rPr>
              <a:t>표준</a:t>
            </a:r>
            <a:r>
              <a:rPr lang="ko-KR" altLang="ko-KR" sz="1200" dirty="0" smtClean="0">
                <a:latin typeface="맑은 고딕" pitchFamily="50" charset="-127"/>
                <a:ea typeface="맑은 고딕" pitchFamily="50" charset="-127"/>
              </a:rPr>
              <a:t>프레임워크는 </a:t>
            </a:r>
            <a:r>
              <a:rPr lang="ko-KR" altLang="ko-KR" sz="1200" dirty="0">
                <a:latin typeface="맑은 고딕" pitchFamily="50" charset="-127"/>
                <a:ea typeface="맑은 고딕" pitchFamily="50" charset="-127"/>
              </a:rPr>
              <a:t>오픈 소스기반의 JAVA개발프레임워크를 활용하여 개발한 </a:t>
            </a:r>
            <a:r>
              <a:rPr lang="ko-KR" altLang="ko-KR" sz="1200" b="1" dirty="0">
                <a:latin typeface="맑은 고딕" pitchFamily="50" charset="-127"/>
                <a:ea typeface="맑은 고딕" pitchFamily="50" charset="-127"/>
              </a:rPr>
              <a:t>M2M-JDFW(Java Development Framework)</a:t>
            </a:r>
            <a:r>
              <a:rPr lang="ko-KR" altLang="ko-KR" sz="1200" dirty="0" err="1">
                <a:latin typeface="맑은 고딕" pitchFamily="50" charset="-127"/>
                <a:ea typeface="맑은 고딕" pitchFamily="50" charset="-127"/>
              </a:rPr>
              <a:t>로서</a:t>
            </a:r>
            <a:r>
              <a:rPr lang="ko-KR" altLang="ko-KR" sz="1200" dirty="0">
                <a:latin typeface="맑은 고딕" pitchFamily="50" charset="-127"/>
                <a:ea typeface="맑은 고딕" pitchFamily="50" charset="-127"/>
              </a:rPr>
              <a:t> 개발, 런타임, 유지보수 시에 활용할 수 있는 다양한 서비스 기능들과 개발 공통 및 업무 공통으로 사용할 수 있도록 표준화되어 </a:t>
            </a:r>
            <a:r>
              <a:rPr lang="ko-KR" altLang="en-US" sz="1200" dirty="0" smtClean="0">
                <a:latin typeface="맑은 고딕" pitchFamily="50" charset="-127"/>
                <a:ea typeface="맑은 고딕" pitchFamily="50" charset="-127"/>
              </a:rPr>
              <a:t>있습니다</a:t>
            </a:r>
            <a:r>
              <a:rPr lang="en-US" altLang="ko-KR" sz="1200" dirty="0" smtClean="0">
                <a:latin typeface="맑은 고딕" pitchFamily="50" charset="-127"/>
                <a:ea typeface="맑은 고딕" pitchFamily="50" charset="-127"/>
              </a:rPr>
              <a:t>.</a:t>
            </a:r>
            <a:endParaRPr lang="en-US" altLang="ko-KR" sz="12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7" name="Rectangle 59"/>
          <p:cNvSpPr>
            <a:spLocks noChangeArrowheads="1"/>
          </p:cNvSpPr>
          <p:nvPr/>
        </p:nvSpPr>
        <p:spPr bwMode="auto">
          <a:xfrm>
            <a:off x="502180" y="1928573"/>
            <a:ext cx="8906228" cy="4429385"/>
          </a:xfrm>
          <a:prstGeom prst="rect">
            <a:avLst/>
          </a:prstGeom>
          <a:noFill/>
          <a:ln w="9525">
            <a:solidFill>
              <a:srgbClr val="3875A2"/>
            </a:solidFill>
            <a:miter lim="800000"/>
            <a:headEnd/>
            <a:tailEnd/>
          </a:ln>
          <a:effectLst>
            <a:prstShdw prst="shdw17" dist="17961" dir="2700000">
              <a:srgbClr val="224661"/>
            </a:prstShdw>
          </a:effectLst>
        </p:spPr>
        <p:txBody>
          <a:bodyPr wrap="none" anchor="ctr"/>
          <a:lstStyle/>
          <a:p>
            <a:endParaRPr lang="ko-KR" altLang="ko-KR" sz="1000" b="1"/>
          </a:p>
        </p:txBody>
      </p:sp>
      <p:sp>
        <p:nvSpPr>
          <p:cNvPr id="48" name="AutoShape 60"/>
          <p:cNvSpPr>
            <a:spLocks noChangeArrowheads="1"/>
          </p:cNvSpPr>
          <p:nvPr/>
        </p:nvSpPr>
        <p:spPr bwMode="auto">
          <a:xfrm flipV="1">
            <a:off x="515938" y="1783500"/>
            <a:ext cx="8931451" cy="145073"/>
          </a:xfrm>
          <a:prstGeom prst="cube">
            <a:avLst>
              <a:gd name="adj" fmla="val 3444"/>
            </a:avLst>
          </a:prstGeom>
          <a:solidFill>
            <a:srgbClr val="71A7C5"/>
          </a:solidFill>
          <a:ln w="6350">
            <a:solidFill>
              <a:srgbClr val="384F7C"/>
            </a:solidFill>
            <a:miter lim="800000"/>
            <a:headEnd/>
            <a:tailEnd/>
          </a:ln>
        </p:spPr>
        <p:txBody>
          <a:bodyPr rot="10800000" wrap="none" anchor="ctr"/>
          <a:lstStyle/>
          <a:p>
            <a:endParaRPr lang="ko-KR" altLang="en-US"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49" name="Group 61"/>
          <p:cNvGrpSpPr>
            <a:grpSpLocks/>
          </p:cNvGrpSpPr>
          <p:nvPr/>
        </p:nvGrpSpPr>
        <p:grpSpPr bwMode="auto">
          <a:xfrm>
            <a:off x="632884" y="1697784"/>
            <a:ext cx="4735159" cy="282454"/>
            <a:chOff x="276" y="3248"/>
            <a:chExt cx="1294" cy="257"/>
          </a:xfrm>
        </p:grpSpPr>
        <p:grpSp>
          <p:nvGrpSpPr>
            <p:cNvPr id="50" name="Group 62"/>
            <p:cNvGrpSpPr>
              <a:grpSpLocks/>
            </p:cNvGrpSpPr>
            <p:nvPr/>
          </p:nvGrpSpPr>
          <p:grpSpPr bwMode="auto">
            <a:xfrm flipV="1">
              <a:off x="276" y="3294"/>
              <a:ext cx="1294" cy="161"/>
              <a:chOff x="2019" y="1759"/>
              <a:chExt cx="2340" cy="499"/>
            </a:xfrm>
          </p:grpSpPr>
          <p:sp>
            <p:nvSpPr>
              <p:cNvPr id="52" name="AutoShape 63"/>
              <p:cNvSpPr>
                <a:spLocks noChangeArrowheads="1"/>
              </p:cNvSpPr>
              <p:nvPr/>
            </p:nvSpPr>
            <p:spPr bwMode="auto">
              <a:xfrm flipV="1">
                <a:off x="2052" y="1759"/>
                <a:ext cx="2268" cy="494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3438 w 21600"/>
                  <a:gd name="T13" fmla="*/ 3454 h 21600"/>
                  <a:gd name="T14" fmla="*/ 18162 w 21600"/>
                  <a:gd name="T15" fmla="*/ 18146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3276" y="21600"/>
                    </a:lnTo>
                    <a:lnTo>
                      <a:pt x="18324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71A7C5"/>
                  </a:gs>
                  <a:gs pos="100000">
                    <a:srgbClr val="BBE0E3"/>
                  </a:gs>
                </a:gsLst>
                <a:lin ang="5400000" scaled="1"/>
              </a:gradFill>
              <a:ln w="6350" algn="ctr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53" name="AutoShape 64"/>
              <p:cNvSpPr>
                <a:spLocks noChangeArrowheads="1"/>
              </p:cNvSpPr>
              <p:nvPr/>
            </p:nvSpPr>
            <p:spPr bwMode="auto">
              <a:xfrm flipV="1">
                <a:off x="2143" y="1811"/>
                <a:ext cx="2075" cy="39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3269 w 21600"/>
                  <a:gd name="T13" fmla="*/ 3256 h 21600"/>
                  <a:gd name="T14" fmla="*/ 18331 w 21600"/>
                  <a:gd name="T15" fmla="*/ 18344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2945" y="21600"/>
                    </a:lnTo>
                    <a:lnTo>
                      <a:pt x="18655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0F9FF"/>
                  </a:gs>
                  <a:gs pos="100000">
                    <a:srgbClr val="CCECFF"/>
                  </a:gs>
                </a:gsLst>
                <a:lin ang="5400000" scaled="1"/>
              </a:gradFill>
              <a:ln w="9525" algn="ctr">
                <a:solidFill>
                  <a:srgbClr val="F8F8F8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54" name="Freeform 65"/>
              <p:cNvSpPr>
                <a:spLocks/>
              </p:cNvSpPr>
              <p:nvPr/>
            </p:nvSpPr>
            <p:spPr bwMode="auto">
              <a:xfrm>
                <a:off x="3958" y="1759"/>
                <a:ext cx="401" cy="499"/>
              </a:xfrm>
              <a:custGeom>
                <a:avLst/>
                <a:gdLst>
                  <a:gd name="T0" fmla="*/ 0 w 545"/>
                  <a:gd name="T1" fmla="*/ 0 h 499"/>
                  <a:gd name="T2" fmla="*/ 2 w 545"/>
                  <a:gd name="T3" fmla="*/ 272 h 499"/>
                  <a:gd name="T4" fmla="*/ 2 w 545"/>
                  <a:gd name="T5" fmla="*/ 499 h 499"/>
                  <a:gd name="T6" fmla="*/ 0 w 545"/>
                  <a:gd name="T7" fmla="*/ 0 h 49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45"/>
                  <a:gd name="T13" fmla="*/ 0 h 499"/>
                  <a:gd name="T14" fmla="*/ 545 w 545"/>
                  <a:gd name="T15" fmla="*/ 499 h 49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45" h="499">
                    <a:moveTo>
                      <a:pt x="0" y="0"/>
                    </a:moveTo>
                    <a:lnTo>
                      <a:pt x="545" y="272"/>
                    </a:lnTo>
                    <a:lnTo>
                      <a:pt x="499" y="499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71A7C5"/>
                  </a:gs>
                  <a:gs pos="100000">
                    <a:srgbClr val="BBE0E3"/>
                  </a:gs>
                </a:gsLst>
                <a:lin ang="5400000" scaled="1"/>
              </a:gradFill>
              <a:ln w="6350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 rot="10800000" wrap="none" anchor="ctr"/>
              <a:lstStyle/>
              <a:p>
                <a:endParaRPr lang="ko-KR" altLang="en-US"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55" name="Freeform 66"/>
              <p:cNvSpPr>
                <a:spLocks/>
              </p:cNvSpPr>
              <p:nvPr/>
            </p:nvSpPr>
            <p:spPr bwMode="auto">
              <a:xfrm flipH="1">
                <a:off x="2019" y="1759"/>
                <a:ext cx="384" cy="499"/>
              </a:xfrm>
              <a:custGeom>
                <a:avLst/>
                <a:gdLst>
                  <a:gd name="T0" fmla="*/ 0 w 545"/>
                  <a:gd name="T1" fmla="*/ 0 h 499"/>
                  <a:gd name="T2" fmla="*/ 1 w 545"/>
                  <a:gd name="T3" fmla="*/ 272 h 499"/>
                  <a:gd name="T4" fmla="*/ 1 w 545"/>
                  <a:gd name="T5" fmla="*/ 499 h 499"/>
                  <a:gd name="T6" fmla="*/ 0 w 545"/>
                  <a:gd name="T7" fmla="*/ 0 h 49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45"/>
                  <a:gd name="T13" fmla="*/ 0 h 499"/>
                  <a:gd name="T14" fmla="*/ 545 w 545"/>
                  <a:gd name="T15" fmla="*/ 499 h 49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45" h="499">
                    <a:moveTo>
                      <a:pt x="0" y="0"/>
                    </a:moveTo>
                    <a:lnTo>
                      <a:pt x="545" y="272"/>
                    </a:lnTo>
                    <a:lnTo>
                      <a:pt x="499" y="499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71A7C5"/>
                  </a:gs>
                  <a:gs pos="100000">
                    <a:srgbClr val="BBE0E3"/>
                  </a:gs>
                </a:gsLst>
                <a:lin ang="5400000" scaled="1"/>
              </a:gradFill>
              <a:ln w="6350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 rot="10800000" wrap="none" anchor="ctr"/>
              <a:lstStyle/>
              <a:p>
                <a:endParaRPr lang="ko-KR" altLang="en-US">
                  <a:latin typeface="맑은 고딕" pitchFamily="50" charset="-127"/>
                  <a:ea typeface="맑은 고딕" pitchFamily="50" charset="-127"/>
                </a:endParaRPr>
              </a:p>
            </p:txBody>
          </p:sp>
        </p:grpSp>
        <p:sp>
          <p:nvSpPr>
            <p:cNvPr id="51" name="Text Box 67"/>
            <p:cNvSpPr txBox="1">
              <a:spLocks noChangeArrowheads="1"/>
            </p:cNvSpPr>
            <p:nvPr/>
          </p:nvSpPr>
          <p:spPr bwMode="auto">
            <a:xfrm>
              <a:off x="452" y="3248"/>
              <a:ext cx="1056" cy="2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81253" tIns="40628" rIns="81253" bIns="40628">
              <a:spAutoFit/>
            </a:bodyPr>
            <a:lstStyle/>
            <a:p>
              <a:pPr defTabSz="811213" eaLnBrk="0" latinLnBrk="0" hangingPunct="0"/>
              <a:r>
                <a:rPr kumimoji="0" lang="ko-KR" altLang="en-US" sz="1300" b="1" dirty="0" smtClean="0">
                  <a:latin typeface="맑은 고딕" pitchFamily="50" charset="-127"/>
                  <a:ea typeface="맑은 고딕" pitchFamily="50" charset="-127"/>
                </a:rPr>
                <a:t>개발표준프레임워크</a:t>
              </a:r>
              <a:r>
                <a:rPr kumimoji="0" lang="en-US" altLang="ko-KR" sz="1300" b="1" dirty="0" smtClean="0"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kumimoji="0" lang="ko-KR" altLang="en-US" sz="1300" b="1" dirty="0">
                  <a:latin typeface="맑은 고딕" pitchFamily="50" charset="-127"/>
                  <a:ea typeface="맑은 고딕" pitchFamily="50" charset="-127"/>
                </a:rPr>
                <a:t>개념도</a:t>
              </a:r>
            </a:p>
          </p:txBody>
        </p:sp>
      </p:grpSp>
      <p:grpSp>
        <p:nvGrpSpPr>
          <p:cNvPr id="56" name="그룹 81"/>
          <p:cNvGrpSpPr>
            <a:grpSpLocks/>
          </p:cNvGrpSpPr>
          <p:nvPr/>
        </p:nvGrpSpPr>
        <p:grpSpPr bwMode="auto">
          <a:xfrm>
            <a:off x="452406" y="2013920"/>
            <a:ext cx="3500843" cy="3143272"/>
            <a:chOff x="0" y="3163863"/>
            <a:chExt cx="4126961" cy="3943404"/>
          </a:xfrm>
        </p:grpSpPr>
        <p:sp>
          <p:nvSpPr>
            <p:cNvPr id="62" name="Oval 49"/>
            <p:cNvSpPr>
              <a:spLocks noChangeArrowheads="1"/>
            </p:cNvSpPr>
            <p:nvPr/>
          </p:nvSpPr>
          <p:spPr bwMode="auto">
            <a:xfrm>
              <a:off x="1524472" y="4522036"/>
              <a:ext cx="1235051" cy="1141549"/>
            </a:xfrm>
            <a:prstGeom prst="ellipse">
              <a:avLst/>
            </a:prstGeom>
            <a:gradFill rotWithShape="1">
              <a:gsLst>
                <a:gs pos="0">
                  <a:srgbClr val="000047"/>
                </a:gs>
                <a:gs pos="100000">
                  <a:srgbClr val="000099"/>
                </a:gs>
              </a:gsLst>
              <a:lin ang="2700000" scaled="1"/>
            </a:gradFill>
            <a:ln w="50800" algn="ctr">
              <a:solidFill>
                <a:srgbClr val="FFFFFF"/>
              </a:solidFill>
              <a:round/>
              <a:headEnd/>
              <a:tailEnd/>
            </a:ln>
          </p:spPr>
          <p:txBody>
            <a:bodyPr wrap="none" lIns="0" rIns="0" anchor="ctr"/>
            <a:lstStyle/>
            <a:p>
              <a:pPr>
                <a:lnSpc>
                  <a:spcPct val="60000"/>
                </a:lnSpc>
              </a:pPr>
              <a:r>
                <a:rPr lang="en-US" altLang="ko-KR" sz="1400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Business</a:t>
              </a:r>
            </a:p>
            <a:p>
              <a:pPr>
                <a:lnSpc>
                  <a:spcPct val="60000"/>
                </a:lnSpc>
              </a:pPr>
              <a:r>
                <a:rPr lang="en-US" altLang="ko-KR" sz="1400" dirty="0" smtClean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Application</a:t>
              </a:r>
              <a:endParaRPr lang="en-US" altLang="ko-KR" sz="14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grpSp>
          <p:nvGrpSpPr>
            <p:cNvPr id="57" name="Group 33"/>
            <p:cNvGrpSpPr>
              <a:grpSpLocks/>
            </p:cNvGrpSpPr>
            <p:nvPr/>
          </p:nvGrpSpPr>
          <p:grpSpPr bwMode="auto">
            <a:xfrm>
              <a:off x="2263783" y="3451744"/>
              <a:ext cx="1606140" cy="1449383"/>
              <a:chOff x="3282" y="863"/>
              <a:chExt cx="1450" cy="1355"/>
            </a:xfrm>
          </p:grpSpPr>
          <p:sp>
            <p:nvSpPr>
              <p:cNvPr id="72" name="Freeform 34"/>
              <p:cNvSpPr>
                <a:spLocks/>
              </p:cNvSpPr>
              <p:nvPr/>
            </p:nvSpPr>
            <p:spPr bwMode="gray">
              <a:xfrm>
                <a:off x="3282" y="863"/>
                <a:ext cx="1450" cy="1355"/>
              </a:xfrm>
              <a:custGeom>
                <a:avLst/>
                <a:gdLst>
                  <a:gd name="T0" fmla="*/ 31 w 1728"/>
                  <a:gd name="T1" fmla="*/ 20 h 1615"/>
                  <a:gd name="T2" fmla="*/ 23 w 1728"/>
                  <a:gd name="T3" fmla="*/ 29 h 1615"/>
                  <a:gd name="T4" fmla="*/ 11 w 1728"/>
                  <a:gd name="T5" fmla="*/ 27 h 1615"/>
                  <a:gd name="T6" fmla="*/ 14 w 1728"/>
                  <a:gd name="T7" fmla="*/ 26 h 1615"/>
                  <a:gd name="T8" fmla="*/ 0 w 1728"/>
                  <a:gd name="T9" fmla="*/ 14 h 1615"/>
                  <a:gd name="T10" fmla="*/ 3 w 1728"/>
                  <a:gd name="T11" fmla="*/ 8 h 1615"/>
                  <a:gd name="T12" fmla="*/ 0 w 1728"/>
                  <a:gd name="T13" fmla="*/ 3 h 1615"/>
                  <a:gd name="T14" fmla="*/ 29 w 1728"/>
                  <a:gd name="T15" fmla="*/ 22 h 1615"/>
                  <a:gd name="T16" fmla="*/ 31 w 1728"/>
                  <a:gd name="T17" fmla="*/ 20 h 161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728"/>
                  <a:gd name="T28" fmla="*/ 0 h 1615"/>
                  <a:gd name="T29" fmla="*/ 1728 w 1728"/>
                  <a:gd name="T30" fmla="*/ 1615 h 1615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728" h="1615">
                    <a:moveTo>
                      <a:pt x="1728" y="1183"/>
                    </a:moveTo>
                    <a:lnTo>
                      <a:pt x="1248" y="1615"/>
                    </a:lnTo>
                    <a:lnTo>
                      <a:pt x="624" y="1519"/>
                    </a:lnTo>
                    <a:cubicBezTo>
                      <a:pt x="624" y="1519"/>
                      <a:pt x="720" y="1495"/>
                      <a:pt x="816" y="1471"/>
                    </a:cubicBezTo>
                    <a:cubicBezTo>
                      <a:pt x="558" y="881"/>
                      <a:pt x="0" y="847"/>
                      <a:pt x="0" y="847"/>
                    </a:cubicBezTo>
                    <a:lnTo>
                      <a:pt x="192" y="463"/>
                    </a:lnTo>
                    <a:lnTo>
                      <a:pt x="0" y="31"/>
                    </a:lnTo>
                    <a:cubicBezTo>
                      <a:pt x="0" y="31"/>
                      <a:pt x="1031" y="0"/>
                      <a:pt x="1584" y="1231"/>
                    </a:cubicBezTo>
                    <a:cubicBezTo>
                      <a:pt x="1656" y="1207"/>
                      <a:pt x="1728" y="1183"/>
                      <a:pt x="1728" y="1183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9E9E9E"/>
                  </a:gs>
                  <a:gs pos="100000">
                    <a:srgbClr val="3F3F3F"/>
                  </a:gs>
                </a:gsLst>
                <a:lin ang="0" scaled="1"/>
              </a:gradFill>
              <a:ln w="3175">
                <a:noFill/>
                <a:round/>
                <a:headEnd/>
                <a:tailEnd/>
              </a:ln>
            </p:spPr>
            <p:txBody>
              <a:bodyPr wrap="none" lIns="98082" tIns="49041" rIns="98082" bIns="49041" anchor="ctr"/>
              <a:lstStyle/>
              <a:p>
                <a:endParaRPr lang="ko-KR" altLang="en-US"/>
              </a:p>
            </p:txBody>
          </p:sp>
          <p:sp>
            <p:nvSpPr>
              <p:cNvPr id="73" name="Text Box 35"/>
              <p:cNvSpPr txBox="1">
                <a:spLocks noChangeArrowheads="1"/>
              </p:cNvSpPr>
              <p:nvPr/>
            </p:nvSpPr>
            <p:spPr bwMode="gray">
              <a:xfrm>
                <a:off x="3634" y="1357"/>
                <a:ext cx="684" cy="248"/>
              </a:xfrm>
              <a:prstGeom prst="rect">
                <a:avLst/>
              </a:prstGeom>
              <a:noFill/>
              <a:ln w="3175">
                <a:noFill/>
                <a:miter lim="800000"/>
                <a:headEnd/>
                <a:tailEnd/>
              </a:ln>
              <a:effectLst/>
            </p:spPr>
            <p:txBody>
              <a:bodyPr wrap="none" lIns="98082" tIns="49041" rIns="98082" bIns="49041" anchor="ctr"/>
              <a:lstStyle/>
              <a:p>
                <a:pPr marL="125413" indent="-125413" algn="l" defTabSz="881063">
                  <a:defRPr/>
                </a:pPr>
                <a:r>
                  <a:rPr lang="ko-KR" altLang="en-US" sz="140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맑은 고딕" pitchFamily="50" charset="-127"/>
                    <a:ea typeface="맑은 고딕" pitchFamily="50" charset="-127"/>
                  </a:rPr>
                  <a:t>표준화</a:t>
                </a:r>
              </a:p>
            </p:txBody>
          </p:sp>
        </p:grpSp>
        <p:grpSp>
          <p:nvGrpSpPr>
            <p:cNvPr id="58" name="Group 36"/>
            <p:cNvGrpSpPr>
              <a:grpSpLocks/>
            </p:cNvGrpSpPr>
            <p:nvPr/>
          </p:nvGrpSpPr>
          <p:grpSpPr bwMode="auto">
            <a:xfrm>
              <a:off x="2636304" y="4697330"/>
              <a:ext cx="1490657" cy="1797121"/>
              <a:chOff x="3618" y="2026"/>
              <a:chExt cx="1347" cy="1681"/>
            </a:xfrm>
          </p:grpSpPr>
          <p:sp>
            <p:nvSpPr>
              <p:cNvPr id="70" name="Freeform 37"/>
              <p:cNvSpPr>
                <a:spLocks/>
              </p:cNvSpPr>
              <p:nvPr/>
            </p:nvSpPr>
            <p:spPr bwMode="gray">
              <a:xfrm>
                <a:off x="3618" y="2026"/>
                <a:ext cx="1318" cy="1681"/>
              </a:xfrm>
              <a:custGeom>
                <a:avLst/>
                <a:gdLst>
                  <a:gd name="T0" fmla="*/ 11 w 1571"/>
                  <a:gd name="T1" fmla="*/ 35 h 2002"/>
                  <a:gd name="T2" fmla="*/ 3 w 1571"/>
                  <a:gd name="T3" fmla="*/ 29 h 2002"/>
                  <a:gd name="T4" fmla="*/ 0 w 1571"/>
                  <a:gd name="T5" fmla="*/ 19 h 2002"/>
                  <a:gd name="T6" fmla="*/ 3 w 1571"/>
                  <a:gd name="T7" fmla="*/ 22 h 2002"/>
                  <a:gd name="T8" fmla="*/ 8 w 1571"/>
                  <a:gd name="T9" fmla="*/ 5 h 2002"/>
                  <a:gd name="T10" fmla="*/ 16 w 1571"/>
                  <a:gd name="T11" fmla="*/ 6 h 2002"/>
                  <a:gd name="T12" fmla="*/ 21 w 1571"/>
                  <a:gd name="T13" fmla="*/ 3 h 2002"/>
                  <a:gd name="T14" fmla="*/ 10 w 1571"/>
                  <a:gd name="T15" fmla="*/ 34 h 2002"/>
                  <a:gd name="T16" fmla="*/ 11 w 1571"/>
                  <a:gd name="T17" fmla="*/ 35 h 2002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571"/>
                  <a:gd name="T28" fmla="*/ 0 h 2002"/>
                  <a:gd name="T29" fmla="*/ 1571 w 1571"/>
                  <a:gd name="T30" fmla="*/ 2002 h 2002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571" h="2002">
                    <a:moveTo>
                      <a:pt x="658" y="2002"/>
                    </a:moveTo>
                    <a:lnTo>
                      <a:pt x="100" y="1677"/>
                    </a:lnTo>
                    <a:lnTo>
                      <a:pt x="0" y="1054"/>
                    </a:lnTo>
                    <a:cubicBezTo>
                      <a:pt x="0" y="1054"/>
                      <a:pt x="52" y="1138"/>
                      <a:pt x="105" y="1222"/>
                    </a:cubicBezTo>
                    <a:cubicBezTo>
                      <a:pt x="587" y="796"/>
                      <a:pt x="449" y="254"/>
                      <a:pt x="449" y="254"/>
                    </a:cubicBezTo>
                    <a:lnTo>
                      <a:pt x="873" y="319"/>
                    </a:lnTo>
                    <a:cubicBezTo>
                      <a:pt x="873" y="319"/>
                      <a:pt x="1221" y="0"/>
                      <a:pt x="1226" y="4"/>
                    </a:cubicBezTo>
                    <a:cubicBezTo>
                      <a:pt x="1226" y="4"/>
                      <a:pt x="1571" y="976"/>
                      <a:pt x="568" y="1879"/>
                    </a:cubicBezTo>
                    <a:cubicBezTo>
                      <a:pt x="613" y="1941"/>
                      <a:pt x="658" y="2002"/>
                      <a:pt x="658" y="2002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5B2B2B"/>
                  </a:gs>
                  <a:gs pos="50000">
                    <a:srgbClr val="C55D5D"/>
                  </a:gs>
                  <a:gs pos="100000">
                    <a:srgbClr val="5B2B2B"/>
                  </a:gs>
                </a:gsLst>
                <a:lin ang="5400000" scaled="1"/>
              </a:gradFill>
              <a:ln w="3175">
                <a:noFill/>
                <a:round/>
                <a:headEnd type="none" w="sm" len="sm"/>
                <a:tailEnd type="none" w="sm" len="sm"/>
              </a:ln>
            </p:spPr>
            <p:txBody>
              <a:bodyPr lIns="88029" tIns="44015" rIns="88029" bIns="44015" anchor="ctr"/>
              <a:lstStyle/>
              <a:p>
                <a:endParaRPr lang="ko-KR" altLang="en-US"/>
              </a:p>
            </p:txBody>
          </p:sp>
          <p:sp>
            <p:nvSpPr>
              <p:cNvPr id="71" name="Text Box 38"/>
              <p:cNvSpPr txBox="1">
                <a:spLocks noChangeArrowheads="1"/>
              </p:cNvSpPr>
              <p:nvPr/>
            </p:nvSpPr>
            <p:spPr bwMode="gray">
              <a:xfrm>
                <a:off x="3938" y="2687"/>
                <a:ext cx="1027" cy="2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88029" tIns="44015" rIns="88029" bIns="44015" anchor="ctr"/>
              <a:lstStyle/>
              <a:p>
                <a:pPr defTabSz="881063">
                  <a:defRPr/>
                </a:pPr>
                <a:r>
                  <a:rPr lang="ko-KR" altLang="en-US" sz="1400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맑은 고딕" pitchFamily="50" charset="-127"/>
                    <a:ea typeface="맑은 고딕" pitchFamily="50" charset="-127"/>
                  </a:rPr>
                  <a:t>사용자</a:t>
                </a:r>
              </a:p>
              <a:p>
                <a:pPr defTabSz="881063">
                  <a:defRPr/>
                </a:pPr>
                <a:r>
                  <a:rPr lang="ko-KR" altLang="en-US" sz="1400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맑은 고딕" pitchFamily="50" charset="-127"/>
                    <a:ea typeface="맑은 고딕" pitchFamily="50" charset="-127"/>
                  </a:rPr>
                  <a:t>편의성</a:t>
                </a:r>
              </a:p>
            </p:txBody>
          </p:sp>
        </p:grpSp>
        <p:grpSp>
          <p:nvGrpSpPr>
            <p:cNvPr id="59" name="Group 39"/>
            <p:cNvGrpSpPr>
              <a:grpSpLocks/>
            </p:cNvGrpSpPr>
            <p:nvPr/>
          </p:nvGrpSpPr>
          <p:grpSpPr bwMode="auto">
            <a:xfrm>
              <a:off x="1164874" y="5657884"/>
              <a:ext cx="1606140" cy="1449383"/>
              <a:chOff x="2279" y="2925"/>
              <a:chExt cx="1450" cy="1355"/>
            </a:xfrm>
          </p:grpSpPr>
          <p:sp>
            <p:nvSpPr>
              <p:cNvPr id="68" name="Freeform 40"/>
              <p:cNvSpPr>
                <a:spLocks/>
              </p:cNvSpPr>
              <p:nvPr/>
            </p:nvSpPr>
            <p:spPr bwMode="gray">
              <a:xfrm rot="8585127">
                <a:off x="2279" y="2925"/>
                <a:ext cx="1450" cy="1355"/>
              </a:xfrm>
              <a:custGeom>
                <a:avLst/>
                <a:gdLst>
                  <a:gd name="T0" fmla="*/ 31 w 1728"/>
                  <a:gd name="T1" fmla="*/ 20 h 1615"/>
                  <a:gd name="T2" fmla="*/ 23 w 1728"/>
                  <a:gd name="T3" fmla="*/ 29 h 1615"/>
                  <a:gd name="T4" fmla="*/ 11 w 1728"/>
                  <a:gd name="T5" fmla="*/ 27 h 1615"/>
                  <a:gd name="T6" fmla="*/ 14 w 1728"/>
                  <a:gd name="T7" fmla="*/ 26 h 1615"/>
                  <a:gd name="T8" fmla="*/ 0 w 1728"/>
                  <a:gd name="T9" fmla="*/ 14 h 1615"/>
                  <a:gd name="T10" fmla="*/ 3 w 1728"/>
                  <a:gd name="T11" fmla="*/ 8 h 1615"/>
                  <a:gd name="T12" fmla="*/ 0 w 1728"/>
                  <a:gd name="T13" fmla="*/ 3 h 1615"/>
                  <a:gd name="T14" fmla="*/ 29 w 1728"/>
                  <a:gd name="T15" fmla="*/ 22 h 1615"/>
                  <a:gd name="T16" fmla="*/ 31 w 1728"/>
                  <a:gd name="T17" fmla="*/ 20 h 161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728"/>
                  <a:gd name="T28" fmla="*/ 0 h 1615"/>
                  <a:gd name="T29" fmla="*/ 1728 w 1728"/>
                  <a:gd name="T30" fmla="*/ 1615 h 1615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728" h="1615">
                    <a:moveTo>
                      <a:pt x="1728" y="1183"/>
                    </a:moveTo>
                    <a:lnTo>
                      <a:pt x="1248" y="1615"/>
                    </a:lnTo>
                    <a:lnTo>
                      <a:pt x="624" y="1519"/>
                    </a:lnTo>
                    <a:cubicBezTo>
                      <a:pt x="624" y="1519"/>
                      <a:pt x="720" y="1495"/>
                      <a:pt x="816" y="1471"/>
                    </a:cubicBezTo>
                    <a:cubicBezTo>
                      <a:pt x="558" y="881"/>
                      <a:pt x="0" y="847"/>
                      <a:pt x="0" y="847"/>
                    </a:cubicBezTo>
                    <a:lnTo>
                      <a:pt x="192" y="463"/>
                    </a:lnTo>
                    <a:lnTo>
                      <a:pt x="0" y="31"/>
                    </a:lnTo>
                    <a:cubicBezTo>
                      <a:pt x="0" y="31"/>
                      <a:pt x="1031" y="0"/>
                      <a:pt x="1584" y="1231"/>
                    </a:cubicBezTo>
                    <a:cubicBezTo>
                      <a:pt x="1656" y="1207"/>
                      <a:pt x="1728" y="1183"/>
                      <a:pt x="1728" y="1183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2F5E"/>
                  </a:gs>
                </a:gsLst>
                <a:lin ang="0" scaled="1"/>
              </a:gradFill>
              <a:ln w="3175">
                <a:noFill/>
                <a:round/>
                <a:headEnd/>
                <a:tailEnd/>
              </a:ln>
            </p:spPr>
            <p:txBody>
              <a:bodyPr rot="10800000" lIns="88029" tIns="44015" rIns="88029" bIns="44015" anchor="ctr"/>
              <a:lstStyle/>
              <a:p>
                <a:endParaRPr lang="ko-KR" altLang="en-US"/>
              </a:p>
            </p:txBody>
          </p:sp>
          <p:sp>
            <p:nvSpPr>
              <p:cNvPr id="69" name="Text Box 41"/>
              <p:cNvSpPr txBox="1">
                <a:spLocks noChangeArrowheads="1"/>
              </p:cNvSpPr>
              <p:nvPr/>
            </p:nvSpPr>
            <p:spPr bwMode="gray">
              <a:xfrm>
                <a:off x="2630" y="3350"/>
                <a:ext cx="1030" cy="44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88029" tIns="44015" rIns="88029" bIns="44015" anchor="ctr"/>
              <a:lstStyle/>
              <a:p>
                <a:pPr defTabSz="881063">
                  <a:defRPr/>
                </a:pPr>
                <a:r>
                  <a:rPr lang="ko-KR" altLang="en-US" sz="1400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맑은 고딕" pitchFamily="50" charset="-127"/>
                    <a:ea typeface="맑은 고딕" pitchFamily="50" charset="-127"/>
                  </a:rPr>
                  <a:t>데이터</a:t>
                </a:r>
              </a:p>
              <a:p>
                <a:pPr defTabSz="881063">
                  <a:defRPr/>
                </a:pPr>
                <a:r>
                  <a:rPr lang="en-US" altLang="ko-KR" sz="1400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맑은 고딕" pitchFamily="50" charset="-127"/>
                    <a:ea typeface="맑은 고딕" pitchFamily="50" charset="-127"/>
                  </a:rPr>
                  <a:t>Traffic</a:t>
                </a:r>
              </a:p>
              <a:p>
                <a:pPr defTabSz="881063">
                  <a:defRPr/>
                </a:pPr>
                <a:r>
                  <a:rPr lang="ko-KR" altLang="en-US" sz="1400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맑은 고딕" pitchFamily="50" charset="-127"/>
                    <a:ea typeface="맑은 고딕" pitchFamily="50" charset="-127"/>
                  </a:rPr>
                  <a:t>감소</a:t>
                </a:r>
              </a:p>
            </p:txBody>
          </p:sp>
        </p:grpSp>
        <p:grpSp>
          <p:nvGrpSpPr>
            <p:cNvPr id="60" name="Group 42"/>
            <p:cNvGrpSpPr>
              <a:grpSpLocks/>
            </p:cNvGrpSpPr>
            <p:nvPr/>
          </p:nvGrpSpPr>
          <p:grpSpPr bwMode="auto">
            <a:xfrm>
              <a:off x="0" y="4621797"/>
              <a:ext cx="1606140" cy="1450808"/>
              <a:chOff x="1239" y="1957"/>
              <a:chExt cx="1450" cy="1355"/>
            </a:xfrm>
          </p:grpSpPr>
          <p:sp>
            <p:nvSpPr>
              <p:cNvPr id="66" name="Freeform 43"/>
              <p:cNvSpPr>
                <a:spLocks/>
              </p:cNvSpPr>
              <p:nvPr/>
            </p:nvSpPr>
            <p:spPr bwMode="gray">
              <a:xfrm rot="-8681115">
                <a:off x="1239" y="1957"/>
                <a:ext cx="1450" cy="1355"/>
              </a:xfrm>
              <a:custGeom>
                <a:avLst/>
                <a:gdLst>
                  <a:gd name="T0" fmla="*/ 31 w 1728"/>
                  <a:gd name="T1" fmla="*/ 20 h 1615"/>
                  <a:gd name="T2" fmla="*/ 23 w 1728"/>
                  <a:gd name="T3" fmla="*/ 29 h 1615"/>
                  <a:gd name="T4" fmla="*/ 11 w 1728"/>
                  <a:gd name="T5" fmla="*/ 27 h 1615"/>
                  <a:gd name="T6" fmla="*/ 14 w 1728"/>
                  <a:gd name="T7" fmla="*/ 26 h 1615"/>
                  <a:gd name="T8" fmla="*/ 0 w 1728"/>
                  <a:gd name="T9" fmla="*/ 14 h 1615"/>
                  <a:gd name="T10" fmla="*/ 3 w 1728"/>
                  <a:gd name="T11" fmla="*/ 8 h 1615"/>
                  <a:gd name="T12" fmla="*/ 0 w 1728"/>
                  <a:gd name="T13" fmla="*/ 3 h 1615"/>
                  <a:gd name="T14" fmla="*/ 29 w 1728"/>
                  <a:gd name="T15" fmla="*/ 22 h 1615"/>
                  <a:gd name="T16" fmla="*/ 31 w 1728"/>
                  <a:gd name="T17" fmla="*/ 20 h 161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728"/>
                  <a:gd name="T28" fmla="*/ 0 h 1615"/>
                  <a:gd name="T29" fmla="*/ 1728 w 1728"/>
                  <a:gd name="T30" fmla="*/ 1615 h 1615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728" h="1615">
                    <a:moveTo>
                      <a:pt x="1728" y="1183"/>
                    </a:moveTo>
                    <a:lnTo>
                      <a:pt x="1248" y="1615"/>
                    </a:lnTo>
                    <a:lnTo>
                      <a:pt x="624" y="1519"/>
                    </a:lnTo>
                    <a:cubicBezTo>
                      <a:pt x="624" y="1519"/>
                      <a:pt x="720" y="1495"/>
                      <a:pt x="816" y="1471"/>
                    </a:cubicBezTo>
                    <a:cubicBezTo>
                      <a:pt x="558" y="881"/>
                      <a:pt x="0" y="847"/>
                      <a:pt x="0" y="847"/>
                    </a:cubicBezTo>
                    <a:lnTo>
                      <a:pt x="192" y="463"/>
                    </a:lnTo>
                    <a:lnTo>
                      <a:pt x="0" y="31"/>
                    </a:lnTo>
                    <a:cubicBezTo>
                      <a:pt x="0" y="31"/>
                      <a:pt x="1031" y="0"/>
                      <a:pt x="1584" y="1231"/>
                    </a:cubicBezTo>
                    <a:cubicBezTo>
                      <a:pt x="1656" y="1207"/>
                      <a:pt x="1728" y="1183"/>
                      <a:pt x="1728" y="1183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438E65"/>
                  </a:gs>
                  <a:gs pos="100000">
                    <a:srgbClr val="1F422F"/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 rot="10800000" lIns="88029" tIns="44015" rIns="88029" bIns="44015" anchor="ctr"/>
              <a:lstStyle/>
              <a:p>
                <a:endParaRPr lang="ko-KR" altLang="en-US"/>
              </a:p>
            </p:txBody>
          </p:sp>
          <p:sp>
            <p:nvSpPr>
              <p:cNvPr id="67" name="Text Box 44"/>
              <p:cNvSpPr txBox="1">
                <a:spLocks noChangeArrowheads="1"/>
              </p:cNvSpPr>
              <p:nvPr/>
            </p:nvSpPr>
            <p:spPr bwMode="gray">
              <a:xfrm>
                <a:off x="1652" y="2371"/>
                <a:ext cx="879" cy="44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88029" tIns="44015" rIns="88029" bIns="44015" anchor="ctr"/>
              <a:lstStyle/>
              <a:p>
                <a:pPr defTabSz="881063">
                  <a:defRPr/>
                </a:pPr>
                <a:r>
                  <a:rPr lang="ko-KR" altLang="en-US" sz="1400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맑은 고딕" pitchFamily="50" charset="-127"/>
                    <a:ea typeface="맑은 고딕" pitchFamily="50" charset="-127"/>
                  </a:rPr>
                  <a:t>유지</a:t>
                </a:r>
              </a:p>
              <a:p>
                <a:pPr defTabSz="881063">
                  <a:defRPr/>
                </a:pPr>
                <a:r>
                  <a:rPr lang="ko-KR" altLang="en-US" sz="1400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맑은 고딕" pitchFamily="50" charset="-127"/>
                    <a:ea typeface="맑은 고딕" pitchFamily="50" charset="-127"/>
                  </a:rPr>
                  <a:t>보수</a:t>
                </a:r>
              </a:p>
              <a:p>
                <a:pPr defTabSz="881063">
                  <a:defRPr/>
                </a:pPr>
                <a:r>
                  <a:rPr lang="ko-KR" altLang="en-US" sz="1400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맑은 고딕" pitchFamily="50" charset="-127"/>
                    <a:ea typeface="맑은 고딕" pitchFamily="50" charset="-127"/>
                  </a:rPr>
                  <a:t>편의성</a:t>
                </a:r>
              </a:p>
            </p:txBody>
          </p:sp>
        </p:grpSp>
        <p:grpSp>
          <p:nvGrpSpPr>
            <p:cNvPr id="61" name="Group 45"/>
            <p:cNvGrpSpPr>
              <a:grpSpLocks/>
            </p:cNvGrpSpPr>
            <p:nvPr/>
          </p:nvGrpSpPr>
          <p:grpSpPr bwMode="auto">
            <a:xfrm>
              <a:off x="719253" y="3163863"/>
              <a:ext cx="1517308" cy="1566246"/>
              <a:chOff x="1888" y="593"/>
              <a:chExt cx="1370" cy="1465"/>
            </a:xfrm>
          </p:grpSpPr>
          <p:sp>
            <p:nvSpPr>
              <p:cNvPr id="64" name="Freeform 46"/>
              <p:cNvSpPr>
                <a:spLocks/>
              </p:cNvSpPr>
              <p:nvPr/>
            </p:nvSpPr>
            <p:spPr bwMode="gray">
              <a:xfrm rot="-4317343">
                <a:off x="1840" y="641"/>
                <a:ext cx="1465" cy="1370"/>
              </a:xfrm>
              <a:custGeom>
                <a:avLst/>
                <a:gdLst>
                  <a:gd name="T0" fmla="*/ 39 w 1728"/>
                  <a:gd name="T1" fmla="*/ 26 h 1615"/>
                  <a:gd name="T2" fmla="*/ 28 w 1728"/>
                  <a:gd name="T3" fmla="*/ 36 h 1615"/>
                  <a:gd name="T4" fmla="*/ 14 w 1728"/>
                  <a:gd name="T5" fmla="*/ 35 h 1615"/>
                  <a:gd name="T6" fmla="*/ 19 w 1728"/>
                  <a:gd name="T7" fmla="*/ 33 h 1615"/>
                  <a:gd name="T8" fmla="*/ 0 w 1728"/>
                  <a:gd name="T9" fmla="*/ 19 h 1615"/>
                  <a:gd name="T10" fmla="*/ 4 w 1728"/>
                  <a:gd name="T11" fmla="*/ 10 h 1615"/>
                  <a:gd name="T12" fmla="*/ 0 w 1728"/>
                  <a:gd name="T13" fmla="*/ 3 h 1615"/>
                  <a:gd name="T14" fmla="*/ 36 w 1728"/>
                  <a:gd name="T15" fmla="*/ 28 h 1615"/>
                  <a:gd name="T16" fmla="*/ 39 w 1728"/>
                  <a:gd name="T17" fmla="*/ 26 h 161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728"/>
                  <a:gd name="T28" fmla="*/ 0 h 1615"/>
                  <a:gd name="T29" fmla="*/ 1728 w 1728"/>
                  <a:gd name="T30" fmla="*/ 1615 h 1615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728" h="1615">
                    <a:moveTo>
                      <a:pt x="1728" y="1183"/>
                    </a:moveTo>
                    <a:lnTo>
                      <a:pt x="1248" y="1615"/>
                    </a:lnTo>
                    <a:lnTo>
                      <a:pt x="624" y="1519"/>
                    </a:lnTo>
                    <a:cubicBezTo>
                      <a:pt x="624" y="1519"/>
                      <a:pt x="720" y="1495"/>
                      <a:pt x="816" y="1471"/>
                    </a:cubicBezTo>
                    <a:cubicBezTo>
                      <a:pt x="558" y="881"/>
                      <a:pt x="0" y="847"/>
                      <a:pt x="0" y="847"/>
                    </a:cubicBezTo>
                    <a:lnTo>
                      <a:pt x="192" y="463"/>
                    </a:lnTo>
                    <a:lnTo>
                      <a:pt x="0" y="31"/>
                    </a:lnTo>
                    <a:cubicBezTo>
                      <a:pt x="0" y="31"/>
                      <a:pt x="1031" y="0"/>
                      <a:pt x="1584" y="1231"/>
                    </a:cubicBezTo>
                    <a:cubicBezTo>
                      <a:pt x="1656" y="1207"/>
                      <a:pt x="1728" y="1183"/>
                      <a:pt x="1728" y="1183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BFBF7C"/>
                  </a:gs>
                  <a:gs pos="100000">
                    <a:srgbClr val="585839"/>
                  </a:gs>
                </a:gsLst>
                <a:lin ang="0" scaled="1"/>
              </a:gradFill>
              <a:ln w="3175">
                <a:noFill/>
                <a:round/>
                <a:headEnd type="none" w="sm" len="sm"/>
                <a:tailEnd type="none" w="sm" len="sm"/>
              </a:ln>
            </p:spPr>
            <p:txBody>
              <a:bodyPr rot="10800000" lIns="88029" tIns="44015" rIns="88029" bIns="44015" anchor="ctr"/>
              <a:lstStyle/>
              <a:p>
                <a:endParaRPr lang="ko-KR" altLang="en-US"/>
              </a:p>
            </p:txBody>
          </p:sp>
          <p:sp>
            <p:nvSpPr>
              <p:cNvPr id="65" name="Text Box 47"/>
              <p:cNvSpPr txBox="1">
                <a:spLocks noChangeArrowheads="1"/>
              </p:cNvSpPr>
              <p:nvPr/>
            </p:nvSpPr>
            <p:spPr bwMode="gray">
              <a:xfrm>
                <a:off x="2119" y="1246"/>
                <a:ext cx="776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88029" tIns="44015" rIns="88029" bIns="44015" anchor="ctr"/>
              <a:lstStyle/>
              <a:p>
                <a:pPr defTabSz="881063">
                  <a:defRPr/>
                </a:pPr>
                <a:r>
                  <a:rPr lang="ko-KR" altLang="en-US" sz="1400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맑은 고딕" pitchFamily="50" charset="-127"/>
                    <a:ea typeface="맑은 고딕" pitchFamily="50" charset="-127"/>
                  </a:rPr>
                  <a:t>개발</a:t>
                </a:r>
              </a:p>
              <a:p>
                <a:pPr defTabSz="881063">
                  <a:defRPr/>
                </a:pPr>
                <a:r>
                  <a:rPr lang="ko-KR" altLang="en-US" sz="1400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맑은 고딕" pitchFamily="50" charset="-127"/>
                    <a:ea typeface="맑은 고딕" pitchFamily="50" charset="-127"/>
                  </a:rPr>
                  <a:t>생산성</a:t>
                </a:r>
              </a:p>
            </p:txBody>
          </p:sp>
        </p:grpSp>
      </p:grpSp>
      <p:grpSp>
        <p:nvGrpSpPr>
          <p:cNvPr id="75" name="Group 53"/>
          <p:cNvGrpSpPr>
            <a:grpSpLocks/>
          </p:cNvGrpSpPr>
          <p:nvPr/>
        </p:nvGrpSpPr>
        <p:grpSpPr bwMode="auto">
          <a:xfrm>
            <a:off x="729192" y="4401389"/>
            <a:ext cx="8557683" cy="1769451"/>
            <a:chOff x="448" y="4060"/>
            <a:chExt cx="3506" cy="1610"/>
          </a:xfrm>
        </p:grpSpPr>
        <p:sp>
          <p:nvSpPr>
            <p:cNvPr id="76" name="Rectangle 25"/>
            <p:cNvSpPr>
              <a:spLocks noChangeArrowheads="1"/>
            </p:cNvSpPr>
            <p:nvPr/>
          </p:nvSpPr>
          <p:spPr bwMode="auto">
            <a:xfrm>
              <a:off x="448" y="5486"/>
              <a:ext cx="888" cy="182"/>
            </a:xfrm>
            <a:prstGeom prst="rect">
              <a:avLst/>
            </a:prstGeom>
            <a:gradFill rotWithShape="1">
              <a:gsLst>
                <a:gs pos="0">
                  <a:schemeClr val="folHlink"/>
                </a:gs>
                <a:gs pos="50000">
                  <a:schemeClr val="folHlink">
                    <a:gamma/>
                    <a:tint val="50196"/>
                    <a:invGamma/>
                  </a:schemeClr>
                </a:gs>
                <a:gs pos="100000">
                  <a:schemeClr val="folHlink"/>
                </a:gs>
              </a:gsLst>
              <a:lin ang="2700000" scaled="1"/>
            </a:gradFill>
            <a:ln w="12700" algn="ctr">
              <a:solidFill>
                <a:srgbClr val="A1A1D1"/>
              </a:solidFill>
              <a:miter lim="800000"/>
              <a:headEnd/>
              <a:tailEnd type="none" w="sm" len="sm"/>
            </a:ln>
            <a:effectLst/>
          </p:spPr>
          <p:txBody>
            <a:bodyPr lIns="127115" tIns="63558" rIns="127115" bIns="63558" anchor="ctr"/>
            <a:lstStyle/>
            <a:p>
              <a:pPr>
                <a:defRPr/>
              </a:pPr>
              <a:r>
                <a:rPr lang="ko-KR" altLang="en-US" sz="1200">
                  <a:latin typeface="맑은 고딕" pitchFamily="50" charset="-127"/>
                  <a:ea typeface="맑은 고딕" pitchFamily="50" charset="-127"/>
                </a:rPr>
                <a:t>개발 </a:t>
              </a:r>
              <a:r>
                <a:rPr lang="en-US" altLang="ko-KR" sz="1200">
                  <a:latin typeface="맑은 고딕" pitchFamily="50" charset="-127"/>
                  <a:ea typeface="맑은 고딕" pitchFamily="50" charset="-127"/>
                </a:rPr>
                <a:t>IDE</a:t>
              </a:r>
            </a:p>
          </p:txBody>
        </p:sp>
        <p:sp>
          <p:nvSpPr>
            <p:cNvPr id="77" name="Rectangle 26"/>
            <p:cNvSpPr>
              <a:spLocks noChangeArrowheads="1"/>
            </p:cNvSpPr>
            <p:nvPr/>
          </p:nvSpPr>
          <p:spPr bwMode="auto">
            <a:xfrm>
              <a:off x="1384" y="5486"/>
              <a:ext cx="2565" cy="184"/>
            </a:xfrm>
            <a:prstGeom prst="rect">
              <a:avLst/>
            </a:prstGeom>
            <a:solidFill>
              <a:srgbClr val="F2F6F8"/>
            </a:solidFill>
            <a:ln w="12700" algn="ctr">
              <a:solidFill>
                <a:srgbClr val="A1A1D1"/>
              </a:solidFill>
              <a:miter lim="800000"/>
              <a:headEnd/>
              <a:tailEnd type="none" w="sm" len="sm"/>
            </a:ln>
          </p:spPr>
          <p:txBody>
            <a:bodyPr lIns="127115" tIns="63558" rIns="127115" bIns="63558" anchor="ctr"/>
            <a:lstStyle/>
            <a:p>
              <a:pPr algn="l"/>
              <a:r>
                <a:rPr lang="en-US" altLang="ko-KR" sz="1200">
                  <a:latin typeface="맑은 고딕" pitchFamily="50" charset="-127"/>
                  <a:ea typeface="맑은 고딕" pitchFamily="50" charset="-127"/>
                </a:rPr>
                <a:t>Eclipse</a:t>
              </a:r>
              <a:r>
                <a:rPr lang="ko-KR" altLang="en-US" sz="1200">
                  <a:latin typeface="맑은 고딕" pitchFamily="50" charset="-127"/>
                  <a:ea typeface="맑은 고딕" pitchFamily="50" charset="-127"/>
                </a:rPr>
                <a:t>지원</a:t>
              </a:r>
            </a:p>
          </p:txBody>
        </p:sp>
        <p:sp>
          <p:nvSpPr>
            <p:cNvPr id="78" name="Rectangle 27"/>
            <p:cNvSpPr>
              <a:spLocks noChangeArrowheads="1"/>
            </p:cNvSpPr>
            <p:nvPr/>
          </p:nvSpPr>
          <p:spPr bwMode="auto">
            <a:xfrm>
              <a:off x="757" y="5261"/>
              <a:ext cx="888" cy="181"/>
            </a:xfrm>
            <a:prstGeom prst="rect">
              <a:avLst/>
            </a:prstGeom>
            <a:gradFill rotWithShape="1">
              <a:gsLst>
                <a:gs pos="0">
                  <a:schemeClr val="folHlink"/>
                </a:gs>
                <a:gs pos="50000">
                  <a:schemeClr val="folHlink">
                    <a:gamma/>
                    <a:tint val="50196"/>
                    <a:invGamma/>
                  </a:schemeClr>
                </a:gs>
                <a:gs pos="100000">
                  <a:schemeClr val="folHlink"/>
                </a:gs>
              </a:gsLst>
              <a:lin ang="2700000" scaled="1"/>
            </a:gradFill>
            <a:ln w="12700" algn="ctr">
              <a:solidFill>
                <a:srgbClr val="A1A1D1"/>
              </a:solidFill>
              <a:miter lim="800000"/>
              <a:headEnd/>
              <a:tailEnd type="none" w="sm" len="sm"/>
            </a:ln>
            <a:effectLst/>
          </p:spPr>
          <p:txBody>
            <a:bodyPr lIns="127115" tIns="63558" rIns="127115" bIns="63558" anchor="ctr"/>
            <a:lstStyle/>
            <a:p>
              <a:pPr>
                <a:defRPr/>
              </a:pPr>
              <a:r>
                <a:rPr lang="ko-KR" altLang="en-US" sz="1200">
                  <a:latin typeface="맑은 고딕" pitchFamily="50" charset="-127"/>
                  <a:ea typeface="맑은 고딕" pitchFamily="50" charset="-127"/>
                </a:rPr>
                <a:t>개발소스 관리</a:t>
              </a:r>
            </a:p>
          </p:txBody>
        </p:sp>
        <p:sp>
          <p:nvSpPr>
            <p:cNvPr id="79" name="Rectangle 28"/>
            <p:cNvSpPr>
              <a:spLocks noChangeArrowheads="1"/>
            </p:cNvSpPr>
            <p:nvPr/>
          </p:nvSpPr>
          <p:spPr bwMode="auto">
            <a:xfrm>
              <a:off x="1693" y="5260"/>
              <a:ext cx="2256" cy="184"/>
            </a:xfrm>
            <a:prstGeom prst="rect">
              <a:avLst/>
            </a:prstGeom>
            <a:solidFill>
              <a:srgbClr val="F2F6F8"/>
            </a:solidFill>
            <a:ln w="12700" algn="ctr">
              <a:solidFill>
                <a:srgbClr val="A1A1D1"/>
              </a:solidFill>
              <a:miter lim="800000"/>
              <a:headEnd/>
              <a:tailEnd type="none" w="sm" len="sm"/>
            </a:ln>
          </p:spPr>
          <p:txBody>
            <a:bodyPr lIns="127115" tIns="63558" rIns="127115" bIns="63558" anchor="ctr"/>
            <a:lstStyle/>
            <a:p>
              <a:pPr algn="l"/>
              <a:r>
                <a:rPr lang="en-US" altLang="ko-KR" sz="1200" dirty="0">
                  <a:latin typeface="맑은 고딕" pitchFamily="50" charset="-127"/>
                  <a:ea typeface="맑은 고딕" pitchFamily="50" charset="-127"/>
                </a:rPr>
                <a:t>SVN, CVO, VSS </a:t>
              </a:r>
              <a:r>
                <a:rPr lang="ko-KR" altLang="en-US" sz="1200" dirty="0">
                  <a:latin typeface="맑은 고딕" pitchFamily="50" charset="-127"/>
                  <a:ea typeface="맑은 고딕" pitchFamily="50" charset="-127"/>
                </a:rPr>
                <a:t>지원</a:t>
              </a:r>
            </a:p>
          </p:txBody>
        </p:sp>
        <p:sp>
          <p:nvSpPr>
            <p:cNvPr id="80" name="Rectangle 29"/>
            <p:cNvSpPr>
              <a:spLocks noChangeArrowheads="1"/>
            </p:cNvSpPr>
            <p:nvPr/>
          </p:nvSpPr>
          <p:spPr bwMode="auto">
            <a:xfrm>
              <a:off x="1048" y="5034"/>
              <a:ext cx="888" cy="183"/>
            </a:xfrm>
            <a:prstGeom prst="rect">
              <a:avLst/>
            </a:prstGeom>
            <a:gradFill rotWithShape="1">
              <a:gsLst>
                <a:gs pos="0">
                  <a:schemeClr val="folHlink"/>
                </a:gs>
                <a:gs pos="50000">
                  <a:schemeClr val="folHlink">
                    <a:gamma/>
                    <a:tint val="50196"/>
                    <a:invGamma/>
                  </a:schemeClr>
                </a:gs>
                <a:gs pos="100000">
                  <a:schemeClr val="folHlink"/>
                </a:gs>
              </a:gsLst>
              <a:lin ang="2700000" scaled="1"/>
            </a:gradFill>
            <a:ln w="12700" algn="ctr">
              <a:solidFill>
                <a:srgbClr val="A1A1D1"/>
              </a:solidFill>
              <a:miter lim="800000"/>
              <a:headEnd/>
              <a:tailEnd type="none" w="sm" len="sm"/>
            </a:ln>
            <a:effectLst/>
          </p:spPr>
          <p:txBody>
            <a:bodyPr lIns="127115" tIns="63558" rIns="127115" bIns="63558" anchor="ctr"/>
            <a:lstStyle/>
            <a:p>
              <a:pPr>
                <a:defRPr/>
              </a:pPr>
              <a:r>
                <a:rPr lang="en-US" altLang="ko-KR" sz="1200">
                  <a:latin typeface="맑은 고딕" pitchFamily="50" charset="-127"/>
                  <a:ea typeface="맑은 고딕" pitchFamily="50" charset="-127"/>
                </a:rPr>
                <a:t>Grid </a:t>
              </a:r>
              <a:r>
                <a:rPr lang="ko-KR" altLang="en-US" sz="1200">
                  <a:latin typeface="맑은 고딕" pitchFamily="50" charset="-127"/>
                  <a:ea typeface="맑은 고딕" pitchFamily="50" charset="-127"/>
                </a:rPr>
                <a:t>지원</a:t>
              </a:r>
            </a:p>
          </p:txBody>
        </p:sp>
        <p:sp>
          <p:nvSpPr>
            <p:cNvPr id="81" name="Rectangle 30"/>
            <p:cNvSpPr>
              <a:spLocks noChangeArrowheads="1"/>
            </p:cNvSpPr>
            <p:nvPr/>
          </p:nvSpPr>
          <p:spPr bwMode="auto">
            <a:xfrm>
              <a:off x="1985" y="5033"/>
              <a:ext cx="1964" cy="184"/>
            </a:xfrm>
            <a:prstGeom prst="rect">
              <a:avLst/>
            </a:prstGeom>
            <a:solidFill>
              <a:srgbClr val="F2F6F8"/>
            </a:solidFill>
            <a:ln w="12700" algn="ctr">
              <a:solidFill>
                <a:srgbClr val="A1A1D1"/>
              </a:solidFill>
              <a:miter lim="800000"/>
              <a:headEnd/>
              <a:tailEnd type="none" w="sm" len="sm"/>
            </a:ln>
          </p:spPr>
          <p:txBody>
            <a:bodyPr lIns="127115" tIns="63558" rIns="127115" bIns="63558" anchor="ctr"/>
            <a:lstStyle/>
            <a:p>
              <a:pPr algn="l"/>
              <a:r>
                <a:rPr lang="en-US" altLang="ko-KR" sz="1200">
                  <a:latin typeface="맑은 고딕" pitchFamily="50" charset="-127"/>
                  <a:ea typeface="맑은 고딕" pitchFamily="50" charset="-127"/>
                </a:rPr>
                <a:t>M2M Grid, </a:t>
              </a:r>
              <a:r>
                <a:rPr lang="ko-KR" altLang="en-US" sz="1200">
                  <a:latin typeface="맑은 고딕" pitchFamily="50" charset="-127"/>
                  <a:ea typeface="맑은 고딕" pitchFamily="50" charset="-127"/>
                </a:rPr>
                <a:t>기타 상용 </a:t>
              </a:r>
              <a:r>
                <a:rPr lang="en-US" altLang="ko-KR" sz="1200">
                  <a:latin typeface="맑은 고딕" pitchFamily="50" charset="-127"/>
                  <a:ea typeface="맑은 고딕" pitchFamily="50" charset="-127"/>
                </a:rPr>
                <a:t>Grid</a:t>
              </a:r>
              <a:r>
                <a:rPr lang="ko-KR" altLang="en-US" sz="1200">
                  <a:latin typeface="맑은 고딕" pitchFamily="50" charset="-127"/>
                  <a:ea typeface="맑은 고딕" pitchFamily="50" charset="-127"/>
                </a:rPr>
                <a:t>등 지원</a:t>
              </a:r>
            </a:p>
          </p:txBody>
        </p:sp>
        <p:sp>
          <p:nvSpPr>
            <p:cNvPr id="82" name="Rectangle 37"/>
            <p:cNvSpPr>
              <a:spLocks noChangeArrowheads="1"/>
            </p:cNvSpPr>
            <p:nvPr/>
          </p:nvSpPr>
          <p:spPr bwMode="auto">
            <a:xfrm>
              <a:off x="1335" y="4804"/>
              <a:ext cx="888" cy="183"/>
            </a:xfrm>
            <a:prstGeom prst="rect">
              <a:avLst/>
            </a:prstGeom>
            <a:gradFill rotWithShape="1">
              <a:gsLst>
                <a:gs pos="0">
                  <a:schemeClr val="folHlink"/>
                </a:gs>
                <a:gs pos="50000">
                  <a:schemeClr val="folHlink">
                    <a:gamma/>
                    <a:tint val="50196"/>
                    <a:invGamma/>
                  </a:schemeClr>
                </a:gs>
                <a:gs pos="100000">
                  <a:schemeClr val="folHlink"/>
                </a:gs>
              </a:gsLst>
              <a:lin ang="2700000" scaled="1"/>
            </a:gradFill>
            <a:ln w="12700" algn="ctr">
              <a:solidFill>
                <a:srgbClr val="A1A1D1"/>
              </a:solidFill>
              <a:miter lim="800000"/>
              <a:headEnd/>
              <a:tailEnd type="none" w="sm" len="sm"/>
            </a:ln>
            <a:effectLst/>
          </p:spPr>
          <p:txBody>
            <a:bodyPr lIns="127115" tIns="63558" rIns="127115" bIns="63558" anchor="ctr"/>
            <a:lstStyle/>
            <a:p>
              <a:pPr>
                <a:defRPr/>
              </a:pPr>
              <a:r>
                <a:rPr lang="en-US" altLang="ko-KR" sz="1200">
                  <a:latin typeface="맑은 고딕" pitchFamily="50" charset="-127"/>
                  <a:ea typeface="맑은 고딕" pitchFamily="50" charset="-127"/>
                </a:rPr>
                <a:t>WAS </a:t>
              </a:r>
              <a:r>
                <a:rPr lang="ko-KR" altLang="en-US" sz="1200">
                  <a:latin typeface="맑은 고딕" pitchFamily="50" charset="-127"/>
                  <a:ea typeface="맑은 고딕" pitchFamily="50" charset="-127"/>
                </a:rPr>
                <a:t>지원</a:t>
              </a:r>
            </a:p>
          </p:txBody>
        </p:sp>
        <p:sp>
          <p:nvSpPr>
            <p:cNvPr id="83" name="Rectangle 38"/>
            <p:cNvSpPr>
              <a:spLocks noChangeArrowheads="1"/>
            </p:cNvSpPr>
            <p:nvPr/>
          </p:nvSpPr>
          <p:spPr bwMode="auto">
            <a:xfrm>
              <a:off x="2271" y="4803"/>
              <a:ext cx="1678" cy="185"/>
            </a:xfrm>
            <a:prstGeom prst="rect">
              <a:avLst/>
            </a:prstGeom>
            <a:solidFill>
              <a:srgbClr val="F2F6F8"/>
            </a:solidFill>
            <a:ln w="12700" algn="ctr">
              <a:solidFill>
                <a:srgbClr val="A1A1D1"/>
              </a:solidFill>
              <a:miter lim="800000"/>
              <a:headEnd/>
              <a:tailEnd type="none" w="sm" len="sm"/>
            </a:ln>
          </p:spPr>
          <p:txBody>
            <a:bodyPr lIns="127115" tIns="63558" rIns="127115" bIns="63558" anchor="ctr"/>
            <a:lstStyle/>
            <a:p>
              <a:pPr algn="l"/>
              <a:r>
                <a:rPr lang="en-US" altLang="ko-KR" sz="1200" dirty="0">
                  <a:latin typeface="맑은 고딕" pitchFamily="50" charset="-127"/>
                  <a:ea typeface="맑은 고딕" pitchFamily="50" charset="-127"/>
                </a:rPr>
                <a:t>Tomcat, JEUS, Web Logic </a:t>
              </a:r>
              <a:r>
                <a:rPr lang="ko-KR" altLang="en-US" sz="1200" dirty="0">
                  <a:latin typeface="맑은 고딕" pitchFamily="50" charset="-127"/>
                  <a:ea typeface="맑은 고딕" pitchFamily="50" charset="-127"/>
                </a:rPr>
                <a:t>등 지원</a:t>
              </a:r>
            </a:p>
          </p:txBody>
        </p:sp>
        <p:sp>
          <p:nvSpPr>
            <p:cNvPr id="84" name="Rectangle 48"/>
            <p:cNvSpPr>
              <a:spLocks noChangeArrowheads="1"/>
            </p:cNvSpPr>
            <p:nvPr/>
          </p:nvSpPr>
          <p:spPr bwMode="auto">
            <a:xfrm>
              <a:off x="1646" y="4580"/>
              <a:ext cx="892" cy="182"/>
            </a:xfrm>
            <a:prstGeom prst="rect">
              <a:avLst/>
            </a:prstGeom>
            <a:gradFill rotWithShape="1">
              <a:gsLst>
                <a:gs pos="0">
                  <a:schemeClr val="folHlink"/>
                </a:gs>
                <a:gs pos="50000">
                  <a:schemeClr val="folHlink">
                    <a:gamma/>
                    <a:tint val="50196"/>
                    <a:invGamma/>
                  </a:schemeClr>
                </a:gs>
                <a:gs pos="100000">
                  <a:schemeClr val="folHlink"/>
                </a:gs>
              </a:gsLst>
              <a:lin ang="2700000" scaled="1"/>
            </a:gradFill>
            <a:ln w="12700" algn="ctr">
              <a:solidFill>
                <a:srgbClr val="A1A1D1"/>
              </a:solidFill>
              <a:miter lim="800000"/>
              <a:headEnd/>
              <a:tailEnd type="none" w="sm" len="sm"/>
            </a:ln>
            <a:effectLst/>
          </p:spPr>
          <p:txBody>
            <a:bodyPr lIns="127115" tIns="63558" rIns="127115" bIns="63558" anchor="ctr"/>
            <a:lstStyle/>
            <a:p>
              <a:pPr>
                <a:defRPr/>
              </a:pPr>
              <a:r>
                <a:rPr lang="ko-KR" altLang="en-US" sz="1200"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en-US" altLang="ko-KR" sz="1200">
                  <a:latin typeface="맑은 고딕" pitchFamily="50" charset="-127"/>
                  <a:ea typeface="맑은 고딕" pitchFamily="50" charset="-127"/>
                </a:rPr>
                <a:t>Web2.0</a:t>
              </a:r>
              <a:r>
                <a:rPr lang="ko-KR" altLang="en-US" sz="1200">
                  <a:latin typeface="맑은 고딕" pitchFamily="50" charset="-127"/>
                  <a:ea typeface="맑은 고딕" pitchFamily="50" charset="-127"/>
                </a:rPr>
                <a:t>지원</a:t>
              </a:r>
            </a:p>
          </p:txBody>
        </p:sp>
        <p:sp>
          <p:nvSpPr>
            <p:cNvPr id="85" name="Rectangle 49"/>
            <p:cNvSpPr>
              <a:spLocks noChangeArrowheads="1"/>
            </p:cNvSpPr>
            <p:nvPr/>
          </p:nvSpPr>
          <p:spPr bwMode="auto">
            <a:xfrm>
              <a:off x="2583" y="4579"/>
              <a:ext cx="1361" cy="184"/>
            </a:xfrm>
            <a:prstGeom prst="rect">
              <a:avLst/>
            </a:prstGeom>
            <a:solidFill>
              <a:srgbClr val="F2F6F8"/>
            </a:solidFill>
            <a:ln w="12700" algn="ctr">
              <a:solidFill>
                <a:srgbClr val="A1A1D1"/>
              </a:solidFill>
              <a:miter lim="800000"/>
              <a:headEnd/>
              <a:tailEnd type="none" w="sm" len="sm"/>
            </a:ln>
          </p:spPr>
          <p:txBody>
            <a:bodyPr lIns="127115" tIns="63558" rIns="127115" bIns="63558" anchor="ctr"/>
            <a:lstStyle/>
            <a:p>
              <a:pPr algn="l"/>
              <a:r>
                <a:rPr lang="en-US" altLang="ko-KR" sz="1200">
                  <a:latin typeface="맑은 고딕" pitchFamily="50" charset="-127"/>
                  <a:ea typeface="맑은 고딕" pitchFamily="50" charset="-127"/>
                </a:rPr>
                <a:t>Open Source </a:t>
              </a:r>
              <a:r>
                <a:rPr lang="ko-KR" altLang="en-US" sz="1200">
                  <a:latin typeface="맑은 고딕" pitchFamily="50" charset="-127"/>
                  <a:ea typeface="맑은 고딕" pitchFamily="50" charset="-127"/>
                </a:rPr>
                <a:t>콤포넌트 지원</a:t>
              </a:r>
            </a:p>
          </p:txBody>
        </p:sp>
        <p:sp>
          <p:nvSpPr>
            <p:cNvPr id="86" name="Rectangle 50"/>
            <p:cNvSpPr>
              <a:spLocks noChangeArrowheads="1"/>
            </p:cNvSpPr>
            <p:nvPr/>
          </p:nvSpPr>
          <p:spPr bwMode="auto">
            <a:xfrm>
              <a:off x="1971" y="4363"/>
              <a:ext cx="889" cy="183"/>
            </a:xfrm>
            <a:prstGeom prst="rect">
              <a:avLst/>
            </a:prstGeom>
            <a:gradFill rotWithShape="1">
              <a:gsLst>
                <a:gs pos="0">
                  <a:schemeClr val="folHlink"/>
                </a:gs>
                <a:gs pos="50000">
                  <a:schemeClr val="folHlink">
                    <a:gamma/>
                    <a:tint val="50196"/>
                    <a:invGamma/>
                  </a:schemeClr>
                </a:gs>
                <a:gs pos="100000">
                  <a:schemeClr val="folHlink"/>
                </a:gs>
              </a:gsLst>
              <a:lin ang="2700000" scaled="1"/>
            </a:gradFill>
            <a:ln w="12700" algn="ctr">
              <a:solidFill>
                <a:srgbClr val="A1A1D1"/>
              </a:solidFill>
              <a:miter lim="800000"/>
              <a:headEnd/>
              <a:tailEnd type="none" w="sm" len="sm"/>
            </a:ln>
            <a:effectLst/>
          </p:spPr>
          <p:txBody>
            <a:bodyPr lIns="127115" tIns="63558" rIns="127115" bIns="63558" anchor="ctr"/>
            <a:lstStyle/>
            <a:p>
              <a:pPr>
                <a:defRPr/>
              </a:pPr>
              <a:r>
                <a:rPr lang="ko-KR" altLang="en-US" sz="1200">
                  <a:latin typeface="맑은 고딕" pitchFamily="50" charset="-127"/>
                  <a:ea typeface="맑은 고딕" pitchFamily="50" charset="-127"/>
                </a:rPr>
                <a:t>기반프로그램제공</a:t>
              </a:r>
            </a:p>
          </p:txBody>
        </p:sp>
        <p:sp>
          <p:nvSpPr>
            <p:cNvPr id="87" name="Rectangle 51"/>
            <p:cNvSpPr>
              <a:spLocks noChangeArrowheads="1"/>
            </p:cNvSpPr>
            <p:nvPr/>
          </p:nvSpPr>
          <p:spPr bwMode="auto">
            <a:xfrm>
              <a:off x="2914" y="4363"/>
              <a:ext cx="1040" cy="185"/>
            </a:xfrm>
            <a:prstGeom prst="rect">
              <a:avLst/>
            </a:prstGeom>
            <a:solidFill>
              <a:srgbClr val="F2F6F8"/>
            </a:solidFill>
            <a:ln w="12700" algn="ctr">
              <a:solidFill>
                <a:srgbClr val="A1A1D1"/>
              </a:solidFill>
              <a:miter lim="800000"/>
              <a:headEnd/>
              <a:tailEnd type="none" w="sm" len="sm"/>
            </a:ln>
          </p:spPr>
          <p:txBody>
            <a:bodyPr lIns="127115" tIns="63558" rIns="127115" bIns="63558" anchor="ctr"/>
            <a:lstStyle/>
            <a:p>
              <a:pPr algn="l"/>
              <a:r>
                <a:rPr lang="ko-KR" altLang="en-US" sz="1000">
                  <a:latin typeface="맑은 고딕" pitchFamily="50" charset="-127"/>
                  <a:ea typeface="맑은 고딕" pitchFamily="50" charset="-127"/>
                </a:rPr>
                <a:t>사용자관리</a:t>
              </a:r>
              <a:r>
                <a:rPr lang="en-US" altLang="ko-KR" sz="1000">
                  <a:latin typeface="맑은 고딕" pitchFamily="50" charset="-127"/>
                  <a:ea typeface="맑은 고딕" pitchFamily="50" charset="-127"/>
                </a:rPr>
                <a:t>,</a:t>
              </a:r>
              <a:r>
                <a:rPr lang="ko-KR" altLang="en-US" sz="1000">
                  <a:latin typeface="맑은 고딕" pitchFamily="50" charset="-127"/>
                  <a:ea typeface="맑은 고딕" pitchFamily="50" charset="-127"/>
                </a:rPr>
                <a:t>메뉴관리</a:t>
              </a:r>
              <a:r>
                <a:rPr lang="en-US" altLang="ko-KR" sz="1000">
                  <a:latin typeface="맑은 고딕" pitchFamily="50" charset="-127"/>
                  <a:ea typeface="맑은 고딕" pitchFamily="50" charset="-127"/>
                </a:rPr>
                <a:t>,</a:t>
              </a:r>
            </a:p>
            <a:p>
              <a:pPr algn="l"/>
              <a:r>
                <a:rPr lang="ko-KR" altLang="en-US" sz="1000">
                  <a:latin typeface="맑은 고딕" pitchFamily="50" charset="-127"/>
                  <a:ea typeface="맑은 고딕" pitchFamily="50" charset="-127"/>
                </a:rPr>
                <a:t>프로그램관리</a:t>
              </a:r>
              <a:r>
                <a:rPr lang="en-US" altLang="ko-KR" sz="1000"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>
                  <a:latin typeface="맑은 고딕" pitchFamily="50" charset="-127"/>
                  <a:ea typeface="맑은 고딕" pitchFamily="50" charset="-127"/>
                </a:rPr>
                <a:t>권한관리</a:t>
              </a:r>
            </a:p>
          </p:txBody>
        </p:sp>
        <p:grpSp>
          <p:nvGrpSpPr>
            <p:cNvPr id="88" name="그룹 95"/>
            <p:cNvGrpSpPr>
              <a:grpSpLocks/>
            </p:cNvGrpSpPr>
            <p:nvPr/>
          </p:nvGrpSpPr>
          <p:grpSpPr bwMode="auto">
            <a:xfrm>
              <a:off x="2264" y="4060"/>
              <a:ext cx="1685" cy="280"/>
              <a:chOff x="5930900" y="3288058"/>
              <a:chExt cx="2652712" cy="397800"/>
            </a:xfrm>
          </p:grpSpPr>
          <p:sp>
            <p:nvSpPr>
              <p:cNvPr id="89" name="AutoShape 26"/>
              <p:cNvSpPr>
                <a:spLocks noChangeArrowheads="1"/>
              </p:cNvSpPr>
              <p:nvPr/>
            </p:nvSpPr>
            <p:spPr bwMode="auto">
              <a:xfrm>
                <a:off x="5930900" y="3344005"/>
                <a:ext cx="2652712" cy="282536"/>
              </a:xfrm>
              <a:prstGeom prst="roundRect">
                <a:avLst>
                  <a:gd name="adj" fmla="val 43125"/>
                </a:avLst>
              </a:prstGeom>
              <a:solidFill>
                <a:srgbClr val="A1C8CB"/>
              </a:solidFill>
              <a:ln w="9525">
                <a:noFill/>
                <a:round/>
                <a:headEnd/>
                <a:tailEnd/>
              </a:ln>
              <a:effectLst>
                <a:prstShdw prst="shdw17" dist="17961" dir="2700000">
                  <a:srgbClr val="61787A"/>
                </a:prstShdw>
              </a:effectLst>
            </p:spPr>
            <p:txBody>
              <a:bodyPr wrap="none" anchor="ctr"/>
              <a:lstStyle/>
              <a:p>
                <a:pPr algn="l">
                  <a:lnSpc>
                    <a:spcPct val="110000"/>
                  </a:lnSpc>
                </a:pPr>
                <a:endParaRPr lang="ko-KR" altLang="en-US" sz="1600">
                  <a:solidFill>
                    <a:srgbClr val="000066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90" name="AutoShape 27"/>
              <p:cNvSpPr>
                <a:spLocks noChangeArrowheads="1"/>
              </p:cNvSpPr>
              <p:nvPr/>
            </p:nvSpPr>
            <p:spPr bwMode="auto">
              <a:xfrm>
                <a:off x="5959552" y="3378672"/>
                <a:ext cx="2588245" cy="213202"/>
              </a:xfrm>
              <a:prstGeom prst="roundRect">
                <a:avLst>
                  <a:gd name="adj" fmla="val 43125"/>
                </a:avLst>
              </a:prstGeom>
              <a:solidFill>
                <a:srgbClr val="46787C"/>
              </a:solidFill>
              <a:ln w="9525">
                <a:noFill/>
                <a:round/>
                <a:headEnd/>
                <a:tailEnd/>
              </a:ln>
              <a:effectLst>
                <a:prstShdw prst="shdw17" dist="17961" dir="13500000">
                  <a:srgbClr val="2A484A"/>
                </a:prstShdw>
              </a:effectLst>
            </p:spPr>
            <p:txBody>
              <a:bodyPr wrap="none" anchor="ctr"/>
              <a:lstStyle/>
              <a:p>
                <a:pPr algn="l">
                  <a:lnSpc>
                    <a:spcPct val="110000"/>
                  </a:lnSpc>
                </a:pPr>
                <a:endParaRPr lang="ko-KR" altLang="en-US" sz="1600">
                  <a:solidFill>
                    <a:srgbClr val="000066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91" name="Text Box 28"/>
              <p:cNvSpPr txBox="1">
                <a:spLocks noChangeArrowheads="1"/>
              </p:cNvSpPr>
              <p:nvPr/>
            </p:nvSpPr>
            <p:spPr bwMode="auto">
              <a:xfrm>
                <a:off x="6009196" y="3288058"/>
                <a:ext cx="2497988" cy="3978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ko-KR" sz="1400" dirty="0">
                    <a:solidFill>
                      <a:schemeClr val="bg1"/>
                    </a:solidFill>
                    <a:latin typeface="맑은 고딕" pitchFamily="50" charset="-127"/>
                    <a:ea typeface="맑은 고딕" pitchFamily="50" charset="-127"/>
                  </a:rPr>
                  <a:t>Open Architecture </a:t>
                </a:r>
                <a:r>
                  <a:rPr lang="ko-KR" altLang="en-US" sz="1400" dirty="0">
                    <a:solidFill>
                      <a:schemeClr val="bg1"/>
                    </a:solidFill>
                    <a:latin typeface="맑은 고딕" pitchFamily="50" charset="-127"/>
                    <a:ea typeface="맑은 고딕" pitchFamily="50" charset="-127"/>
                  </a:rPr>
                  <a:t>기반</a:t>
                </a:r>
              </a:p>
            </p:txBody>
          </p:sp>
        </p:grpSp>
      </p:grpSp>
      <p:pic>
        <p:nvPicPr>
          <p:cNvPr id="92" name="Picture 8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67446" y="2214554"/>
            <a:ext cx="1457781" cy="1500725"/>
          </a:xfrm>
          <a:prstGeom prst="rect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</p:spPr>
      </p:pic>
      <p:sp>
        <p:nvSpPr>
          <p:cNvPr id="93" name="TextBox 92"/>
          <p:cNvSpPr txBox="1"/>
          <p:nvPr/>
        </p:nvSpPr>
        <p:spPr>
          <a:xfrm>
            <a:off x="6409163" y="3728110"/>
            <a:ext cx="16754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>
                <a:latin typeface="맑은 고딕" pitchFamily="50" charset="-127"/>
                <a:ea typeface="맑은 고딕" pitchFamily="50" charset="-127"/>
              </a:rPr>
              <a:t>M2M-JDFW </a:t>
            </a:r>
            <a:r>
              <a:rPr lang="ko-KR" altLang="en-US" sz="1200" dirty="0" smtClean="0">
                <a:latin typeface="맑은 고딕" pitchFamily="50" charset="-127"/>
                <a:ea typeface="맑은 고딕" pitchFamily="50" charset="-127"/>
              </a:rPr>
              <a:t>기술활용</a:t>
            </a:r>
            <a:endParaRPr lang="ko-KR" altLang="en-US" sz="12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3" name="슬라이드 번호 개체 틀 5"/>
          <p:cNvSpPr txBox="1">
            <a:spLocks/>
          </p:cNvSpPr>
          <p:nvPr/>
        </p:nvSpPr>
        <p:spPr>
          <a:xfrm>
            <a:off x="3797300" y="6492899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b="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dirty="0" smtClean="0"/>
              <a:t>- 4</a:t>
            </a:r>
            <a:r>
              <a:rPr lang="ko-KR" altLang="en-US" dirty="0" smtClean="0"/>
              <a:t> </a:t>
            </a:r>
            <a:r>
              <a:rPr lang="en-US" altLang="ko-KR" dirty="0" smtClean="0"/>
              <a:t>-</a:t>
            </a:r>
            <a:endParaRPr lang="ko-KR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M2M-JDFW (2)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 smtClean="0"/>
              <a:t>2</a:t>
            </a:r>
            <a:endParaRPr lang="ko-KR" altLang="en-US" dirty="0"/>
          </a:p>
        </p:txBody>
      </p:sp>
      <p:sp>
        <p:nvSpPr>
          <p:cNvPr id="56" name="Rectangle 59"/>
          <p:cNvSpPr>
            <a:spLocks noChangeArrowheads="1"/>
          </p:cNvSpPr>
          <p:nvPr/>
        </p:nvSpPr>
        <p:spPr bwMode="auto">
          <a:xfrm>
            <a:off x="502180" y="1093540"/>
            <a:ext cx="8906228" cy="5217150"/>
          </a:xfrm>
          <a:prstGeom prst="rect">
            <a:avLst/>
          </a:prstGeom>
          <a:noFill/>
          <a:ln w="9525">
            <a:solidFill>
              <a:srgbClr val="3875A2"/>
            </a:solidFill>
            <a:miter lim="800000"/>
            <a:headEnd/>
            <a:tailEnd/>
          </a:ln>
          <a:effectLst>
            <a:prstShdw prst="shdw17" dist="17961" dir="2700000">
              <a:srgbClr val="224661"/>
            </a:prstShdw>
          </a:effectLst>
        </p:spPr>
        <p:txBody>
          <a:bodyPr wrap="none" anchor="ctr"/>
          <a:lstStyle/>
          <a:p>
            <a:endParaRPr lang="ko-KR" altLang="ko-KR" sz="1000" b="1"/>
          </a:p>
        </p:txBody>
      </p:sp>
      <p:sp>
        <p:nvSpPr>
          <p:cNvPr id="57" name="AutoShape 60"/>
          <p:cNvSpPr>
            <a:spLocks noChangeArrowheads="1"/>
          </p:cNvSpPr>
          <p:nvPr/>
        </p:nvSpPr>
        <p:spPr bwMode="auto">
          <a:xfrm flipV="1">
            <a:off x="515938" y="948467"/>
            <a:ext cx="8931451" cy="145073"/>
          </a:xfrm>
          <a:prstGeom prst="cube">
            <a:avLst>
              <a:gd name="adj" fmla="val 3444"/>
            </a:avLst>
          </a:prstGeom>
          <a:solidFill>
            <a:srgbClr val="71A7C5"/>
          </a:solidFill>
          <a:ln w="6350">
            <a:solidFill>
              <a:srgbClr val="384F7C"/>
            </a:solidFill>
            <a:miter lim="800000"/>
            <a:headEnd/>
            <a:tailEnd/>
          </a:ln>
        </p:spPr>
        <p:txBody>
          <a:bodyPr rot="10800000" wrap="none" anchor="ctr"/>
          <a:lstStyle/>
          <a:p>
            <a:endParaRPr lang="ko-KR" altLang="en-US"/>
          </a:p>
        </p:txBody>
      </p:sp>
      <p:grpSp>
        <p:nvGrpSpPr>
          <p:cNvPr id="58" name="Group 61"/>
          <p:cNvGrpSpPr>
            <a:grpSpLocks/>
          </p:cNvGrpSpPr>
          <p:nvPr/>
        </p:nvGrpSpPr>
        <p:grpSpPr bwMode="auto">
          <a:xfrm>
            <a:off x="632883" y="804480"/>
            <a:ext cx="4746908" cy="282451"/>
            <a:chOff x="276" y="3233"/>
            <a:chExt cx="1294" cy="257"/>
          </a:xfrm>
        </p:grpSpPr>
        <p:grpSp>
          <p:nvGrpSpPr>
            <p:cNvPr id="59" name="Group 62"/>
            <p:cNvGrpSpPr>
              <a:grpSpLocks/>
            </p:cNvGrpSpPr>
            <p:nvPr/>
          </p:nvGrpSpPr>
          <p:grpSpPr bwMode="auto">
            <a:xfrm flipV="1">
              <a:off x="276" y="3294"/>
              <a:ext cx="1294" cy="161"/>
              <a:chOff x="2019" y="1759"/>
              <a:chExt cx="2340" cy="499"/>
            </a:xfrm>
          </p:grpSpPr>
          <p:sp>
            <p:nvSpPr>
              <p:cNvPr id="61" name="AutoShape 63"/>
              <p:cNvSpPr>
                <a:spLocks noChangeArrowheads="1"/>
              </p:cNvSpPr>
              <p:nvPr/>
            </p:nvSpPr>
            <p:spPr bwMode="auto">
              <a:xfrm flipV="1">
                <a:off x="2052" y="1759"/>
                <a:ext cx="2268" cy="494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3438 w 21600"/>
                  <a:gd name="T13" fmla="*/ 3454 h 21600"/>
                  <a:gd name="T14" fmla="*/ 18162 w 21600"/>
                  <a:gd name="T15" fmla="*/ 18146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3276" y="21600"/>
                    </a:lnTo>
                    <a:lnTo>
                      <a:pt x="18324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71A7C5"/>
                  </a:gs>
                  <a:gs pos="100000">
                    <a:srgbClr val="BBE0E3"/>
                  </a:gs>
                </a:gsLst>
                <a:lin ang="5400000" scaled="1"/>
              </a:gradFill>
              <a:ln w="6350" algn="ctr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 b="1"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75" name="AutoShape 64"/>
              <p:cNvSpPr>
                <a:spLocks noChangeArrowheads="1"/>
              </p:cNvSpPr>
              <p:nvPr/>
            </p:nvSpPr>
            <p:spPr bwMode="auto">
              <a:xfrm flipV="1">
                <a:off x="2143" y="1811"/>
                <a:ext cx="2075" cy="39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3269 w 21600"/>
                  <a:gd name="T13" fmla="*/ 3256 h 21600"/>
                  <a:gd name="T14" fmla="*/ 18331 w 21600"/>
                  <a:gd name="T15" fmla="*/ 18344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2945" y="21600"/>
                    </a:lnTo>
                    <a:lnTo>
                      <a:pt x="18655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0F9FF"/>
                  </a:gs>
                  <a:gs pos="100000">
                    <a:srgbClr val="CCECFF"/>
                  </a:gs>
                </a:gsLst>
                <a:lin ang="5400000" scaled="1"/>
              </a:gradFill>
              <a:ln w="9525" algn="ctr">
                <a:solidFill>
                  <a:srgbClr val="F8F8F8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 b="1"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88" name="Freeform 65"/>
              <p:cNvSpPr>
                <a:spLocks/>
              </p:cNvSpPr>
              <p:nvPr/>
            </p:nvSpPr>
            <p:spPr bwMode="auto">
              <a:xfrm>
                <a:off x="3958" y="1759"/>
                <a:ext cx="401" cy="499"/>
              </a:xfrm>
              <a:custGeom>
                <a:avLst/>
                <a:gdLst>
                  <a:gd name="T0" fmla="*/ 0 w 545"/>
                  <a:gd name="T1" fmla="*/ 0 h 499"/>
                  <a:gd name="T2" fmla="*/ 2 w 545"/>
                  <a:gd name="T3" fmla="*/ 272 h 499"/>
                  <a:gd name="T4" fmla="*/ 2 w 545"/>
                  <a:gd name="T5" fmla="*/ 499 h 499"/>
                  <a:gd name="T6" fmla="*/ 0 w 545"/>
                  <a:gd name="T7" fmla="*/ 0 h 49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45"/>
                  <a:gd name="T13" fmla="*/ 0 h 499"/>
                  <a:gd name="T14" fmla="*/ 545 w 545"/>
                  <a:gd name="T15" fmla="*/ 499 h 49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45" h="499">
                    <a:moveTo>
                      <a:pt x="0" y="0"/>
                    </a:moveTo>
                    <a:lnTo>
                      <a:pt x="545" y="272"/>
                    </a:lnTo>
                    <a:lnTo>
                      <a:pt x="499" y="499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71A7C5"/>
                  </a:gs>
                  <a:gs pos="100000">
                    <a:srgbClr val="BBE0E3"/>
                  </a:gs>
                </a:gsLst>
                <a:lin ang="5400000" scaled="1"/>
              </a:gradFill>
              <a:ln w="6350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 rot="10800000" wrap="none" anchor="ctr"/>
              <a:lstStyle/>
              <a:p>
                <a:endParaRPr lang="ko-KR" altLang="en-US" b="1"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94" name="Freeform 66"/>
              <p:cNvSpPr>
                <a:spLocks/>
              </p:cNvSpPr>
              <p:nvPr/>
            </p:nvSpPr>
            <p:spPr bwMode="auto">
              <a:xfrm flipH="1">
                <a:off x="2019" y="1759"/>
                <a:ext cx="384" cy="499"/>
              </a:xfrm>
              <a:custGeom>
                <a:avLst/>
                <a:gdLst>
                  <a:gd name="T0" fmla="*/ 0 w 545"/>
                  <a:gd name="T1" fmla="*/ 0 h 499"/>
                  <a:gd name="T2" fmla="*/ 1 w 545"/>
                  <a:gd name="T3" fmla="*/ 272 h 499"/>
                  <a:gd name="T4" fmla="*/ 1 w 545"/>
                  <a:gd name="T5" fmla="*/ 499 h 499"/>
                  <a:gd name="T6" fmla="*/ 0 w 545"/>
                  <a:gd name="T7" fmla="*/ 0 h 49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45"/>
                  <a:gd name="T13" fmla="*/ 0 h 499"/>
                  <a:gd name="T14" fmla="*/ 545 w 545"/>
                  <a:gd name="T15" fmla="*/ 499 h 49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45" h="499">
                    <a:moveTo>
                      <a:pt x="0" y="0"/>
                    </a:moveTo>
                    <a:lnTo>
                      <a:pt x="545" y="272"/>
                    </a:lnTo>
                    <a:lnTo>
                      <a:pt x="499" y="499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71A7C5"/>
                  </a:gs>
                  <a:gs pos="100000">
                    <a:srgbClr val="BBE0E3"/>
                  </a:gs>
                </a:gsLst>
                <a:lin ang="5400000" scaled="1"/>
              </a:gradFill>
              <a:ln w="6350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 rot="10800000" wrap="none" anchor="ctr"/>
              <a:lstStyle/>
              <a:p>
                <a:endParaRPr lang="ko-KR" altLang="en-US" b="1">
                  <a:latin typeface="맑은 고딕" pitchFamily="50" charset="-127"/>
                  <a:ea typeface="맑은 고딕" pitchFamily="50" charset="-127"/>
                </a:endParaRPr>
              </a:p>
            </p:txBody>
          </p:sp>
        </p:grpSp>
        <p:sp>
          <p:nvSpPr>
            <p:cNvPr id="60" name="Text Box 67"/>
            <p:cNvSpPr txBox="1">
              <a:spLocks noChangeArrowheads="1"/>
            </p:cNvSpPr>
            <p:nvPr/>
          </p:nvSpPr>
          <p:spPr bwMode="auto">
            <a:xfrm>
              <a:off x="482" y="3233"/>
              <a:ext cx="1056" cy="2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81253" tIns="40628" rIns="81253" bIns="40628">
              <a:spAutoFit/>
            </a:bodyPr>
            <a:lstStyle/>
            <a:p>
              <a:pPr defTabSz="811213" eaLnBrk="0" latinLnBrk="0" hangingPunct="0"/>
              <a:r>
                <a:rPr kumimoji="0" lang="ko-KR" altLang="en-US" sz="1300" b="1" dirty="0" smtClean="0">
                  <a:latin typeface="맑은 고딕" pitchFamily="50" charset="-127"/>
                  <a:ea typeface="맑은 고딕" pitchFamily="50" charset="-127"/>
                </a:rPr>
                <a:t>개발표준프레임워크</a:t>
              </a:r>
              <a:r>
                <a:rPr kumimoji="0" lang="en-US" altLang="en-US" sz="1300" b="1" dirty="0" smtClean="0"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kumimoji="0" lang="ko-KR" altLang="en-US" sz="1300" b="1" dirty="0" smtClean="0">
                  <a:latin typeface="맑은 고딕" pitchFamily="50" charset="-127"/>
                  <a:ea typeface="맑은 고딕" pitchFamily="50" charset="-127"/>
                </a:rPr>
                <a:t>아키텍처</a:t>
              </a:r>
              <a:endParaRPr kumimoji="0" lang="ko-KR" altLang="en-US" sz="1300" b="1" dirty="0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95" name="그룹 15"/>
          <p:cNvGrpSpPr/>
          <p:nvPr/>
        </p:nvGrpSpPr>
        <p:grpSpPr>
          <a:xfrm>
            <a:off x="619095" y="1184026"/>
            <a:ext cx="8667811" cy="3410318"/>
            <a:chOff x="360364" y="1484783"/>
            <a:chExt cx="6164830" cy="4497387"/>
          </a:xfrm>
        </p:grpSpPr>
        <p:pic>
          <p:nvPicPr>
            <p:cNvPr id="96" name="Picture 3" descr="컴퓨터이미지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360364" y="2553758"/>
              <a:ext cx="480711" cy="4506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97" name="AutoShape 4"/>
            <p:cNvSpPr>
              <a:spLocks noChangeArrowheads="1"/>
            </p:cNvSpPr>
            <p:nvPr/>
          </p:nvSpPr>
          <p:spPr bwMode="auto">
            <a:xfrm>
              <a:off x="1915521" y="2256906"/>
              <a:ext cx="1178886" cy="166114"/>
            </a:xfrm>
            <a:prstGeom prst="roundRect">
              <a:avLst>
                <a:gd name="adj" fmla="val 16667"/>
              </a:avLst>
            </a:prstGeom>
            <a:solidFill>
              <a:srgbClr val="CCFFCC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9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ServletDispatcher</a:t>
              </a:r>
            </a:p>
          </p:txBody>
        </p:sp>
        <p:sp>
          <p:nvSpPr>
            <p:cNvPr id="98" name="Rectangle 5"/>
            <p:cNvSpPr>
              <a:spLocks noChangeArrowheads="1"/>
            </p:cNvSpPr>
            <p:nvPr/>
          </p:nvSpPr>
          <p:spPr bwMode="auto">
            <a:xfrm>
              <a:off x="1964164" y="2796777"/>
              <a:ext cx="424914" cy="832109"/>
            </a:xfrm>
            <a:prstGeom prst="rect">
              <a:avLst/>
            </a:prstGeom>
            <a:solidFill>
              <a:srgbClr val="00CC9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9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Actions</a:t>
              </a:r>
              <a:br>
                <a:rPr kumimoji="1" lang="en-US" altLang="ko-KR" sz="9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</a:br>
              <a:r>
                <a:rPr kumimoji="1" lang="en-US" altLang="ko-KR" sz="9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Config</a:t>
              </a:r>
            </a:p>
          </p:txBody>
        </p:sp>
        <p:sp>
          <p:nvSpPr>
            <p:cNvPr id="99" name="Rectangle 6"/>
            <p:cNvSpPr>
              <a:spLocks noChangeArrowheads="1"/>
            </p:cNvSpPr>
            <p:nvPr/>
          </p:nvSpPr>
          <p:spPr bwMode="auto">
            <a:xfrm>
              <a:off x="1964164" y="3795000"/>
              <a:ext cx="424914" cy="662919"/>
            </a:xfrm>
            <a:prstGeom prst="rect">
              <a:avLst/>
            </a:prstGeom>
            <a:solidFill>
              <a:srgbClr val="FF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9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Screen</a:t>
              </a:r>
              <a:br>
                <a:rPr kumimoji="1" lang="en-US" altLang="ko-KR" sz="9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</a:br>
              <a:r>
                <a:rPr kumimoji="1" lang="en-US" altLang="ko-KR" sz="9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Config</a:t>
              </a:r>
            </a:p>
          </p:txBody>
        </p:sp>
        <p:sp>
          <p:nvSpPr>
            <p:cNvPr id="100" name="Rectangle 7"/>
            <p:cNvSpPr>
              <a:spLocks noChangeArrowheads="1"/>
            </p:cNvSpPr>
            <p:nvPr/>
          </p:nvSpPr>
          <p:spPr bwMode="auto">
            <a:xfrm>
              <a:off x="2623711" y="3795000"/>
              <a:ext cx="424914" cy="662919"/>
            </a:xfrm>
            <a:prstGeom prst="rect">
              <a:avLst/>
            </a:prstGeom>
            <a:solidFill>
              <a:srgbClr val="FF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9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XQL</a:t>
              </a:r>
              <a:br>
                <a:rPr kumimoji="1" lang="en-US" altLang="ko-KR" sz="9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</a:br>
              <a:r>
                <a:rPr kumimoji="1" lang="en-US" altLang="ko-KR" sz="9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Config</a:t>
              </a:r>
            </a:p>
          </p:txBody>
        </p:sp>
        <p:sp>
          <p:nvSpPr>
            <p:cNvPr id="101" name="Rectangle 8"/>
            <p:cNvSpPr>
              <a:spLocks noChangeArrowheads="1"/>
            </p:cNvSpPr>
            <p:nvPr/>
          </p:nvSpPr>
          <p:spPr bwMode="auto">
            <a:xfrm>
              <a:off x="2577929" y="2796777"/>
              <a:ext cx="422053" cy="832109"/>
            </a:xfrm>
            <a:prstGeom prst="rect">
              <a:avLst/>
            </a:prstGeom>
            <a:solidFill>
              <a:srgbClr val="00CC9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9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View</a:t>
              </a:r>
              <a:br>
                <a:rPr kumimoji="1" lang="en-US" altLang="ko-KR" sz="9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</a:br>
              <a:r>
                <a:rPr kumimoji="1" lang="en-US" altLang="ko-KR" sz="9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Config</a:t>
              </a:r>
            </a:p>
          </p:txBody>
        </p:sp>
        <p:sp>
          <p:nvSpPr>
            <p:cNvPr id="102" name="AutoShape 9"/>
            <p:cNvSpPr>
              <a:spLocks noChangeArrowheads="1"/>
            </p:cNvSpPr>
            <p:nvPr/>
          </p:nvSpPr>
          <p:spPr bwMode="auto">
            <a:xfrm>
              <a:off x="3143050" y="3004420"/>
              <a:ext cx="849828" cy="539871"/>
            </a:xfrm>
            <a:prstGeom prst="cube">
              <a:avLst>
                <a:gd name="adj" fmla="val 25000"/>
              </a:avLst>
            </a:prstGeom>
            <a:solidFill>
              <a:srgbClr val="FF99FF"/>
            </a:solidFill>
            <a:ln w="3175">
              <a:solidFill>
                <a:srgbClr val="FF99F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9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View(Velocity)</a:t>
              </a:r>
            </a:p>
          </p:txBody>
        </p:sp>
        <p:grpSp>
          <p:nvGrpSpPr>
            <p:cNvPr id="103" name="Group 10"/>
            <p:cNvGrpSpPr>
              <a:grpSpLocks/>
            </p:cNvGrpSpPr>
            <p:nvPr/>
          </p:nvGrpSpPr>
          <p:grpSpPr bwMode="auto">
            <a:xfrm>
              <a:off x="4370579" y="2509154"/>
              <a:ext cx="612334" cy="664457"/>
              <a:chOff x="4377" y="1298"/>
              <a:chExt cx="590" cy="726"/>
            </a:xfrm>
          </p:grpSpPr>
          <p:sp>
            <p:nvSpPr>
              <p:cNvPr id="180" name="Oval 11"/>
              <p:cNvSpPr>
                <a:spLocks noChangeArrowheads="1"/>
              </p:cNvSpPr>
              <p:nvPr/>
            </p:nvSpPr>
            <p:spPr bwMode="auto">
              <a:xfrm>
                <a:off x="4377" y="1298"/>
                <a:ext cx="590" cy="544"/>
              </a:xfrm>
              <a:prstGeom prst="ellipse">
                <a:avLst/>
              </a:prstGeom>
              <a:solidFill>
                <a:srgbClr val="B2B2B2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1800" b="1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181" name="Oval 12"/>
              <p:cNvSpPr>
                <a:spLocks noChangeArrowheads="1"/>
              </p:cNvSpPr>
              <p:nvPr/>
            </p:nvSpPr>
            <p:spPr bwMode="auto">
              <a:xfrm>
                <a:off x="4377" y="1389"/>
                <a:ext cx="590" cy="544"/>
              </a:xfrm>
              <a:prstGeom prst="ellipse">
                <a:avLst/>
              </a:prstGeom>
              <a:solidFill>
                <a:srgbClr val="B2B2B2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1800" b="1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182" name="Oval 13"/>
              <p:cNvSpPr>
                <a:spLocks noChangeArrowheads="1"/>
              </p:cNvSpPr>
              <p:nvPr/>
            </p:nvSpPr>
            <p:spPr bwMode="auto">
              <a:xfrm>
                <a:off x="4377" y="1480"/>
                <a:ext cx="590" cy="544"/>
              </a:xfrm>
              <a:prstGeom prst="ellipse">
                <a:avLst/>
              </a:prstGeom>
              <a:solidFill>
                <a:srgbClr val="B2B2B2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ko-KR" sz="9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맑은 고딕" pitchFamily="50" charset="-127"/>
                    <a:ea typeface="맑은 고딕" pitchFamily="50" charset="-127"/>
                  </a:rPr>
                  <a:t>Model</a:t>
                </a:r>
                <a:br>
                  <a:rPr kumimoji="1" lang="en-US" altLang="ko-KR" sz="9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맑은 고딕" pitchFamily="50" charset="-127"/>
                    <a:ea typeface="맑은 고딕" pitchFamily="50" charset="-127"/>
                  </a:rPr>
                </a:br>
                <a:r>
                  <a:rPr kumimoji="1" lang="en-US" altLang="ko-KR" sz="9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맑은 고딕" pitchFamily="50" charset="-127"/>
                    <a:ea typeface="맑은 고딕" pitchFamily="50" charset="-127"/>
                  </a:rPr>
                  <a:t>Beans</a:t>
                </a:r>
              </a:p>
            </p:txBody>
          </p:sp>
        </p:grpSp>
        <p:sp>
          <p:nvSpPr>
            <p:cNvPr id="104" name="AutoShape 15"/>
            <p:cNvSpPr>
              <a:spLocks noChangeArrowheads="1"/>
            </p:cNvSpPr>
            <p:nvPr/>
          </p:nvSpPr>
          <p:spPr bwMode="auto">
            <a:xfrm>
              <a:off x="3473539" y="3751934"/>
              <a:ext cx="848397" cy="167652"/>
            </a:xfrm>
            <a:prstGeom prst="roundRect">
              <a:avLst>
                <a:gd name="adj" fmla="val 16667"/>
              </a:avLst>
            </a:prstGeom>
            <a:solidFill>
              <a:srgbClr val="FFFF99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9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VMServlet</a:t>
              </a:r>
            </a:p>
          </p:txBody>
        </p:sp>
        <p:sp>
          <p:nvSpPr>
            <p:cNvPr id="105" name="AutoShape 16"/>
            <p:cNvSpPr>
              <a:spLocks noChangeArrowheads="1"/>
            </p:cNvSpPr>
            <p:nvPr/>
          </p:nvSpPr>
          <p:spPr bwMode="auto">
            <a:xfrm>
              <a:off x="4369149" y="3751934"/>
              <a:ext cx="849828" cy="167652"/>
            </a:xfrm>
            <a:prstGeom prst="roundRect">
              <a:avLst>
                <a:gd name="adj" fmla="val 16667"/>
              </a:avLst>
            </a:prstGeom>
            <a:solidFill>
              <a:srgbClr val="FFFF99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9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JmxDispatcher</a:t>
              </a:r>
            </a:p>
          </p:txBody>
        </p:sp>
        <p:sp>
          <p:nvSpPr>
            <p:cNvPr id="106" name="Rectangle 17"/>
            <p:cNvSpPr>
              <a:spLocks noChangeArrowheads="1"/>
            </p:cNvSpPr>
            <p:nvPr/>
          </p:nvSpPr>
          <p:spPr bwMode="auto">
            <a:xfrm>
              <a:off x="1114336" y="2006197"/>
              <a:ext cx="4104641" cy="1662680"/>
            </a:xfrm>
            <a:prstGeom prst="rect">
              <a:avLst/>
            </a:prstGeom>
            <a:noFill/>
            <a:ln w="12700">
              <a:solidFill>
                <a:srgbClr val="FF6600"/>
              </a:solidFill>
              <a:prstDash val="sysDot"/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800" b="1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07" name="Rectangle 18"/>
            <p:cNvSpPr>
              <a:spLocks noChangeArrowheads="1"/>
            </p:cNvSpPr>
            <p:nvPr/>
          </p:nvSpPr>
          <p:spPr bwMode="auto">
            <a:xfrm>
              <a:off x="1114336" y="1923140"/>
              <a:ext cx="1367737" cy="12612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FF6600"/>
              </a:solidFill>
              <a:prstDash val="sysDot"/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WebWork</a:t>
              </a:r>
            </a:p>
          </p:txBody>
        </p:sp>
        <p:sp>
          <p:nvSpPr>
            <p:cNvPr id="108" name="AutoShape 19"/>
            <p:cNvSpPr>
              <a:spLocks noChangeArrowheads="1"/>
            </p:cNvSpPr>
            <p:nvPr/>
          </p:nvSpPr>
          <p:spPr bwMode="auto">
            <a:xfrm>
              <a:off x="4954300" y="2726025"/>
              <a:ext cx="440652" cy="441433"/>
            </a:xfrm>
            <a:prstGeom prst="leftRightArrow">
              <a:avLst>
                <a:gd name="adj1" fmla="val 49685"/>
                <a:gd name="adj2" fmla="val 27893"/>
              </a:avLst>
            </a:prstGeom>
            <a:solidFill>
              <a:srgbClr val="808080"/>
            </a:solidFill>
            <a:ln w="9525">
              <a:solidFill>
                <a:srgbClr val="3333CC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800" b="1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09" name="Line 20"/>
            <p:cNvSpPr>
              <a:spLocks noChangeShapeType="1"/>
            </p:cNvSpPr>
            <p:nvPr/>
          </p:nvSpPr>
          <p:spPr bwMode="auto">
            <a:xfrm flipH="1">
              <a:off x="3991447" y="3087477"/>
              <a:ext cx="426345" cy="16611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10" name="Line 21"/>
            <p:cNvSpPr>
              <a:spLocks noChangeShapeType="1"/>
            </p:cNvSpPr>
            <p:nvPr/>
          </p:nvSpPr>
          <p:spPr bwMode="auto">
            <a:xfrm flipV="1">
              <a:off x="926916" y="2339963"/>
              <a:ext cx="941392" cy="45681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11" name="Line 22"/>
            <p:cNvSpPr>
              <a:spLocks noChangeShapeType="1"/>
            </p:cNvSpPr>
            <p:nvPr/>
          </p:nvSpPr>
          <p:spPr bwMode="auto">
            <a:xfrm>
              <a:off x="3143050" y="2339963"/>
              <a:ext cx="28327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12" name="Line 23"/>
            <p:cNvSpPr>
              <a:spLocks noChangeShapeType="1"/>
            </p:cNvSpPr>
            <p:nvPr/>
          </p:nvSpPr>
          <p:spPr bwMode="auto">
            <a:xfrm flipH="1">
              <a:off x="4133085" y="3170534"/>
              <a:ext cx="424914" cy="54140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13" name="Line 24"/>
            <p:cNvSpPr>
              <a:spLocks noChangeShapeType="1"/>
            </p:cNvSpPr>
            <p:nvPr/>
          </p:nvSpPr>
          <p:spPr bwMode="auto">
            <a:xfrm>
              <a:off x="4792632" y="3170534"/>
              <a:ext cx="0" cy="54140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14" name="Line 25"/>
            <p:cNvSpPr>
              <a:spLocks noChangeShapeType="1"/>
            </p:cNvSpPr>
            <p:nvPr/>
          </p:nvSpPr>
          <p:spPr bwMode="auto">
            <a:xfrm>
              <a:off x="4321936" y="2381492"/>
              <a:ext cx="188851" cy="12458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15" name="Line 26"/>
            <p:cNvSpPr>
              <a:spLocks noChangeShapeType="1"/>
            </p:cNvSpPr>
            <p:nvPr/>
          </p:nvSpPr>
          <p:spPr bwMode="auto">
            <a:xfrm flipH="1">
              <a:off x="1633675" y="2464549"/>
              <a:ext cx="424914" cy="2907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16" name="Line 27"/>
            <p:cNvSpPr>
              <a:spLocks noChangeShapeType="1"/>
            </p:cNvSpPr>
            <p:nvPr/>
          </p:nvSpPr>
          <p:spPr bwMode="auto">
            <a:xfrm flipH="1">
              <a:off x="2200227" y="2464549"/>
              <a:ext cx="141638" cy="33222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17" name="Line 28"/>
            <p:cNvSpPr>
              <a:spLocks noChangeShapeType="1"/>
            </p:cNvSpPr>
            <p:nvPr/>
          </p:nvSpPr>
          <p:spPr bwMode="auto">
            <a:xfrm>
              <a:off x="2623711" y="2464549"/>
              <a:ext cx="95856" cy="2907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18" name="Text Box 29"/>
            <p:cNvSpPr txBox="1">
              <a:spLocks noChangeArrowheads="1"/>
            </p:cNvSpPr>
            <p:nvPr/>
          </p:nvSpPr>
          <p:spPr bwMode="auto">
            <a:xfrm>
              <a:off x="1122920" y="2286129"/>
              <a:ext cx="557968" cy="3044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defTabSz="914400" eaLnBrk="1" fontAlgn="auto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9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access</a:t>
              </a:r>
            </a:p>
          </p:txBody>
        </p:sp>
        <p:sp>
          <p:nvSpPr>
            <p:cNvPr id="119" name="Text Box 30"/>
            <p:cNvSpPr txBox="1">
              <a:spLocks noChangeArrowheads="1"/>
            </p:cNvSpPr>
            <p:nvPr/>
          </p:nvSpPr>
          <p:spPr bwMode="auto">
            <a:xfrm>
              <a:off x="1492037" y="2464550"/>
              <a:ext cx="424914" cy="3044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defTabSz="914400" eaLnBrk="1" fontAlgn="auto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9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read</a:t>
              </a:r>
            </a:p>
          </p:txBody>
        </p:sp>
        <p:sp>
          <p:nvSpPr>
            <p:cNvPr id="120" name="Text Box 31"/>
            <p:cNvSpPr txBox="1">
              <a:spLocks noChangeArrowheads="1"/>
            </p:cNvSpPr>
            <p:nvPr/>
          </p:nvSpPr>
          <p:spPr bwMode="auto">
            <a:xfrm>
              <a:off x="1934120" y="2464550"/>
              <a:ext cx="424914" cy="3044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defTabSz="914400" eaLnBrk="1" fontAlgn="auto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9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read</a:t>
              </a:r>
            </a:p>
          </p:txBody>
        </p:sp>
        <p:sp>
          <p:nvSpPr>
            <p:cNvPr id="121" name="Text Box 32"/>
            <p:cNvSpPr txBox="1">
              <a:spLocks noChangeArrowheads="1"/>
            </p:cNvSpPr>
            <p:nvPr/>
          </p:nvSpPr>
          <p:spPr bwMode="auto">
            <a:xfrm>
              <a:off x="2652324" y="2412254"/>
              <a:ext cx="728220" cy="3044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defTabSz="914400" eaLnBrk="1" fontAlgn="auto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9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Get Mapping</a:t>
              </a:r>
            </a:p>
          </p:txBody>
        </p:sp>
        <p:sp>
          <p:nvSpPr>
            <p:cNvPr id="122" name="Text Box 33"/>
            <p:cNvSpPr txBox="1">
              <a:spLocks noChangeArrowheads="1"/>
            </p:cNvSpPr>
            <p:nvPr/>
          </p:nvSpPr>
          <p:spPr bwMode="auto">
            <a:xfrm>
              <a:off x="4369149" y="2175387"/>
              <a:ext cx="648101" cy="48706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defTabSz="914400" eaLnBrk="1" fontAlgn="auto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9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Create</a:t>
              </a:r>
              <a:br>
                <a:rPr kumimoji="1" lang="en-US" altLang="ko-KR" sz="9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</a:br>
              <a:r>
                <a:rPr kumimoji="1" lang="en-US" altLang="ko-KR" sz="9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update</a:t>
              </a:r>
            </a:p>
          </p:txBody>
        </p:sp>
        <p:sp>
          <p:nvSpPr>
            <p:cNvPr id="123" name="Text Box 34"/>
            <p:cNvSpPr txBox="1">
              <a:spLocks noChangeArrowheads="1"/>
            </p:cNvSpPr>
            <p:nvPr/>
          </p:nvSpPr>
          <p:spPr bwMode="auto">
            <a:xfrm>
              <a:off x="3987155" y="3012110"/>
              <a:ext cx="590874" cy="3044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defTabSz="914400" eaLnBrk="1" fontAlgn="auto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9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extract</a:t>
              </a:r>
            </a:p>
          </p:txBody>
        </p:sp>
        <p:sp>
          <p:nvSpPr>
            <p:cNvPr id="124" name="Text Box 35"/>
            <p:cNvSpPr txBox="1">
              <a:spLocks noChangeArrowheads="1"/>
            </p:cNvSpPr>
            <p:nvPr/>
          </p:nvSpPr>
          <p:spPr bwMode="auto">
            <a:xfrm>
              <a:off x="4321936" y="3379715"/>
              <a:ext cx="546522" cy="3044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defTabSz="914400" eaLnBrk="1" fontAlgn="auto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9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extract</a:t>
              </a:r>
            </a:p>
          </p:txBody>
        </p:sp>
        <p:sp>
          <p:nvSpPr>
            <p:cNvPr id="125" name="Text Box 36"/>
            <p:cNvSpPr txBox="1">
              <a:spLocks noChangeArrowheads="1"/>
            </p:cNvSpPr>
            <p:nvPr/>
          </p:nvSpPr>
          <p:spPr bwMode="auto">
            <a:xfrm>
              <a:off x="4792632" y="3255128"/>
              <a:ext cx="537938" cy="3044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defTabSz="914400" eaLnBrk="1" fontAlgn="auto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9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extract</a:t>
              </a:r>
            </a:p>
          </p:txBody>
        </p:sp>
        <p:sp>
          <p:nvSpPr>
            <p:cNvPr id="126" name="Text Box 37"/>
            <p:cNvSpPr txBox="1">
              <a:spLocks noChangeArrowheads="1"/>
            </p:cNvSpPr>
            <p:nvPr/>
          </p:nvSpPr>
          <p:spPr bwMode="auto">
            <a:xfrm>
              <a:off x="1868308" y="3625810"/>
              <a:ext cx="660977" cy="3044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defTabSz="914400" eaLnBrk="1" fontAlgn="auto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9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read</a:t>
              </a:r>
            </a:p>
          </p:txBody>
        </p:sp>
        <p:sp>
          <p:nvSpPr>
            <p:cNvPr id="127" name="Text Box 38"/>
            <p:cNvSpPr txBox="1">
              <a:spLocks noChangeArrowheads="1"/>
            </p:cNvSpPr>
            <p:nvPr/>
          </p:nvSpPr>
          <p:spPr bwMode="auto">
            <a:xfrm>
              <a:off x="2341865" y="4045710"/>
              <a:ext cx="658116" cy="3044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defTabSz="914400" eaLnBrk="1" fontAlgn="auto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9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read</a:t>
              </a:r>
            </a:p>
          </p:txBody>
        </p:sp>
        <p:sp>
          <p:nvSpPr>
            <p:cNvPr id="128" name="Line 39"/>
            <p:cNvSpPr>
              <a:spLocks noChangeShapeType="1"/>
            </p:cNvSpPr>
            <p:nvPr/>
          </p:nvSpPr>
          <p:spPr bwMode="auto">
            <a:xfrm>
              <a:off x="2389078" y="4084162"/>
              <a:ext cx="18885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29" name="Line 40"/>
            <p:cNvSpPr>
              <a:spLocks noChangeShapeType="1"/>
            </p:cNvSpPr>
            <p:nvPr/>
          </p:nvSpPr>
          <p:spPr bwMode="auto">
            <a:xfrm>
              <a:off x="2151584" y="3628886"/>
              <a:ext cx="0" cy="16611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30" name="Line 41"/>
            <p:cNvSpPr>
              <a:spLocks noChangeShapeType="1"/>
            </p:cNvSpPr>
            <p:nvPr/>
          </p:nvSpPr>
          <p:spPr bwMode="auto">
            <a:xfrm>
              <a:off x="3095837" y="2464549"/>
              <a:ext cx="376271" cy="53987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31" name="Text Box 42"/>
            <p:cNvSpPr txBox="1">
              <a:spLocks noChangeArrowheads="1"/>
            </p:cNvSpPr>
            <p:nvPr/>
          </p:nvSpPr>
          <p:spPr bwMode="auto">
            <a:xfrm>
              <a:off x="3317594" y="2673730"/>
              <a:ext cx="659547" cy="3044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defTabSz="914400" eaLnBrk="1" fontAlgn="auto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9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dispatch</a:t>
              </a:r>
            </a:p>
          </p:txBody>
        </p:sp>
        <p:sp>
          <p:nvSpPr>
            <p:cNvPr id="132" name="Text Box 43"/>
            <p:cNvSpPr txBox="1">
              <a:spLocks noChangeArrowheads="1"/>
            </p:cNvSpPr>
            <p:nvPr/>
          </p:nvSpPr>
          <p:spPr bwMode="auto">
            <a:xfrm>
              <a:off x="3143050" y="2149240"/>
              <a:ext cx="659547" cy="3044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defTabSz="914400" eaLnBrk="1" fontAlgn="auto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9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invoke</a:t>
              </a:r>
            </a:p>
          </p:txBody>
        </p:sp>
        <p:sp>
          <p:nvSpPr>
            <p:cNvPr id="133" name="Text Box 44"/>
            <p:cNvSpPr txBox="1">
              <a:spLocks noChangeArrowheads="1"/>
            </p:cNvSpPr>
            <p:nvPr/>
          </p:nvSpPr>
          <p:spPr bwMode="auto">
            <a:xfrm>
              <a:off x="3143050" y="2336887"/>
              <a:ext cx="659547" cy="3044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defTabSz="914400" eaLnBrk="1" fontAlgn="auto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9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return</a:t>
              </a:r>
            </a:p>
          </p:txBody>
        </p:sp>
        <p:sp>
          <p:nvSpPr>
            <p:cNvPr id="134" name="Rectangle 45"/>
            <p:cNvSpPr>
              <a:spLocks noChangeArrowheads="1"/>
            </p:cNvSpPr>
            <p:nvPr/>
          </p:nvSpPr>
          <p:spPr bwMode="auto">
            <a:xfrm>
              <a:off x="1021341" y="1841621"/>
              <a:ext cx="4385055" cy="2742422"/>
            </a:xfrm>
            <a:prstGeom prst="rect">
              <a:avLst/>
            </a:prstGeom>
            <a:noFill/>
            <a:ln w="28575">
              <a:solidFill>
                <a:srgbClr val="0000FF"/>
              </a:solidFill>
              <a:prstDash val="sysDot"/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800" b="1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35" name="Rectangle 46"/>
            <p:cNvSpPr>
              <a:spLocks noChangeArrowheads="1"/>
            </p:cNvSpPr>
            <p:nvPr/>
          </p:nvSpPr>
          <p:spPr bwMode="auto">
            <a:xfrm>
              <a:off x="1024203" y="1841621"/>
              <a:ext cx="4699806" cy="3480707"/>
            </a:xfrm>
            <a:prstGeom prst="rect">
              <a:avLst/>
            </a:prstGeom>
            <a:noFill/>
            <a:ln w="28575">
              <a:solidFill>
                <a:srgbClr val="0000FF"/>
              </a:solidFill>
              <a:prstDash val="sysDot"/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800" b="1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36" name="Rectangle 47"/>
            <p:cNvSpPr>
              <a:spLocks noChangeArrowheads="1"/>
            </p:cNvSpPr>
            <p:nvPr/>
          </p:nvSpPr>
          <p:spPr bwMode="auto">
            <a:xfrm>
              <a:off x="1022772" y="1841621"/>
              <a:ext cx="5100399" cy="4140549"/>
            </a:xfrm>
            <a:prstGeom prst="rect">
              <a:avLst/>
            </a:prstGeom>
            <a:noFill/>
            <a:ln w="28575">
              <a:solidFill>
                <a:srgbClr val="0000FF"/>
              </a:solidFill>
              <a:prstDash val="sysDot"/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800" b="1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endParaRPr>
            </a:p>
          </p:txBody>
        </p:sp>
        <p:grpSp>
          <p:nvGrpSpPr>
            <p:cNvPr id="137" name="Group 25"/>
            <p:cNvGrpSpPr>
              <a:grpSpLocks/>
            </p:cNvGrpSpPr>
            <p:nvPr/>
          </p:nvGrpSpPr>
          <p:grpSpPr bwMode="auto">
            <a:xfrm>
              <a:off x="931208" y="4477914"/>
              <a:ext cx="2101679" cy="365635"/>
              <a:chOff x="1462" y="55"/>
              <a:chExt cx="1111" cy="251"/>
            </a:xfrm>
          </p:grpSpPr>
          <p:sp>
            <p:nvSpPr>
              <p:cNvPr id="177" name="AutoShape 26"/>
              <p:cNvSpPr>
                <a:spLocks noChangeArrowheads="1"/>
              </p:cNvSpPr>
              <p:nvPr/>
            </p:nvSpPr>
            <p:spPr bwMode="auto">
              <a:xfrm>
                <a:off x="1462" y="73"/>
                <a:ext cx="1111" cy="163"/>
              </a:xfrm>
              <a:prstGeom prst="roundRect">
                <a:avLst>
                  <a:gd name="adj" fmla="val 43125"/>
                </a:avLst>
              </a:prstGeom>
              <a:solidFill>
                <a:srgbClr val="A1C8CB"/>
              </a:solidFill>
              <a:ln w="9525">
                <a:noFill/>
                <a:round/>
                <a:headEnd/>
                <a:tailEnd/>
              </a:ln>
              <a:effectLst>
                <a:prstShdw prst="shdw17" dist="17961" dir="2700000">
                  <a:srgbClr val="61787A"/>
                </a:prstShdw>
              </a:effectLst>
            </p:spPr>
            <p:txBody>
              <a:bodyPr wrap="none" anchor="ctr"/>
              <a:lstStyle/>
              <a:p>
                <a:pPr marL="0" marR="0" lvl="0" indent="0" defTabSz="914400" eaLnBrk="1" fontAlgn="auto" latinLnBrk="1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ko-KR" sz="16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178" name="AutoShape 27"/>
              <p:cNvSpPr>
                <a:spLocks noChangeArrowheads="1"/>
              </p:cNvSpPr>
              <p:nvPr/>
            </p:nvSpPr>
            <p:spPr bwMode="auto">
              <a:xfrm>
                <a:off x="1474" y="93"/>
                <a:ext cx="1084" cy="123"/>
              </a:xfrm>
              <a:prstGeom prst="roundRect">
                <a:avLst>
                  <a:gd name="adj" fmla="val 43125"/>
                </a:avLst>
              </a:prstGeom>
              <a:solidFill>
                <a:srgbClr val="46787C"/>
              </a:solidFill>
              <a:ln w="9525">
                <a:noFill/>
                <a:round/>
                <a:headEnd/>
                <a:tailEnd/>
              </a:ln>
              <a:effectLst>
                <a:prstShdw prst="shdw17" dist="17961" dir="13500000">
                  <a:srgbClr val="2A484A"/>
                </a:prstShdw>
              </a:effectLst>
            </p:spPr>
            <p:txBody>
              <a:bodyPr wrap="none" anchor="ctr"/>
              <a:lstStyle/>
              <a:p>
                <a:pPr marL="0" marR="0" lvl="0" indent="0" defTabSz="914400" eaLnBrk="1" fontAlgn="auto" latinLnBrk="1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ko-KR" sz="16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179" name="Text Box 28"/>
              <p:cNvSpPr txBox="1">
                <a:spLocks noChangeArrowheads="1"/>
              </p:cNvSpPr>
              <p:nvPr/>
            </p:nvSpPr>
            <p:spPr bwMode="auto">
              <a:xfrm>
                <a:off x="1633" y="55"/>
                <a:ext cx="762" cy="25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marL="0" marR="0" lvl="0" indent="0" algn="ctr" defTabSz="91440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ko-KR" sz="1200" i="0" u="none" strike="noStrike" kern="0" cap="none" spc="0" normalizeH="0" baseline="0" noProof="0" dirty="0" smtClean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맑은 고딕" pitchFamily="50" charset="-127"/>
                    <a:ea typeface="맑은 고딕" pitchFamily="50" charset="-127"/>
                  </a:rPr>
                  <a:t>Service  Layer</a:t>
                </a:r>
              </a:p>
            </p:txBody>
          </p:sp>
        </p:grpSp>
        <p:sp>
          <p:nvSpPr>
            <p:cNvPr id="138" name="AutoShape 26"/>
            <p:cNvSpPr>
              <a:spLocks noChangeArrowheads="1"/>
            </p:cNvSpPr>
            <p:nvPr/>
          </p:nvSpPr>
          <p:spPr bwMode="auto">
            <a:xfrm>
              <a:off x="931208" y="1663202"/>
              <a:ext cx="2101679" cy="233790"/>
            </a:xfrm>
            <a:prstGeom prst="roundRect">
              <a:avLst>
                <a:gd name="adj" fmla="val 43125"/>
              </a:avLst>
            </a:prstGeom>
            <a:solidFill>
              <a:srgbClr val="A1C8CB"/>
            </a:solidFill>
            <a:ln w="9525">
              <a:noFill/>
              <a:round/>
              <a:headEnd/>
              <a:tailEnd/>
            </a:ln>
            <a:effectLst>
              <a:prstShdw prst="shdw17" dist="17961" dir="2700000">
                <a:srgbClr val="61787A"/>
              </a:prstShdw>
            </a:effectLst>
          </p:spPr>
          <p:txBody>
            <a:bodyPr wrap="none" anchor="ctr"/>
            <a:lstStyle/>
            <a:p>
              <a:pPr marL="0" marR="0" lvl="0" indent="0" defTabSz="914400" eaLnBrk="1" fontAlgn="auto" latinLnBrk="1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ko-KR" sz="1600" b="0" i="0" u="none" strike="noStrike" kern="0" cap="none" spc="0" normalizeH="0" baseline="0" noProof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39" name="AutoShape 27"/>
            <p:cNvSpPr>
              <a:spLocks noChangeArrowheads="1"/>
            </p:cNvSpPr>
            <p:nvPr/>
          </p:nvSpPr>
          <p:spPr bwMode="auto">
            <a:xfrm>
              <a:off x="952668" y="1690888"/>
              <a:ext cx="2051605" cy="176881"/>
            </a:xfrm>
            <a:prstGeom prst="roundRect">
              <a:avLst>
                <a:gd name="adj" fmla="val 43125"/>
              </a:avLst>
            </a:prstGeom>
            <a:solidFill>
              <a:srgbClr val="46787C"/>
            </a:solidFill>
            <a:ln w="9525">
              <a:noFill/>
              <a:round/>
              <a:headEnd/>
              <a:tailEnd/>
            </a:ln>
            <a:effectLst>
              <a:prstShdw prst="shdw17" dist="17961" dir="13500000">
                <a:srgbClr val="2A484A"/>
              </a:prstShdw>
            </a:effectLst>
          </p:spPr>
          <p:txBody>
            <a:bodyPr wrap="none" anchor="ctr"/>
            <a:lstStyle/>
            <a:p>
              <a:pPr marL="0" marR="0" lvl="0" indent="0" defTabSz="914400" eaLnBrk="1" fontAlgn="auto" latinLnBrk="1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ko-KR" sz="1600" b="0" i="0" u="none" strike="noStrike" kern="0" cap="none" spc="0" normalizeH="0" baseline="0" noProof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40" name="Text Box 28"/>
            <p:cNvSpPr txBox="1">
              <a:spLocks noChangeArrowheads="1"/>
            </p:cNvSpPr>
            <p:nvPr/>
          </p:nvSpPr>
          <p:spPr bwMode="auto">
            <a:xfrm>
              <a:off x="1254543" y="1637053"/>
              <a:ext cx="1440702" cy="36529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Framework Layer</a:t>
              </a:r>
            </a:p>
          </p:txBody>
        </p:sp>
        <p:grpSp>
          <p:nvGrpSpPr>
            <p:cNvPr id="141" name="Group 25"/>
            <p:cNvGrpSpPr>
              <a:grpSpLocks/>
            </p:cNvGrpSpPr>
            <p:nvPr/>
          </p:nvGrpSpPr>
          <p:grpSpPr bwMode="auto">
            <a:xfrm>
              <a:off x="931208" y="5176209"/>
              <a:ext cx="2101679" cy="365337"/>
              <a:chOff x="1462" y="54"/>
              <a:chExt cx="1111" cy="256"/>
            </a:xfrm>
          </p:grpSpPr>
          <p:sp>
            <p:nvSpPr>
              <p:cNvPr id="174" name="AutoShape 26"/>
              <p:cNvSpPr>
                <a:spLocks noChangeArrowheads="1"/>
              </p:cNvSpPr>
              <p:nvPr/>
            </p:nvSpPr>
            <p:spPr bwMode="auto">
              <a:xfrm>
                <a:off x="1462" y="73"/>
                <a:ext cx="1111" cy="163"/>
              </a:xfrm>
              <a:prstGeom prst="roundRect">
                <a:avLst>
                  <a:gd name="adj" fmla="val 43125"/>
                </a:avLst>
              </a:prstGeom>
              <a:solidFill>
                <a:srgbClr val="A1C8CB"/>
              </a:solidFill>
              <a:ln w="9525">
                <a:noFill/>
                <a:round/>
                <a:headEnd/>
                <a:tailEnd/>
              </a:ln>
              <a:effectLst>
                <a:prstShdw prst="shdw17" dist="17961" dir="2700000">
                  <a:srgbClr val="61787A"/>
                </a:prstShdw>
              </a:effectLst>
            </p:spPr>
            <p:txBody>
              <a:bodyPr wrap="none" anchor="ctr"/>
              <a:lstStyle/>
              <a:p>
                <a:pPr marL="0" marR="0" lvl="0" indent="0" defTabSz="914400" eaLnBrk="1" fontAlgn="auto" latinLnBrk="1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ko-KR" sz="16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175" name="AutoShape 27"/>
              <p:cNvSpPr>
                <a:spLocks noChangeArrowheads="1"/>
              </p:cNvSpPr>
              <p:nvPr/>
            </p:nvSpPr>
            <p:spPr bwMode="auto">
              <a:xfrm>
                <a:off x="1474" y="93"/>
                <a:ext cx="1084" cy="123"/>
              </a:xfrm>
              <a:prstGeom prst="roundRect">
                <a:avLst>
                  <a:gd name="adj" fmla="val 43125"/>
                </a:avLst>
              </a:prstGeom>
              <a:solidFill>
                <a:srgbClr val="46787C"/>
              </a:solidFill>
              <a:ln w="9525">
                <a:noFill/>
                <a:round/>
                <a:headEnd/>
                <a:tailEnd/>
              </a:ln>
              <a:effectLst>
                <a:prstShdw prst="shdw17" dist="17961" dir="13500000">
                  <a:srgbClr val="2A484A"/>
                </a:prstShdw>
              </a:effectLst>
            </p:spPr>
            <p:txBody>
              <a:bodyPr wrap="none" anchor="ctr"/>
              <a:lstStyle/>
              <a:p>
                <a:pPr marL="0" marR="0" lvl="0" indent="0" defTabSz="914400" eaLnBrk="1" fontAlgn="auto" latinLnBrk="1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ko-KR" sz="16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176" name="Text Box 28"/>
              <p:cNvSpPr txBox="1">
                <a:spLocks noChangeArrowheads="1"/>
              </p:cNvSpPr>
              <p:nvPr/>
            </p:nvSpPr>
            <p:spPr bwMode="auto">
              <a:xfrm>
                <a:off x="1633" y="54"/>
                <a:ext cx="762" cy="25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marL="0" marR="0" lvl="0" indent="0" algn="ctr" defTabSz="91440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ko-KR" sz="1200" i="0" u="none" strike="noStrike" kern="0" cap="none" spc="0" normalizeH="0" baseline="0" noProof="0" dirty="0" smtClean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맑은 고딕" pitchFamily="50" charset="-127"/>
                    <a:ea typeface="맑은 고딕" pitchFamily="50" charset="-127"/>
                  </a:rPr>
                  <a:t>Business Layer</a:t>
                </a:r>
              </a:p>
            </p:txBody>
          </p:sp>
        </p:grpSp>
        <p:grpSp>
          <p:nvGrpSpPr>
            <p:cNvPr id="142" name="Group 60"/>
            <p:cNvGrpSpPr>
              <a:grpSpLocks/>
            </p:cNvGrpSpPr>
            <p:nvPr/>
          </p:nvGrpSpPr>
          <p:grpSpPr bwMode="auto">
            <a:xfrm>
              <a:off x="1160118" y="4842442"/>
              <a:ext cx="3708341" cy="247633"/>
              <a:chOff x="839" y="2874"/>
              <a:chExt cx="3493" cy="194"/>
            </a:xfrm>
          </p:grpSpPr>
          <p:sp>
            <p:nvSpPr>
              <p:cNvPr id="170" name="Rectangle 15"/>
              <p:cNvSpPr>
                <a:spLocks noChangeArrowheads="1"/>
              </p:cNvSpPr>
              <p:nvPr/>
            </p:nvSpPr>
            <p:spPr bwMode="auto">
              <a:xfrm>
                <a:off x="839" y="2874"/>
                <a:ext cx="741" cy="193"/>
              </a:xfrm>
              <a:prstGeom prst="rect">
                <a:avLst/>
              </a:prstGeom>
              <a:solidFill>
                <a:srgbClr val="CCFFCC"/>
              </a:solidFill>
              <a:ln w="19050">
                <a:solidFill>
                  <a:srgbClr val="008000"/>
                </a:solidFill>
                <a:miter lim="800000"/>
                <a:headEnd/>
                <a:tailEnd/>
              </a:ln>
            </p:spPr>
            <p:txBody>
              <a:bodyPr wrap="none" tIns="82800" bIns="82800" anchor="ctr"/>
              <a:lstStyle/>
              <a:p>
                <a:pPr marL="0" marR="0" lvl="0" indent="0" algn="ctr" defTabSz="914400" eaLnBrk="1" fontAlgn="auto" latinLnBrk="1" hangingPunct="1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900" b="1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맑은 고딕" pitchFamily="50" charset="-127"/>
                    <a:ea typeface="맑은 고딕" pitchFamily="50" charset="-127"/>
                  </a:rPr>
                  <a:t>서비스구성관리</a:t>
                </a:r>
              </a:p>
            </p:txBody>
          </p:sp>
          <p:sp>
            <p:nvSpPr>
              <p:cNvPr id="171" name="Rectangle 16"/>
              <p:cNvSpPr>
                <a:spLocks noChangeArrowheads="1"/>
              </p:cNvSpPr>
              <p:nvPr/>
            </p:nvSpPr>
            <p:spPr bwMode="auto">
              <a:xfrm>
                <a:off x="1756" y="2874"/>
                <a:ext cx="740" cy="194"/>
              </a:xfrm>
              <a:prstGeom prst="rect">
                <a:avLst/>
              </a:prstGeom>
              <a:solidFill>
                <a:srgbClr val="CCFFCC"/>
              </a:solidFill>
              <a:ln w="19050">
                <a:solidFill>
                  <a:srgbClr val="008000"/>
                </a:solidFill>
                <a:miter lim="800000"/>
                <a:headEnd/>
                <a:tailEnd/>
              </a:ln>
            </p:spPr>
            <p:txBody>
              <a:bodyPr wrap="none" tIns="82800" bIns="82800" anchor="ctr"/>
              <a:lstStyle/>
              <a:p>
                <a:pPr marL="0" marR="0" lvl="0" indent="0" algn="ctr" defTabSz="914400" eaLnBrk="1" fontAlgn="auto" latinLnBrk="1" hangingPunct="1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900" b="1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맑은 고딕" pitchFamily="50" charset="-127"/>
                    <a:ea typeface="맑은 고딕" pitchFamily="50" charset="-127"/>
                  </a:rPr>
                  <a:t>서비스등록관리</a:t>
                </a:r>
              </a:p>
            </p:txBody>
          </p:sp>
          <p:sp>
            <p:nvSpPr>
              <p:cNvPr id="172" name="Rectangle 11"/>
              <p:cNvSpPr>
                <a:spLocks noChangeArrowheads="1"/>
              </p:cNvSpPr>
              <p:nvPr/>
            </p:nvSpPr>
            <p:spPr bwMode="auto">
              <a:xfrm>
                <a:off x="2673" y="2874"/>
                <a:ext cx="741" cy="194"/>
              </a:xfrm>
              <a:prstGeom prst="rect">
                <a:avLst/>
              </a:prstGeom>
              <a:solidFill>
                <a:srgbClr val="CCFFCC"/>
              </a:solidFill>
              <a:ln w="19050">
                <a:solidFill>
                  <a:srgbClr val="008000"/>
                </a:solidFill>
                <a:miter lim="800000"/>
                <a:headEnd/>
                <a:tailEnd/>
              </a:ln>
            </p:spPr>
            <p:txBody>
              <a:bodyPr wrap="none" tIns="82800" bIns="82800" anchor="ctr"/>
              <a:lstStyle/>
              <a:p>
                <a:pPr marL="0" marR="0" lvl="0" indent="0" algn="ctr" defTabSz="914400" eaLnBrk="1" fontAlgn="auto" latinLnBrk="1" hangingPunct="1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900" b="1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맑은 고딕" pitchFamily="50" charset="-127"/>
                    <a:ea typeface="맑은 고딕" pitchFamily="50" charset="-127"/>
                  </a:rPr>
                  <a:t>서비스별 권한</a:t>
                </a:r>
              </a:p>
            </p:txBody>
          </p:sp>
          <p:sp>
            <p:nvSpPr>
              <p:cNvPr id="173" name="Rectangle 11"/>
              <p:cNvSpPr>
                <a:spLocks noChangeArrowheads="1"/>
              </p:cNvSpPr>
              <p:nvPr/>
            </p:nvSpPr>
            <p:spPr bwMode="auto">
              <a:xfrm>
                <a:off x="3591" y="2874"/>
                <a:ext cx="741" cy="194"/>
              </a:xfrm>
              <a:prstGeom prst="rect">
                <a:avLst/>
              </a:prstGeom>
              <a:solidFill>
                <a:srgbClr val="CCFFCC"/>
              </a:solidFill>
              <a:ln w="19050">
                <a:solidFill>
                  <a:srgbClr val="008000"/>
                </a:solidFill>
                <a:miter lim="800000"/>
                <a:headEnd/>
                <a:tailEnd/>
              </a:ln>
            </p:spPr>
            <p:txBody>
              <a:bodyPr wrap="none" tIns="82800" bIns="82800" anchor="ctr"/>
              <a:lstStyle/>
              <a:p>
                <a:pPr marL="0" marR="0" lvl="0" indent="0" algn="ctr" defTabSz="914400" eaLnBrk="1" fontAlgn="auto" latinLnBrk="1" hangingPunct="1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900" b="1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맑은 고딕" pitchFamily="50" charset="-127"/>
                    <a:ea typeface="맑은 고딕" pitchFamily="50" charset="-127"/>
                  </a:rPr>
                  <a:t>사용자별 권한</a:t>
                </a:r>
              </a:p>
            </p:txBody>
          </p:sp>
        </p:grpSp>
        <p:pic>
          <p:nvPicPr>
            <p:cNvPr id="143" name="Picture 65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4981483" y="4616342"/>
              <a:ext cx="1021510" cy="6306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pSp>
          <p:nvGrpSpPr>
            <p:cNvPr id="144" name="Group 66"/>
            <p:cNvGrpSpPr>
              <a:grpSpLocks/>
            </p:cNvGrpSpPr>
            <p:nvPr/>
          </p:nvGrpSpPr>
          <p:grpSpPr bwMode="auto">
            <a:xfrm>
              <a:off x="1160118" y="5611489"/>
              <a:ext cx="4792803" cy="293776"/>
              <a:chOff x="839" y="3475"/>
              <a:chExt cx="4626" cy="230"/>
            </a:xfrm>
          </p:grpSpPr>
          <p:sp>
            <p:nvSpPr>
              <p:cNvPr id="166" name="Rectangle 21"/>
              <p:cNvSpPr>
                <a:spLocks noChangeArrowheads="1"/>
              </p:cNvSpPr>
              <p:nvPr/>
            </p:nvSpPr>
            <p:spPr bwMode="auto">
              <a:xfrm>
                <a:off x="2017" y="3475"/>
                <a:ext cx="1094" cy="230"/>
              </a:xfrm>
              <a:prstGeom prst="rect">
                <a:avLst/>
              </a:prstGeom>
              <a:solidFill>
                <a:srgbClr val="000066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1" i="0" u="none" strike="noStrike" kern="0" cap="none" spc="0" normalizeH="0" baseline="0" noProof="0" dirty="0" smtClean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맑은 고딕" pitchFamily="50" charset="-127"/>
                    <a:ea typeface="맑은 고딕" pitchFamily="50" charset="-127"/>
                  </a:rPr>
                  <a:t>응용업무서비스</a:t>
                </a:r>
                <a:r>
                  <a:rPr kumimoji="0" lang="en-US" altLang="ko-KR" sz="1000" b="1" i="0" u="none" strike="noStrike" kern="0" cap="none" spc="0" normalizeH="0" baseline="0" noProof="0" dirty="0" smtClean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맑은 고딕" pitchFamily="50" charset="-127"/>
                    <a:ea typeface="맑은 고딕" pitchFamily="50" charset="-127"/>
                  </a:rPr>
                  <a:t>2</a:t>
                </a:r>
              </a:p>
            </p:txBody>
          </p:sp>
          <p:sp>
            <p:nvSpPr>
              <p:cNvPr id="167" name="Rectangle 22"/>
              <p:cNvSpPr>
                <a:spLocks noChangeArrowheads="1"/>
              </p:cNvSpPr>
              <p:nvPr/>
            </p:nvSpPr>
            <p:spPr bwMode="auto">
              <a:xfrm>
                <a:off x="839" y="3475"/>
                <a:ext cx="1095" cy="230"/>
              </a:xfrm>
              <a:prstGeom prst="rect">
                <a:avLst/>
              </a:prstGeom>
              <a:solidFill>
                <a:srgbClr val="000099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1" i="0" u="none" strike="noStrike" kern="0" cap="none" spc="0" normalizeH="0" baseline="0" noProof="0" dirty="0" smtClean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맑은 고딕" pitchFamily="50" charset="-127"/>
                    <a:ea typeface="맑은 고딕" pitchFamily="50" charset="-127"/>
                  </a:rPr>
                  <a:t>응용업무서비스</a:t>
                </a:r>
                <a:r>
                  <a:rPr kumimoji="0" lang="en-US" altLang="ko-KR" sz="1000" b="1" i="0" u="none" strike="noStrike" kern="0" cap="none" spc="0" normalizeH="0" baseline="0" noProof="0" dirty="0" smtClean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맑은 고딕" pitchFamily="50" charset="-127"/>
                    <a:ea typeface="맑은 고딕" pitchFamily="50" charset="-127"/>
                  </a:rPr>
                  <a:t>1</a:t>
                </a:r>
              </a:p>
            </p:txBody>
          </p:sp>
          <p:sp>
            <p:nvSpPr>
              <p:cNvPr id="168" name="Rectangle 23"/>
              <p:cNvSpPr>
                <a:spLocks noChangeArrowheads="1"/>
              </p:cNvSpPr>
              <p:nvPr/>
            </p:nvSpPr>
            <p:spPr bwMode="auto">
              <a:xfrm>
                <a:off x="3191" y="3475"/>
                <a:ext cx="1095" cy="230"/>
              </a:xfrm>
              <a:prstGeom prst="rect">
                <a:avLst/>
              </a:prstGeom>
              <a:solidFill>
                <a:srgbClr val="000099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1" i="0" u="none" strike="noStrike" kern="0" cap="none" spc="0" normalizeH="0" baseline="0" noProof="0" dirty="0" smtClean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맑은 고딕" pitchFamily="50" charset="-127"/>
                    <a:ea typeface="맑은 고딕" pitchFamily="50" charset="-127"/>
                  </a:rPr>
                  <a:t>응용업무서비스</a:t>
                </a:r>
                <a:r>
                  <a:rPr kumimoji="0" lang="en-US" altLang="ko-KR" sz="1000" b="1" i="0" u="none" strike="noStrike" kern="0" cap="none" spc="0" normalizeH="0" baseline="0" noProof="0" dirty="0" smtClean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맑은 고딕" pitchFamily="50" charset="-127"/>
                    <a:ea typeface="맑은 고딕" pitchFamily="50" charset="-127"/>
                  </a:rPr>
                  <a:t>3</a:t>
                </a:r>
              </a:p>
            </p:txBody>
          </p:sp>
          <p:sp>
            <p:nvSpPr>
              <p:cNvPr id="169" name="Rectangle 21"/>
              <p:cNvSpPr>
                <a:spLocks noChangeArrowheads="1"/>
              </p:cNvSpPr>
              <p:nvPr/>
            </p:nvSpPr>
            <p:spPr bwMode="auto">
              <a:xfrm>
                <a:off x="4371" y="3475"/>
                <a:ext cx="1094" cy="230"/>
              </a:xfrm>
              <a:prstGeom prst="rect">
                <a:avLst/>
              </a:prstGeom>
              <a:solidFill>
                <a:srgbClr val="000066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1" i="0" u="none" strike="noStrike" kern="0" cap="none" spc="0" normalizeH="0" baseline="0" noProof="0" dirty="0" smtClean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맑은 고딕" pitchFamily="50" charset="-127"/>
                    <a:ea typeface="맑은 고딕" pitchFamily="50" charset="-127"/>
                  </a:rPr>
                  <a:t>연계 및 부가서비스</a:t>
                </a:r>
              </a:p>
            </p:txBody>
          </p:sp>
        </p:grpSp>
        <p:grpSp>
          <p:nvGrpSpPr>
            <p:cNvPr id="145" name="Group 71"/>
            <p:cNvGrpSpPr>
              <a:grpSpLocks/>
            </p:cNvGrpSpPr>
            <p:nvPr/>
          </p:nvGrpSpPr>
          <p:grpSpPr bwMode="auto">
            <a:xfrm>
              <a:off x="3615172" y="2215378"/>
              <a:ext cx="660976" cy="456814"/>
              <a:chOff x="3016" y="300"/>
              <a:chExt cx="635" cy="816"/>
            </a:xfrm>
          </p:grpSpPr>
          <p:sp>
            <p:nvSpPr>
              <p:cNvPr id="163" name="Rectangle 72"/>
              <p:cNvSpPr>
                <a:spLocks noChangeArrowheads="1"/>
              </p:cNvSpPr>
              <p:nvPr/>
            </p:nvSpPr>
            <p:spPr bwMode="auto">
              <a:xfrm>
                <a:off x="3270" y="300"/>
                <a:ext cx="381" cy="726"/>
              </a:xfrm>
              <a:prstGeom prst="rect">
                <a:avLst/>
              </a:prstGeom>
              <a:solidFill>
                <a:srgbClr val="00CC9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1800" b="1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164" name="Rectangle 73"/>
              <p:cNvSpPr>
                <a:spLocks noChangeArrowheads="1"/>
              </p:cNvSpPr>
              <p:nvPr/>
            </p:nvSpPr>
            <p:spPr bwMode="auto">
              <a:xfrm>
                <a:off x="3142" y="346"/>
                <a:ext cx="446" cy="726"/>
              </a:xfrm>
              <a:prstGeom prst="rect">
                <a:avLst/>
              </a:prstGeom>
              <a:solidFill>
                <a:srgbClr val="00CC9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1800" b="1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165" name="Rectangle 74"/>
              <p:cNvSpPr>
                <a:spLocks noChangeArrowheads="1"/>
              </p:cNvSpPr>
              <p:nvPr/>
            </p:nvSpPr>
            <p:spPr bwMode="auto">
              <a:xfrm>
                <a:off x="3016" y="391"/>
                <a:ext cx="507" cy="725"/>
              </a:xfrm>
              <a:prstGeom prst="rect">
                <a:avLst/>
              </a:prstGeom>
              <a:solidFill>
                <a:srgbClr val="00CC9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ko-KR" sz="9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맑은 고딕" pitchFamily="50" charset="-127"/>
                    <a:ea typeface="맑은 고딕" pitchFamily="50" charset="-127"/>
                  </a:rPr>
                  <a:t>Action</a:t>
                </a:r>
              </a:p>
            </p:txBody>
          </p:sp>
        </p:grpSp>
        <p:grpSp>
          <p:nvGrpSpPr>
            <p:cNvPr id="146" name="Group 75"/>
            <p:cNvGrpSpPr>
              <a:grpSpLocks/>
            </p:cNvGrpSpPr>
            <p:nvPr/>
          </p:nvGrpSpPr>
          <p:grpSpPr bwMode="auto">
            <a:xfrm>
              <a:off x="1300329" y="2796781"/>
              <a:ext cx="470696" cy="832109"/>
              <a:chOff x="431" y="981"/>
              <a:chExt cx="453" cy="907"/>
            </a:xfrm>
          </p:grpSpPr>
          <p:sp>
            <p:nvSpPr>
              <p:cNvPr id="160" name="Rectangle 76"/>
              <p:cNvSpPr>
                <a:spLocks noChangeArrowheads="1"/>
              </p:cNvSpPr>
              <p:nvPr/>
            </p:nvSpPr>
            <p:spPr bwMode="auto">
              <a:xfrm>
                <a:off x="612" y="1162"/>
                <a:ext cx="272" cy="726"/>
              </a:xfrm>
              <a:prstGeom prst="rect">
                <a:avLst/>
              </a:prstGeom>
              <a:solidFill>
                <a:srgbClr val="00CC9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1800" b="1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161" name="Rectangle 77"/>
              <p:cNvSpPr>
                <a:spLocks noChangeArrowheads="1"/>
              </p:cNvSpPr>
              <p:nvPr/>
            </p:nvSpPr>
            <p:spPr bwMode="auto">
              <a:xfrm>
                <a:off x="521" y="1071"/>
                <a:ext cx="318" cy="726"/>
              </a:xfrm>
              <a:prstGeom prst="rect">
                <a:avLst/>
              </a:prstGeom>
              <a:solidFill>
                <a:srgbClr val="00CC9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1800" b="1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162" name="Rectangle 78"/>
              <p:cNvSpPr>
                <a:spLocks noChangeArrowheads="1"/>
              </p:cNvSpPr>
              <p:nvPr/>
            </p:nvSpPr>
            <p:spPr bwMode="auto">
              <a:xfrm>
                <a:off x="431" y="981"/>
                <a:ext cx="362" cy="725"/>
              </a:xfrm>
              <a:prstGeom prst="rect">
                <a:avLst/>
              </a:prstGeom>
              <a:solidFill>
                <a:srgbClr val="00CC9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ko-KR" sz="9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맑은 고딕" pitchFamily="50" charset="-127"/>
                    <a:ea typeface="맑은 고딕" pitchFamily="50" charset="-127"/>
                  </a:rPr>
                  <a:t>Config</a:t>
                </a:r>
                <a:br>
                  <a:rPr kumimoji="1" lang="en-US" altLang="ko-KR" sz="9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맑은 고딕" pitchFamily="50" charset="-127"/>
                    <a:ea typeface="맑은 고딕" pitchFamily="50" charset="-127"/>
                  </a:rPr>
                </a:br>
                <a:r>
                  <a:rPr kumimoji="1" lang="en-US" altLang="ko-KR" sz="9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맑은 고딕" pitchFamily="50" charset="-127"/>
                    <a:ea typeface="맑은 고딕" pitchFamily="50" charset="-127"/>
                  </a:rPr>
                  <a:t>Files(s)</a:t>
                </a:r>
              </a:p>
            </p:txBody>
          </p:sp>
        </p:grpSp>
        <p:sp>
          <p:nvSpPr>
            <p:cNvPr id="147" name="AutoShape 14"/>
            <p:cNvSpPr>
              <a:spLocks noChangeArrowheads="1"/>
            </p:cNvSpPr>
            <p:nvPr/>
          </p:nvSpPr>
          <p:spPr bwMode="auto">
            <a:xfrm>
              <a:off x="5394951" y="2475316"/>
              <a:ext cx="815492" cy="904399"/>
            </a:xfrm>
            <a:prstGeom prst="can">
              <a:avLst>
                <a:gd name="adj" fmla="val 25789"/>
              </a:avLst>
            </a:prstGeom>
            <a:solidFill>
              <a:srgbClr val="B2B2B2"/>
            </a:soli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8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Data</a:t>
              </a:r>
            </a:p>
          </p:txBody>
        </p:sp>
        <p:sp>
          <p:nvSpPr>
            <p:cNvPr id="148" name="Rectangle 7"/>
            <p:cNvSpPr>
              <a:spLocks noChangeArrowheads="1"/>
            </p:cNvSpPr>
            <p:nvPr/>
          </p:nvSpPr>
          <p:spPr bwMode="auto">
            <a:xfrm>
              <a:off x="3605162" y="1517083"/>
              <a:ext cx="424914" cy="243019"/>
            </a:xfrm>
            <a:prstGeom prst="rect">
              <a:avLst/>
            </a:prstGeom>
            <a:solidFill>
              <a:srgbClr val="FF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9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UDDI</a:t>
              </a:r>
            </a:p>
          </p:txBody>
        </p:sp>
        <p:sp>
          <p:nvSpPr>
            <p:cNvPr id="149" name="Rectangle 8"/>
            <p:cNvSpPr>
              <a:spLocks noChangeArrowheads="1"/>
            </p:cNvSpPr>
            <p:nvPr/>
          </p:nvSpPr>
          <p:spPr bwMode="auto">
            <a:xfrm>
              <a:off x="4578029" y="1795478"/>
              <a:ext cx="422053" cy="344533"/>
            </a:xfrm>
            <a:prstGeom prst="rect">
              <a:avLst/>
            </a:prstGeom>
            <a:solidFill>
              <a:srgbClr val="00CC9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9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SOAP</a:t>
              </a:r>
            </a:p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9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Server</a:t>
              </a:r>
            </a:p>
          </p:txBody>
        </p:sp>
        <p:sp>
          <p:nvSpPr>
            <p:cNvPr id="150" name="Rectangle 8"/>
            <p:cNvSpPr>
              <a:spLocks noChangeArrowheads="1"/>
            </p:cNvSpPr>
            <p:nvPr/>
          </p:nvSpPr>
          <p:spPr bwMode="auto">
            <a:xfrm>
              <a:off x="5227561" y="1795478"/>
              <a:ext cx="422053" cy="344533"/>
            </a:xfrm>
            <a:prstGeom prst="rect">
              <a:avLst/>
            </a:prstGeom>
            <a:solidFill>
              <a:srgbClr val="00CC9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9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SOAP</a:t>
              </a:r>
            </a:p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9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Client</a:t>
              </a:r>
            </a:p>
          </p:txBody>
        </p:sp>
        <p:sp>
          <p:nvSpPr>
            <p:cNvPr id="151" name="AutoShape 15"/>
            <p:cNvSpPr>
              <a:spLocks noChangeArrowheads="1"/>
            </p:cNvSpPr>
            <p:nvPr/>
          </p:nvSpPr>
          <p:spPr bwMode="auto">
            <a:xfrm>
              <a:off x="4037229" y="1896992"/>
              <a:ext cx="389147" cy="139967"/>
            </a:xfrm>
            <a:prstGeom prst="roundRect">
              <a:avLst>
                <a:gd name="adj" fmla="val 16667"/>
              </a:avLst>
            </a:prstGeom>
            <a:solidFill>
              <a:srgbClr val="FFFF99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9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XML</a:t>
              </a:r>
            </a:p>
          </p:txBody>
        </p:sp>
        <p:sp>
          <p:nvSpPr>
            <p:cNvPr id="152" name="AutoShape 15"/>
            <p:cNvSpPr>
              <a:spLocks noChangeArrowheads="1"/>
            </p:cNvSpPr>
            <p:nvPr/>
          </p:nvSpPr>
          <p:spPr bwMode="auto">
            <a:xfrm>
              <a:off x="3280396" y="1889302"/>
              <a:ext cx="389147" cy="139967"/>
            </a:xfrm>
            <a:prstGeom prst="roundRect">
              <a:avLst>
                <a:gd name="adj" fmla="val 16667"/>
              </a:avLst>
            </a:prstGeom>
            <a:solidFill>
              <a:srgbClr val="FFFF99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9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WSDL</a:t>
              </a:r>
            </a:p>
          </p:txBody>
        </p:sp>
        <p:sp>
          <p:nvSpPr>
            <p:cNvPr id="153" name="Line 23"/>
            <p:cNvSpPr>
              <a:spLocks noChangeShapeType="1"/>
            </p:cNvSpPr>
            <p:nvPr/>
          </p:nvSpPr>
          <p:spPr bwMode="auto">
            <a:xfrm flipH="1">
              <a:off x="4253263" y="2004659"/>
              <a:ext cx="324766" cy="20918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54" name="Line 23"/>
            <p:cNvSpPr>
              <a:spLocks noChangeShapeType="1"/>
            </p:cNvSpPr>
            <p:nvPr/>
          </p:nvSpPr>
          <p:spPr bwMode="auto">
            <a:xfrm flipH="1">
              <a:off x="4981483" y="1958516"/>
              <a:ext cx="23034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155" name="AutoShape 103"/>
            <p:cNvCxnSpPr>
              <a:cxnSpLocks noChangeShapeType="1"/>
              <a:stCxn id="152" idx="0"/>
              <a:endCxn id="148" idx="1"/>
            </p:cNvCxnSpPr>
            <p:nvPr/>
          </p:nvCxnSpPr>
          <p:spPr bwMode="auto">
            <a:xfrm rot="16200000">
              <a:off x="3414711" y="1698851"/>
              <a:ext cx="250709" cy="130193"/>
            </a:xfrm>
            <a:prstGeom prst="bentConnector2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 type="triangle" w="med" len="med"/>
            </a:ln>
            <a:effectLst/>
          </p:spPr>
        </p:cxnSp>
        <p:cxnSp>
          <p:nvCxnSpPr>
            <p:cNvPr id="156" name="AutoShape 104"/>
            <p:cNvCxnSpPr>
              <a:cxnSpLocks noChangeShapeType="1"/>
              <a:stCxn id="148" idx="3"/>
              <a:endCxn id="150" idx="0"/>
            </p:cNvCxnSpPr>
            <p:nvPr/>
          </p:nvCxnSpPr>
          <p:spPr bwMode="auto">
            <a:xfrm>
              <a:off x="4030076" y="1638592"/>
              <a:ext cx="1409227" cy="156886"/>
            </a:xfrm>
            <a:prstGeom prst="bentConnector2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 type="triangle" w="med" len="med"/>
            </a:ln>
            <a:effectLst/>
          </p:spPr>
        </p:cxnSp>
        <p:cxnSp>
          <p:nvCxnSpPr>
            <p:cNvPr id="157" name="AutoShape 105"/>
            <p:cNvCxnSpPr>
              <a:cxnSpLocks noChangeShapeType="1"/>
              <a:stCxn id="151" idx="3"/>
              <a:endCxn id="149" idx="1"/>
            </p:cNvCxnSpPr>
            <p:nvPr/>
          </p:nvCxnSpPr>
          <p:spPr bwMode="auto">
            <a:xfrm>
              <a:off x="4426376" y="1967745"/>
              <a:ext cx="151653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</p:cxnSp>
        <p:pic>
          <p:nvPicPr>
            <p:cNvPr id="158" name="Picture 3" descr="컴퓨터이미지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6044483" y="1484783"/>
              <a:ext cx="480711" cy="4506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cxnSp>
          <p:nvCxnSpPr>
            <p:cNvPr id="159" name="AutoShape 107"/>
            <p:cNvCxnSpPr>
              <a:cxnSpLocks noChangeShapeType="1"/>
              <a:endCxn id="150" idx="3"/>
            </p:cNvCxnSpPr>
            <p:nvPr/>
          </p:nvCxnSpPr>
          <p:spPr bwMode="auto">
            <a:xfrm rot="10800000" flipV="1">
              <a:off x="5649613" y="1710883"/>
              <a:ext cx="394870" cy="256862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rgbClr val="000000"/>
              </a:solidFill>
              <a:miter lim="800000"/>
              <a:headEnd/>
              <a:tailEnd type="triangle" w="med" len="med"/>
            </a:ln>
            <a:effectLst/>
          </p:spPr>
        </p:cxnSp>
      </p:grpSp>
      <p:sp>
        <p:nvSpPr>
          <p:cNvPr id="183" name="Rectangle 10"/>
          <p:cNvSpPr>
            <a:spLocks noChangeArrowheads="1"/>
          </p:cNvSpPr>
          <p:nvPr/>
        </p:nvSpPr>
        <p:spPr bwMode="auto">
          <a:xfrm>
            <a:off x="707958" y="5060190"/>
            <a:ext cx="2723591" cy="1077972"/>
          </a:xfrm>
          <a:prstGeom prst="rect">
            <a:avLst/>
          </a:prstGeom>
          <a:gradFill rotWithShape="0">
            <a:gsLst>
              <a:gs pos="0">
                <a:srgbClr val="F7FAFB"/>
              </a:gs>
              <a:gs pos="100000">
                <a:srgbClr val="F9FBFC"/>
              </a:gs>
            </a:gsLst>
            <a:lin ang="5400000" scaled="1"/>
          </a:gradFill>
          <a:ln w="28575">
            <a:solidFill>
              <a:srgbClr val="5D95A9"/>
            </a:solidFill>
            <a:miter lim="800000"/>
            <a:headEnd/>
            <a:tailEnd/>
          </a:ln>
        </p:spPr>
        <p:txBody>
          <a:bodyPr lIns="180000" tIns="72000" rIns="72000" bIns="72000" anchor="ctr"/>
          <a:lstStyle/>
          <a:p>
            <a:pPr marL="85725" marR="0" lvl="0" indent="-85725" algn="l" defTabSz="91440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Trebuchet MS" pitchFamily="34" charset="0"/>
              <a:buBlip>
                <a:blip r:embed="rId4"/>
              </a:buBlip>
              <a:tabLst/>
              <a:defRPr/>
            </a:pPr>
            <a:r>
              <a:rPr kumimoji="1" lang="en-US" altLang="ko-KR" sz="11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Framework Layer</a:t>
            </a:r>
            <a:r>
              <a:rPr kumimoji="1" lang="ko-KR" altLang="en-US" sz="11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는 오픈아키텍쳐 기반의 </a:t>
            </a:r>
            <a:r>
              <a:rPr kumimoji="1" lang="en-US" altLang="ko-KR" sz="11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WebWrok, Velocity, Jtable-Grid </a:t>
            </a:r>
            <a:r>
              <a:rPr kumimoji="1" lang="ko-KR" altLang="en-US" sz="11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등이 움직이는 가장 기초가 되는 </a:t>
            </a:r>
            <a:endParaRPr kumimoji="1" lang="en-US" altLang="ko-KR" sz="1100" b="0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  <a:p>
            <a:pPr marL="85725" marR="0" lvl="0" indent="-85725" algn="l" defTabSz="91440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100" ker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100" kern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ko-KR" altLang="en-US" sz="11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영역</a:t>
            </a:r>
          </a:p>
          <a:p>
            <a:pPr marL="85725" marR="0" lvl="0" indent="-85725" algn="l" defTabSz="91440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Trebuchet MS" pitchFamily="34" charset="0"/>
              <a:buBlip>
                <a:blip r:embed="rId4"/>
              </a:buBlip>
              <a:tabLst/>
              <a:defRPr/>
            </a:pPr>
            <a:r>
              <a:rPr kumimoji="1" lang="ko-KR" altLang="en-US" sz="11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커스터마이징 영역 제외</a:t>
            </a:r>
          </a:p>
        </p:txBody>
      </p:sp>
      <p:sp>
        <p:nvSpPr>
          <p:cNvPr id="184" name="Rectangle 10"/>
          <p:cNvSpPr>
            <a:spLocks noChangeArrowheads="1"/>
          </p:cNvSpPr>
          <p:nvPr/>
        </p:nvSpPr>
        <p:spPr bwMode="auto">
          <a:xfrm>
            <a:off x="3597228" y="5049541"/>
            <a:ext cx="2723591" cy="1077972"/>
          </a:xfrm>
          <a:prstGeom prst="rect">
            <a:avLst/>
          </a:prstGeom>
          <a:gradFill rotWithShape="0">
            <a:gsLst>
              <a:gs pos="0">
                <a:srgbClr val="F7FAFB"/>
              </a:gs>
              <a:gs pos="100000">
                <a:srgbClr val="F9FBFC"/>
              </a:gs>
            </a:gsLst>
            <a:lin ang="5400000" scaled="1"/>
          </a:gradFill>
          <a:ln w="28575">
            <a:solidFill>
              <a:srgbClr val="5D95A9"/>
            </a:solidFill>
            <a:miter lim="800000"/>
            <a:headEnd/>
            <a:tailEnd/>
          </a:ln>
        </p:spPr>
        <p:txBody>
          <a:bodyPr lIns="180000" tIns="72000" rIns="72000" bIns="72000" anchor="ctr"/>
          <a:lstStyle/>
          <a:p>
            <a:pPr marL="85725" marR="0" lvl="0" indent="-85725" algn="l" defTabSz="91440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Trebuchet MS" pitchFamily="34" charset="0"/>
              <a:buBlip>
                <a:blip r:embed="rId4"/>
              </a:buBlip>
              <a:tabLst/>
              <a:defRPr/>
            </a:pPr>
            <a:r>
              <a:rPr kumimoji="1" lang="en-US" altLang="ko-KR" sz="11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Multi-Tenant Service Layer</a:t>
            </a:r>
            <a:r>
              <a:rPr kumimoji="1" lang="ko-KR" altLang="en-US" sz="11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는 서비스를 위한 서비스구성</a:t>
            </a:r>
            <a:r>
              <a:rPr kumimoji="1" lang="en-US" altLang="ko-KR" sz="11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1" lang="ko-KR" altLang="en-US" sz="11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등록</a:t>
            </a:r>
            <a:r>
              <a:rPr kumimoji="1" lang="en-US" altLang="ko-KR" sz="11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1" lang="ko-KR" altLang="en-US" sz="11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사용자 권한 제어하는 영역</a:t>
            </a:r>
          </a:p>
        </p:txBody>
      </p:sp>
      <p:sp>
        <p:nvSpPr>
          <p:cNvPr id="185" name="Rectangle 10"/>
          <p:cNvSpPr>
            <a:spLocks noChangeArrowheads="1"/>
          </p:cNvSpPr>
          <p:nvPr/>
        </p:nvSpPr>
        <p:spPr bwMode="auto">
          <a:xfrm>
            <a:off x="6486498" y="5048477"/>
            <a:ext cx="2723591" cy="1077972"/>
          </a:xfrm>
          <a:prstGeom prst="rect">
            <a:avLst/>
          </a:prstGeom>
          <a:gradFill rotWithShape="0">
            <a:gsLst>
              <a:gs pos="0">
                <a:srgbClr val="F7FAFB"/>
              </a:gs>
              <a:gs pos="100000">
                <a:srgbClr val="F9FBFC"/>
              </a:gs>
            </a:gsLst>
            <a:lin ang="5400000" scaled="1"/>
          </a:gradFill>
          <a:ln w="28575">
            <a:solidFill>
              <a:srgbClr val="5D95A9"/>
            </a:solidFill>
            <a:miter lim="800000"/>
            <a:headEnd/>
            <a:tailEnd/>
          </a:ln>
        </p:spPr>
        <p:txBody>
          <a:bodyPr lIns="180000" tIns="72000" rIns="72000" bIns="72000" anchor="ctr"/>
          <a:lstStyle/>
          <a:p>
            <a:pPr marL="85725" marR="0" lvl="0" indent="-85725" algn="l" defTabSz="91440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Trebuchet MS" pitchFamily="34" charset="0"/>
              <a:buBlip>
                <a:blip r:embed="rId4"/>
              </a:buBlip>
              <a:tabLst/>
              <a:defRPr/>
            </a:pPr>
            <a:r>
              <a:rPr kumimoji="1" lang="en-US" altLang="ko-KR" sz="11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Business Layer</a:t>
            </a:r>
            <a:r>
              <a:rPr kumimoji="1" lang="ko-KR" altLang="en-US" sz="11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는 제공하는 </a:t>
            </a:r>
            <a:r>
              <a:rPr kumimoji="1" lang="en-US" altLang="ko-KR" sz="11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Business</a:t>
            </a:r>
            <a:r>
              <a:rPr kumimoji="1" lang="ko-KR" altLang="en-US" sz="11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서비스 영역에 해당 하는 개발 영역</a:t>
            </a:r>
          </a:p>
          <a:p>
            <a:pPr marL="85725" marR="0" lvl="0" indent="-85725" algn="l" defTabSz="91440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Trebuchet MS" pitchFamily="34" charset="0"/>
              <a:buBlip>
                <a:blip r:embed="rId4"/>
              </a:buBlip>
              <a:tabLst/>
              <a:defRPr/>
            </a:pPr>
            <a:r>
              <a:rPr kumimoji="1" lang="ko-KR" altLang="en-US" sz="11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솔루션</a:t>
            </a:r>
            <a:r>
              <a:rPr kumimoji="1" lang="en-US" altLang="ko-KR" sz="11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Base </a:t>
            </a:r>
            <a:r>
              <a:rPr kumimoji="1" lang="ko-KR" altLang="en-US" sz="11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커스터마이징 지원</a:t>
            </a:r>
          </a:p>
        </p:txBody>
      </p:sp>
      <p:sp>
        <p:nvSpPr>
          <p:cNvPr id="186" name="AutoShape 3"/>
          <p:cNvSpPr>
            <a:spLocks noChangeArrowheads="1"/>
          </p:cNvSpPr>
          <p:nvPr/>
        </p:nvSpPr>
        <p:spPr bwMode="auto">
          <a:xfrm>
            <a:off x="619095" y="4903660"/>
            <a:ext cx="2006618" cy="145882"/>
          </a:xfrm>
          <a:prstGeom prst="roundRect">
            <a:avLst>
              <a:gd name="adj" fmla="val 50000"/>
            </a:avLst>
          </a:prstGeom>
          <a:solidFill>
            <a:srgbClr val="234C9D"/>
          </a:solidFill>
          <a:ln w="9525">
            <a:solidFill>
              <a:srgbClr val="234C9D"/>
            </a:solidFill>
            <a:round/>
            <a:headEnd/>
            <a:tailEnd/>
          </a:ln>
        </p:spPr>
        <p:txBody>
          <a:bodyPr wrap="none" lIns="83964" tIns="41983" rIns="83964" bIns="41983" anchor="ctr"/>
          <a:lstStyle/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ko-KR" sz="13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87" name="Text Box 5"/>
          <p:cNvSpPr txBox="1">
            <a:spLocks noChangeArrowheads="1"/>
          </p:cNvSpPr>
          <p:nvPr/>
        </p:nvSpPr>
        <p:spPr bwMode="auto">
          <a:xfrm>
            <a:off x="800953" y="4888752"/>
            <a:ext cx="1537511" cy="171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3964" tIns="41983" rIns="83964" bIns="41983" anchor="ctr"/>
          <a:lstStyle/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3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Framework</a:t>
            </a:r>
          </a:p>
        </p:txBody>
      </p:sp>
      <p:sp>
        <p:nvSpPr>
          <p:cNvPr id="188" name="AutoShape 3"/>
          <p:cNvSpPr>
            <a:spLocks noChangeArrowheads="1"/>
          </p:cNvSpPr>
          <p:nvPr/>
        </p:nvSpPr>
        <p:spPr bwMode="auto">
          <a:xfrm>
            <a:off x="3508366" y="4893011"/>
            <a:ext cx="2006618" cy="145882"/>
          </a:xfrm>
          <a:prstGeom prst="roundRect">
            <a:avLst>
              <a:gd name="adj" fmla="val 50000"/>
            </a:avLst>
          </a:prstGeom>
          <a:solidFill>
            <a:srgbClr val="234C9D"/>
          </a:solidFill>
          <a:ln w="9525">
            <a:solidFill>
              <a:srgbClr val="234C9D"/>
            </a:solidFill>
            <a:round/>
            <a:headEnd/>
            <a:tailEnd/>
          </a:ln>
        </p:spPr>
        <p:txBody>
          <a:bodyPr wrap="none" lIns="83964" tIns="41983" rIns="83964" bIns="41983" anchor="ctr"/>
          <a:lstStyle/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ko-KR" sz="13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89" name="Text Box 5"/>
          <p:cNvSpPr txBox="1">
            <a:spLocks noChangeArrowheads="1"/>
          </p:cNvSpPr>
          <p:nvPr/>
        </p:nvSpPr>
        <p:spPr bwMode="auto">
          <a:xfrm>
            <a:off x="3793550" y="4874910"/>
            <a:ext cx="1363921" cy="1703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3964" tIns="41983" rIns="83964" bIns="41983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3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Service</a:t>
            </a:r>
          </a:p>
        </p:txBody>
      </p:sp>
      <p:sp>
        <p:nvSpPr>
          <p:cNvPr id="190" name="AutoShape 3"/>
          <p:cNvSpPr>
            <a:spLocks noChangeArrowheads="1"/>
          </p:cNvSpPr>
          <p:nvPr/>
        </p:nvSpPr>
        <p:spPr bwMode="auto">
          <a:xfrm>
            <a:off x="6397636" y="4888752"/>
            <a:ext cx="2006618" cy="145882"/>
          </a:xfrm>
          <a:prstGeom prst="roundRect">
            <a:avLst>
              <a:gd name="adj" fmla="val 50000"/>
            </a:avLst>
          </a:prstGeom>
          <a:solidFill>
            <a:srgbClr val="234C9D"/>
          </a:solidFill>
          <a:ln w="9525">
            <a:solidFill>
              <a:srgbClr val="234C9D"/>
            </a:solidFill>
            <a:round/>
            <a:headEnd/>
            <a:tailEnd/>
          </a:ln>
        </p:spPr>
        <p:txBody>
          <a:bodyPr wrap="none" lIns="83964" tIns="41983" rIns="83964" bIns="41983" anchor="ctr"/>
          <a:lstStyle/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ko-KR" sz="13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91" name="Text Box 5"/>
          <p:cNvSpPr txBox="1">
            <a:spLocks noChangeArrowheads="1"/>
          </p:cNvSpPr>
          <p:nvPr/>
        </p:nvSpPr>
        <p:spPr bwMode="auto">
          <a:xfrm>
            <a:off x="6682820" y="4870650"/>
            <a:ext cx="1363921" cy="171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3964" tIns="41983" rIns="83964" bIns="41983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3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Business</a:t>
            </a:r>
          </a:p>
        </p:txBody>
      </p:sp>
      <p:sp>
        <p:nvSpPr>
          <p:cNvPr id="192" name="슬라이드 번호 개체 틀 5"/>
          <p:cNvSpPr txBox="1">
            <a:spLocks/>
          </p:cNvSpPr>
          <p:nvPr/>
        </p:nvSpPr>
        <p:spPr>
          <a:xfrm>
            <a:off x="3797300" y="6492899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b="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dirty="0" smtClean="0"/>
              <a:t>- 5</a:t>
            </a:r>
            <a:r>
              <a:rPr lang="ko-KR" altLang="en-US" dirty="0" smtClean="0"/>
              <a:t> </a:t>
            </a:r>
            <a:r>
              <a:rPr lang="en-US" altLang="ko-KR" dirty="0" smtClean="0"/>
              <a:t>-</a:t>
            </a:r>
            <a:endParaRPr lang="ko-KR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M2M-JDFW (3)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 smtClean="0"/>
              <a:t>2</a:t>
            </a:r>
            <a:endParaRPr lang="ko-KR" altLang="en-US" dirty="0"/>
          </a:p>
        </p:txBody>
      </p:sp>
      <p:sp>
        <p:nvSpPr>
          <p:cNvPr id="141" name="Rectangle 59"/>
          <p:cNvSpPr>
            <a:spLocks noChangeArrowheads="1"/>
          </p:cNvSpPr>
          <p:nvPr/>
        </p:nvSpPr>
        <p:spPr bwMode="auto">
          <a:xfrm>
            <a:off x="502180" y="1093540"/>
            <a:ext cx="8906228" cy="5217150"/>
          </a:xfrm>
          <a:prstGeom prst="rect">
            <a:avLst/>
          </a:prstGeom>
          <a:noFill/>
          <a:ln w="9525">
            <a:solidFill>
              <a:srgbClr val="3875A2"/>
            </a:solidFill>
            <a:miter lim="800000"/>
            <a:headEnd/>
            <a:tailEnd/>
          </a:ln>
          <a:effectLst>
            <a:prstShdw prst="shdw17" dist="17961" dir="2700000">
              <a:srgbClr val="224661"/>
            </a:prstShdw>
          </a:effectLst>
        </p:spPr>
        <p:txBody>
          <a:bodyPr wrap="none" anchor="ctr"/>
          <a:lstStyle/>
          <a:p>
            <a:endParaRPr lang="ko-KR" altLang="ko-KR" sz="1000" b="1"/>
          </a:p>
        </p:txBody>
      </p:sp>
      <p:sp>
        <p:nvSpPr>
          <p:cNvPr id="142" name="AutoShape 60"/>
          <p:cNvSpPr>
            <a:spLocks noChangeArrowheads="1"/>
          </p:cNvSpPr>
          <p:nvPr/>
        </p:nvSpPr>
        <p:spPr bwMode="auto">
          <a:xfrm flipV="1">
            <a:off x="515938" y="948467"/>
            <a:ext cx="8931451" cy="145073"/>
          </a:xfrm>
          <a:prstGeom prst="cube">
            <a:avLst>
              <a:gd name="adj" fmla="val 3444"/>
            </a:avLst>
          </a:prstGeom>
          <a:solidFill>
            <a:srgbClr val="71A7C5"/>
          </a:solidFill>
          <a:ln w="6350">
            <a:solidFill>
              <a:srgbClr val="384F7C"/>
            </a:solidFill>
            <a:miter lim="800000"/>
            <a:headEnd/>
            <a:tailEnd/>
          </a:ln>
        </p:spPr>
        <p:txBody>
          <a:bodyPr rot="10800000" wrap="none" anchor="ctr"/>
          <a:lstStyle/>
          <a:p>
            <a:endParaRPr lang="ko-KR" altLang="en-US"/>
          </a:p>
        </p:txBody>
      </p:sp>
      <p:grpSp>
        <p:nvGrpSpPr>
          <p:cNvPr id="143" name="Group 61"/>
          <p:cNvGrpSpPr>
            <a:grpSpLocks/>
          </p:cNvGrpSpPr>
          <p:nvPr/>
        </p:nvGrpSpPr>
        <p:grpSpPr bwMode="auto">
          <a:xfrm>
            <a:off x="632884" y="800082"/>
            <a:ext cx="4735160" cy="282451"/>
            <a:chOff x="276" y="3229"/>
            <a:chExt cx="1294" cy="257"/>
          </a:xfrm>
        </p:grpSpPr>
        <p:grpSp>
          <p:nvGrpSpPr>
            <p:cNvPr id="144" name="Group 62"/>
            <p:cNvGrpSpPr>
              <a:grpSpLocks/>
            </p:cNvGrpSpPr>
            <p:nvPr/>
          </p:nvGrpSpPr>
          <p:grpSpPr bwMode="auto">
            <a:xfrm flipV="1">
              <a:off x="276" y="3294"/>
              <a:ext cx="1294" cy="161"/>
              <a:chOff x="2019" y="1759"/>
              <a:chExt cx="2340" cy="499"/>
            </a:xfrm>
          </p:grpSpPr>
          <p:sp>
            <p:nvSpPr>
              <p:cNvPr id="146" name="AutoShape 63"/>
              <p:cNvSpPr>
                <a:spLocks noChangeArrowheads="1"/>
              </p:cNvSpPr>
              <p:nvPr/>
            </p:nvSpPr>
            <p:spPr bwMode="auto">
              <a:xfrm flipV="1">
                <a:off x="2052" y="1759"/>
                <a:ext cx="2268" cy="494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3438 w 21600"/>
                  <a:gd name="T13" fmla="*/ 3454 h 21600"/>
                  <a:gd name="T14" fmla="*/ 18162 w 21600"/>
                  <a:gd name="T15" fmla="*/ 18146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3276" y="21600"/>
                    </a:lnTo>
                    <a:lnTo>
                      <a:pt x="18324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71A7C5"/>
                  </a:gs>
                  <a:gs pos="100000">
                    <a:srgbClr val="BBE0E3"/>
                  </a:gs>
                </a:gsLst>
                <a:lin ang="5400000" scaled="1"/>
              </a:gradFill>
              <a:ln w="6350" algn="ctr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147" name="AutoShape 64"/>
              <p:cNvSpPr>
                <a:spLocks noChangeArrowheads="1"/>
              </p:cNvSpPr>
              <p:nvPr/>
            </p:nvSpPr>
            <p:spPr bwMode="auto">
              <a:xfrm flipV="1">
                <a:off x="2143" y="1811"/>
                <a:ext cx="2075" cy="39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3269 w 21600"/>
                  <a:gd name="T13" fmla="*/ 3256 h 21600"/>
                  <a:gd name="T14" fmla="*/ 18331 w 21600"/>
                  <a:gd name="T15" fmla="*/ 18344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2945" y="21600"/>
                    </a:lnTo>
                    <a:lnTo>
                      <a:pt x="18655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0F9FF"/>
                  </a:gs>
                  <a:gs pos="100000">
                    <a:srgbClr val="CCECFF"/>
                  </a:gs>
                </a:gsLst>
                <a:lin ang="5400000" scaled="1"/>
              </a:gradFill>
              <a:ln w="9525" algn="ctr">
                <a:solidFill>
                  <a:srgbClr val="F8F8F8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148" name="Freeform 65"/>
              <p:cNvSpPr>
                <a:spLocks/>
              </p:cNvSpPr>
              <p:nvPr/>
            </p:nvSpPr>
            <p:spPr bwMode="auto">
              <a:xfrm>
                <a:off x="3958" y="1759"/>
                <a:ext cx="401" cy="499"/>
              </a:xfrm>
              <a:custGeom>
                <a:avLst/>
                <a:gdLst>
                  <a:gd name="T0" fmla="*/ 0 w 545"/>
                  <a:gd name="T1" fmla="*/ 0 h 499"/>
                  <a:gd name="T2" fmla="*/ 2 w 545"/>
                  <a:gd name="T3" fmla="*/ 272 h 499"/>
                  <a:gd name="T4" fmla="*/ 2 w 545"/>
                  <a:gd name="T5" fmla="*/ 499 h 499"/>
                  <a:gd name="T6" fmla="*/ 0 w 545"/>
                  <a:gd name="T7" fmla="*/ 0 h 49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45"/>
                  <a:gd name="T13" fmla="*/ 0 h 499"/>
                  <a:gd name="T14" fmla="*/ 545 w 545"/>
                  <a:gd name="T15" fmla="*/ 499 h 49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45" h="499">
                    <a:moveTo>
                      <a:pt x="0" y="0"/>
                    </a:moveTo>
                    <a:lnTo>
                      <a:pt x="545" y="272"/>
                    </a:lnTo>
                    <a:lnTo>
                      <a:pt x="499" y="499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71A7C5"/>
                  </a:gs>
                  <a:gs pos="100000">
                    <a:srgbClr val="BBE0E3"/>
                  </a:gs>
                </a:gsLst>
                <a:lin ang="5400000" scaled="1"/>
              </a:gradFill>
              <a:ln w="6350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 rot="10800000" wrap="none" anchor="ctr"/>
              <a:lstStyle/>
              <a:p>
                <a:endParaRPr lang="ko-KR" altLang="en-US"/>
              </a:p>
            </p:txBody>
          </p:sp>
          <p:sp>
            <p:nvSpPr>
              <p:cNvPr id="149" name="Freeform 66"/>
              <p:cNvSpPr>
                <a:spLocks/>
              </p:cNvSpPr>
              <p:nvPr/>
            </p:nvSpPr>
            <p:spPr bwMode="auto">
              <a:xfrm flipH="1">
                <a:off x="2019" y="1759"/>
                <a:ext cx="384" cy="499"/>
              </a:xfrm>
              <a:custGeom>
                <a:avLst/>
                <a:gdLst>
                  <a:gd name="T0" fmla="*/ 0 w 545"/>
                  <a:gd name="T1" fmla="*/ 0 h 499"/>
                  <a:gd name="T2" fmla="*/ 1 w 545"/>
                  <a:gd name="T3" fmla="*/ 272 h 499"/>
                  <a:gd name="T4" fmla="*/ 1 w 545"/>
                  <a:gd name="T5" fmla="*/ 499 h 499"/>
                  <a:gd name="T6" fmla="*/ 0 w 545"/>
                  <a:gd name="T7" fmla="*/ 0 h 49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45"/>
                  <a:gd name="T13" fmla="*/ 0 h 499"/>
                  <a:gd name="T14" fmla="*/ 545 w 545"/>
                  <a:gd name="T15" fmla="*/ 499 h 49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45" h="499">
                    <a:moveTo>
                      <a:pt x="0" y="0"/>
                    </a:moveTo>
                    <a:lnTo>
                      <a:pt x="545" y="272"/>
                    </a:lnTo>
                    <a:lnTo>
                      <a:pt x="499" y="499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71A7C5"/>
                  </a:gs>
                  <a:gs pos="100000">
                    <a:srgbClr val="BBE0E3"/>
                  </a:gs>
                </a:gsLst>
                <a:lin ang="5400000" scaled="1"/>
              </a:gradFill>
              <a:ln w="6350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 rot="10800000"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145" name="Text Box 67"/>
            <p:cNvSpPr txBox="1">
              <a:spLocks noChangeArrowheads="1"/>
            </p:cNvSpPr>
            <p:nvPr/>
          </p:nvSpPr>
          <p:spPr bwMode="auto">
            <a:xfrm>
              <a:off x="479" y="3229"/>
              <a:ext cx="1056" cy="2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81253" tIns="40628" rIns="81253" bIns="40628">
              <a:spAutoFit/>
            </a:bodyPr>
            <a:lstStyle/>
            <a:p>
              <a:pPr defTabSz="811213" eaLnBrk="0" latinLnBrk="0" hangingPunct="0"/>
              <a:r>
                <a:rPr kumimoji="0" lang="ko-KR" altLang="en-US" sz="1300" b="1" dirty="0" smtClean="0">
                  <a:latin typeface="맑은 고딕" pitchFamily="50" charset="-127"/>
                  <a:ea typeface="맑은 고딕" pitchFamily="50" charset="-127"/>
                </a:rPr>
                <a:t>개발 표준프레임워크</a:t>
              </a:r>
              <a:r>
                <a:rPr kumimoji="0" lang="en-US" altLang="en-US" sz="1300" b="1" dirty="0" smtClean="0"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kumimoji="0" lang="en-US" altLang="en-US" sz="1300" b="1" dirty="0" err="1">
                  <a:latin typeface="맑은 고딕" pitchFamily="50" charset="-127"/>
                  <a:ea typeface="맑은 고딕" pitchFamily="50" charset="-127"/>
                </a:rPr>
                <a:t>구조도</a:t>
              </a:r>
              <a:endParaRPr kumimoji="0" lang="ko-KR" altLang="en-US" sz="1300" b="1" dirty="0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150" name="Rectangle 10"/>
          <p:cNvSpPr>
            <a:spLocks noChangeArrowheads="1"/>
          </p:cNvSpPr>
          <p:nvPr/>
        </p:nvSpPr>
        <p:spPr bwMode="auto">
          <a:xfrm>
            <a:off x="5927549" y="1182598"/>
            <a:ext cx="3327223" cy="2262920"/>
          </a:xfrm>
          <a:prstGeom prst="rect">
            <a:avLst/>
          </a:prstGeom>
          <a:gradFill rotWithShape="0">
            <a:gsLst>
              <a:gs pos="0">
                <a:srgbClr val="F7FAFB"/>
              </a:gs>
              <a:gs pos="100000">
                <a:srgbClr val="F9FBFC"/>
              </a:gs>
            </a:gsLst>
            <a:lin ang="5400000" scaled="1"/>
          </a:gradFill>
          <a:ln w="28575">
            <a:solidFill>
              <a:srgbClr val="5D95A9"/>
            </a:solidFill>
            <a:miter lim="800000"/>
            <a:headEnd/>
            <a:tailEnd/>
          </a:ln>
        </p:spPr>
        <p:txBody>
          <a:bodyPr lIns="180000" tIns="72000" rIns="72000" bIns="72000" anchor="ctr"/>
          <a:lstStyle/>
          <a:p>
            <a:pPr marL="85725" indent="-85725" algn="l">
              <a:lnSpc>
                <a:spcPct val="110000"/>
              </a:lnSpc>
              <a:buFont typeface="Trebuchet MS" pitchFamily="34" charset="0"/>
              <a:buBlip>
                <a:blip r:embed="rId3"/>
              </a:buBlip>
            </a:pPr>
            <a:r>
              <a:rPr lang="ko-KR" altLang="en-US" sz="10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개발자 </a:t>
            </a:r>
            <a:r>
              <a:rPr lang="ko-KR" altLang="en-US" sz="10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</a:t>
            </a:r>
            <a:r>
              <a:rPr lang="ko-KR" altLang="en-US" sz="10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생산성</a:t>
            </a:r>
            <a:r>
              <a:rPr lang="en-US" altLang="ko-KR" sz="10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운영자 </a:t>
            </a:r>
            <a:r>
              <a:rPr lang="ko-KR" altLang="en-US" sz="10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</a:t>
            </a:r>
            <a:r>
              <a:rPr lang="ko-KR" altLang="en-US" sz="10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운영용이성</a:t>
            </a:r>
            <a:r>
              <a:rPr lang="en-US" altLang="ko-KR" sz="10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사용자 </a:t>
            </a:r>
            <a:r>
              <a:rPr lang="ko-KR" altLang="en-US" sz="10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</a:t>
            </a:r>
            <a:r>
              <a:rPr lang="ko-KR" altLang="en-US" sz="10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사용편의성 극대화</a:t>
            </a:r>
          </a:p>
          <a:p>
            <a:pPr marL="85725" indent="-85725" algn="l">
              <a:lnSpc>
                <a:spcPct val="110000"/>
              </a:lnSpc>
              <a:buFont typeface="Trebuchet MS" pitchFamily="34" charset="0"/>
              <a:buBlip>
                <a:blip r:embed="rId3"/>
              </a:buBlip>
            </a:pPr>
            <a:r>
              <a:rPr lang="en-US" altLang="ko-KR" sz="10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WEB(Java </a:t>
            </a:r>
            <a:r>
              <a:rPr lang="ko-KR" altLang="en-US" sz="10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기반</a:t>
            </a:r>
            <a:r>
              <a:rPr lang="en-US" altLang="ko-KR" sz="10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r>
              <a:rPr lang="ko-KR" altLang="en-US" sz="10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개발운영을 위한 </a:t>
            </a:r>
            <a:r>
              <a:rPr lang="en-US" altLang="ko-KR" sz="10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MVC</a:t>
            </a:r>
            <a:r>
              <a:rPr lang="ko-KR" altLang="en-US" sz="10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모델기반의 표준형 </a:t>
            </a:r>
            <a:r>
              <a:rPr lang="en-US" altLang="ko-KR" sz="10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Framework(</a:t>
            </a:r>
            <a:r>
              <a:rPr lang="ko-KR" altLang="en-US" sz="10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기반기술</a:t>
            </a:r>
            <a:r>
              <a:rPr lang="en-US" altLang="ko-KR" sz="10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: EJB, Servlet, Applet, Jsp, Struts, Velocity </a:t>
            </a:r>
            <a:r>
              <a:rPr lang="ko-KR" altLang="en-US" sz="10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등</a:t>
            </a:r>
            <a:r>
              <a:rPr lang="en-US" altLang="ko-KR" sz="10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)</a:t>
            </a:r>
          </a:p>
          <a:p>
            <a:pPr marL="85725" indent="-85725" algn="l">
              <a:lnSpc>
                <a:spcPct val="110000"/>
              </a:lnSpc>
              <a:buFont typeface="Trebuchet MS" pitchFamily="34" charset="0"/>
              <a:buBlip>
                <a:blip r:embed="rId3"/>
              </a:buBlip>
            </a:pPr>
            <a:r>
              <a:rPr lang="en-US" altLang="ko-KR" sz="10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M2M-JDFW</a:t>
            </a:r>
            <a:r>
              <a:rPr lang="ko-KR" altLang="en-US" sz="10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는 </a:t>
            </a:r>
            <a:br>
              <a:rPr lang="ko-KR" altLang="en-US" sz="10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</a:br>
            <a:r>
              <a:rPr lang="en-US" altLang="ko-KR" sz="10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2007</a:t>
            </a:r>
            <a:r>
              <a:rPr lang="ko-KR" altLang="en-US" sz="10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년 대한민국</a:t>
            </a:r>
            <a:br>
              <a:rPr lang="ko-KR" altLang="en-US" sz="10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</a:br>
            <a:r>
              <a:rPr lang="ko-KR" altLang="en-US" sz="10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소프트웨어 </a:t>
            </a:r>
            <a:br>
              <a:rPr lang="ko-KR" altLang="en-US" sz="10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</a:br>
            <a:r>
              <a:rPr lang="ko-KR" altLang="en-US" sz="10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기술대상 우수상 획득</a:t>
            </a:r>
          </a:p>
          <a:p>
            <a:pPr marL="85725" indent="-85725" algn="l">
              <a:lnSpc>
                <a:spcPct val="110000"/>
              </a:lnSpc>
              <a:buFont typeface="Trebuchet MS" pitchFamily="34" charset="0"/>
              <a:buBlip>
                <a:blip r:embed="rId3"/>
              </a:buBlip>
            </a:pPr>
            <a:r>
              <a:rPr lang="ko-KR" altLang="en-US" sz="10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기본 제공되는 </a:t>
            </a:r>
            <a:r>
              <a:rPr lang="en-US" altLang="ko-KR" sz="10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Jtable</a:t>
            </a:r>
            <a:r>
              <a:rPr lang="ko-KR" altLang="en-US" sz="10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기능만으로도 개발단순작업의</a:t>
            </a:r>
            <a:br>
              <a:rPr lang="ko-KR" altLang="en-US" sz="10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</a:br>
            <a:r>
              <a:rPr lang="ko-KR" altLang="en-US" sz="10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사용자 만족도</a:t>
            </a:r>
            <a:br>
              <a:rPr lang="ko-KR" altLang="en-US" sz="10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</a:br>
            <a:r>
              <a:rPr lang="ko-KR" altLang="en-US" sz="10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극대화</a:t>
            </a:r>
            <a:endParaRPr lang="en-US" altLang="ko-KR" sz="100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151" name="Object 89"/>
          <p:cNvGraphicFramePr>
            <a:graphicFrameLocks noChangeAspect="1"/>
          </p:cNvGraphicFramePr>
          <p:nvPr/>
        </p:nvGraphicFramePr>
        <p:xfrm>
          <a:off x="7635875" y="2946555"/>
          <a:ext cx="1430867" cy="3308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그림" r:id="rId4" imgW="6643440" imgH="2693880" progId="StaticMetafile">
                  <p:embed/>
                </p:oleObj>
              </mc:Choice>
              <mc:Fallback>
                <p:oleObj name="그림" r:id="rId4" imgW="6643440" imgH="2693880" progId="StaticMetafile">
                  <p:embed/>
                  <p:pic>
                    <p:nvPicPr>
                      <p:cNvPr id="0" name="Object 8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35875" y="2946555"/>
                        <a:ext cx="1430867" cy="3308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CC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4763" cap="rnd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2" name="Picture 8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8371947" y="2225585"/>
            <a:ext cx="683331" cy="415437"/>
          </a:xfrm>
          <a:prstGeom prst="rect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</p:spPr>
      </p:pic>
      <p:graphicFrame>
        <p:nvGraphicFramePr>
          <p:cNvPr id="153" name="Object 3"/>
          <p:cNvGraphicFramePr>
            <a:graphicFrameLocks noChangeAspect="1"/>
          </p:cNvGraphicFramePr>
          <p:nvPr/>
        </p:nvGraphicFramePr>
        <p:xfrm>
          <a:off x="605367" y="1174905"/>
          <a:ext cx="5218994" cy="2270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" name="그림" r:id="rId7" imgW="8302320" imgH="5767200" progId="StaticMetafile">
                  <p:embed/>
                </p:oleObj>
              </mc:Choice>
              <mc:Fallback>
                <p:oleObj name="그림" r:id="rId7" imgW="8302320" imgH="5767200" progId="StaticMetafile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5367" y="1174905"/>
                        <a:ext cx="5218994" cy="2270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B8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4" name="Group 55"/>
          <p:cNvGrpSpPr>
            <a:grpSpLocks/>
          </p:cNvGrpSpPr>
          <p:nvPr/>
        </p:nvGrpSpPr>
        <p:grpSpPr bwMode="auto">
          <a:xfrm>
            <a:off x="639764" y="3512560"/>
            <a:ext cx="8613969" cy="2724516"/>
            <a:chOff x="258" y="1162"/>
            <a:chExt cx="5600" cy="2903"/>
          </a:xfrm>
        </p:grpSpPr>
        <p:grpSp>
          <p:nvGrpSpPr>
            <p:cNvPr id="155" name="Group 56"/>
            <p:cNvGrpSpPr>
              <a:grpSpLocks/>
            </p:cNvGrpSpPr>
            <p:nvPr/>
          </p:nvGrpSpPr>
          <p:grpSpPr bwMode="auto">
            <a:xfrm>
              <a:off x="344" y="2635"/>
              <a:ext cx="5453" cy="134"/>
              <a:chOff x="398" y="3503"/>
              <a:chExt cx="3750" cy="162"/>
            </a:xfrm>
          </p:grpSpPr>
          <p:sp>
            <p:nvSpPr>
              <p:cNvPr id="275" name="AutoShape 57"/>
              <p:cNvSpPr>
                <a:spLocks noChangeArrowheads="1"/>
              </p:cNvSpPr>
              <p:nvPr/>
            </p:nvSpPr>
            <p:spPr bwMode="gray">
              <a:xfrm flipV="1">
                <a:off x="416" y="3503"/>
                <a:ext cx="3716" cy="14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2749 w 21600"/>
                  <a:gd name="T13" fmla="*/ 2811 h 21600"/>
                  <a:gd name="T14" fmla="*/ 18851 w 21600"/>
                  <a:gd name="T15" fmla="*/ 18789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1893" y="21600"/>
                    </a:lnTo>
                    <a:lnTo>
                      <a:pt x="19707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E2E2E2"/>
                  </a:gs>
                  <a:gs pos="100000">
                    <a:srgbClr val="FFFFFF"/>
                  </a:gs>
                </a:gsLst>
                <a:lin ang="5400000" scaled="1"/>
              </a:gra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276" name="Line 58"/>
              <p:cNvSpPr>
                <a:spLocks noChangeShapeType="1"/>
              </p:cNvSpPr>
              <p:nvPr/>
            </p:nvSpPr>
            <p:spPr bwMode="gray">
              <a:xfrm flipV="1">
                <a:off x="398" y="3665"/>
                <a:ext cx="3750" cy="0"/>
              </a:xfrm>
              <a:prstGeom prst="line">
                <a:avLst/>
              </a:prstGeom>
              <a:noFill/>
              <a:ln w="28575">
                <a:solidFill>
                  <a:srgbClr val="B2B2B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277" name="AutoShape 59"/>
              <p:cNvSpPr>
                <a:spLocks noChangeArrowheads="1"/>
              </p:cNvSpPr>
              <p:nvPr/>
            </p:nvSpPr>
            <p:spPr bwMode="gray">
              <a:xfrm rot="10800000" flipV="1">
                <a:off x="2212" y="3614"/>
                <a:ext cx="74" cy="48"/>
              </a:xfrm>
              <a:prstGeom prst="triangle">
                <a:avLst>
                  <a:gd name="adj" fmla="val 50000"/>
                </a:avLst>
              </a:prstGeom>
              <a:solidFill>
                <a:srgbClr val="B2B2B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>
                  <a:latin typeface="맑은 고딕" pitchFamily="50" charset="-127"/>
                  <a:ea typeface="맑은 고딕" pitchFamily="50" charset="-127"/>
                </a:endParaRPr>
              </a:p>
            </p:txBody>
          </p:sp>
        </p:grpSp>
        <p:sp>
          <p:nvSpPr>
            <p:cNvPr id="156" name="AutoShape 18"/>
            <p:cNvSpPr>
              <a:spLocks noChangeArrowheads="1"/>
            </p:cNvSpPr>
            <p:nvPr/>
          </p:nvSpPr>
          <p:spPr bwMode="gray">
            <a:xfrm>
              <a:off x="286" y="1162"/>
              <a:ext cx="5572" cy="1535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15875" algn="ctr">
              <a:solidFill>
                <a:srgbClr val="86A6BC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l">
                <a:lnSpc>
                  <a:spcPct val="90000"/>
                </a:lnSpc>
              </a:pPr>
              <a:endParaRPr lang="ko-KR" altLang="en-US" sz="160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57" name="AutoShape 61"/>
            <p:cNvSpPr>
              <a:spLocks noChangeArrowheads="1"/>
            </p:cNvSpPr>
            <p:nvPr/>
          </p:nvSpPr>
          <p:spPr bwMode="auto">
            <a:xfrm>
              <a:off x="1296" y="1308"/>
              <a:ext cx="1133" cy="1352"/>
            </a:xfrm>
            <a:prstGeom prst="roundRect">
              <a:avLst>
                <a:gd name="adj" fmla="val 2546"/>
              </a:avLst>
            </a:prstGeom>
            <a:solidFill>
              <a:srgbClr val="EAEAEA"/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58" name="AutoShape 62"/>
            <p:cNvSpPr>
              <a:spLocks noChangeArrowheads="1"/>
            </p:cNvSpPr>
            <p:nvPr/>
          </p:nvSpPr>
          <p:spPr bwMode="auto">
            <a:xfrm>
              <a:off x="2464" y="1308"/>
              <a:ext cx="1206" cy="528"/>
            </a:xfrm>
            <a:prstGeom prst="roundRect">
              <a:avLst>
                <a:gd name="adj" fmla="val 5685"/>
              </a:avLst>
            </a:prstGeom>
            <a:solidFill>
              <a:srgbClr val="EAEAEA"/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59" name="AutoShape 63"/>
            <p:cNvSpPr>
              <a:spLocks noChangeArrowheads="1"/>
            </p:cNvSpPr>
            <p:nvPr/>
          </p:nvSpPr>
          <p:spPr bwMode="auto">
            <a:xfrm>
              <a:off x="360" y="1298"/>
              <a:ext cx="820" cy="1362"/>
            </a:xfrm>
            <a:prstGeom prst="roundRect">
              <a:avLst>
                <a:gd name="adj" fmla="val 6856"/>
              </a:avLst>
            </a:prstGeom>
            <a:solidFill>
              <a:srgbClr val="EAEAEA"/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60" name="AutoShape 64"/>
            <p:cNvSpPr>
              <a:spLocks noChangeArrowheads="1"/>
            </p:cNvSpPr>
            <p:nvPr/>
          </p:nvSpPr>
          <p:spPr bwMode="auto">
            <a:xfrm>
              <a:off x="1162" y="1627"/>
              <a:ext cx="189" cy="83"/>
            </a:xfrm>
            <a:prstGeom prst="rightArrow">
              <a:avLst>
                <a:gd name="adj1" fmla="val 59565"/>
                <a:gd name="adj2" fmla="val 104367"/>
              </a:avLst>
            </a:prstGeom>
            <a:gradFill rotWithShape="1">
              <a:gsLst>
                <a:gs pos="0">
                  <a:srgbClr val="EAEAEA"/>
                </a:gs>
                <a:gs pos="100000">
                  <a:srgbClr val="B2B2B2"/>
                </a:gs>
              </a:gsLst>
              <a:lin ang="0" scaled="1"/>
            </a:gradFill>
            <a:ln w="9525" algn="ctr">
              <a:noFill/>
              <a:miter lim="800000"/>
              <a:headEnd/>
              <a:tailEnd/>
            </a:ln>
          </p:spPr>
          <p:txBody>
            <a:bodyPr vert="eaVert" wrap="none" anchor="ctr"/>
            <a:lstStyle/>
            <a:p>
              <a:endParaRPr lang="ko-KR" altLang="en-US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61" name="Text Box 65"/>
            <p:cNvSpPr txBox="1">
              <a:spLocks noChangeArrowheads="1"/>
            </p:cNvSpPr>
            <p:nvPr/>
          </p:nvSpPr>
          <p:spPr bwMode="auto">
            <a:xfrm>
              <a:off x="1187" y="1690"/>
              <a:ext cx="183" cy="4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eaVert" wrap="none">
              <a:spAutoFit/>
            </a:bodyPr>
            <a:lstStyle/>
            <a:p>
              <a:pPr algn="l" latinLnBrk="0">
                <a:lnSpc>
                  <a:spcPct val="90000"/>
                </a:lnSpc>
              </a:pPr>
              <a:r>
                <a:rPr lang="en-US" altLang="ko-KR" sz="700">
                  <a:solidFill>
                    <a:srgbClr val="4D4D4D"/>
                  </a:solidFill>
                  <a:latin typeface="맑은 고딕" pitchFamily="50" charset="-127"/>
                  <a:ea typeface="맑은 고딕" pitchFamily="50" charset="-127"/>
                </a:rPr>
                <a:t>Request</a:t>
              </a:r>
            </a:p>
          </p:txBody>
        </p:sp>
        <p:sp>
          <p:nvSpPr>
            <p:cNvPr id="162" name="AutoShape 66"/>
            <p:cNvSpPr>
              <a:spLocks noChangeArrowheads="1"/>
            </p:cNvSpPr>
            <p:nvPr/>
          </p:nvSpPr>
          <p:spPr bwMode="auto">
            <a:xfrm>
              <a:off x="4792" y="1308"/>
              <a:ext cx="1043" cy="528"/>
            </a:xfrm>
            <a:prstGeom prst="roundRect">
              <a:avLst>
                <a:gd name="adj" fmla="val 5569"/>
              </a:avLst>
            </a:prstGeom>
            <a:solidFill>
              <a:srgbClr val="EAEAEA"/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63" name="AutoShape 67"/>
            <p:cNvSpPr>
              <a:spLocks noChangeArrowheads="1"/>
            </p:cNvSpPr>
            <p:nvPr/>
          </p:nvSpPr>
          <p:spPr bwMode="auto">
            <a:xfrm flipH="1">
              <a:off x="1175" y="2189"/>
              <a:ext cx="187" cy="83"/>
            </a:xfrm>
            <a:prstGeom prst="rightArrow">
              <a:avLst>
                <a:gd name="adj1" fmla="val 59565"/>
                <a:gd name="adj2" fmla="val 103263"/>
              </a:avLst>
            </a:prstGeom>
            <a:gradFill rotWithShape="1">
              <a:gsLst>
                <a:gs pos="0">
                  <a:srgbClr val="EAEAEA"/>
                </a:gs>
                <a:gs pos="100000">
                  <a:srgbClr val="B2B2B2"/>
                </a:gs>
              </a:gsLst>
              <a:lin ang="0" scaled="1"/>
            </a:gradFill>
            <a:ln w="9525" algn="ctr">
              <a:noFill/>
              <a:miter lim="800000"/>
              <a:headEnd/>
              <a:tailEnd/>
            </a:ln>
          </p:spPr>
          <p:txBody>
            <a:bodyPr vert="eaVert" wrap="none" anchor="ctr"/>
            <a:lstStyle/>
            <a:p>
              <a:endParaRPr lang="ko-KR" altLang="en-US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64" name="Text Box 68"/>
            <p:cNvSpPr txBox="1">
              <a:spLocks noChangeArrowheads="1"/>
            </p:cNvSpPr>
            <p:nvPr/>
          </p:nvSpPr>
          <p:spPr bwMode="auto">
            <a:xfrm flipH="1">
              <a:off x="1223" y="2252"/>
              <a:ext cx="183" cy="5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eaVert" wrap="none">
              <a:spAutoFit/>
            </a:bodyPr>
            <a:lstStyle/>
            <a:p>
              <a:pPr algn="l" latinLnBrk="0">
                <a:lnSpc>
                  <a:spcPct val="90000"/>
                </a:lnSpc>
              </a:pPr>
              <a:r>
                <a:rPr lang="en-US" altLang="ko-KR" sz="700">
                  <a:solidFill>
                    <a:srgbClr val="4D4D4D"/>
                  </a:solidFill>
                  <a:latin typeface="맑은 고딕" pitchFamily="50" charset="-127"/>
                  <a:ea typeface="맑은 고딕" pitchFamily="50" charset="-127"/>
                </a:rPr>
                <a:t>Response</a:t>
              </a:r>
            </a:p>
          </p:txBody>
        </p:sp>
        <p:grpSp>
          <p:nvGrpSpPr>
            <p:cNvPr id="165" name="Group 69"/>
            <p:cNvGrpSpPr>
              <a:grpSpLocks/>
            </p:cNvGrpSpPr>
            <p:nvPr/>
          </p:nvGrpSpPr>
          <p:grpSpPr bwMode="auto">
            <a:xfrm>
              <a:off x="354" y="1198"/>
              <a:ext cx="837" cy="161"/>
              <a:chOff x="250" y="1873"/>
              <a:chExt cx="580" cy="212"/>
            </a:xfrm>
          </p:grpSpPr>
          <p:pic>
            <p:nvPicPr>
              <p:cNvPr id="272" name="Picture 70" descr="202"/>
              <p:cNvPicPr>
                <a:picLocks noChangeAspect="1" noChangeArrowheads="1"/>
              </p:cNvPicPr>
              <p:nvPr/>
            </p:nvPicPr>
            <p:blipFill>
              <a:blip r:embed="rId9" cstate="print"/>
              <a:srcRect l="86790"/>
              <a:stretch>
                <a:fillRect/>
              </a:stretch>
            </p:blipFill>
            <p:spPr bwMode="auto">
              <a:xfrm>
                <a:off x="640" y="1873"/>
                <a:ext cx="190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273" name="Picture 71" descr="202"/>
              <p:cNvPicPr>
                <a:picLocks noChangeAspect="1" noChangeArrowheads="1"/>
              </p:cNvPicPr>
              <p:nvPr/>
            </p:nvPicPr>
            <p:blipFill>
              <a:blip r:embed="rId10" cstate="print"/>
              <a:srcRect l="12189" r="12253"/>
              <a:stretch>
                <a:fillRect/>
              </a:stretch>
            </p:blipFill>
            <p:spPr bwMode="auto">
              <a:xfrm>
                <a:off x="426" y="1873"/>
                <a:ext cx="305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274" name="Picture 72" descr="202"/>
              <p:cNvPicPr>
                <a:picLocks noChangeAspect="1" noChangeArrowheads="1"/>
              </p:cNvPicPr>
              <p:nvPr/>
            </p:nvPicPr>
            <p:blipFill>
              <a:blip r:embed="rId11" cstate="print"/>
              <a:srcRect r="86981"/>
              <a:stretch>
                <a:fillRect/>
              </a:stretch>
            </p:blipFill>
            <p:spPr bwMode="auto">
              <a:xfrm>
                <a:off x="250" y="1873"/>
                <a:ext cx="188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sp>
          <p:nvSpPr>
            <p:cNvPr id="166" name="Text Box 73"/>
            <p:cNvSpPr txBox="1">
              <a:spLocks noChangeArrowheads="1"/>
            </p:cNvSpPr>
            <p:nvPr/>
          </p:nvSpPr>
          <p:spPr bwMode="auto">
            <a:xfrm>
              <a:off x="286" y="1238"/>
              <a:ext cx="965" cy="1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latinLnBrk="0">
                <a:lnSpc>
                  <a:spcPct val="90000"/>
                </a:lnSpc>
              </a:pPr>
              <a:r>
                <a:rPr lang="en-US" altLang="ko-KR" sz="900">
                  <a:latin typeface="맑은 고딕" pitchFamily="50" charset="-127"/>
                  <a:ea typeface="맑은 고딕" pitchFamily="50" charset="-127"/>
                </a:rPr>
                <a:t>Channel Layer</a:t>
              </a:r>
            </a:p>
          </p:txBody>
        </p:sp>
        <p:grpSp>
          <p:nvGrpSpPr>
            <p:cNvPr id="167" name="Group 74"/>
            <p:cNvGrpSpPr>
              <a:grpSpLocks/>
            </p:cNvGrpSpPr>
            <p:nvPr/>
          </p:nvGrpSpPr>
          <p:grpSpPr bwMode="auto">
            <a:xfrm>
              <a:off x="1290" y="1198"/>
              <a:ext cx="1141" cy="161"/>
              <a:chOff x="899" y="2158"/>
              <a:chExt cx="1032" cy="212"/>
            </a:xfrm>
          </p:grpSpPr>
          <p:pic>
            <p:nvPicPr>
              <p:cNvPr id="269" name="Picture 75" descr="202"/>
              <p:cNvPicPr>
                <a:picLocks noChangeAspect="1" noChangeArrowheads="1"/>
              </p:cNvPicPr>
              <p:nvPr/>
            </p:nvPicPr>
            <p:blipFill>
              <a:blip r:embed="rId12" cstate="print"/>
              <a:srcRect l="86790"/>
              <a:stretch>
                <a:fillRect/>
              </a:stretch>
            </p:blipFill>
            <p:spPr bwMode="auto">
              <a:xfrm>
                <a:off x="1741" y="2158"/>
                <a:ext cx="190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270" name="Picture 76" descr="202"/>
              <p:cNvPicPr>
                <a:picLocks noChangeAspect="1" noChangeArrowheads="1"/>
              </p:cNvPicPr>
              <p:nvPr/>
            </p:nvPicPr>
            <p:blipFill>
              <a:blip r:embed="rId13" cstate="print"/>
              <a:srcRect l="12189" r="12253"/>
              <a:stretch>
                <a:fillRect/>
              </a:stretch>
            </p:blipFill>
            <p:spPr bwMode="auto">
              <a:xfrm>
                <a:off x="1031" y="2158"/>
                <a:ext cx="733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271" name="Picture 77" descr="202"/>
              <p:cNvPicPr>
                <a:picLocks noChangeAspect="1" noChangeArrowheads="1"/>
              </p:cNvPicPr>
              <p:nvPr/>
            </p:nvPicPr>
            <p:blipFill>
              <a:blip r:embed="rId14" cstate="print"/>
              <a:srcRect r="86981"/>
              <a:stretch>
                <a:fillRect/>
              </a:stretch>
            </p:blipFill>
            <p:spPr bwMode="auto">
              <a:xfrm>
                <a:off x="899" y="2158"/>
                <a:ext cx="188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sp>
          <p:nvSpPr>
            <p:cNvPr id="168" name="Text Box 78"/>
            <p:cNvSpPr txBox="1">
              <a:spLocks noChangeArrowheads="1"/>
            </p:cNvSpPr>
            <p:nvPr/>
          </p:nvSpPr>
          <p:spPr bwMode="auto">
            <a:xfrm>
              <a:off x="1339" y="1255"/>
              <a:ext cx="628" cy="1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latinLnBrk="0">
                <a:lnSpc>
                  <a:spcPct val="90000"/>
                </a:lnSpc>
              </a:pPr>
              <a:r>
                <a:rPr lang="en-US" altLang="ko-KR" sz="900">
                  <a:latin typeface="맑은 고딕" pitchFamily="50" charset="-127"/>
                  <a:ea typeface="맑은 고딕" pitchFamily="50" charset="-127"/>
                </a:rPr>
                <a:t>Presentation Layer</a:t>
              </a:r>
            </a:p>
          </p:txBody>
        </p:sp>
        <p:grpSp>
          <p:nvGrpSpPr>
            <p:cNvPr id="169" name="Group 79"/>
            <p:cNvGrpSpPr>
              <a:grpSpLocks/>
            </p:cNvGrpSpPr>
            <p:nvPr/>
          </p:nvGrpSpPr>
          <p:grpSpPr bwMode="auto">
            <a:xfrm>
              <a:off x="2458" y="1198"/>
              <a:ext cx="1223" cy="161"/>
              <a:chOff x="1995" y="2158"/>
              <a:chExt cx="1101" cy="212"/>
            </a:xfrm>
          </p:grpSpPr>
          <p:pic>
            <p:nvPicPr>
              <p:cNvPr id="266" name="Picture 80" descr="202"/>
              <p:cNvPicPr>
                <a:picLocks noChangeAspect="1" noChangeArrowheads="1"/>
              </p:cNvPicPr>
              <p:nvPr/>
            </p:nvPicPr>
            <p:blipFill>
              <a:blip r:embed="rId14" cstate="print"/>
              <a:srcRect l="86790"/>
              <a:stretch>
                <a:fillRect/>
              </a:stretch>
            </p:blipFill>
            <p:spPr bwMode="auto">
              <a:xfrm>
                <a:off x="2906" y="2158"/>
                <a:ext cx="190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267" name="Picture 81" descr="202"/>
              <p:cNvPicPr>
                <a:picLocks noChangeAspect="1" noChangeArrowheads="1"/>
              </p:cNvPicPr>
              <p:nvPr/>
            </p:nvPicPr>
            <p:blipFill>
              <a:blip r:embed="rId15" cstate="print"/>
              <a:srcRect l="12189" r="12253"/>
              <a:stretch>
                <a:fillRect/>
              </a:stretch>
            </p:blipFill>
            <p:spPr bwMode="auto">
              <a:xfrm>
                <a:off x="2127" y="2158"/>
                <a:ext cx="804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268" name="Picture 82" descr="202"/>
              <p:cNvPicPr>
                <a:picLocks noChangeAspect="1" noChangeArrowheads="1"/>
              </p:cNvPicPr>
              <p:nvPr/>
            </p:nvPicPr>
            <p:blipFill>
              <a:blip r:embed="rId16" cstate="print"/>
              <a:srcRect r="86981"/>
              <a:stretch>
                <a:fillRect/>
              </a:stretch>
            </p:blipFill>
            <p:spPr bwMode="auto">
              <a:xfrm>
                <a:off x="1995" y="2158"/>
                <a:ext cx="188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sp>
          <p:nvSpPr>
            <p:cNvPr id="170" name="Text Box 83"/>
            <p:cNvSpPr txBox="1">
              <a:spLocks noChangeArrowheads="1"/>
            </p:cNvSpPr>
            <p:nvPr/>
          </p:nvSpPr>
          <p:spPr bwMode="auto">
            <a:xfrm>
              <a:off x="2495" y="1255"/>
              <a:ext cx="698" cy="1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latinLnBrk="0">
                <a:lnSpc>
                  <a:spcPct val="90000"/>
                </a:lnSpc>
              </a:pPr>
              <a:r>
                <a:rPr lang="en-US" altLang="ko-KR" sz="900">
                  <a:latin typeface="맑은 고딕" pitchFamily="50" charset="-127"/>
                  <a:ea typeface="맑은 고딕" pitchFamily="50" charset="-127"/>
                </a:rPr>
                <a:t>Business Logic Layer</a:t>
              </a:r>
            </a:p>
          </p:txBody>
        </p:sp>
        <p:grpSp>
          <p:nvGrpSpPr>
            <p:cNvPr id="171" name="Group 84"/>
            <p:cNvGrpSpPr>
              <a:grpSpLocks/>
            </p:cNvGrpSpPr>
            <p:nvPr/>
          </p:nvGrpSpPr>
          <p:grpSpPr bwMode="auto">
            <a:xfrm>
              <a:off x="4776" y="1198"/>
              <a:ext cx="1054" cy="161"/>
              <a:chOff x="3149" y="2158"/>
              <a:chExt cx="919" cy="212"/>
            </a:xfrm>
          </p:grpSpPr>
          <p:pic>
            <p:nvPicPr>
              <p:cNvPr id="263" name="Picture 85" descr="202"/>
              <p:cNvPicPr>
                <a:picLocks noChangeAspect="1" noChangeArrowheads="1"/>
              </p:cNvPicPr>
              <p:nvPr/>
            </p:nvPicPr>
            <p:blipFill>
              <a:blip r:embed="rId17" cstate="print"/>
              <a:srcRect l="86790"/>
              <a:stretch>
                <a:fillRect/>
              </a:stretch>
            </p:blipFill>
            <p:spPr bwMode="auto">
              <a:xfrm>
                <a:off x="3878" y="2158"/>
                <a:ext cx="190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264" name="Picture 86" descr="202"/>
              <p:cNvPicPr>
                <a:picLocks noChangeAspect="1" noChangeArrowheads="1"/>
              </p:cNvPicPr>
              <p:nvPr/>
            </p:nvPicPr>
            <p:blipFill>
              <a:blip r:embed="rId18" cstate="print"/>
              <a:srcRect l="12189" r="12253"/>
              <a:stretch>
                <a:fillRect/>
              </a:stretch>
            </p:blipFill>
            <p:spPr bwMode="auto">
              <a:xfrm>
                <a:off x="3281" y="2158"/>
                <a:ext cx="693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265" name="Picture 87" descr="202"/>
              <p:cNvPicPr>
                <a:picLocks noChangeAspect="1" noChangeArrowheads="1"/>
              </p:cNvPicPr>
              <p:nvPr/>
            </p:nvPicPr>
            <p:blipFill>
              <a:blip r:embed="rId19" cstate="print"/>
              <a:srcRect r="86981"/>
              <a:stretch>
                <a:fillRect/>
              </a:stretch>
            </p:blipFill>
            <p:spPr bwMode="auto">
              <a:xfrm>
                <a:off x="3149" y="2158"/>
                <a:ext cx="188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sp>
          <p:nvSpPr>
            <p:cNvPr id="172" name="Text Box 88"/>
            <p:cNvSpPr txBox="1">
              <a:spLocks noChangeArrowheads="1"/>
            </p:cNvSpPr>
            <p:nvPr/>
          </p:nvSpPr>
          <p:spPr bwMode="auto">
            <a:xfrm>
              <a:off x="4868" y="1255"/>
              <a:ext cx="577" cy="1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latinLnBrk="0">
                <a:lnSpc>
                  <a:spcPct val="90000"/>
                </a:lnSpc>
              </a:pPr>
              <a:r>
                <a:rPr lang="en-US" altLang="ko-KR" sz="900">
                  <a:latin typeface="맑은 고딕" pitchFamily="50" charset="-127"/>
                  <a:ea typeface="맑은 고딕" pitchFamily="50" charset="-127"/>
                </a:rPr>
                <a:t>Integration Layer</a:t>
              </a:r>
            </a:p>
          </p:txBody>
        </p:sp>
        <p:grpSp>
          <p:nvGrpSpPr>
            <p:cNvPr id="173" name="Group 89"/>
            <p:cNvGrpSpPr>
              <a:grpSpLocks/>
            </p:cNvGrpSpPr>
            <p:nvPr/>
          </p:nvGrpSpPr>
          <p:grpSpPr bwMode="auto">
            <a:xfrm>
              <a:off x="552" y="1432"/>
              <a:ext cx="376" cy="442"/>
              <a:chOff x="384" y="2417"/>
              <a:chExt cx="260" cy="334"/>
            </a:xfrm>
          </p:grpSpPr>
          <p:sp>
            <p:nvSpPr>
              <p:cNvPr id="261" name="Text Box 259"/>
              <p:cNvSpPr txBox="1">
                <a:spLocks noChangeArrowheads="1"/>
              </p:cNvSpPr>
              <p:nvPr/>
            </p:nvSpPr>
            <p:spPr bwMode="auto">
              <a:xfrm>
                <a:off x="384" y="2661"/>
                <a:ext cx="245" cy="9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>
                <a:spAutoFit/>
              </a:bodyPr>
              <a:lstStyle/>
              <a:p>
                <a:pPr latinLnBrk="0">
                  <a:lnSpc>
                    <a:spcPct val="90000"/>
                  </a:lnSpc>
                </a:pPr>
                <a:r>
                  <a:rPr lang="ko-KR" altLang="en-US" sz="800">
                    <a:latin typeface="맑은 고딕" pitchFamily="50" charset="-127"/>
                    <a:ea typeface="맑은 고딕" pitchFamily="50" charset="-127"/>
                  </a:rPr>
                  <a:t>웹브라우저</a:t>
                </a:r>
                <a:r>
                  <a:rPr lang="en-US" altLang="ko-KR" sz="800">
                    <a:latin typeface="맑은 고딕" pitchFamily="50" charset="-127"/>
                    <a:ea typeface="맑은 고딕" pitchFamily="50" charset="-127"/>
                  </a:rPr>
                  <a:t>)</a:t>
                </a:r>
              </a:p>
            </p:txBody>
          </p:sp>
          <p:pic>
            <p:nvPicPr>
              <p:cNvPr id="262" name="Picture 91" descr="PC"/>
              <p:cNvPicPr>
                <a:picLocks noChangeAspect="1" noChangeArrowheads="1"/>
              </p:cNvPicPr>
              <p:nvPr/>
            </p:nvPicPr>
            <p:blipFill>
              <a:blip r:embed="rId20" cstate="print"/>
              <a:srcRect/>
              <a:stretch>
                <a:fillRect/>
              </a:stretch>
            </p:blipFill>
            <p:spPr bwMode="auto">
              <a:xfrm>
                <a:off x="414" y="2417"/>
                <a:ext cx="230" cy="20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sp>
          <p:nvSpPr>
            <p:cNvPr id="174" name="AutoShape 92"/>
            <p:cNvSpPr>
              <a:spLocks noChangeArrowheads="1"/>
            </p:cNvSpPr>
            <p:nvPr/>
          </p:nvSpPr>
          <p:spPr bwMode="auto">
            <a:xfrm>
              <a:off x="3715" y="1308"/>
              <a:ext cx="1042" cy="528"/>
            </a:xfrm>
            <a:prstGeom prst="roundRect">
              <a:avLst>
                <a:gd name="adj" fmla="val 5569"/>
              </a:avLst>
            </a:prstGeom>
            <a:solidFill>
              <a:srgbClr val="EAEAEA"/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>
                <a:latin typeface="맑은 고딕" pitchFamily="50" charset="-127"/>
                <a:ea typeface="맑은 고딕" pitchFamily="50" charset="-127"/>
              </a:endParaRPr>
            </a:p>
          </p:txBody>
        </p:sp>
        <p:grpSp>
          <p:nvGrpSpPr>
            <p:cNvPr id="175" name="Group 93"/>
            <p:cNvGrpSpPr>
              <a:grpSpLocks/>
            </p:cNvGrpSpPr>
            <p:nvPr/>
          </p:nvGrpSpPr>
          <p:grpSpPr bwMode="auto">
            <a:xfrm>
              <a:off x="3703" y="1198"/>
              <a:ext cx="1054" cy="161"/>
              <a:chOff x="3149" y="2158"/>
              <a:chExt cx="919" cy="212"/>
            </a:xfrm>
          </p:grpSpPr>
          <p:pic>
            <p:nvPicPr>
              <p:cNvPr id="258" name="Picture 94" descr="202"/>
              <p:cNvPicPr>
                <a:picLocks noChangeAspect="1" noChangeArrowheads="1"/>
              </p:cNvPicPr>
              <p:nvPr/>
            </p:nvPicPr>
            <p:blipFill>
              <a:blip r:embed="rId17" cstate="print"/>
              <a:srcRect l="86790"/>
              <a:stretch>
                <a:fillRect/>
              </a:stretch>
            </p:blipFill>
            <p:spPr bwMode="auto">
              <a:xfrm>
                <a:off x="3878" y="2158"/>
                <a:ext cx="190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259" name="Picture 95" descr="202"/>
              <p:cNvPicPr>
                <a:picLocks noChangeAspect="1" noChangeArrowheads="1"/>
              </p:cNvPicPr>
              <p:nvPr/>
            </p:nvPicPr>
            <p:blipFill>
              <a:blip r:embed="rId18" cstate="print"/>
              <a:srcRect l="12189" r="12253"/>
              <a:stretch>
                <a:fillRect/>
              </a:stretch>
            </p:blipFill>
            <p:spPr bwMode="auto">
              <a:xfrm>
                <a:off x="3281" y="2158"/>
                <a:ext cx="693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260" name="Picture 96" descr="202"/>
              <p:cNvPicPr>
                <a:picLocks noChangeAspect="1" noChangeArrowheads="1"/>
              </p:cNvPicPr>
              <p:nvPr/>
            </p:nvPicPr>
            <p:blipFill>
              <a:blip r:embed="rId21" cstate="print"/>
              <a:srcRect r="86981"/>
              <a:stretch>
                <a:fillRect/>
              </a:stretch>
            </p:blipFill>
            <p:spPr bwMode="auto">
              <a:xfrm>
                <a:off x="3149" y="2158"/>
                <a:ext cx="188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sp>
          <p:nvSpPr>
            <p:cNvPr id="176" name="Text Box 97"/>
            <p:cNvSpPr txBox="1">
              <a:spLocks noChangeArrowheads="1"/>
            </p:cNvSpPr>
            <p:nvPr/>
          </p:nvSpPr>
          <p:spPr bwMode="auto">
            <a:xfrm>
              <a:off x="3820" y="1255"/>
              <a:ext cx="534" cy="1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latinLnBrk="0">
                <a:lnSpc>
                  <a:spcPct val="90000"/>
                </a:lnSpc>
              </a:pPr>
              <a:r>
                <a:rPr lang="en-US" altLang="ko-KR" sz="900">
                  <a:latin typeface="맑은 고딕" pitchFamily="50" charset="-127"/>
                  <a:ea typeface="맑은 고딕" pitchFamily="50" charset="-127"/>
                </a:rPr>
                <a:t>Persistent Layer</a:t>
              </a:r>
            </a:p>
          </p:txBody>
        </p:sp>
        <p:sp>
          <p:nvSpPr>
            <p:cNvPr id="177" name="AutoShape 98"/>
            <p:cNvSpPr>
              <a:spLocks noChangeArrowheads="1"/>
            </p:cNvSpPr>
            <p:nvPr/>
          </p:nvSpPr>
          <p:spPr bwMode="auto">
            <a:xfrm>
              <a:off x="2464" y="1960"/>
              <a:ext cx="3353" cy="700"/>
            </a:xfrm>
            <a:prstGeom prst="roundRect">
              <a:avLst>
                <a:gd name="adj" fmla="val 5685"/>
              </a:avLst>
            </a:prstGeom>
            <a:solidFill>
              <a:srgbClr val="EAEAEA"/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>
                <a:latin typeface="맑은 고딕" pitchFamily="50" charset="-127"/>
                <a:ea typeface="맑은 고딕" pitchFamily="50" charset="-127"/>
              </a:endParaRPr>
            </a:p>
          </p:txBody>
        </p:sp>
        <p:pic>
          <p:nvPicPr>
            <p:cNvPr id="178" name="Picture 99" descr="202"/>
            <p:cNvPicPr>
              <a:picLocks noChangeAspect="1" noChangeArrowheads="1"/>
            </p:cNvPicPr>
            <p:nvPr/>
          </p:nvPicPr>
          <p:blipFill>
            <a:blip r:embed="rId14" cstate="print"/>
            <a:srcRect l="86790"/>
            <a:stretch>
              <a:fillRect/>
            </a:stretch>
          </p:blipFill>
          <p:spPr bwMode="auto">
            <a:xfrm>
              <a:off x="5614" y="1871"/>
              <a:ext cx="211" cy="1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79" name="Picture 100" descr="202"/>
            <p:cNvPicPr>
              <a:picLocks noChangeAspect="1" noChangeArrowheads="1"/>
            </p:cNvPicPr>
            <p:nvPr/>
          </p:nvPicPr>
          <p:blipFill>
            <a:blip r:embed="rId22" cstate="print"/>
            <a:srcRect l="12189" r="12253"/>
            <a:stretch>
              <a:fillRect/>
            </a:stretch>
          </p:blipFill>
          <p:spPr bwMode="auto">
            <a:xfrm>
              <a:off x="2597" y="1871"/>
              <a:ext cx="3072" cy="1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80" name="Picture 101" descr="202"/>
            <p:cNvPicPr>
              <a:picLocks noChangeAspect="1" noChangeArrowheads="1"/>
            </p:cNvPicPr>
            <p:nvPr/>
          </p:nvPicPr>
          <p:blipFill>
            <a:blip r:embed="rId23" cstate="print"/>
            <a:srcRect r="86981"/>
            <a:stretch>
              <a:fillRect/>
            </a:stretch>
          </p:blipFill>
          <p:spPr bwMode="auto">
            <a:xfrm>
              <a:off x="2450" y="1871"/>
              <a:ext cx="209" cy="1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81" name="Text Box 102"/>
            <p:cNvSpPr txBox="1">
              <a:spLocks noChangeArrowheads="1"/>
            </p:cNvSpPr>
            <p:nvPr/>
          </p:nvSpPr>
          <p:spPr bwMode="auto">
            <a:xfrm>
              <a:off x="3521" y="1920"/>
              <a:ext cx="591" cy="1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latinLnBrk="0">
                <a:lnSpc>
                  <a:spcPct val="90000"/>
                </a:lnSpc>
              </a:pPr>
              <a:r>
                <a:rPr lang="en-US" altLang="ko-KR" sz="900">
                  <a:latin typeface="맑은 고딕" pitchFamily="50" charset="-127"/>
                  <a:ea typeface="맑은 고딕" pitchFamily="50" charset="-127"/>
                </a:rPr>
                <a:t>Foundation Layer</a:t>
              </a:r>
            </a:p>
          </p:txBody>
        </p:sp>
        <p:sp>
          <p:nvSpPr>
            <p:cNvPr id="182" name="AutoShape 103"/>
            <p:cNvSpPr>
              <a:spLocks noChangeArrowheads="1"/>
            </p:cNvSpPr>
            <p:nvPr/>
          </p:nvSpPr>
          <p:spPr bwMode="auto">
            <a:xfrm>
              <a:off x="1423" y="1387"/>
              <a:ext cx="950" cy="11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9050">
              <a:pattFill prst="wdUpDiag">
                <a:fgClr>
                  <a:srgbClr val="659FAB"/>
                </a:fgClr>
                <a:bgClr>
                  <a:srgbClr val="518A95"/>
                </a:bgClr>
              </a:pattFill>
              <a:round/>
              <a:headEnd/>
              <a:tailEnd/>
            </a:ln>
          </p:spPr>
          <p:txBody>
            <a:bodyPr wrap="none" anchor="ctr"/>
            <a:lstStyle/>
            <a:p>
              <a:pPr latinLnBrk="0">
                <a:lnSpc>
                  <a:spcPct val="90000"/>
                </a:lnSpc>
              </a:pPr>
              <a:r>
                <a:rPr kumimoji="0" lang="en-US" altLang="ko-KR" sz="800">
                  <a:latin typeface="맑은 고딕" pitchFamily="50" charset="-127"/>
                  <a:ea typeface="맑은 고딕" pitchFamily="50" charset="-127"/>
                </a:rPr>
                <a:t>Ajax Support</a:t>
              </a:r>
              <a:endParaRPr lang="en-US" altLang="ko-KR" sz="80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83" name="AutoShape 104"/>
            <p:cNvSpPr>
              <a:spLocks noChangeArrowheads="1"/>
            </p:cNvSpPr>
            <p:nvPr/>
          </p:nvSpPr>
          <p:spPr bwMode="auto">
            <a:xfrm>
              <a:off x="1420" y="1753"/>
              <a:ext cx="949" cy="11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9050">
              <a:pattFill prst="wdUpDiag">
                <a:fgClr>
                  <a:srgbClr val="659FAB"/>
                </a:fgClr>
                <a:bgClr>
                  <a:srgbClr val="518A95"/>
                </a:bgClr>
              </a:pattFill>
              <a:round/>
              <a:headEnd/>
              <a:tailEnd/>
            </a:ln>
          </p:spPr>
          <p:txBody>
            <a:bodyPr wrap="none" anchor="ctr"/>
            <a:lstStyle/>
            <a:p>
              <a:pPr latinLnBrk="0">
                <a:lnSpc>
                  <a:spcPct val="90000"/>
                </a:lnSpc>
              </a:pPr>
              <a:r>
                <a:rPr kumimoji="0" lang="en-US" altLang="ko-KR" sz="800">
                  <a:latin typeface="맑은 고딕" pitchFamily="50" charset="-127"/>
                  <a:ea typeface="맑은 고딕" pitchFamily="50" charset="-127"/>
                </a:rPr>
                <a:t>MVC</a:t>
              </a:r>
              <a:endParaRPr lang="en-US" altLang="ko-KR" sz="80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84" name="AutoShape 105"/>
            <p:cNvSpPr>
              <a:spLocks noChangeArrowheads="1"/>
            </p:cNvSpPr>
            <p:nvPr/>
          </p:nvSpPr>
          <p:spPr bwMode="auto">
            <a:xfrm>
              <a:off x="1415" y="2116"/>
              <a:ext cx="950" cy="11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9050">
              <a:pattFill prst="wdUpDiag">
                <a:fgClr>
                  <a:srgbClr val="659FAB"/>
                </a:fgClr>
                <a:bgClr>
                  <a:srgbClr val="518A95"/>
                </a:bgClr>
              </a:pattFill>
              <a:round/>
              <a:headEnd/>
              <a:tailEnd/>
            </a:ln>
          </p:spPr>
          <p:txBody>
            <a:bodyPr wrap="none" anchor="ctr"/>
            <a:lstStyle/>
            <a:p>
              <a:pPr latinLnBrk="0">
                <a:lnSpc>
                  <a:spcPct val="90000"/>
                </a:lnSpc>
              </a:pPr>
              <a:r>
                <a:rPr kumimoji="0" lang="en-US" altLang="ko-KR" sz="800">
                  <a:latin typeface="맑은 고딕" pitchFamily="50" charset="-127"/>
                  <a:ea typeface="맑은 고딕" pitchFamily="50" charset="-127"/>
                </a:rPr>
                <a:t>Security</a:t>
              </a:r>
              <a:endParaRPr lang="en-US" altLang="ko-KR" sz="80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85" name="AutoShape 106"/>
            <p:cNvSpPr>
              <a:spLocks noChangeArrowheads="1"/>
            </p:cNvSpPr>
            <p:nvPr/>
          </p:nvSpPr>
          <p:spPr bwMode="auto">
            <a:xfrm>
              <a:off x="1415" y="2480"/>
              <a:ext cx="950" cy="112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9050">
              <a:pattFill prst="wdUpDiag">
                <a:fgClr>
                  <a:srgbClr val="659FAB"/>
                </a:fgClr>
                <a:bgClr>
                  <a:srgbClr val="518A95"/>
                </a:bgClr>
              </a:pattFill>
              <a:round/>
              <a:headEnd/>
              <a:tailEnd/>
            </a:ln>
          </p:spPr>
          <p:txBody>
            <a:bodyPr wrap="none" anchor="ctr"/>
            <a:lstStyle/>
            <a:p>
              <a:pPr latinLnBrk="0">
                <a:lnSpc>
                  <a:spcPct val="90000"/>
                </a:lnSpc>
              </a:pPr>
              <a:r>
                <a:rPr kumimoji="0" lang="en-US" altLang="ko-KR" sz="800">
                  <a:latin typeface="맑은 고딕" pitchFamily="50" charset="-127"/>
                  <a:ea typeface="맑은 고딕" pitchFamily="50" charset="-127"/>
                </a:rPr>
                <a:t>UI Adaptor</a:t>
              </a:r>
              <a:endParaRPr lang="en-US" altLang="ko-KR" sz="80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86" name="AutoShape 107"/>
            <p:cNvSpPr>
              <a:spLocks noChangeArrowheads="1"/>
            </p:cNvSpPr>
            <p:nvPr/>
          </p:nvSpPr>
          <p:spPr bwMode="auto">
            <a:xfrm>
              <a:off x="2597" y="1387"/>
              <a:ext cx="949" cy="11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9050">
              <a:pattFill prst="wdUpDiag">
                <a:fgClr>
                  <a:srgbClr val="659FAB"/>
                </a:fgClr>
                <a:bgClr>
                  <a:srgbClr val="518A95"/>
                </a:bgClr>
              </a:pattFill>
              <a:round/>
              <a:headEnd/>
              <a:tailEnd/>
            </a:ln>
          </p:spPr>
          <p:txBody>
            <a:bodyPr wrap="none" anchor="ctr"/>
            <a:lstStyle/>
            <a:p>
              <a:pPr latinLnBrk="0">
                <a:lnSpc>
                  <a:spcPct val="90000"/>
                </a:lnSpc>
              </a:pPr>
              <a:r>
                <a:rPr kumimoji="0" lang="en-US" altLang="ko-KR" sz="800">
                  <a:latin typeface="맑은 고딕" pitchFamily="50" charset="-127"/>
                  <a:ea typeface="맑은 고딕" pitchFamily="50" charset="-127"/>
                </a:rPr>
                <a:t>Biz. Process</a:t>
              </a:r>
              <a:endParaRPr lang="en-US" altLang="ko-KR" sz="80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87" name="AutoShape 108"/>
            <p:cNvSpPr>
              <a:spLocks noChangeArrowheads="1"/>
            </p:cNvSpPr>
            <p:nvPr/>
          </p:nvSpPr>
          <p:spPr bwMode="auto">
            <a:xfrm>
              <a:off x="2593" y="1674"/>
              <a:ext cx="950" cy="11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9050">
              <a:pattFill prst="wdUpDiag">
                <a:fgClr>
                  <a:srgbClr val="659FAB"/>
                </a:fgClr>
                <a:bgClr>
                  <a:srgbClr val="518A95"/>
                </a:bgClr>
              </a:pattFill>
              <a:round/>
              <a:headEnd/>
              <a:tailEnd/>
            </a:ln>
          </p:spPr>
          <p:txBody>
            <a:bodyPr wrap="none" anchor="ctr"/>
            <a:lstStyle/>
            <a:p>
              <a:pPr latinLnBrk="0">
                <a:lnSpc>
                  <a:spcPct val="90000"/>
                </a:lnSpc>
              </a:pPr>
              <a:r>
                <a:rPr kumimoji="0" lang="en-US" altLang="ko-KR" sz="800">
                  <a:latin typeface="맑은 고딕" pitchFamily="50" charset="-127"/>
                  <a:ea typeface="맑은 고딕" pitchFamily="50" charset="-127"/>
                </a:rPr>
                <a:t>Error Handling</a:t>
              </a:r>
              <a:endParaRPr lang="en-US" altLang="ko-KR" sz="80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88" name="AutoShape 109"/>
            <p:cNvSpPr>
              <a:spLocks noChangeArrowheads="1"/>
            </p:cNvSpPr>
            <p:nvPr/>
          </p:nvSpPr>
          <p:spPr bwMode="auto">
            <a:xfrm>
              <a:off x="3771" y="1387"/>
              <a:ext cx="948" cy="8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9050">
              <a:pattFill prst="wdUpDiag">
                <a:fgClr>
                  <a:srgbClr val="659FAB"/>
                </a:fgClr>
                <a:bgClr>
                  <a:srgbClr val="518A95"/>
                </a:bgClr>
              </a:pattFill>
              <a:round/>
              <a:headEnd/>
              <a:tailEnd/>
            </a:ln>
          </p:spPr>
          <p:txBody>
            <a:bodyPr wrap="none" anchor="ctr"/>
            <a:lstStyle/>
            <a:p>
              <a:pPr latinLnBrk="0">
                <a:lnSpc>
                  <a:spcPct val="90000"/>
                </a:lnSpc>
              </a:pPr>
              <a:r>
                <a:rPr kumimoji="0" lang="en-US" altLang="ko-KR" sz="800">
                  <a:latin typeface="맑은 고딕" pitchFamily="50" charset="-127"/>
                  <a:ea typeface="맑은 고딕" pitchFamily="50" charset="-127"/>
                </a:rPr>
                <a:t>Data Access</a:t>
              </a:r>
              <a:endParaRPr lang="en-US" altLang="ko-KR" sz="80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89" name="AutoShape 110"/>
            <p:cNvSpPr>
              <a:spLocks noChangeArrowheads="1"/>
            </p:cNvSpPr>
            <p:nvPr/>
          </p:nvSpPr>
          <p:spPr bwMode="auto">
            <a:xfrm>
              <a:off x="3771" y="1494"/>
              <a:ext cx="948" cy="8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9050">
              <a:pattFill prst="wdUpDiag">
                <a:fgClr>
                  <a:srgbClr val="659FAB"/>
                </a:fgClr>
                <a:bgClr>
                  <a:srgbClr val="518A95"/>
                </a:bgClr>
              </a:pattFill>
              <a:round/>
              <a:headEnd/>
              <a:tailEnd/>
            </a:ln>
          </p:spPr>
          <p:txBody>
            <a:bodyPr wrap="none" anchor="ctr"/>
            <a:lstStyle/>
            <a:p>
              <a:pPr latinLnBrk="0">
                <a:lnSpc>
                  <a:spcPct val="90000"/>
                </a:lnSpc>
              </a:pPr>
              <a:r>
                <a:rPr kumimoji="0" lang="en-US" altLang="ko-KR" sz="800">
                  <a:latin typeface="맑은 고딕" pitchFamily="50" charset="-127"/>
                  <a:ea typeface="맑은 고딕" pitchFamily="50" charset="-127"/>
                </a:rPr>
                <a:t>Transaction</a:t>
              </a:r>
              <a:endParaRPr lang="en-US" altLang="ko-KR" sz="80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90" name="AutoShape 111"/>
            <p:cNvSpPr>
              <a:spLocks noChangeArrowheads="1"/>
            </p:cNvSpPr>
            <p:nvPr/>
          </p:nvSpPr>
          <p:spPr bwMode="auto">
            <a:xfrm>
              <a:off x="3771" y="1596"/>
              <a:ext cx="948" cy="86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9050">
              <a:pattFill prst="wdUpDiag">
                <a:fgClr>
                  <a:srgbClr val="659FAB"/>
                </a:fgClr>
                <a:bgClr>
                  <a:srgbClr val="518A95"/>
                </a:bgClr>
              </a:pattFill>
              <a:round/>
              <a:headEnd/>
              <a:tailEnd/>
            </a:ln>
          </p:spPr>
          <p:txBody>
            <a:bodyPr wrap="none" anchor="ctr"/>
            <a:lstStyle/>
            <a:p>
              <a:pPr latinLnBrk="0">
                <a:lnSpc>
                  <a:spcPct val="90000"/>
                </a:lnSpc>
              </a:pPr>
              <a:r>
                <a:rPr kumimoji="0" lang="en-US" altLang="ko-KR" sz="800">
                  <a:latin typeface="맑은 고딕" pitchFamily="50" charset="-127"/>
                  <a:ea typeface="맑은 고딕" pitchFamily="50" charset="-127"/>
                </a:rPr>
                <a:t>Query</a:t>
              </a:r>
              <a:endParaRPr lang="en-US" altLang="ko-KR" sz="80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91" name="AutoShape 112"/>
            <p:cNvSpPr>
              <a:spLocks noChangeArrowheads="1"/>
            </p:cNvSpPr>
            <p:nvPr/>
          </p:nvSpPr>
          <p:spPr bwMode="auto">
            <a:xfrm>
              <a:off x="3776" y="1704"/>
              <a:ext cx="947" cy="8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9050">
              <a:pattFill prst="wdUpDiag">
                <a:fgClr>
                  <a:srgbClr val="659FAB"/>
                </a:fgClr>
                <a:bgClr>
                  <a:srgbClr val="518A95"/>
                </a:bgClr>
              </a:pattFill>
              <a:round/>
              <a:headEnd/>
              <a:tailEnd/>
            </a:ln>
          </p:spPr>
          <p:txBody>
            <a:bodyPr wrap="none" anchor="ctr"/>
            <a:lstStyle/>
            <a:p>
              <a:pPr latinLnBrk="0">
                <a:lnSpc>
                  <a:spcPct val="90000"/>
                </a:lnSpc>
              </a:pPr>
              <a:r>
                <a:rPr kumimoji="0" lang="en-US" altLang="ko-KR" sz="800">
                  <a:latin typeface="맑은 고딕" pitchFamily="50" charset="-127"/>
                  <a:ea typeface="맑은 고딕" pitchFamily="50" charset="-127"/>
                </a:rPr>
                <a:t>DataSource</a:t>
              </a:r>
              <a:endParaRPr lang="en-US" altLang="ko-KR" sz="80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92" name="AutoShape 113"/>
            <p:cNvSpPr>
              <a:spLocks noChangeArrowheads="1"/>
            </p:cNvSpPr>
            <p:nvPr/>
          </p:nvSpPr>
          <p:spPr bwMode="auto">
            <a:xfrm>
              <a:off x="4833" y="1387"/>
              <a:ext cx="948" cy="83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9050">
              <a:pattFill prst="wdUpDiag">
                <a:fgClr>
                  <a:srgbClr val="659FAB"/>
                </a:fgClr>
                <a:bgClr>
                  <a:srgbClr val="518A95"/>
                </a:bgClr>
              </a:pattFill>
              <a:round/>
              <a:headEnd/>
              <a:tailEnd/>
            </a:ln>
          </p:spPr>
          <p:txBody>
            <a:bodyPr wrap="none" anchor="ctr"/>
            <a:lstStyle/>
            <a:p>
              <a:pPr latinLnBrk="0">
                <a:lnSpc>
                  <a:spcPct val="90000"/>
                </a:lnSpc>
              </a:pPr>
              <a:r>
                <a:rPr kumimoji="0" lang="en-US" altLang="ko-KR" sz="800">
                  <a:latin typeface="맑은 고딕" pitchFamily="50" charset="-127"/>
                  <a:ea typeface="맑은 고딕" pitchFamily="50" charset="-127"/>
                </a:rPr>
                <a:t>Web Service</a:t>
              </a:r>
              <a:endParaRPr lang="en-US" altLang="ko-KR" sz="80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93" name="AutoShape 114"/>
            <p:cNvSpPr>
              <a:spLocks noChangeArrowheads="1"/>
            </p:cNvSpPr>
            <p:nvPr/>
          </p:nvSpPr>
          <p:spPr bwMode="auto">
            <a:xfrm>
              <a:off x="2572" y="2102"/>
              <a:ext cx="949" cy="86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9050">
              <a:pattFill prst="wdUpDiag">
                <a:fgClr>
                  <a:srgbClr val="659FAB"/>
                </a:fgClr>
                <a:bgClr>
                  <a:srgbClr val="518A95"/>
                </a:bgClr>
              </a:pattFill>
              <a:round/>
              <a:headEnd/>
              <a:tailEnd/>
            </a:ln>
          </p:spPr>
          <p:txBody>
            <a:bodyPr wrap="none" anchor="ctr"/>
            <a:lstStyle/>
            <a:p>
              <a:pPr latinLnBrk="0">
                <a:lnSpc>
                  <a:spcPct val="90000"/>
                </a:lnSpc>
              </a:pPr>
              <a:r>
                <a:rPr lang="en-US" altLang="ko-KR" sz="600">
                  <a:solidFill>
                    <a:srgbClr val="4D4D4D"/>
                  </a:solidFill>
                  <a:latin typeface="맑은 고딕" pitchFamily="50" charset="-127"/>
                  <a:ea typeface="맑은 고딕" pitchFamily="50" charset="-127"/>
                </a:rPr>
                <a:t>Marshalling / Unmarshalling</a:t>
              </a:r>
            </a:p>
          </p:txBody>
        </p:sp>
        <p:sp>
          <p:nvSpPr>
            <p:cNvPr id="194" name="AutoShape 115"/>
            <p:cNvSpPr>
              <a:spLocks noChangeArrowheads="1"/>
            </p:cNvSpPr>
            <p:nvPr/>
          </p:nvSpPr>
          <p:spPr bwMode="auto">
            <a:xfrm>
              <a:off x="2572" y="2238"/>
              <a:ext cx="949" cy="83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9050">
              <a:pattFill prst="wdUpDiag">
                <a:fgClr>
                  <a:srgbClr val="659FAB"/>
                </a:fgClr>
                <a:bgClr>
                  <a:srgbClr val="518A95"/>
                </a:bgClr>
              </a:pattFill>
              <a:round/>
              <a:headEnd/>
              <a:tailEnd/>
            </a:ln>
          </p:spPr>
          <p:txBody>
            <a:bodyPr wrap="none" anchor="ctr"/>
            <a:lstStyle/>
            <a:p>
              <a:pPr latinLnBrk="0">
                <a:lnSpc>
                  <a:spcPct val="90000"/>
                </a:lnSpc>
              </a:pPr>
              <a:r>
                <a:rPr kumimoji="0" lang="en-US" altLang="ko-KR" sz="800">
                  <a:latin typeface="맑은 고딕" pitchFamily="50" charset="-127"/>
                  <a:ea typeface="맑은 고딕" pitchFamily="50" charset="-127"/>
                </a:rPr>
                <a:t>XML Manipulation</a:t>
              </a:r>
              <a:endParaRPr lang="en-US" altLang="ko-KR" sz="80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95" name="AutoShape 116"/>
            <p:cNvSpPr>
              <a:spLocks noChangeArrowheads="1"/>
            </p:cNvSpPr>
            <p:nvPr/>
          </p:nvSpPr>
          <p:spPr bwMode="auto">
            <a:xfrm>
              <a:off x="2580" y="2372"/>
              <a:ext cx="950" cy="86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9050">
              <a:pattFill prst="wdUpDiag">
                <a:fgClr>
                  <a:srgbClr val="659FAB"/>
                </a:fgClr>
                <a:bgClr>
                  <a:srgbClr val="518A95"/>
                </a:bgClr>
              </a:pattFill>
              <a:round/>
              <a:headEnd/>
              <a:tailEnd/>
            </a:ln>
          </p:spPr>
          <p:txBody>
            <a:bodyPr wrap="none" anchor="ctr"/>
            <a:lstStyle/>
            <a:p>
              <a:pPr latinLnBrk="0">
                <a:lnSpc>
                  <a:spcPct val="90000"/>
                </a:lnSpc>
              </a:pPr>
              <a:r>
                <a:rPr kumimoji="0" lang="en-US" altLang="ko-KR" sz="800">
                  <a:latin typeface="맑은 고딕" pitchFamily="50" charset="-127"/>
                  <a:ea typeface="맑은 고딕" pitchFamily="50" charset="-127"/>
                </a:rPr>
                <a:t>Cache</a:t>
              </a:r>
              <a:endParaRPr lang="en-US" altLang="ko-KR" sz="80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96" name="AutoShape 117"/>
            <p:cNvSpPr>
              <a:spLocks noChangeArrowheads="1"/>
            </p:cNvSpPr>
            <p:nvPr/>
          </p:nvSpPr>
          <p:spPr bwMode="auto">
            <a:xfrm>
              <a:off x="2572" y="2509"/>
              <a:ext cx="949" cy="8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9050">
              <a:pattFill prst="wdUpDiag">
                <a:fgClr>
                  <a:srgbClr val="659FAB"/>
                </a:fgClr>
                <a:bgClr>
                  <a:srgbClr val="518A95"/>
                </a:bgClr>
              </a:pattFill>
              <a:round/>
              <a:headEnd/>
              <a:tailEnd/>
            </a:ln>
          </p:spPr>
          <p:txBody>
            <a:bodyPr wrap="none" anchor="ctr"/>
            <a:lstStyle/>
            <a:p>
              <a:pPr latinLnBrk="0">
                <a:lnSpc>
                  <a:spcPct val="90000"/>
                </a:lnSpc>
              </a:pPr>
              <a:r>
                <a:rPr kumimoji="0" lang="en-US" altLang="ko-KR" sz="800">
                  <a:latin typeface="맑은 고딕" pitchFamily="50" charset="-127"/>
                  <a:ea typeface="맑은 고딕" pitchFamily="50" charset="-127"/>
                </a:rPr>
                <a:t>Hot Deploy</a:t>
              </a:r>
              <a:endParaRPr lang="en-US" altLang="ko-KR" sz="80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97" name="AutoShape 118"/>
            <p:cNvSpPr>
              <a:spLocks noChangeArrowheads="1"/>
            </p:cNvSpPr>
            <p:nvPr/>
          </p:nvSpPr>
          <p:spPr bwMode="auto">
            <a:xfrm>
              <a:off x="3684" y="2098"/>
              <a:ext cx="949" cy="85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9050">
              <a:pattFill prst="wdUpDiag">
                <a:fgClr>
                  <a:srgbClr val="659FAB"/>
                </a:fgClr>
                <a:bgClr>
                  <a:srgbClr val="518A95"/>
                </a:bgClr>
              </a:pattFill>
              <a:round/>
              <a:headEnd/>
              <a:tailEnd/>
            </a:ln>
          </p:spPr>
          <p:txBody>
            <a:bodyPr wrap="none" anchor="ctr"/>
            <a:lstStyle/>
            <a:p>
              <a:pPr latinLnBrk="0">
                <a:lnSpc>
                  <a:spcPct val="90000"/>
                </a:lnSpc>
              </a:pPr>
              <a:r>
                <a:rPr kumimoji="0" lang="en-US" altLang="ko-KR" sz="800">
                  <a:latin typeface="맑은 고딕" pitchFamily="50" charset="-127"/>
                  <a:ea typeface="맑은 고딕" pitchFamily="50" charset="-127"/>
                </a:rPr>
                <a:t>Object Pooling</a:t>
              </a:r>
              <a:endParaRPr lang="en-US" altLang="ko-KR" sz="80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98" name="AutoShape 119"/>
            <p:cNvSpPr>
              <a:spLocks noChangeArrowheads="1"/>
            </p:cNvSpPr>
            <p:nvPr/>
          </p:nvSpPr>
          <p:spPr bwMode="auto">
            <a:xfrm>
              <a:off x="3684" y="2237"/>
              <a:ext cx="949" cy="8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9050">
              <a:pattFill prst="wdUpDiag">
                <a:fgClr>
                  <a:srgbClr val="659FAB"/>
                </a:fgClr>
                <a:bgClr>
                  <a:srgbClr val="518A95"/>
                </a:bgClr>
              </a:pattFill>
              <a:round/>
              <a:headEnd/>
              <a:tailEnd/>
            </a:ln>
          </p:spPr>
          <p:txBody>
            <a:bodyPr wrap="none" anchor="ctr"/>
            <a:lstStyle/>
            <a:p>
              <a:pPr latinLnBrk="0">
                <a:lnSpc>
                  <a:spcPct val="90000"/>
                </a:lnSpc>
              </a:pPr>
              <a:r>
                <a:rPr kumimoji="0" lang="en-US" altLang="ko-KR" sz="800">
                  <a:latin typeface="맑은 고딕" pitchFamily="50" charset="-127"/>
                  <a:ea typeface="맑은 고딕" pitchFamily="50" charset="-127"/>
                </a:rPr>
                <a:t>ID Generation</a:t>
              </a:r>
              <a:endParaRPr lang="en-US" altLang="ko-KR" sz="80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99" name="AutoShape 120"/>
            <p:cNvSpPr>
              <a:spLocks noChangeArrowheads="1"/>
            </p:cNvSpPr>
            <p:nvPr/>
          </p:nvSpPr>
          <p:spPr bwMode="auto">
            <a:xfrm>
              <a:off x="3684" y="2375"/>
              <a:ext cx="949" cy="85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9050">
              <a:pattFill prst="wdUpDiag">
                <a:fgClr>
                  <a:srgbClr val="659FAB"/>
                </a:fgClr>
                <a:bgClr>
                  <a:srgbClr val="518A95"/>
                </a:bgClr>
              </a:pattFill>
              <a:round/>
              <a:headEnd/>
              <a:tailEnd/>
            </a:ln>
          </p:spPr>
          <p:txBody>
            <a:bodyPr wrap="none" anchor="ctr"/>
            <a:lstStyle/>
            <a:p>
              <a:pPr latinLnBrk="0">
                <a:lnSpc>
                  <a:spcPct val="90000"/>
                </a:lnSpc>
              </a:pPr>
              <a:r>
                <a:rPr kumimoji="0" lang="en-US" altLang="ko-KR" sz="800">
                  <a:latin typeface="맑은 고딕" pitchFamily="50" charset="-127"/>
                  <a:ea typeface="맑은 고딕" pitchFamily="50" charset="-127"/>
                </a:rPr>
                <a:t>Property</a:t>
              </a:r>
              <a:endParaRPr lang="en-US" altLang="ko-KR" sz="80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00" name="AutoShape 121"/>
            <p:cNvSpPr>
              <a:spLocks noChangeArrowheads="1"/>
            </p:cNvSpPr>
            <p:nvPr/>
          </p:nvSpPr>
          <p:spPr bwMode="auto">
            <a:xfrm>
              <a:off x="3692" y="2514"/>
              <a:ext cx="950" cy="8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9050">
              <a:pattFill prst="wdUpDiag">
                <a:fgClr>
                  <a:srgbClr val="659FAB"/>
                </a:fgClr>
                <a:bgClr>
                  <a:srgbClr val="518A95"/>
                </a:bgClr>
              </a:pattFill>
              <a:round/>
              <a:headEnd/>
              <a:tailEnd/>
            </a:ln>
          </p:spPr>
          <p:txBody>
            <a:bodyPr wrap="none" anchor="ctr"/>
            <a:lstStyle/>
            <a:p>
              <a:pPr latinLnBrk="0">
                <a:lnSpc>
                  <a:spcPct val="90000"/>
                </a:lnSpc>
              </a:pPr>
              <a:r>
                <a:rPr lang="en-US" altLang="ko-KR" sz="500">
                  <a:solidFill>
                    <a:srgbClr val="4D4D4D"/>
                  </a:solidFill>
                  <a:latin typeface="맑은 고딕" pitchFamily="50" charset="-127"/>
                  <a:ea typeface="맑은 고딕" pitchFamily="50" charset="-127"/>
                </a:rPr>
                <a:t>Encryption / Decryption</a:t>
              </a:r>
            </a:p>
          </p:txBody>
        </p:sp>
        <p:sp>
          <p:nvSpPr>
            <p:cNvPr id="201" name="AutoShape 122"/>
            <p:cNvSpPr>
              <a:spLocks noChangeArrowheads="1"/>
            </p:cNvSpPr>
            <p:nvPr/>
          </p:nvSpPr>
          <p:spPr bwMode="auto">
            <a:xfrm>
              <a:off x="4754" y="2098"/>
              <a:ext cx="949" cy="85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9050">
              <a:pattFill prst="wdUpDiag">
                <a:fgClr>
                  <a:srgbClr val="659FAB"/>
                </a:fgClr>
                <a:bgClr>
                  <a:srgbClr val="518A95"/>
                </a:bgClr>
              </a:pattFill>
              <a:round/>
              <a:headEnd/>
              <a:tailEnd/>
            </a:ln>
          </p:spPr>
          <p:txBody>
            <a:bodyPr wrap="none" anchor="ctr"/>
            <a:lstStyle/>
            <a:p>
              <a:pPr latinLnBrk="0">
                <a:lnSpc>
                  <a:spcPct val="90000"/>
                </a:lnSpc>
              </a:pPr>
              <a:r>
                <a:rPr kumimoji="0" lang="en-US" altLang="ko-KR" sz="800">
                  <a:latin typeface="맑은 고딕" pitchFamily="50" charset="-127"/>
                  <a:ea typeface="맑은 고딕" pitchFamily="50" charset="-127"/>
                </a:rPr>
                <a:t>Excel/DOC</a:t>
              </a:r>
              <a:endParaRPr lang="en-US" altLang="ko-KR" sz="80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02" name="AutoShape 123"/>
            <p:cNvSpPr>
              <a:spLocks noChangeArrowheads="1"/>
            </p:cNvSpPr>
            <p:nvPr/>
          </p:nvSpPr>
          <p:spPr bwMode="auto">
            <a:xfrm>
              <a:off x="4763" y="2204"/>
              <a:ext cx="949" cy="86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9050">
              <a:pattFill prst="wdUpDiag">
                <a:fgClr>
                  <a:srgbClr val="659FAB"/>
                </a:fgClr>
                <a:bgClr>
                  <a:srgbClr val="518A95"/>
                </a:bgClr>
              </a:pattFill>
              <a:round/>
              <a:headEnd/>
              <a:tailEnd/>
            </a:ln>
          </p:spPr>
          <p:txBody>
            <a:bodyPr wrap="none" anchor="ctr"/>
            <a:lstStyle/>
            <a:p>
              <a:pPr latinLnBrk="0">
                <a:lnSpc>
                  <a:spcPct val="90000"/>
                </a:lnSpc>
              </a:pPr>
              <a:r>
                <a:rPr kumimoji="0" lang="en-US" altLang="ko-KR" sz="800">
                  <a:latin typeface="맑은 고딕" pitchFamily="50" charset="-127"/>
                  <a:ea typeface="맑은 고딕" pitchFamily="50" charset="-127"/>
                </a:rPr>
                <a:t>Logging</a:t>
              </a:r>
              <a:endParaRPr lang="en-US" altLang="ko-KR" sz="80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03" name="AutoShape 124"/>
            <p:cNvSpPr>
              <a:spLocks noChangeArrowheads="1"/>
            </p:cNvSpPr>
            <p:nvPr/>
          </p:nvSpPr>
          <p:spPr bwMode="auto">
            <a:xfrm>
              <a:off x="4754" y="2306"/>
              <a:ext cx="949" cy="8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9050">
              <a:pattFill prst="wdUpDiag">
                <a:fgClr>
                  <a:srgbClr val="659FAB"/>
                </a:fgClr>
                <a:bgClr>
                  <a:srgbClr val="518A95"/>
                </a:bgClr>
              </a:pattFill>
              <a:round/>
              <a:headEnd/>
              <a:tailEnd/>
            </a:ln>
          </p:spPr>
          <p:txBody>
            <a:bodyPr wrap="none" anchor="ctr"/>
            <a:lstStyle/>
            <a:p>
              <a:pPr latinLnBrk="0">
                <a:lnSpc>
                  <a:spcPct val="90000"/>
                </a:lnSpc>
              </a:pPr>
              <a:r>
                <a:rPr kumimoji="0" lang="en-US" altLang="ko-KR" sz="800">
                  <a:latin typeface="맑은 고딕" pitchFamily="50" charset="-127"/>
                  <a:ea typeface="맑은 고딕" pitchFamily="50" charset="-127"/>
                </a:rPr>
                <a:t>Scheduling</a:t>
              </a:r>
              <a:endParaRPr lang="en-US" altLang="ko-KR" sz="80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04" name="AutoShape 125"/>
            <p:cNvSpPr>
              <a:spLocks noChangeArrowheads="1"/>
            </p:cNvSpPr>
            <p:nvPr/>
          </p:nvSpPr>
          <p:spPr bwMode="auto">
            <a:xfrm>
              <a:off x="4754" y="2405"/>
              <a:ext cx="949" cy="8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9050">
              <a:pattFill prst="wdUpDiag">
                <a:fgClr>
                  <a:srgbClr val="659FAB"/>
                </a:fgClr>
                <a:bgClr>
                  <a:srgbClr val="518A95"/>
                </a:bgClr>
              </a:pattFill>
              <a:round/>
              <a:headEnd/>
              <a:tailEnd/>
            </a:ln>
          </p:spPr>
          <p:txBody>
            <a:bodyPr wrap="none" anchor="ctr"/>
            <a:lstStyle/>
            <a:p>
              <a:pPr latinLnBrk="0">
                <a:lnSpc>
                  <a:spcPct val="90000"/>
                </a:lnSpc>
              </a:pPr>
              <a:r>
                <a:rPr kumimoji="0" lang="en-US" altLang="ko-KR" sz="800">
                  <a:latin typeface="맑은 고딕" pitchFamily="50" charset="-127"/>
                  <a:ea typeface="맑은 고딕" pitchFamily="50" charset="-127"/>
                </a:rPr>
                <a:t>File </a:t>
              </a:r>
              <a:r>
                <a:rPr kumimoji="0" lang="en-US" altLang="ko-KR" sz="600">
                  <a:latin typeface="맑은 고딕" pitchFamily="50" charset="-127"/>
                  <a:ea typeface="맑은 고딕" pitchFamily="50" charset="-127"/>
                </a:rPr>
                <a:t>Upload/Download</a:t>
              </a:r>
              <a:endParaRPr lang="en-US" altLang="ko-KR" sz="60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05" name="AutoShape 126"/>
            <p:cNvSpPr>
              <a:spLocks noChangeArrowheads="1"/>
            </p:cNvSpPr>
            <p:nvPr/>
          </p:nvSpPr>
          <p:spPr bwMode="auto">
            <a:xfrm>
              <a:off x="4754" y="2511"/>
              <a:ext cx="949" cy="83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9050">
              <a:pattFill prst="wdUpDiag">
                <a:fgClr>
                  <a:srgbClr val="659FAB"/>
                </a:fgClr>
                <a:bgClr>
                  <a:srgbClr val="518A95"/>
                </a:bgClr>
              </a:pattFill>
              <a:round/>
              <a:headEnd/>
              <a:tailEnd/>
            </a:ln>
          </p:spPr>
          <p:txBody>
            <a:bodyPr wrap="none" anchor="ctr"/>
            <a:lstStyle/>
            <a:p>
              <a:pPr latinLnBrk="0">
                <a:lnSpc>
                  <a:spcPct val="90000"/>
                </a:lnSpc>
              </a:pPr>
              <a:r>
                <a:rPr kumimoji="0" lang="en-US" altLang="ko-KR" sz="800">
                  <a:latin typeface="맑은 고딕" pitchFamily="50" charset="-127"/>
                  <a:ea typeface="맑은 고딕" pitchFamily="50" charset="-127"/>
                </a:rPr>
                <a:t>String Util</a:t>
              </a:r>
              <a:endParaRPr lang="en-US" altLang="ko-KR" sz="800">
                <a:latin typeface="맑은 고딕" pitchFamily="50" charset="-127"/>
                <a:ea typeface="맑은 고딕" pitchFamily="50" charset="-127"/>
              </a:endParaRPr>
            </a:p>
          </p:txBody>
        </p:sp>
        <p:grpSp>
          <p:nvGrpSpPr>
            <p:cNvPr id="206" name="Group 127"/>
            <p:cNvGrpSpPr>
              <a:grpSpLocks/>
            </p:cNvGrpSpPr>
            <p:nvPr/>
          </p:nvGrpSpPr>
          <p:grpSpPr bwMode="auto">
            <a:xfrm>
              <a:off x="258" y="2801"/>
              <a:ext cx="5585" cy="1264"/>
              <a:chOff x="4317" y="2069"/>
              <a:chExt cx="3840" cy="1452"/>
            </a:xfrm>
          </p:grpSpPr>
          <p:sp>
            <p:nvSpPr>
              <p:cNvPr id="207" name="AutoShape 128"/>
              <p:cNvSpPr>
                <a:spLocks noChangeArrowheads="1"/>
              </p:cNvSpPr>
              <p:nvPr/>
            </p:nvSpPr>
            <p:spPr bwMode="gray">
              <a:xfrm flipV="1">
                <a:off x="4323" y="2161"/>
                <a:ext cx="3834" cy="1360"/>
              </a:xfrm>
              <a:prstGeom prst="roundRect">
                <a:avLst>
                  <a:gd name="adj" fmla="val 4148"/>
                </a:avLst>
              </a:prstGeom>
              <a:gradFill rotWithShape="1">
                <a:gsLst>
                  <a:gs pos="0">
                    <a:srgbClr val="E4E4E4"/>
                  </a:gs>
                  <a:gs pos="100000">
                    <a:srgbClr val="E4E4E4">
                      <a:gamma/>
                      <a:tint val="0"/>
                      <a:invGamma/>
                    </a:srgbClr>
                  </a:gs>
                </a:gsLst>
                <a:lin ang="5400000" scaled="1"/>
              </a:gradFill>
              <a:ln w="6350" algn="ctr">
                <a:noFill/>
                <a:round/>
                <a:headEnd/>
                <a:tailEnd/>
              </a:ln>
              <a:effectLst>
                <a:outerShdw dist="12700" dir="5400000" algn="ctr" rotWithShape="0">
                  <a:srgbClr val="808080"/>
                </a:outerShdw>
              </a:effectLst>
            </p:spPr>
            <p:txBody>
              <a:bodyPr rot="10800000" wrap="none" lIns="86400" tIns="90000" rIns="86400" bIns="43200" anchor="ctr"/>
              <a:lstStyle/>
              <a:p>
                <a:pPr defTabSz="839788" latinLnBrk="0">
                  <a:lnSpc>
                    <a:spcPct val="90000"/>
                  </a:lnSpc>
                  <a:defRPr/>
                </a:pPr>
                <a:endParaRPr lang="ko-KR" altLang="en-US" sz="1200"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208" name="AutoShape 47"/>
              <p:cNvSpPr>
                <a:spLocks noChangeArrowheads="1"/>
              </p:cNvSpPr>
              <p:nvPr/>
            </p:nvSpPr>
            <p:spPr bwMode="gray">
              <a:xfrm>
                <a:off x="4333" y="2289"/>
                <a:ext cx="670" cy="674"/>
              </a:xfrm>
              <a:prstGeom prst="roundRect">
                <a:avLst>
                  <a:gd name="adj" fmla="val 5866"/>
                </a:avLst>
              </a:prstGeom>
              <a:noFill/>
              <a:ln w="9525" algn="ctr">
                <a:noFill/>
                <a:round/>
                <a:headEnd/>
                <a:tailEnd/>
              </a:ln>
            </p:spPr>
            <p:txBody>
              <a:bodyPr lIns="91431" tIns="45715" rIns="91431" bIns="45715"/>
              <a:lstStyle/>
              <a:p>
                <a:pPr marL="95250" indent="-95250" algn="l" latinLnBrk="0">
                  <a:lnSpc>
                    <a:spcPct val="90000"/>
                  </a:lnSpc>
                  <a:spcBef>
                    <a:spcPct val="30000"/>
                  </a:spcBef>
                  <a:buFontTx/>
                  <a:buChar char="•"/>
                </a:pPr>
                <a:r>
                  <a:rPr lang="ko-KR" altLang="ko-KR" sz="800">
                    <a:solidFill>
                      <a:srgbClr val="4D4D4D"/>
                    </a:solidFill>
                    <a:latin typeface="맑은 고딕" pitchFamily="50" charset="-127"/>
                    <a:ea typeface="맑은 고딕" pitchFamily="50" charset="-127"/>
                  </a:rPr>
                  <a:t>HTML, JSP, Script, X-Internet 툴, Ajax 등의 다양한 형태의 웹 화면 구현 기술 지원</a:t>
                </a:r>
              </a:p>
            </p:txBody>
          </p:sp>
          <p:sp>
            <p:nvSpPr>
              <p:cNvPr id="209" name="AutoShape 47"/>
              <p:cNvSpPr>
                <a:spLocks noChangeArrowheads="1"/>
              </p:cNvSpPr>
              <p:nvPr/>
            </p:nvSpPr>
            <p:spPr bwMode="gray">
              <a:xfrm>
                <a:off x="4958" y="2289"/>
                <a:ext cx="794" cy="674"/>
              </a:xfrm>
              <a:prstGeom prst="roundRect">
                <a:avLst>
                  <a:gd name="adj" fmla="val 5866"/>
                </a:avLst>
              </a:prstGeom>
              <a:noFill/>
              <a:ln w="9525" algn="ctr">
                <a:noFill/>
                <a:round/>
                <a:headEnd/>
                <a:tailEnd/>
              </a:ln>
            </p:spPr>
            <p:txBody>
              <a:bodyPr lIns="91431" tIns="45715" rIns="91431" bIns="45715"/>
              <a:lstStyle/>
              <a:p>
                <a:pPr marL="95250" indent="-95250" algn="l" latinLnBrk="0">
                  <a:lnSpc>
                    <a:spcPct val="90000"/>
                  </a:lnSpc>
                  <a:spcBef>
                    <a:spcPct val="30000"/>
                  </a:spcBef>
                  <a:buFontTx/>
                  <a:buChar char="•"/>
                </a:pPr>
                <a:r>
                  <a:rPr lang="ko-KR" altLang="ko-KR" sz="800">
                    <a:solidFill>
                      <a:srgbClr val="4D4D4D"/>
                    </a:solidFill>
                    <a:latin typeface="맑은 고딕" pitchFamily="50" charset="-127"/>
                    <a:ea typeface="맑은 고딕" pitchFamily="50" charset="-127"/>
                  </a:rPr>
                  <a:t>프리젠테이션 로직과 비즈니스 로직의 분리</a:t>
                </a:r>
              </a:p>
              <a:p>
                <a:pPr marL="95250" indent="-95250" algn="l" latinLnBrk="0">
                  <a:lnSpc>
                    <a:spcPct val="90000"/>
                  </a:lnSpc>
                  <a:spcBef>
                    <a:spcPct val="30000"/>
                  </a:spcBef>
                  <a:buFontTx/>
                  <a:buChar char="•"/>
                </a:pPr>
                <a:r>
                  <a:rPr lang="ko-KR" altLang="ko-KR" sz="800">
                    <a:solidFill>
                      <a:srgbClr val="4D4D4D"/>
                    </a:solidFill>
                    <a:latin typeface="맑은 고딕" pitchFamily="50" charset="-127"/>
                    <a:ea typeface="맑은 고딕" pitchFamily="50" charset="-127"/>
                  </a:rPr>
                  <a:t>선언적인 설정 방식을 이용한 화면 흐름 제어 및 프리젠테이션 로직 구현으로 개발 공수 절감</a:t>
                </a:r>
              </a:p>
            </p:txBody>
          </p:sp>
          <p:sp>
            <p:nvSpPr>
              <p:cNvPr id="210" name="AutoShape 47"/>
              <p:cNvSpPr>
                <a:spLocks noChangeArrowheads="1"/>
              </p:cNvSpPr>
              <p:nvPr/>
            </p:nvSpPr>
            <p:spPr bwMode="gray">
              <a:xfrm>
                <a:off x="5752" y="2289"/>
                <a:ext cx="978" cy="674"/>
              </a:xfrm>
              <a:prstGeom prst="roundRect">
                <a:avLst>
                  <a:gd name="adj" fmla="val 5866"/>
                </a:avLst>
              </a:prstGeom>
              <a:noFill/>
              <a:ln w="9525" algn="ctr">
                <a:noFill/>
                <a:round/>
                <a:headEnd/>
                <a:tailEnd/>
              </a:ln>
            </p:spPr>
            <p:txBody>
              <a:bodyPr lIns="91431" tIns="45715" rIns="91431" bIns="45715"/>
              <a:lstStyle/>
              <a:p>
                <a:pPr marL="95250" indent="-95250" algn="l" latinLnBrk="0">
                  <a:lnSpc>
                    <a:spcPct val="90000"/>
                  </a:lnSpc>
                  <a:spcBef>
                    <a:spcPct val="30000"/>
                  </a:spcBef>
                  <a:buFontTx/>
                  <a:buChar char="•"/>
                </a:pPr>
                <a:r>
                  <a:rPr lang="ko-KR" altLang="en-US" sz="800" dirty="0">
                    <a:solidFill>
                      <a:srgbClr val="4D4D4D"/>
                    </a:solidFill>
                    <a:latin typeface="맑은 고딕" pitchFamily="50" charset="-127"/>
                    <a:ea typeface="맑은 고딕" pitchFamily="50" charset="-127"/>
                  </a:rPr>
                  <a:t>업무 프로그램의 비즈니스 처리 </a:t>
                </a:r>
                <a:r>
                  <a:rPr lang="ko-KR" altLang="en-US" sz="800" dirty="0" err="1">
                    <a:solidFill>
                      <a:srgbClr val="4D4D4D"/>
                    </a:solidFill>
                    <a:latin typeface="맑은 고딕" pitchFamily="50" charset="-127"/>
                    <a:ea typeface="맑은 고딕" pitchFamily="50" charset="-127"/>
                  </a:rPr>
                  <a:t>로직을</a:t>
                </a:r>
                <a:r>
                  <a:rPr lang="ko-KR" altLang="en-US" sz="800" dirty="0">
                    <a:solidFill>
                      <a:srgbClr val="4D4D4D"/>
                    </a:solidFill>
                    <a:latin typeface="맑은 고딕" pitchFamily="50" charset="-127"/>
                    <a:ea typeface="맑은 고딕" pitchFamily="50" charset="-127"/>
                  </a:rPr>
                  <a:t> 담당</a:t>
                </a:r>
              </a:p>
              <a:p>
                <a:pPr marL="95250" indent="-95250" algn="l" latinLnBrk="0">
                  <a:lnSpc>
                    <a:spcPct val="90000"/>
                  </a:lnSpc>
                  <a:spcBef>
                    <a:spcPct val="30000"/>
                  </a:spcBef>
                  <a:buFontTx/>
                  <a:buChar char="•"/>
                </a:pPr>
                <a:endParaRPr lang="ko-KR" altLang="en-US" sz="800" dirty="0">
                  <a:solidFill>
                    <a:srgbClr val="4D4D4D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grpSp>
            <p:nvGrpSpPr>
              <p:cNvPr id="211" name="Group 132"/>
              <p:cNvGrpSpPr>
                <a:grpSpLocks/>
              </p:cNvGrpSpPr>
              <p:nvPr/>
            </p:nvGrpSpPr>
            <p:grpSpPr bwMode="auto">
              <a:xfrm>
                <a:off x="4325" y="2073"/>
                <a:ext cx="636" cy="203"/>
                <a:chOff x="209" y="3527"/>
                <a:chExt cx="1277" cy="264"/>
              </a:xfrm>
            </p:grpSpPr>
            <p:pic>
              <p:nvPicPr>
                <p:cNvPr id="255" name="Picture 133" descr="203"/>
                <p:cNvPicPr>
                  <a:picLocks noChangeAspect="1" noChangeArrowheads="1"/>
                </p:cNvPicPr>
                <p:nvPr/>
              </p:nvPicPr>
              <p:blipFill>
                <a:blip r:embed="rId24" cstate="print"/>
                <a:srcRect l="86790"/>
                <a:stretch>
                  <a:fillRect/>
                </a:stretch>
              </p:blipFill>
              <p:spPr bwMode="gray">
                <a:xfrm>
                  <a:off x="1249" y="3527"/>
                  <a:ext cx="237" cy="26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pic>
              <p:nvPicPr>
                <p:cNvPr id="256" name="Picture 134" descr="203"/>
                <p:cNvPicPr>
                  <a:picLocks noChangeAspect="1" noChangeArrowheads="1"/>
                </p:cNvPicPr>
                <p:nvPr/>
              </p:nvPicPr>
              <p:blipFill>
                <a:blip r:embed="rId25" cstate="print"/>
                <a:srcRect l="11806" r="11870"/>
                <a:stretch>
                  <a:fillRect/>
                </a:stretch>
              </p:blipFill>
              <p:spPr bwMode="gray">
                <a:xfrm>
                  <a:off x="421" y="3527"/>
                  <a:ext cx="964" cy="26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pic>
              <p:nvPicPr>
                <p:cNvPr id="257" name="Picture 135" descr="203"/>
                <p:cNvPicPr>
                  <a:picLocks noChangeAspect="1" noChangeArrowheads="1"/>
                </p:cNvPicPr>
                <p:nvPr/>
              </p:nvPicPr>
              <p:blipFill>
                <a:blip r:embed="rId26" cstate="print"/>
                <a:srcRect r="86981"/>
                <a:stretch>
                  <a:fillRect/>
                </a:stretch>
              </p:blipFill>
              <p:spPr bwMode="gray">
                <a:xfrm>
                  <a:off x="209" y="3527"/>
                  <a:ext cx="234" cy="26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</p:grpSp>
          <p:sp>
            <p:nvSpPr>
              <p:cNvPr id="212" name="Text Box 136"/>
              <p:cNvSpPr txBox="1">
                <a:spLocks noChangeArrowheads="1"/>
              </p:cNvSpPr>
              <p:nvPr/>
            </p:nvSpPr>
            <p:spPr bwMode="gray">
              <a:xfrm>
                <a:off x="4317" y="2099"/>
                <a:ext cx="414" cy="26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latinLnBrk="0">
                  <a:lnSpc>
                    <a:spcPct val="90000"/>
                  </a:lnSpc>
                </a:pPr>
                <a:r>
                  <a:rPr lang="en-US" altLang="ko-KR" sz="900">
                    <a:latin typeface="맑은 고딕" pitchFamily="50" charset="-127"/>
                    <a:ea typeface="맑은 고딕" pitchFamily="50" charset="-127"/>
                  </a:rPr>
                  <a:t>Channel Layer</a:t>
                </a:r>
              </a:p>
            </p:txBody>
          </p:sp>
          <p:grpSp>
            <p:nvGrpSpPr>
              <p:cNvPr id="213" name="Group 137"/>
              <p:cNvGrpSpPr>
                <a:grpSpLocks/>
              </p:cNvGrpSpPr>
              <p:nvPr/>
            </p:nvGrpSpPr>
            <p:grpSpPr bwMode="auto">
              <a:xfrm>
                <a:off x="5007" y="2073"/>
                <a:ext cx="743" cy="203"/>
                <a:chOff x="209" y="3527"/>
                <a:chExt cx="1277" cy="264"/>
              </a:xfrm>
            </p:grpSpPr>
            <p:pic>
              <p:nvPicPr>
                <p:cNvPr id="252" name="Picture 138" descr="203"/>
                <p:cNvPicPr>
                  <a:picLocks noChangeAspect="1" noChangeArrowheads="1"/>
                </p:cNvPicPr>
                <p:nvPr/>
              </p:nvPicPr>
              <p:blipFill>
                <a:blip r:embed="rId27" cstate="print"/>
                <a:srcRect l="86790"/>
                <a:stretch>
                  <a:fillRect/>
                </a:stretch>
              </p:blipFill>
              <p:spPr bwMode="gray">
                <a:xfrm>
                  <a:off x="1249" y="3527"/>
                  <a:ext cx="237" cy="26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pic>
              <p:nvPicPr>
                <p:cNvPr id="253" name="Picture 139" descr="203"/>
                <p:cNvPicPr>
                  <a:picLocks noChangeAspect="1" noChangeArrowheads="1"/>
                </p:cNvPicPr>
                <p:nvPr/>
              </p:nvPicPr>
              <p:blipFill>
                <a:blip r:embed="rId28" cstate="print"/>
                <a:srcRect l="11806" r="11870"/>
                <a:stretch>
                  <a:fillRect/>
                </a:stretch>
              </p:blipFill>
              <p:spPr bwMode="gray">
                <a:xfrm>
                  <a:off x="421" y="3527"/>
                  <a:ext cx="964" cy="26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pic>
              <p:nvPicPr>
                <p:cNvPr id="254" name="Picture 140" descr="203"/>
                <p:cNvPicPr>
                  <a:picLocks noChangeAspect="1" noChangeArrowheads="1"/>
                </p:cNvPicPr>
                <p:nvPr/>
              </p:nvPicPr>
              <p:blipFill>
                <a:blip r:embed="rId27" cstate="print"/>
                <a:srcRect r="86981"/>
                <a:stretch>
                  <a:fillRect/>
                </a:stretch>
              </p:blipFill>
              <p:spPr bwMode="gray">
                <a:xfrm>
                  <a:off x="209" y="3527"/>
                  <a:ext cx="234" cy="26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</p:grpSp>
          <p:sp>
            <p:nvSpPr>
              <p:cNvPr id="214" name="Text Box 141"/>
              <p:cNvSpPr txBox="1">
                <a:spLocks noChangeArrowheads="1"/>
              </p:cNvSpPr>
              <p:nvPr/>
            </p:nvSpPr>
            <p:spPr bwMode="gray">
              <a:xfrm>
                <a:off x="4972" y="2085"/>
                <a:ext cx="515" cy="26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latinLnBrk="0">
                  <a:lnSpc>
                    <a:spcPct val="90000"/>
                  </a:lnSpc>
                </a:pPr>
                <a:r>
                  <a:rPr lang="en-US" altLang="ko-KR" sz="900">
                    <a:latin typeface="맑은 고딕" pitchFamily="50" charset="-127"/>
                    <a:ea typeface="맑은 고딕" pitchFamily="50" charset="-127"/>
                  </a:rPr>
                  <a:t>Presentation Layer</a:t>
                </a:r>
              </a:p>
            </p:txBody>
          </p:sp>
          <p:grpSp>
            <p:nvGrpSpPr>
              <p:cNvPr id="215" name="Group 142"/>
              <p:cNvGrpSpPr>
                <a:grpSpLocks/>
              </p:cNvGrpSpPr>
              <p:nvPr/>
            </p:nvGrpSpPr>
            <p:grpSpPr bwMode="auto">
              <a:xfrm>
                <a:off x="5797" y="2073"/>
                <a:ext cx="841" cy="203"/>
                <a:chOff x="209" y="3527"/>
                <a:chExt cx="1277" cy="264"/>
              </a:xfrm>
            </p:grpSpPr>
            <p:pic>
              <p:nvPicPr>
                <p:cNvPr id="249" name="Picture 143" descr="203"/>
                <p:cNvPicPr>
                  <a:picLocks noChangeAspect="1" noChangeArrowheads="1"/>
                </p:cNvPicPr>
                <p:nvPr/>
              </p:nvPicPr>
              <p:blipFill>
                <a:blip r:embed="rId29" cstate="print"/>
                <a:srcRect l="86790"/>
                <a:stretch>
                  <a:fillRect/>
                </a:stretch>
              </p:blipFill>
              <p:spPr bwMode="gray">
                <a:xfrm>
                  <a:off x="1249" y="3527"/>
                  <a:ext cx="237" cy="26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pic>
              <p:nvPicPr>
                <p:cNvPr id="250" name="Picture 144" descr="203"/>
                <p:cNvPicPr>
                  <a:picLocks noChangeAspect="1" noChangeArrowheads="1"/>
                </p:cNvPicPr>
                <p:nvPr/>
              </p:nvPicPr>
              <p:blipFill>
                <a:blip r:embed="rId30" cstate="print"/>
                <a:srcRect l="11806" r="11870"/>
                <a:stretch>
                  <a:fillRect/>
                </a:stretch>
              </p:blipFill>
              <p:spPr bwMode="gray">
                <a:xfrm>
                  <a:off x="421" y="3527"/>
                  <a:ext cx="964" cy="26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pic>
              <p:nvPicPr>
                <p:cNvPr id="251" name="Picture 145" descr="203"/>
                <p:cNvPicPr>
                  <a:picLocks noChangeAspect="1" noChangeArrowheads="1"/>
                </p:cNvPicPr>
                <p:nvPr/>
              </p:nvPicPr>
              <p:blipFill>
                <a:blip r:embed="rId31" cstate="print"/>
                <a:srcRect r="86981"/>
                <a:stretch>
                  <a:fillRect/>
                </a:stretch>
              </p:blipFill>
              <p:spPr bwMode="gray">
                <a:xfrm>
                  <a:off x="209" y="3527"/>
                  <a:ext cx="234" cy="26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</p:grpSp>
          <p:sp>
            <p:nvSpPr>
              <p:cNvPr id="216" name="Text Box 146"/>
              <p:cNvSpPr txBox="1">
                <a:spLocks noChangeArrowheads="1"/>
              </p:cNvSpPr>
              <p:nvPr/>
            </p:nvSpPr>
            <p:spPr bwMode="gray">
              <a:xfrm>
                <a:off x="5764" y="2085"/>
                <a:ext cx="563" cy="26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latinLnBrk="0">
                  <a:lnSpc>
                    <a:spcPct val="90000"/>
                  </a:lnSpc>
                </a:pPr>
                <a:r>
                  <a:rPr lang="en-US" altLang="ko-KR" sz="900">
                    <a:latin typeface="맑은 고딕" pitchFamily="50" charset="-127"/>
                    <a:ea typeface="맑은 고딕" pitchFamily="50" charset="-127"/>
                  </a:rPr>
                  <a:t>Business Logic Layer</a:t>
                </a:r>
              </a:p>
            </p:txBody>
          </p:sp>
          <p:sp>
            <p:nvSpPr>
              <p:cNvPr id="217" name="Line 147"/>
              <p:cNvSpPr>
                <a:spLocks noChangeShapeType="1"/>
              </p:cNvSpPr>
              <p:nvPr/>
            </p:nvSpPr>
            <p:spPr bwMode="gray">
              <a:xfrm>
                <a:off x="5003" y="2305"/>
                <a:ext cx="0" cy="1170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dash"/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218" name="Line 148"/>
              <p:cNvSpPr>
                <a:spLocks noChangeShapeType="1"/>
              </p:cNvSpPr>
              <p:nvPr/>
            </p:nvSpPr>
            <p:spPr bwMode="gray">
              <a:xfrm>
                <a:off x="5797" y="2305"/>
                <a:ext cx="0" cy="1170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dash"/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219" name="Line 149"/>
              <p:cNvSpPr>
                <a:spLocks noChangeShapeType="1"/>
              </p:cNvSpPr>
              <p:nvPr/>
            </p:nvSpPr>
            <p:spPr bwMode="gray">
              <a:xfrm>
                <a:off x="6659" y="2305"/>
                <a:ext cx="0" cy="294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dash"/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220" name="AutoShape 47"/>
              <p:cNvSpPr>
                <a:spLocks noChangeArrowheads="1"/>
              </p:cNvSpPr>
              <p:nvPr/>
            </p:nvSpPr>
            <p:spPr bwMode="gray">
              <a:xfrm>
                <a:off x="7412" y="2289"/>
                <a:ext cx="744" cy="221"/>
              </a:xfrm>
              <a:prstGeom prst="roundRect">
                <a:avLst>
                  <a:gd name="adj" fmla="val 5866"/>
                </a:avLst>
              </a:prstGeom>
              <a:noFill/>
              <a:ln w="9525" algn="ctr">
                <a:noFill/>
                <a:round/>
                <a:headEnd/>
                <a:tailEnd/>
              </a:ln>
            </p:spPr>
            <p:txBody>
              <a:bodyPr lIns="91431" tIns="45715" rIns="91431" bIns="45715"/>
              <a:lstStyle/>
              <a:p>
                <a:pPr marL="95250" indent="-95250" algn="l" latinLnBrk="0">
                  <a:lnSpc>
                    <a:spcPct val="90000"/>
                  </a:lnSpc>
                  <a:spcBef>
                    <a:spcPct val="30000"/>
                  </a:spcBef>
                  <a:buFontTx/>
                  <a:buChar char="•"/>
                </a:pPr>
                <a:r>
                  <a:rPr lang="ko-KR" altLang="en-US" sz="800">
                    <a:solidFill>
                      <a:srgbClr val="4D4D4D"/>
                    </a:solidFill>
                    <a:latin typeface="맑은 고딕" pitchFamily="50" charset="-127"/>
                    <a:ea typeface="맑은 고딕" pitchFamily="50" charset="-127"/>
                  </a:rPr>
                  <a:t>타 시스템과 연동 기능을 담당</a:t>
                </a:r>
              </a:p>
            </p:txBody>
          </p:sp>
          <p:grpSp>
            <p:nvGrpSpPr>
              <p:cNvPr id="221" name="Group 151"/>
              <p:cNvGrpSpPr>
                <a:grpSpLocks/>
              </p:cNvGrpSpPr>
              <p:nvPr/>
            </p:nvGrpSpPr>
            <p:grpSpPr bwMode="auto">
              <a:xfrm>
                <a:off x="7451" y="2073"/>
                <a:ext cx="695" cy="203"/>
                <a:chOff x="209" y="3527"/>
                <a:chExt cx="1277" cy="264"/>
              </a:xfrm>
            </p:grpSpPr>
            <p:pic>
              <p:nvPicPr>
                <p:cNvPr id="246" name="Picture 152" descr="203"/>
                <p:cNvPicPr>
                  <a:picLocks noChangeAspect="1" noChangeArrowheads="1"/>
                </p:cNvPicPr>
                <p:nvPr/>
              </p:nvPicPr>
              <p:blipFill>
                <a:blip r:embed="rId32" cstate="print"/>
                <a:srcRect l="86790"/>
                <a:stretch>
                  <a:fillRect/>
                </a:stretch>
              </p:blipFill>
              <p:spPr bwMode="gray">
                <a:xfrm>
                  <a:off x="1249" y="3527"/>
                  <a:ext cx="237" cy="26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pic>
              <p:nvPicPr>
                <p:cNvPr id="247" name="Picture 153" descr="203"/>
                <p:cNvPicPr>
                  <a:picLocks noChangeAspect="1" noChangeArrowheads="1"/>
                </p:cNvPicPr>
                <p:nvPr/>
              </p:nvPicPr>
              <p:blipFill>
                <a:blip r:embed="rId33" cstate="print"/>
                <a:srcRect l="11806" r="11870"/>
                <a:stretch>
                  <a:fillRect/>
                </a:stretch>
              </p:blipFill>
              <p:spPr bwMode="gray">
                <a:xfrm>
                  <a:off x="421" y="3527"/>
                  <a:ext cx="964" cy="26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pic>
              <p:nvPicPr>
                <p:cNvPr id="248" name="Picture 154" descr="203"/>
                <p:cNvPicPr>
                  <a:picLocks noChangeAspect="1" noChangeArrowheads="1"/>
                </p:cNvPicPr>
                <p:nvPr/>
              </p:nvPicPr>
              <p:blipFill>
                <a:blip r:embed="rId34" cstate="print"/>
                <a:srcRect r="86981"/>
                <a:stretch>
                  <a:fillRect/>
                </a:stretch>
              </p:blipFill>
              <p:spPr bwMode="gray">
                <a:xfrm>
                  <a:off x="209" y="3527"/>
                  <a:ext cx="234" cy="26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</p:grpSp>
          <p:sp>
            <p:nvSpPr>
              <p:cNvPr id="222" name="Text Box 155"/>
              <p:cNvSpPr txBox="1">
                <a:spLocks noChangeArrowheads="1"/>
              </p:cNvSpPr>
              <p:nvPr/>
            </p:nvSpPr>
            <p:spPr bwMode="gray">
              <a:xfrm>
                <a:off x="7438" y="2077"/>
                <a:ext cx="479" cy="26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latinLnBrk="0">
                  <a:lnSpc>
                    <a:spcPct val="90000"/>
                  </a:lnSpc>
                </a:pPr>
                <a:r>
                  <a:rPr lang="en-US" altLang="ko-KR" sz="900">
                    <a:latin typeface="맑은 고딕" pitchFamily="50" charset="-127"/>
                    <a:ea typeface="맑은 고딕" pitchFamily="50" charset="-127"/>
                  </a:rPr>
                  <a:t>Integration Layer</a:t>
                </a:r>
              </a:p>
            </p:txBody>
          </p:sp>
          <p:sp>
            <p:nvSpPr>
              <p:cNvPr id="223" name="Line 156"/>
              <p:cNvSpPr>
                <a:spLocks noChangeShapeType="1"/>
              </p:cNvSpPr>
              <p:nvPr/>
            </p:nvSpPr>
            <p:spPr bwMode="auto">
              <a:xfrm>
                <a:off x="4527" y="3022"/>
                <a:ext cx="3561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 type="none" w="sm" len="sm"/>
              </a:ln>
            </p:spPr>
            <p:txBody>
              <a:bodyPr/>
              <a:lstStyle/>
              <a:p>
                <a:endParaRPr lang="ko-KR" altLang="en-US"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224" name="AutoShape 157"/>
              <p:cNvSpPr>
                <a:spLocks noChangeArrowheads="1"/>
              </p:cNvSpPr>
              <p:nvPr/>
            </p:nvSpPr>
            <p:spPr bwMode="auto">
              <a:xfrm>
                <a:off x="4342" y="3043"/>
                <a:ext cx="136" cy="432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rgbClr val="C0C0C0"/>
                </a:solidFill>
                <a:round/>
                <a:headEnd/>
                <a:tailEnd/>
              </a:ln>
            </p:spPr>
            <p:txBody>
              <a:bodyPr lIns="0" tIns="0" rIns="0" bIns="0" anchor="ctr"/>
              <a:lstStyle/>
              <a:p>
                <a:pPr defTabSz="958850" latinLnBrk="0">
                  <a:lnSpc>
                    <a:spcPct val="90000"/>
                  </a:lnSpc>
                </a:pPr>
                <a:r>
                  <a:rPr lang="ko-KR" altLang="en-US" sz="800">
                    <a:latin typeface="맑은 고딕" pitchFamily="50" charset="-127"/>
                    <a:ea typeface="맑은 고딕" pitchFamily="50" charset="-127"/>
                  </a:rPr>
                  <a:t>관련제품</a:t>
                </a:r>
              </a:p>
            </p:txBody>
          </p:sp>
          <p:sp>
            <p:nvSpPr>
              <p:cNvPr id="225" name="AutoShape 47"/>
              <p:cNvSpPr>
                <a:spLocks noChangeArrowheads="1"/>
              </p:cNvSpPr>
              <p:nvPr/>
            </p:nvSpPr>
            <p:spPr bwMode="gray">
              <a:xfrm>
                <a:off x="4978" y="3040"/>
                <a:ext cx="774" cy="455"/>
              </a:xfrm>
              <a:prstGeom prst="roundRect">
                <a:avLst>
                  <a:gd name="adj" fmla="val 5866"/>
                </a:avLst>
              </a:prstGeom>
              <a:noFill/>
              <a:ln w="9525" algn="ctr">
                <a:noFill/>
                <a:round/>
                <a:headEnd/>
                <a:tailEnd/>
              </a:ln>
            </p:spPr>
            <p:txBody>
              <a:bodyPr lIns="91431" tIns="45715" rIns="91431" bIns="45715"/>
              <a:lstStyle/>
              <a:p>
                <a:pPr marL="95250" indent="-95250" algn="l" latinLnBrk="0">
                  <a:lnSpc>
                    <a:spcPct val="70000"/>
                  </a:lnSpc>
                  <a:spcBef>
                    <a:spcPct val="30000"/>
                  </a:spcBef>
                  <a:buFontTx/>
                  <a:buChar char="•"/>
                </a:pPr>
                <a:r>
                  <a:rPr lang="en-US" altLang="ko-KR" sz="800">
                    <a:solidFill>
                      <a:srgbClr val="4D4D4D"/>
                    </a:solidFill>
                    <a:latin typeface="맑은 고딕" pitchFamily="50" charset="-127"/>
                    <a:ea typeface="맑은 고딕" pitchFamily="50" charset="-127"/>
                  </a:rPr>
                  <a:t>Velocity</a:t>
                </a:r>
              </a:p>
              <a:p>
                <a:pPr marL="95250" indent="-95250" algn="l" latinLnBrk="0">
                  <a:lnSpc>
                    <a:spcPct val="70000"/>
                  </a:lnSpc>
                  <a:spcBef>
                    <a:spcPct val="30000"/>
                  </a:spcBef>
                  <a:buFontTx/>
                  <a:buChar char="•"/>
                </a:pPr>
                <a:r>
                  <a:rPr lang="en-US" altLang="ko-KR" sz="800">
                    <a:solidFill>
                      <a:srgbClr val="4D4D4D"/>
                    </a:solidFill>
                    <a:latin typeface="맑은 고딕" pitchFamily="50" charset="-127"/>
                    <a:ea typeface="맑은 고딕" pitchFamily="50" charset="-127"/>
                  </a:rPr>
                  <a:t>Jtable</a:t>
                </a:r>
              </a:p>
              <a:p>
                <a:pPr marL="95250" indent="-95250" algn="l" latinLnBrk="0">
                  <a:lnSpc>
                    <a:spcPct val="70000"/>
                  </a:lnSpc>
                  <a:spcBef>
                    <a:spcPct val="30000"/>
                  </a:spcBef>
                  <a:buFontTx/>
                  <a:buChar char="•"/>
                </a:pPr>
                <a:r>
                  <a:rPr lang="en-US" altLang="ko-KR" sz="800">
                    <a:solidFill>
                      <a:srgbClr val="4D4D4D"/>
                    </a:solidFill>
                    <a:latin typeface="맑은 고딕" pitchFamily="50" charset="-127"/>
                    <a:ea typeface="맑은 고딕" pitchFamily="50" charset="-127"/>
                  </a:rPr>
                  <a:t>Flex / Silverlight</a:t>
                </a:r>
              </a:p>
              <a:p>
                <a:pPr marL="95250" indent="-95250" algn="l" latinLnBrk="0">
                  <a:lnSpc>
                    <a:spcPct val="70000"/>
                  </a:lnSpc>
                  <a:spcBef>
                    <a:spcPct val="30000"/>
                  </a:spcBef>
                  <a:buFontTx/>
                  <a:buChar char="•"/>
                </a:pPr>
                <a:r>
                  <a:rPr lang="en-US" altLang="ko-KR" sz="800">
                    <a:solidFill>
                      <a:srgbClr val="4D4D4D"/>
                    </a:solidFill>
                    <a:latin typeface="맑은 고딕" pitchFamily="50" charset="-127"/>
                    <a:ea typeface="맑은 고딕" pitchFamily="50" charset="-127"/>
                  </a:rPr>
                  <a:t>JSP/JSTL</a:t>
                </a:r>
              </a:p>
            </p:txBody>
          </p:sp>
          <p:sp>
            <p:nvSpPr>
              <p:cNvPr id="226" name="AutoShape 47"/>
              <p:cNvSpPr>
                <a:spLocks noChangeArrowheads="1"/>
              </p:cNvSpPr>
              <p:nvPr/>
            </p:nvSpPr>
            <p:spPr bwMode="gray">
              <a:xfrm>
                <a:off x="5845" y="3045"/>
                <a:ext cx="726" cy="133"/>
              </a:xfrm>
              <a:prstGeom prst="roundRect">
                <a:avLst>
                  <a:gd name="adj" fmla="val 5866"/>
                </a:avLst>
              </a:prstGeom>
              <a:noFill/>
              <a:ln w="9525" algn="ctr">
                <a:noFill/>
                <a:round/>
                <a:headEnd/>
                <a:tailEnd/>
              </a:ln>
            </p:spPr>
            <p:txBody>
              <a:bodyPr lIns="91431" tIns="45715" rIns="91431" bIns="45715"/>
              <a:lstStyle/>
              <a:p>
                <a:pPr marL="95250" indent="-95250" algn="l" latinLnBrk="0">
                  <a:lnSpc>
                    <a:spcPct val="90000"/>
                  </a:lnSpc>
                  <a:spcBef>
                    <a:spcPct val="30000"/>
                  </a:spcBef>
                  <a:buFontTx/>
                  <a:buChar char="•"/>
                </a:pPr>
                <a:r>
                  <a:rPr lang="ko-KR" altLang="en-US" sz="800" dirty="0">
                    <a:solidFill>
                      <a:srgbClr val="4D4D4D"/>
                    </a:solidFill>
                    <a:latin typeface="맑은 고딕" pitchFamily="50" charset="-127"/>
                    <a:ea typeface="맑은 고딕" pitchFamily="50" charset="-127"/>
                  </a:rPr>
                  <a:t>스프링</a:t>
                </a:r>
                <a:r>
                  <a:rPr lang="en-US" altLang="ko-KR" sz="800" dirty="0">
                    <a:solidFill>
                      <a:srgbClr val="4D4D4D"/>
                    </a:solidFill>
                    <a:latin typeface="맑은 고딕" pitchFamily="50" charset="-127"/>
                    <a:ea typeface="맑은 고딕" pitchFamily="50" charset="-127"/>
                  </a:rPr>
                  <a:t>(Spring)</a:t>
                </a:r>
              </a:p>
            </p:txBody>
          </p:sp>
          <p:sp>
            <p:nvSpPr>
              <p:cNvPr id="227" name="AutoShape 47"/>
              <p:cNvSpPr>
                <a:spLocks noChangeArrowheads="1"/>
              </p:cNvSpPr>
              <p:nvPr/>
            </p:nvSpPr>
            <p:spPr bwMode="gray">
              <a:xfrm>
                <a:off x="4504" y="3022"/>
                <a:ext cx="477" cy="453"/>
              </a:xfrm>
              <a:prstGeom prst="roundRect">
                <a:avLst>
                  <a:gd name="adj" fmla="val 5866"/>
                </a:avLst>
              </a:prstGeom>
              <a:noFill/>
              <a:ln w="9525" algn="ctr">
                <a:noFill/>
                <a:round/>
                <a:headEnd/>
                <a:tailEnd/>
              </a:ln>
            </p:spPr>
            <p:txBody>
              <a:bodyPr lIns="91431" tIns="45715" rIns="91431" bIns="45715"/>
              <a:lstStyle/>
              <a:p>
                <a:pPr marL="95250" indent="-95250" algn="l" latinLnBrk="0">
                  <a:lnSpc>
                    <a:spcPct val="70000"/>
                  </a:lnSpc>
                  <a:spcBef>
                    <a:spcPct val="30000"/>
                  </a:spcBef>
                  <a:buFontTx/>
                  <a:buChar char="•"/>
                </a:pPr>
                <a:r>
                  <a:rPr lang="en-US" altLang="ko-KR" sz="800">
                    <a:solidFill>
                      <a:srgbClr val="4D4D4D"/>
                    </a:solidFill>
                    <a:latin typeface="맑은 고딕" pitchFamily="50" charset="-127"/>
                    <a:ea typeface="맑은 고딕" pitchFamily="50" charset="-127"/>
                  </a:rPr>
                  <a:t>Internet </a:t>
                </a:r>
              </a:p>
              <a:p>
                <a:pPr marL="95250" indent="-95250" algn="l" latinLnBrk="0">
                  <a:lnSpc>
                    <a:spcPct val="70000"/>
                  </a:lnSpc>
                  <a:spcBef>
                    <a:spcPct val="30000"/>
                  </a:spcBef>
                </a:pPr>
                <a:r>
                  <a:rPr lang="en-US" altLang="ko-KR" sz="800">
                    <a:solidFill>
                      <a:srgbClr val="4D4D4D"/>
                    </a:solidFill>
                    <a:latin typeface="맑은 고딕" pitchFamily="50" charset="-127"/>
                    <a:ea typeface="맑은 고딕" pitchFamily="50" charset="-127"/>
                  </a:rPr>
                  <a:t>   Explorer</a:t>
                </a:r>
              </a:p>
              <a:p>
                <a:pPr marL="95250" indent="-95250" algn="l" latinLnBrk="0">
                  <a:lnSpc>
                    <a:spcPct val="70000"/>
                  </a:lnSpc>
                  <a:spcBef>
                    <a:spcPct val="30000"/>
                  </a:spcBef>
                  <a:buFontTx/>
                  <a:buChar char="•"/>
                </a:pPr>
                <a:r>
                  <a:rPr lang="en-US" altLang="ko-KR" sz="800">
                    <a:solidFill>
                      <a:srgbClr val="4D4D4D"/>
                    </a:solidFill>
                    <a:latin typeface="맑은 고딕" pitchFamily="50" charset="-127"/>
                    <a:ea typeface="맑은 고딕" pitchFamily="50" charset="-127"/>
                  </a:rPr>
                  <a:t>FireFox</a:t>
                </a:r>
              </a:p>
              <a:p>
                <a:pPr marL="95250" indent="-95250" algn="l" latinLnBrk="0">
                  <a:lnSpc>
                    <a:spcPct val="70000"/>
                  </a:lnSpc>
                  <a:spcBef>
                    <a:spcPct val="30000"/>
                  </a:spcBef>
                  <a:buFontTx/>
                  <a:buChar char="•"/>
                </a:pPr>
                <a:r>
                  <a:rPr lang="en-US" altLang="ko-KR" sz="800">
                    <a:solidFill>
                      <a:srgbClr val="4D4D4D"/>
                    </a:solidFill>
                    <a:latin typeface="맑은 고딕" pitchFamily="50" charset="-127"/>
                    <a:ea typeface="맑은 고딕" pitchFamily="50" charset="-127"/>
                  </a:rPr>
                  <a:t>Chrome</a:t>
                </a:r>
              </a:p>
            </p:txBody>
          </p:sp>
          <p:pic>
            <p:nvPicPr>
              <p:cNvPr id="228" name="Picture 161" descr="203"/>
              <p:cNvPicPr>
                <a:picLocks noChangeAspect="1" noChangeArrowheads="1"/>
              </p:cNvPicPr>
              <p:nvPr/>
            </p:nvPicPr>
            <p:blipFill>
              <a:blip r:embed="rId35" cstate="print"/>
              <a:srcRect l="86790"/>
              <a:stretch>
                <a:fillRect/>
              </a:stretch>
            </p:blipFill>
            <p:spPr bwMode="gray">
              <a:xfrm>
                <a:off x="7979" y="2638"/>
                <a:ext cx="177" cy="20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229" name="Picture 162" descr="203"/>
              <p:cNvPicPr>
                <a:picLocks noChangeAspect="1" noChangeArrowheads="1"/>
              </p:cNvPicPr>
              <p:nvPr/>
            </p:nvPicPr>
            <p:blipFill>
              <a:blip r:embed="rId36" cstate="print"/>
              <a:srcRect l="11806" r="11870"/>
              <a:stretch>
                <a:fillRect/>
              </a:stretch>
            </p:blipFill>
            <p:spPr bwMode="gray">
              <a:xfrm>
                <a:off x="5976" y="2638"/>
                <a:ext cx="2066" cy="20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230" name="Picture 163" descr="203"/>
              <p:cNvPicPr>
                <a:picLocks noChangeAspect="1" noChangeArrowheads="1"/>
              </p:cNvPicPr>
              <p:nvPr/>
            </p:nvPicPr>
            <p:blipFill>
              <a:blip r:embed="rId37" cstate="print"/>
              <a:srcRect r="86981"/>
              <a:stretch>
                <a:fillRect/>
              </a:stretch>
            </p:blipFill>
            <p:spPr bwMode="gray">
              <a:xfrm>
                <a:off x="5817" y="2638"/>
                <a:ext cx="175" cy="20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231" name="Text Box 164"/>
              <p:cNvSpPr txBox="1">
                <a:spLocks noChangeArrowheads="1"/>
              </p:cNvSpPr>
              <p:nvPr/>
            </p:nvSpPr>
            <p:spPr bwMode="gray">
              <a:xfrm>
                <a:off x="6649" y="2648"/>
                <a:ext cx="489" cy="26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latinLnBrk="0">
                  <a:lnSpc>
                    <a:spcPct val="90000"/>
                  </a:lnSpc>
                </a:pPr>
                <a:r>
                  <a:rPr lang="en-US" altLang="ko-KR" sz="900">
                    <a:latin typeface="맑은 고딕" pitchFamily="50" charset="-127"/>
                    <a:ea typeface="맑은 고딕" pitchFamily="50" charset="-127"/>
                  </a:rPr>
                  <a:t>Foundation Layer</a:t>
                </a:r>
              </a:p>
            </p:txBody>
          </p:sp>
          <p:sp>
            <p:nvSpPr>
              <p:cNvPr id="232" name="AutoShape 47"/>
              <p:cNvSpPr>
                <a:spLocks noChangeArrowheads="1"/>
              </p:cNvSpPr>
              <p:nvPr/>
            </p:nvSpPr>
            <p:spPr bwMode="gray">
              <a:xfrm>
                <a:off x="6704" y="2284"/>
                <a:ext cx="681" cy="220"/>
              </a:xfrm>
              <a:prstGeom prst="roundRect">
                <a:avLst>
                  <a:gd name="adj" fmla="val 5866"/>
                </a:avLst>
              </a:prstGeom>
              <a:noFill/>
              <a:ln w="9525" algn="ctr">
                <a:noFill/>
                <a:round/>
                <a:headEnd/>
                <a:tailEnd/>
              </a:ln>
            </p:spPr>
            <p:txBody>
              <a:bodyPr lIns="91431" tIns="45715" rIns="91431" bIns="45715"/>
              <a:lstStyle/>
              <a:p>
                <a:pPr marL="95250" indent="-95250" algn="l" latinLnBrk="0">
                  <a:lnSpc>
                    <a:spcPct val="90000"/>
                  </a:lnSpc>
                  <a:spcBef>
                    <a:spcPct val="30000"/>
                  </a:spcBef>
                  <a:buFontTx/>
                  <a:buChar char="•"/>
                </a:pPr>
                <a:r>
                  <a:rPr lang="ko-KR" altLang="en-US" sz="800">
                    <a:solidFill>
                      <a:srgbClr val="4D4D4D"/>
                    </a:solidFill>
                    <a:latin typeface="맑은 고딕" pitchFamily="50" charset="-127"/>
                    <a:ea typeface="맑은 고딕" pitchFamily="50" charset="-127"/>
                  </a:rPr>
                  <a:t>업무 프로그램에서 담당하는 데이터 </a:t>
                </a:r>
                <a:r>
                  <a:rPr lang="en-US" altLang="ko-KR" sz="800">
                    <a:solidFill>
                      <a:srgbClr val="4D4D4D"/>
                    </a:solidFill>
                    <a:latin typeface="맑은 고딕" pitchFamily="50" charset="-127"/>
                    <a:ea typeface="맑은 고딕" pitchFamily="50" charset="-127"/>
                  </a:rPr>
                  <a:t>CRUD</a:t>
                </a:r>
                <a:r>
                  <a:rPr lang="ko-KR" altLang="en-US" sz="800">
                    <a:solidFill>
                      <a:srgbClr val="4D4D4D"/>
                    </a:solidFill>
                    <a:latin typeface="맑은 고딕" pitchFamily="50" charset="-127"/>
                    <a:ea typeface="맑은 고딕" pitchFamily="50" charset="-127"/>
                  </a:rPr>
                  <a:t>기능제공</a:t>
                </a:r>
              </a:p>
            </p:txBody>
          </p:sp>
          <p:sp>
            <p:nvSpPr>
              <p:cNvPr id="233" name="AutoShape 47"/>
              <p:cNvSpPr>
                <a:spLocks noChangeArrowheads="1"/>
              </p:cNvSpPr>
              <p:nvPr/>
            </p:nvSpPr>
            <p:spPr bwMode="gray">
              <a:xfrm>
                <a:off x="6727" y="3045"/>
                <a:ext cx="658" cy="226"/>
              </a:xfrm>
              <a:prstGeom prst="roundRect">
                <a:avLst>
                  <a:gd name="adj" fmla="val 5866"/>
                </a:avLst>
              </a:prstGeom>
              <a:noFill/>
              <a:ln w="9525" algn="ctr">
                <a:noFill/>
                <a:round/>
                <a:headEnd/>
                <a:tailEnd/>
              </a:ln>
            </p:spPr>
            <p:txBody>
              <a:bodyPr lIns="91431" tIns="45715" rIns="91431" bIns="45715"/>
              <a:lstStyle/>
              <a:p>
                <a:pPr marL="95250" indent="-95250" algn="l" latinLnBrk="0">
                  <a:lnSpc>
                    <a:spcPct val="90000"/>
                  </a:lnSpc>
                  <a:spcBef>
                    <a:spcPct val="30000"/>
                  </a:spcBef>
                  <a:buFontTx/>
                  <a:buChar char="•"/>
                </a:pPr>
                <a:r>
                  <a:rPr lang="en-US" altLang="ko-KR" sz="800">
                    <a:solidFill>
                      <a:srgbClr val="4D4D4D"/>
                    </a:solidFill>
                    <a:latin typeface="맑은 고딕" pitchFamily="50" charset="-127"/>
                    <a:ea typeface="맑은 고딕" pitchFamily="50" charset="-127"/>
                  </a:rPr>
                  <a:t>iBatis sqlmaps</a:t>
                </a:r>
              </a:p>
              <a:p>
                <a:pPr marL="95250" indent="-95250" algn="l" latinLnBrk="0">
                  <a:lnSpc>
                    <a:spcPct val="90000"/>
                  </a:lnSpc>
                  <a:spcBef>
                    <a:spcPct val="30000"/>
                  </a:spcBef>
                </a:pPr>
                <a:endParaRPr lang="ko-KR" altLang="en-US" sz="800">
                  <a:solidFill>
                    <a:srgbClr val="4D4D4D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grpSp>
            <p:nvGrpSpPr>
              <p:cNvPr id="234" name="Group 167"/>
              <p:cNvGrpSpPr>
                <a:grpSpLocks/>
              </p:cNvGrpSpPr>
              <p:nvPr/>
            </p:nvGrpSpPr>
            <p:grpSpPr bwMode="auto">
              <a:xfrm>
                <a:off x="6690" y="2069"/>
                <a:ext cx="695" cy="202"/>
                <a:chOff x="209" y="3527"/>
                <a:chExt cx="1277" cy="264"/>
              </a:xfrm>
            </p:grpSpPr>
            <p:pic>
              <p:nvPicPr>
                <p:cNvPr id="243" name="Picture 168" descr="203"/>
                <p:cNvPicPr>
                  <a:picLocks noChangeAspect="1" noChangeArrowheads="1"/>
                </p:cNvPicPr>
                <p:nvPr/>
              </p:nvPicPr>
              <p:blipFill>
                <a:blip r:embed="rId38" cstate="print"/>
                <a:srcRect l="86790"/>
                <a:stretch>
                  <a:fillRect/>
                </a:stretch>
              </p:blipFill>
              <p:spPr bwMode="gray">
                <a:xfrm>
                  <a:off x="1249" y="3527"/>
                  <a:ext cx="237" cy="26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pic>
              <p:nvPicPr>
                <p:cNvPr id="244" name="Picture 169" descr="203"/>
                <p:cNvPicPr>
                  <a:picLocks noChangeAspect="1" noChangeArrowheads="1"/>
                </p:cNvPicPr>
                <p:nvPr/>
              </p:nvPicPr>
              <p:blipFill>
                <a:blip r:embed="rId39" cstate="print"/>
                <a:srcRect l="11806" r="11870"/>
                <a:stretch>
                  <a:fillRect/>
                </a:stretch>
              </p:blipFill>
              <p:spPr bwMode="gray">
                <a:xfrm>
                  <a:off x="421" y="3527"/>
                  <a:ext cx="964" cy="26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pic>
              <p:nvPicPr>
                <p:cNvPr id="245" name="Picture 170" descr="203"/>
                <p:cNvPicPr>
                  <a:picLocks noChangeAspect="1" noChangeArrowheads="1"/>
                </p:cNvPicPr>
                <p:nvPr/>
              </p:nvPicPr>
              <p:blipFill>
                <a:blip r:embed="rId40" cstate="print"/>
                <a:srcRect r="86981"/>
                <a:stretch>
                  <a:fillRect/>
                </a:stretch>
              </p:blipFill>
              <p:spPr bwMode="gray">
                <a:xfrm>
                  <a:off x="209" y="3527"/>
                  <a:ext cx="234" cy="26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</p:grpSp>
          <p:sp>
            <p:nvSpPr>
              <p:cNvPr id="235" name="Text Box 171"/>
              <p:cNvSpPr txBox="1">
                <a:spLocks noChangeArrowheads="1"/>
              </p:cNvSpPr>
              <p:nvPr/>
            </p:nvSpPr>
            <p:spPr bwMode="gray">
              <a:xfrm>
                <a:off x="6695" y="2074"/>
                <a:ext cx="449" cy="26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latinLnBrk="0">
                  <a:lnSpc>
                    <a:spcPct val="90000"/>
                  </a:lnSpc>
                </a:pPr>
                <a:r>
                  <a:rPr lang="en-US" altLang="ko-KR" sz="900">
                    <a:latin typeface="맑은 고딕" pitchFamily="50" charset="-127"/>
                    <a:ea typeface="맑은 고딕" pitchFamily="50" charset="-127"/>
                  </a:rPr>
                  <a:t>Persistent Layer</a:t>
                </a:r>
              </a:p>
            </p:txBody>
          </p:sp>
          <p:sp>
            <p:nvSpPr>
              <p:cNvPr id="236" name="Line 172"/>
              <p:cNvSpPr>
                <a:spLocks noChangeShapeType="1"/>
              </p:cNvSpPr>
              <p:nvPr/>
            </p:nvSpPr>
            <p:spPr bwMode="gray">
              <a:xfrm>
                <a:off x="7415" y="2292"/>
                <a:ext cx="0" cy="317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dash"/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237" name="AutoShape 47"/>
              <p:cNvSpPr>
                <a:spLocks noChangeArrowheads="1"/>
              </p:cNvSpPr>
              <p:nvPr/>
            </p:nvSpPr>
            <p:spPr bwMode="gray">
              <a:xfrm>
                <a:off x="5842" y="2848"/>
                <a:ext cx="2314" cy="219"/>
              </a:xfrm>
              <a:prstGeom prst="roundRect">
                <a:avLst>
                  <a:gd name="adj" fmla="val 5866"/>
                </a:avLst>
              </a:prstGeom>
              <a:noFill/>
              <a:ln w="9525" algn="ctr">
                <a:noFill/>
                <a:round/>
                <a:headEnd/>
                <a:tailEnd/>
              </a:ln>
            </p:spPr>
            <p:txBody>
              <a:bodyPr lIns="91431" tIns="45715" rIns="91431" bIns="45715"/>
              <a:lstStyle/>
              <a:p>
                <a:pPr marL="95250" indent="-95250" algn="l" latinLnBrk="0">
                  <a:lnSpc>
                    <a:spcPct val="90000"/>
                  </a:lnSpc>
                  <a:spcBef>
                    <a:spcPct val="30000"/>
                  </a:spcBef>
                  <a:buFontTx/>
                  <a:buChar char="•"/>
                </a:pPr>
                <a:r>
                  <a:rPr lang="ko-KR" altLang="en-US" sz="800">
                    <a:solidFill>
                      <a:srgbClr val="4D4D4D"/>
                    </a:solidFill>
                    <a:latin typeface="맑은 고딕" pitchFamily="50" charset="-127"/>
                    <a:ea typeface="맑은 고딕" pitchFamily="50" charset="-127"/>
                  </a:rPr>
                  <a:t>실행환경의 각 </a:t>
                </a:r>
                <a:r>
                  <a:rPr lang="en-US" altLang="ko-KR" sz="800">
                    <a:solidFill>
                      <a:srgbClr val="4D4D4D"/>
                    </a:solidFill>
                    <a:latin typeface="맑은 고딕" pitchFamily="50" charset="-127"/>
                    <a:ea typeface="맑은 고딕" pitchFamily="50" charset="-127"/>
                  </a:rPr>
                  <a:t>layer</a:t>
                </a:r>
                <a:r>
                  <a:rPr lang="ko-KR" altLang="en-US" sz="800">
                    <a:solidFill>
                      <a:srgbClr val="4D4D4D"/>
                    </a:solidFill>
                    <a:latin typeface="맑은 고딕" pitchFamily="50" charset="-127"/>
                    <a:ea typeface="맑은 고딕" pitchFamily="50" charset="-127"/>
                  </a:rPr>
                  <a:t>에서 공통적으로 사용하는 공통기능을 제공</a:t>
                </a:r>
              </a:p>
            </p:txBody>
          </p:sp>
          <p:sp>
            <p:nvSpPr>
              <p:cNvPr id="238" name="Line 174"/>
              <p:cNvSpPr>
                <a:spLocks noChangeShapeType="1"/>
              </p:cNvSpPr>
              <p:nvPr/>
            </p:nvSpPr>
            <p:spPr bwMode="gray">
              <a:xfrm>
                <a:off x="6659" y="3128"/>
                <a:ext cx="0" cy="121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dash"/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239" name="Line 175"/>
              <p:cNvSpPr>
                <a:spLocks noChangeShapeType="1"/>
              </p:cNvSpPr>
              <p:nvPr/>
            </p:nvSpPr>
            <p:spPr bwMode="gray">
              <a:xfrm>
                <a:off x="7422" y="3128"/>
                <a:ext cx="0" cy="121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prstDash val="dash"/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240" name="Line 176"/>
              <p:cNvSpPr>
                <a:spLocks noChangeShapeType="1"/>
              </p:cNvSpPr>
              <p:nvPr/>
            </p:nvSpPr>
            <p:spPr bwMode="auto">
              <a:xfrm>
                <a:off x="5865" y="3249"/>
                <a:ext cx="2223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prstDash val="dash"/>
                <a:round/>
                <a:headEnd/>
                <a:tailEnd type="none" w="sm" len="sm"/>
              </a:ln>
            </p:spPr>
            <p:txBody>
              <a:bodyPr/>
              <a:lstStyle/>
              <a:p>
                <a:endParaRPr lang="ko-KR" altLang="en-US"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242" name="AutoShape 47"/>
              <p:cNvSpPr>
                <a:spLocks noChangeArrowheads="1"/>
              </p:cNvSpPr>
              <p:nvPr/>
            </p:nvSpPr>
            <p:spPr bwMode="gray">
              <a:xfrm>
                <a:off x="7444" y="3060"/>
                <a:ext cx="658" cy="226"/>
              </a:xfrm>
              <a:prstGeom prst="roundRect">
                <a:avLst>
                  <a:gd name="adj" fmla="val 5866"/>
                </a:avLst>
              </a:prstGeom>
              <a:noFill/>
              <a:ln w="9525" algn="ctr">
                <a:noFill/>
                <a:round/>
                <a:headEnd/>
                <a:tailEnd/>
              </a:ln>
            </p:spPr>
            <p:txBody>
              <a:bodyPr lIns="91431" tIns="45715" rIns="91431" bIns="45715"/>
              <a:lstStyle/>
              <a:p>
                <a:pPr marL="95250" indent="-95250" algn="l" latinLnBrk="0">
                  <a:lnSpc>
                    <a:spcPct val="90000"/>
                  </a:lnSpc>
                  <a:spcBef>
                    <a:spcPct val="30000"/>
                  </a:spcBef>
                  <a:buFontTx/>
                  <a:buChar char="•"/>
                </a:pPr>
                <a:r>
                  <a:rPr lang="en-US" altLang="ko-KR" sz="800">
                    <a:solidFill>
                      <a:srgbClr val="4D4D4D"/>
                    </a:solidFill>
                    <a:latin typeface="맑은 고딕" pitchFamily="50" charset="-127"/>
                    <a:ea typeface="맑은 고딕" pitchFamily="50" charset="-127"/>
                  </a:rPr>
                  <a:t>Log4J</a:t>
                </a:r>
              </a:p>
              <a:p>
                <a:pPr marL="95250" indent="-95250" algn="l" latinLnBrk="0">
                  <a:lnSpc>
                    <a:spcPct val="90000"/>
                  </a:lnSpc>
                  <a:spcBef>
                    <a:spcPct val="30000"/>
                  </a:spcBef>
                </a:pPr>
                <a:endParaRPr lang="ko-KR" altLang="en-US" sz="800">
                  <a:solidFill>
                    <a:srgbClr val="4D4D4D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</p:grpSp>
      </p:grpSp>
      <p:sp>
        <p:nvSpPr>
          <p:cNvPr id="140" name="슬라이드 번호 개체 틀 5"/>
          <p:cNvSpPr txBox="1">
            <a:spLocks/>
          </p:cNvSpPr>
          <p:nvPr/>
        </p:nvSpPr>
        <p:spPr>
          <a:xfrm>
            <a:off x="3797300" y="6492899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b="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dirty="0" smtClean="0"/>
              <a:t>- 6</a:t>
            </a:r>
            <a:r>
              <a:rPr lang="ko-KR" altLang="en-US" dirty="0" smtClean="0"/>
              <a:t> </a:t>
            </a:r>
            <a:r>
              <a:rPr lang="en-US" altLang="ko-KR" dirty="0" smtClean="0"/>
              <a:t>-</a:t>
            </a:r>
            <a:endParaRPr lang="ko-KR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M2M-JDFW (4)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 smtClean="0"/>
              <a:t>2</a:t>
            </a:r>
            <a:endParaRPr lang="ko-KR" altLang="en-US" dirty="0"/>
          </a:p>
        </p:txBody>
      </p:sp>
      <p:sp>
        <p:nvSpPr>
          <p:cNvPr id="4" name="Rectangle 59"/>
          <p:cNvSpPr>
            <a:spLocks noChangeArrowheads="1"/>
          </p:cNvSpPr>
          <p:nvPr/>
        </p:nvSpPr>
        <p:spPr bwMode="auto">
          <a:xfrm>
            <a:off x="502180" y="1093540"/>
            <a:ext cx="8906228" cy="5217150"/>
          </a:xfrm>
          <a:prstGeom prst="rect">
            <a:avLst/>
          </a:prstGeom>
          <a:noFill/>
          <a:ln w="9525">
            <a:solidFill>
              <a:srgbClr val="3875A2"/>
            </a:solidFill>
            <a:miter lim="800000"/>
            <a:headEnd/>
            <a:tailEnd/>
          </a:ln>
          <a:effectLst>
            <a:prstShdw prst="shdw17" dist="17961" dir="2700000">
              <a:srgbClr val="224661"/>
            </a:prstShdw>
          </a:effectLst>
        </p:spPr>
        <p:txBody>
          <a:bodyPr wrap="none" anchor="ctr"/>
          <a:lstStyle/>
          <a:p>
            <a:endParaRPr lang="ko-KR" altLang="ko-KR" sz="1000" b="1"/>
          </a:p>
        </p:txBody>
      </p:sp>
      <p:sp>
        <p:nvSpPr>
          <p:cNvPr id="5" name="AutoShape 60"/>
          <p:cNvSpPr>
            <a:spLocks noChangeArrowheads="1"/>
          </p:cNvSpPr>
          <p:nvPr/>
        </p:nvSpPr>
        <p:spPr bwMode="auto">
          <a:xfrm flipV="1">
            <a:off x="515938" y="948467"/>
            <a:ext cx="8931451" cy="145073"/>
          </a:xfrm>
          <a:prstGeom prst="cube">
            <a:avLst>
              <a:gd name="adj" fmla="val 3444"/>
            </a:avLst>
          </a:prstGeom>
          <a:solidFill>
            <a:srgbClr val="71A7C5"/>
          </a:solidFill>
          <a:ln w="6350">
            <a:solidFill>
              <a:srgbClr val="384F7C"/>
            </a:solidFill>
            <a:miter lim="800000"/>
            <a:headEnd/>
            <a:tailEnd/>
          </a:ln>
        </p:spPr>
        <p:txBody>
          <a:bodyPr rot="10800000" wrap="none" anchor="ctr"/>
          <a:lstStyle/>
          <a:p>
            <a:endParaRPr lang="ko-KR" altLang="en-US"/>
          </a:p>
        </p:txBody>
      </p:sp>
      <p:grpSp>
        <p:nvGrpSpPr>
          <p:cNvPr id="6" name="Group 61"/>
          <p:cNvGrpSpPr>
            <a:grpSpLocks/>
          </p:cNvGrpSpPr>
          <p:nvPr/>
        </p:nvGrpSpPr>
        <p:grpSpPr bwMode="auto">
          <a:xfrm>
            <a:off x="632884" y="815470"/>
            <a:ext cx="4735160" cy="282451"/>
            <a:chOff x="276" y="3243"/>
            <a:chExt cx="1294" cy="257"/>
          </a:xfrm>
        </p:grpSpPr>
        <p:grpSp>
          <p:nvGrpSpPr>
            <p:cNvPr id="7" name="Group 62"/>
            <p:cNvGrpSpPr>
              <a:grpSpLocks/>
            </p:cNvGrpSpPr>
            <p:nvPr/>
          </p:nvGrpSpPr>
          <p:grpSpPr bwMode="auto">
            <a:xfrm flipV="1">
              <a:off x="276" y="3294"/>
              <a:ext cx="1294" cy="161"/>
              <a:chOff x="2019" y="1759"/>
              <a:chExt cx="2340" cy="499"/>
            </a:xfrm>
          </p:grpSpPr>
          <p:sp>
            <p:nvSpPr>
              <p:cNvPr id="9" name="AutoShape 63"/>
              <p:cNvSpPr>
                <a:spLocks noChangeArrowheads="1"/>
              </p:cNvSpPr>
              <p:nvPr/>
            </p:nvSpPr>
            <p:spPr bwMode="auto">
              <a:xfrm flipV="1">
                <a:off x="2052" y="1759"/>
                <a:ext cx="2268" cy="494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3438 w 21600"/>
                  <a:gd name="T13" fmla="*/ 3454 h 21600"/>
                  <a:gd name="T14" fmla="*/ 18162 w 21600"/>
                  <a:gd name="T15" fmla="*/ 18146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3276" y="21600"/>
                    </a:lnTo>
                    <a:lnTo>
                      <a:pt x="18324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71A7C5"/>
                  </a:gs>
                  <a:gs pos="100000">
                    <a:srgbClr val="BBE0E3"/>
                  </a:gs>
                </a:gsLst>
                <a:lin ang="5400000" scaled="1"/>
              </a:gradFill>
              <a:ln w="6350" algn="ctr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10" name="AutoShape 64"/>
              <p:cNvSpPr>
                <a:spLocks noChangeArrowheads="1"/>
              </p:cNvSpPr>
              <p:nvPr/>
            </p:nvSpPr>
            <p:spPr bwMode="auto">
              <a:xfrm flipV="1">
                <a:off x="2143" y="1811"/>
                <a:ext cx="2075" cy="39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3269 w 21600"/>
                  <a:gd name="T13" fmla="*/ 3256 h 21600"/>
                  <a:gd name="T14" fmla="*/ 18331 w 21600"/>
                  <a:gd name="T15" fmla="*/ 18344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2945" y="21600"/>
                    </a:lnTo>
                    <a:lnTo>
                      <a:pt x="18655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0F9FF"/>
                  </a:gs>
                  <a:gs pos="100000">
                    <a:srgbClr val="CCECFF"/>
                  </a:gs>
                </a:gsLst>
                <a:lin ang="5400000" scaled="1"/>
              </a:gradFill>
              <a:ln w="9525" algn="ctr">
                <a:solidFill>
                  <a:srgbClr val="F8F8F8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11" name="Freeform 65"/>
              <p:cNvSpPr>
                <a:spLocks/>
              </p:cNvSpPr>
              <p:nvPr/>
            </p:nvSpPr>
            <p:spPr bwMode="auto">
              <a:xfrm>
                <a:off x="3958" y="1759"/>
                <a:ext cx="401" cy="499"/>
              </a:xfrm>
              <a:custGeom>
                <a:avLst/>
                <a:gdLst>
                  <a:gd name="T0" fmla="*/ 0 w 545"/>
                  <a:gd name="T1" fmla="*/ 0 h 499"/>
                  <a:gd name="T2" fmla="*/ 2 w 545"/>
                  <a:gd name="T3" fmla="*/ 272 h 499"/>
                  <a:gd name="T4" fmla="*/ 2 w 545"/>
                  <a:gd name="T5" fmla="*/ 499 h 499"/>
                  <a:gd name="T6" fmla="*/ 0 w 545"/>
                  <a:gd name="T7" fmla="*/ 0 h 49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45"/>
                  <a:gd name="T13" fmla="*/ 0 h 499"/>
                  <a:gd name="T14" fmla="*/ 545 w 545"/>
                  <a:gd name="T15" fmla="*/ 499 h 49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45" h="499">
                    <a:moveTo>
                      <a:pt x="0" y="0"/>
                    </a:moveTo>
                    <a:lnTo>
                      <a:pt x="545" y="272"/>
                    </a:lnTo>
                    <a:lnTo>
                      <a:pt x="499" y="499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71A7C5"/>
                  </a:gs>
                  <a:gs pos="100000">
                    <a:srgbClr val="BBE0E3"/>
                  </a:gs>
                </a:gsLst>
                <a:lin ang="5400000" scaled="1"/>
              </a:gradFill>
              <a:ln w="6350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 rot="10800000" wrap="none" anchor="ctr"/>
              <a:lstStyle/>
              <a:p>
                <a:endParaRPr lang="ko-KR" altLang="en-US"/>
              </a:p>
            </p:txBody>
          </p:sp>
          <p:sp>
            <p:nvSpPr>
              <p:cNvPr id="12" name="Freeform 66"/>
              <p:cNvSpPr>
                <a:spLocks/>
              </p:cNvSpPr>
              <p:nvPr/>
            </p:nvSpPr>
            <p:spPr bwMode="auto">
              <a:xfrm flipH="1">
                <a:off x="2019" y="1759"/>
                <a:ext cx="384" cy="499"/>
              </a:xfrm>
              <a:custGeom>
                <a:avLst/>
                <a:gdLst>
                  <a:gd name="T0" fmla="*/ 0 w 545"/>
                  <a:gd name="T1" fmla="*/ 0 h 499"/>
                  <a:gd name="T2" fmla="*/ 1 w 545"/>
                  <a:gd name="T3" fmla="*/ 272 h 499"/>
                  <a:gd name="T4" fmla="*/ 1 w 545"/>
                  <a:gd name="T5" fmla="*/ 499 h 499"/>
                  <a:gd name="T6" fmla="*/ 0 w 545"/>
                  <a:gd name="T7" fmla="*/ 0 h 49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45"/>
                  <a:gd name="T13" fmla="*/ 0 h 499"/>
                  <a:gd name="T14" fmla="*/ 545 w 545"/>
                  <a:gd name="T15" fmla="*/ 499 h 49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45" h="499">
                    <a:moveTo>
                      <a:pt x="0" y="0"/>
                    </a:moveTo>
                    <a:lnTo>
                      <a:pt x="545" y="272"/>
                    </a:lnTo>
                    <a:lnTo>
                      <a:pt x="499" y="499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71A7C5"/>
                  </a:gs>
                  <a:gs pos="100000">
                    <a:srgbClr val="BBE0E3"/>
                  </a:gs>
                </a:gsLst>
                <a:lin ang="5400000" scaled="1"/>
              </a:gradFill>
              <a:ln w="6350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 rot="10800000"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8" name="Text Box 67"/>
            <p:cNvSpPr txBox="1">
              <a:spLocks noChangeArrowheads="1"/>
            </p:cNvSpPr>
            <p:nvPr/>
          </p:nvSpPr>
          <p:spPr bwMode="auto">
            <a:xfrm>
              <a:off x="479" y="3243"/>
              <a:ext cx="1056" cy="2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81253" tIns="40628" rIns="81253" bIns="40628">
              <a:spAutoFit/>
            </a:bodyPr>
            <a:lstStyle/>
            <a:p>
              <a:pPr defTabSz="811213" eaLnBrk="0" latinLnBrk="0" hangingPunct="0"/>
              <a:r>
                <a:rPr kumimoji="0" lang="ko-KR" altLang="en-US" sz="1300" b="1" dirty="0" smtClean="0">
                  <a:latin typeface="맑은 고딕" pitchFamily="50" charset="-127"/>
                  <a:ea typeface="맑은 고딕" pitchFamily="50" charset="-127"/>
                </a:rPr>
                <a:t>개발 표준프레임워크 </a:t>
              </a:r>
              <a:r>
                <a:rPr kumimoji="0" lang="en-US" altLang="en-US" sz="1300" b="1" dirty="0" err="1" smtClean="0">
                  <a:latin typeface="맑은 고딕" pitchFamily="50" charset="-127"/>
                  <a:ea typeface="맑은 고딕" pitchFamily="50" charset="-127"/>
                </a:rPr>
                <a:t>기능적</a:t>
              </a:r>
              <a:r>
                <a:rPr kumimoji="0" lang="en-US" altLang="en-US" sz="1300" b="1" dirty="0" smtClean="0"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kumimoji="0" lang="en-US" altLang="en-US" sz="1300" b="1" dirty="0" err="1">
                  <a:latin typeface="맑은 고딕" pitchFamily="50" charset="-127"/>
                  <a:ea typeface="맑은 고딕" pitchFamily="50" charset="-127"/>
                </a:rPr>
                <a:t>특징</a:t>
              </a:r>
              <a:endParaRPr kumimoji="0" lang="ko-KR" altLang="en-US" sz="1300" b="1" dirty="0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aphicFrame>
        <p:nvGraphicFramePr>
          <p:cNvPr id="13" name="Group 29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4636143"/>
              </p:ext>
            </p:extLst>
          </p:nvPr>
        </p:nvGraphicFramePr>
        <p:xfrm>
          <a:off x="593902" y="1142997"/>
          <a:ext cx="8683801" cy="5023568"/>
        </p:xfrm>
        <a:graphic>
          <a:graphicData uri="http://schemas.openxmlformats.org/drawingml/2006/table">
            <a:tbl>
              <a:tblPr/>
              <a:tblGrid>
                <a:gridCol w="2781476"/>
                <a:gridCol w="5902325"/>
              </a:tblGrid>
              <a:tr h="19782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구분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E0023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기능적 특징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</a:tr>
              <a:tr h="516538"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E0023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오픈아키텍쳐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기반의</a:t>
                      </a:r>
                    </a:p>
                    <a:p>
                      <a:pPr marL="0" marR="0" lvl="0" indent="0" algn="ctr" defTabSz="914400" rtl="0" eaLnBrk="0" fontAlgn="ctr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E0023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표준화된 개발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0" fontAlgn="ctr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E0023"/>
                        </a:buClr>
                        <a:buSzTx/>
                        <a:buFontTx/>
                        <a:buChar char="•"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Open Architecture(</a:t>
                      </a:r>
                      <a:r>
                        <a:rPr kumimoji="1" lang="en-US" altLang="ko-KR" sz="9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Webwork</a:t>
                      </a: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Velocity)</a:t>
                      </a:r>
                      <a:r>
                        <a:rPr kumimoji="1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기반의 </a:t>
                      </a: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Java</a:t>
                      </a:r>
                      <a:r>
                        <a:rPr kumimoji="1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개발 </a:t>
                      </a: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Framework </a:t>
                      </a:r>
                      <a:r>
                        <a:rPr kumimoji="1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제공으로 폐쇄성을 극복하는 효율적 </a:t>
                      </a: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Framework</a:t>
                      </a:r>
                    </a:p>
                    <a:p>
                      <a:pPr marL="85725" marR="0" lvl="0" indent="-85725" algn="l" defTabSz="914400" rtl="0" eaLnBrk="0" fontAlgn="ctr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E0023"/>
                        </a:buClr>
                        <a:buSzTx/>
                        <a:buFontTx/>
                        <a:buChar char="•"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MVC</a:t>
                      </a:r>
                      <a:r>
                        <a:rPr kumimoji="1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구조의 표준화된 개발절차 제공 및 개발컴포넌트 제공</a:t>
                      </a:r>
                      <a:br>
                        <a:rPr kumimoji="1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</a:br>
                      <a:r>
                        <a:rPr kumimoji="1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(Presentation</a:t>
                      </a:r>
                      <a:r>
                        <a:rPr kumimoji="1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단계</a:t>
                      </a: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Application</a:t>
                      </a:r>
                      <a:r>
                        <a:rPr kumimoji="1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단계</a:t>
                      </a: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Business</a:t>
                      </a:r>
                      <a:r>
                        <a:rPr kumimoji="1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단계</a:t>
                      </a: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Data </a:t>
                      </a:r>
                      <a:r>
                        <a:rPr kumimoji="1" lang="en-US" altLang="ko-KR" sz="9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Acess</a:t>
                      </a:r>
                      <a:r>
                        <a:rPr kumimoji="1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단계</a:t>
                      </a: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23560"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E0023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다양하고 표준화된</a:t>
                      </a:r>
                    </a:p>
                    <a:p>
                      <a:pPr marL="0" marR="0" lvl="0" indent="0" algn="ctr" defTabSz="914400" rtl="0" eaLnBrk="0" fontAlgn="ctr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E0023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개발패턴 제공　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0" fontAlgn="ctr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E0023"/>
                        </a:buClr>
                        <a:buSzTx/>
                        <a:buFontTx/>
                        <a:buChar char="•"/>
                        <a:tabLst/>
                      </a:pPr>
                      <a:r>
                        <a:rPr kumimoji="1" lang="en-US" altLang="ko-KR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M2M-JDFW</a:t>
                      </a:r>
                      <a:r>
                        <a:rPr kumimoji="1" lang="ko-KR" altLang="en-US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패턴</a:t>
                      </a:r>
                      <a:r>
                        <a:rPr kumimoji="1" lang="en-US" altLang="ko-KR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 : View</a:t>
                      </a:r>
                      <a:r>
                        <a:rPr kumimoji="1" lang="ko-KR" altLang="en-US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와 </a:t>
                      </a:r>
                      <a:r>
                        <a:rPr kumimoji="1" lang="en-US" altLang="ko-KR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SQL</a:t>
                      </a:r>
                      <a:r>
                        <a:rPr kumimoji="1" lang="ko-KR" altLang="en-US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만으로 간단히 프로그램 구현</a:t>
                      </a:r>
                      <a:r>
                        <a:rPr kumimoji="1" lang="en-US" altLang="ko-KR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(XQL</a:t>
                      </a:r>
                      <a:r>
                        <a:rPr kumimoji="1" lang="ko-KR" altLang="en-US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지원</a:t>
                      </a:r>
                      <a:r>
                        <a:rPr kumimoji="1" lang="en-US" altLang="ko-KR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</a:p>
                    <a:p>
                      <a:pPr marL="85725" marR="0" lvl="0" indent="-85725" algn="l" defTabSz="914400" rtl="0" eaLnBrk="0" fontAlgn="ctr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E0023"/>
                        </a:buClr>
                        <a:buSzTx/>
                        <a:buFontTx/>
                        <a:buChar char="•"/>
                        <a:tabLst/>
                      </a:pPr>
                      <a:r>
                        <a:rPr kumimoji="1" lang="en-US" altLang="ko-KR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M2M-JDFW</a:t>
                      </a:r>
                      <a:r>
                        <a:rPr kumimoji="1" lang="ko-KR" altLang="en-US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패턴</a:t>
                      </a:r>
                      <a:r>
                        <a:rPr kumimoji="1" lang="en-US" altLang="ko-KR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 : View</a:t>
                      </a:r>
                      <a:r>
                        <a:rPr kumimoji="1" lang="ko-KR" altLang="en-US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와 </a:t>
                      </a:r>
                      <a:r>
                        <a:rPr kumimoji="1" lang="en-US" altLang="ko-KR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Grid</a:t>
                      </a:r>
                      <a:r>
                        <a:rPr kumimoji="1" lang="ko-KR" altLang="en-US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로 구성된 프로그램 패턴</a:t>
                      </a:r>
                    </a:p>
                    <a:p>
                      <a:pPr marL="85725" marR="0" lvl="0" indent="-85725" algn="l" defTabSz="914400" rtl="0" eaLnBrk="0" fontAlgn="ctr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E0023"/>
                        </a:buClr>
                        <a:buSzTx/>
                        <a:buFontTx/>
                        <a:buChar char="•"/>
                        <a:tabLst/>
                      </a:pPr>
                      <a:r>
                        <a:rPr kumimoji="1" lang="en-US" altLang="ko-KR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M2M-JDFW</a:t>
                      </a:r>
                      <a:r>
                        <a:rPr kumimoji="1" lang="ko-KR" altLang="en-US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패턴</a:t>
                      </a:r>
                      <a:r>
                        <a:rPr kumimoji="1" lang="en-US" altLang="ko-KR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 : View</a:t>
                      </a:r>
                      <a:r>
                        <a:rPr kumimoji="1" lang="ko-KR" altLang="en-US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와 </a:t>
                      </a:r>
                      <a:r>
                        <a:rPr kumimoji="1" lang="en-US" altLang="ko-KR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Beans</a:t>
                      </a:r>
                      <a:r>
                        <a:rPr kumimoji="1" lang="ko-KR" altLang="en-US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로 구성된 프로그램 패턴</a:t>
                      </a:r>
                    </a:p>
                    <a:p>
                      <a:pPr marL="85725" marR="0" lvl="0" indent="-85725" algn="l" defTabSz="914400" rtl="0" eaLnBrk="0" fontAlgn="ctr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E0023"/>
                        </a:buClr>
                        <a:buSzTx/>
                        <a:buFontTx/>
                        <a:buChar char="•"/>
                        <a:tabLst/>
                      </a:pPr>
                      <a:r>
                        <a:rPr kumimoji="1" lang="en-US" altLang="ko-KR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M2M-JDFW</a:t>
                      </a:r>
                      <a:r>
                        <a:rPr kumimoji="1" lang="ko-KR" altLang="en-US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패턴</a:t>
                      </a:r>
                      <a:r>
                        <a:rPr kumimoji="1" lang="en-US" altLang="ko-KR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 : View, Application, Business, DAO</a:t>
                      </a:r>
                      <a:r>
                        <a:rPr kumimoji="1" lang="ko-KR" altLang="en-US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를 지원하는 프로그램 패턴</a:t>
                      </a:r>
                    </a:p>
                    <a:p>
                      <a:pPr marL="85725" marR="0" lvl="0" indent="-85725" algn="l" defTabSz="914400" rtl="0" eaLnBrk="0" fontAlgn="ctr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E0023"/>
                        </a:buClr>
                        <a:buSzTx/>
                        <a:buFontTx/>
                        <a:buChar char="•"/>
                        <a:tabLst/>
                      </a:pPr>
                      <a:r>
                        <a:rPr kumimoji="1" lang="en-US" altLang="ko-KR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M2M-JDFW</a:t>
                      </a:r>
                      <a:r>
                        <a:rPr kumimoji="1" lang="ko-KR" altLang="en-US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패턴</a:t>
                      </a:r>
                      <a:r>
                        <a:rPr kumimoji="1" lang="en-US" altLang="ko-KR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 : SOAP </a:t>
                      </a:r>
                      <a:r>
                        <a:rPr kumimoji="1" lang="ko-KR" altLang="en-US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기반의 웹서비스 지원 개발 패턴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5924"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E0023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　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Presentation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의 생산성을 높이는 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Velocity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기반의 컴포넌트 제공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0" fontAlgn="ctr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E0023"/>
                        </a:buClr>
                        <a:buSzTx/>
                        <a:buFontTx/>
                        <a:buChar char="•"/>
                        <a:tabLst/>
                      </a:pPr>
                      <a:r>
                        <a:rPr kumimoji="1" lang="en-US" altLang="ko-KR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Apache</a:t>
                      </a:r>
                      <a:r>
                        <a:rPr kumimoji="1" lang="ko-KR" altLang="en-US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그룹의 </a:t>
                      </a:r>
                      <a:r>
                        <a:rPr kumimoji="1" lang="en-US" altLang="ko-KR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Jakarta</a:t>
                      </a:r>
                      <a:r>
                        <a:rPr kumimoji="1" lang="ko-KR" altLang="en-US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프로젝트인 </a:t>
                      </a:r>
                      <a:r>
                        <a:rPr kumimoji="1" lang="en-US" altLang="ko-KR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Velocity</a:t>
                      </a:r>
                      <a:r>
                        <a:rPr kumimoji="1" lang="ko-KR" altLang="en-US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를 적용한 </a:t>
                      </a:r>
                      <a:r>
                        <a:rPr kumimoji="1" lang="en-US" altLang="ko-KR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Presentation</a:t>
                      </a:r>
                      <a:r>
                        <a:rPr kumimoji="1" lang="ko-KR" altLang="en-US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적용</a:t>
                      </a:r>
                    </a:p>
                    <a:p>
                      <a:pPr marL="85725" marR="0" lvl="0" indent="-85725" algn="l" defTabSz="914400" rtl="0" eaLnBrk="0" fontAlgn="ctr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E0023"/>
                        </a:buClr>
                        <a:buSzTx/>
                        <a:buFontTx/>
                        <a:buChar char="•"/>
                        <a:tabLst/>
                      </a:pPr>
                      <a:r>
                        <a:rPr kumimoji="1" lang="en-US" altLang="ko-KR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Velocity</a:t>
                      </a:r>
                      <a:r>
                        <a:rPr kumimoji="1" lang="ko-KR" altLang="en-US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의 적용으로 </a:t>
                      </a:r>
                      <a:r>
                        <a:rPr kumimoji="1" lang="en-US" altLang="ko-KR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MVC</a:t>
                      </a:r>
                      <a:r>
                        <a:rPr kumimoji="1" lang="ko-KR" altLang="en-US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모델의 패턴을 쉽고 용이하게 구현</a:t>
                      </a:r>
                    </a:p>
                    <a:p>
                      <a:pPr marL="85725" marR="0" lvl="0" indent="-85725" algn="l" defTabSz="914400" rtl="0" eaLnBrk="0" fontAlgn="ctr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E0023"/>
                        </a:buClr>
                        <a:buSzTx/>
                        <a:buFontTx/>
                        <a:buChar char="•"/>
                        <a:tabLst/>
                      </a:pPr>
                      <a:r>
                        <a:rPr kumimoji="1" lang="en-US" altLang="ko-KR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CS</a:t>
                      </a:r>
                      <a:r>
                        <a:rPr kumimoji="1" lang="ko-KR" altLang="en-US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형태처럼 한 화면에서 리스트와 상세내역을 동시에 보여주는 화면패턴의 지원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1786"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E0023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　개발 생산성 높이는 </a:t>
                      </a:r>
                    </a:p>
                    <a:p>
                      <a:pPr marL="0" marR="0" lvl="0" indent="0" algn="ctr" defTabSz="914400" rtl="0" eaLnBrk="0" fontAlgn="ctr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E0023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X-Internet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개념의 </a:t>
                      </a:r>
                    </a:p>
                    <a:p>
                      <a:pPr marL="0" marR="0" lvl="0" indent="0" algn="ctr" defTabSz="914400" rtl="0" eaLnBrk="0" fontAlgn="ctr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E0023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Grid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제공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0" fontAlgn="ctr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E0023"/>
                        </a:buClr>
                        <a:buSzTx/>
                        <a:buFontTx/>
                        <a:buChar char="•"/>
                        <a:tabLst/>
                      </a:pPr>
                      <a:r>
                        <a:rPr kumimoji="1" lang="en-US" altLang="ko-KR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Java swing</a:t>
                      </a:r>
                      <a:r>
                        <a:rPr kumimoji="1" lang="ko-KR" altLang="en-US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기반의 </a:t>
                      </a:r>
                      <a:r>
                        <a:rPr kumimoji="1" lang="en-US" altLang="ko-KR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Jtable</a:t>
                      </a:r>
                      <a:r>
                        <a:rPr kumimoji="1" lang="ko-KR" altLang="en-US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을 활용한 </a:t>
                      </a:r>
                      <a:r>
                        <a:rPr kumimoji="1" lang="en-US" altLang="ko-KR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M2M-Grid</a:t>
                      </a:r>
                      <a:r>
                        <a:rPr kumimoji="1" lang="ko-KR" altLang="en-US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의 제공</a:t>
                      </a:r>
                    </a:p>
                    <a:p>
                      <a:pPr marL="85725" marR="0" lvl="0" indent="-85725" algn="l" defTabSz="914400" rtl="0" eaLnBrk="0" fontAlgn="ctr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E0023"/>
                        </a:buClr>
                        <a:buSzTx/>
                        <a:buFontTx/>
                        <a:buChar char="•"/>
                        <a:tabLst/>
                      </a:pPr>
                      <a:r>
                        <a:rPr kumimoji="1" lang="ko-KR" altLang="en-US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사용자에게는 엑셀과 같은 셀이동기능</a:t>
                      </a:r>
                      <a:r>
                        <a:rPr kumimoji="1" lang="en-US" altLang="ko-KR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소트기능</a:t>
                      </a:r>
                      <a:r>
                        <a:rPr kumimoji="1" lang="en-US" altLang="ko-KR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셀확장기능 등을 제공하여 사용만족도 향상 </a:t>
                      </a:r>
                    </a:p>
                    <a:p>
                      <a:pPr marL="85725" marR="0" lvl="0" indent="-85725" algn="l" defTabSz="914400" rtl="0" eaLnBrk="0" fontAlgn="ctr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E0023"/>
                        </a:buClr>
                        <a:buSzTx/>
                        <a:buFontTx/>
                        <a:buChar char="•"/>
                        <a:tabLst/>
                      </a:pPr>
                      <a:r>
                        <a:rPr kumimoji="1" lang="ko-KR" altLang="en-US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개발자에게는 웹기반 소프트웨어의 데이터 표현 제약성을 극복 및 용이한 개발환경 제공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97098"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E0023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ASP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기반의 서비스 </a:t>
                      </a:r>
                    </a:p>
                    <a:p>
                      <a:pPr marL="0" marR="0" lvl="0" indent="0" algn="ctr" defTabSz="914400" rtl="0" eaLnBrk="0" fontAlgn="ctr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E0023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컴포넌트 제공　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0" fontAlgn="ctr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E0023"/>
                        </a:buClr>
                        <a:buSzTx/>
                        <a:buFontTx/>
                        <a:buChar char="•"/>
                        <a:tabLst/>
                      </a:pPr>
                      <a:r>
                        <a:rPr kumimoji="1" lang="en-US" altLang="ko-KR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프로그램 컴포넌트로서 개발된 프로그램(조회/수정/삭제)을 등록 및 관리</a:t>
                      </a:r>
                    </a:p>
                    <a:p>
                      <a:pPr marL="85725" marR="0" lvl="0" indent="-85725" algn="l" defTabSz="914400" rtl="0" eaLnBrk="0" fontAlgn="ctr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E0023"/>
                        </a:buClr>
                        <a:buSzTx/>
                        <a:buFontTx/>
                        <a:buChar char="•"/>
                        <a:tabLst/>
                      </a:pPr>
                      <a:r>
                        <a:rPr kumimoji="1" lang="en-US" altLang="ko-KR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서비스타입(업무별 분류-기본정보관리/정산관리/시스템관리 등)별로 기능을 구성하여 관리</a:t>
                      </a:r>
                    </a:p>
                    <a:p>
                      <a:pPr marL="85725" marR="0" lvl="0" indent="-85725" algn="l" defTabSz="914400" rtl="0" eaLnBrk="0" fontAlgn="ctr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E0023"/>
                        </a:buClr>
                        <a:buSzTx/>
                        <a:buFontTx/>
                        <a:buChar char="•"/>
                        <a:tabLst/>
                      </a:pPr>
                      <a:r>
                        <a:rPr kumimoji="1" lang="en-US" altLang="ko-KR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서비스 신청회사에게 기 서비스 타입을 부여하여 시스템 이용</a:t>
                      </a:r>
                    </a:p>
                    <a:p>
                      <a:pPr marL="85725" marR="0" lvl="0" indent="-85725" algn="l" defTabSz="914400" rtl="0" eaLnBrk="0" fontAlgn="ctr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E0023"/>
                        </a:buClr>
                        <a:buSzTx/>
                        <a:buFontTx/>
                        <a:buChar char="•"/>
                        <a:tabLst/>
                      </a:pPr>
                      <a:r>
                        <a:rPr kumimoji="1" lang="en-US" altLang="ko-KR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각 서비스 마스터 관리자별 시스템의 사용자별로 권한 관리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3132"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E0023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　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Web2.0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을 포함하는 </a:t>
                      </a:r>
                    </a:p>
                    <a:p>
                      <a:pPr marL="0" marR="0" lvl="0" indent="0" algn="ctr" defTabSz="914400" rtl="0" eaLnBrk="0" fontAlgn="ctr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E0023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다양한 컴포넌트 제공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0" fontAlgn="ctr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E0023"/>
                        </a:buClr>
                        <a:buSzTx/>
                        <a:buFontTx/>
                        <a:buChar char="•"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Ajax </a:t>
                      </a:r>
                      <a:r>
                        <a:rPr kumimoji="1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컴포넌트 지원</a:t>
                      </a:r>
                    </a:p>
                    <a:p>
                      <a:pPr marL="85725" marR="0" lvl="0" indent="-85725" algn="l" defTabSz="914400" rtl="0" eaLnBrk="0" fontAlgn="ctr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E0023"/>
                        </a:buClr>
                        <a:buSzTx/>
                        <a:buFontTx/>
                        <a:buChar char="•"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RSS </a:t>
                      </a:r>
                      <a:r>
                        <a:rPr kumimoji="1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컴포넌트 지원</a:t>
                      </a:r>
                    </a:p>
                    <a:p>
                      <a:pPr marL="85725" marR="0" lvl="0" indent="-85725" algn="l" defTabSz="914400" rtl="0" eaLnBrk="0" fontAlgn="ctr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E0023"/>
                        </a:buClr>
                        <a:buSzTx/>
                        <a:buFontTx/>
                        <a:buChar char="•"/>
                        <a:tabLst/>
                      </a:pPr>
                      <a:r>
                        <a:rPr kumimoji="1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향상된 기능의 </a:t>
                      </a: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Excel </a:t>
                      </a:r>
                      <a:r>
                        <a:rPr kumimoji="1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컴포넌트 지원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69742"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E0023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개발 및 운영이 용이한 </a:t>
                      </a:r>
                    </a:p>
                    <a:p>
                      <a:pPr marL="0" marR="0" lvl="0" indent="0" algn="ctr" defTabSz="914400" rtl="0" eaLnBrk="0" fontAlgn="ctr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E0023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환경 제공　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0" fontAlgn="ctr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E0023"/>
                        </a:buClr>
                        <a:buSzTx/>
                        <a:buFontTx/>
                        <a:buChar char="•"/>
                        <a:tabLst/>
                      </a:pPr>
                      <a:r>
                        <a:rPr kumimoji="1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다양한 </a:t>
                      </a: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OS </a:t>
                      </a:r>
                      <a:r>
                        <a:rPr kumimoji="1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및 </a:t>
                      </a: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DB</a:t>
                      </a:r>
                      <a:r>
                        <a:rPr kumimoji="1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적용</a:t>
                      </a:r>
                    </a:p>
                    <a:p>
                      <a:pPr marL="85725" marR="0" lvl="0" indent="-85725" algn="l" defTabSz="914400" rtl="0" eaLnBrk="0" fontAlgn="ctr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E0023"/>
                        </a:buClr>
                        <a:buSzTx/>
                        <a:buFontTx/>
                        <a:buChar char="•"/>
                        <a:tabLst/>
                      </a:pPr>
                      <a:r>
                        <a:rPr kumimoji="1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개발의 다양한 </a:t>
                      </a:r>
                      <a:r>
                        <a:rPr kumimoji="1" lang="ko-KR" altLang="en-US" sz="9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통합개발툴</a:t>
                      </a: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(eclipse</a:t>
                      </a:r>
                      <a:r>
                        <a:rPr kumimoji="1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등</a:t>
                      </a: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 </a:t>
                      </a:r>
                      <a:r>
                        <a:rPr kumimoji="1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의 적용 가능</a:t>
                      </a:r>
                    </a:p>
                    <a:p>
                      <a:pPr marL="85725" marR="0" lvl="0" indent="-85725" algn="l" defTabSz="914400" rtl="0" eaLnBrk="0" fontAlgn="ctr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E0023"/>
                        </a:buClr>
                        <a:buSzTx/>
                        <a:buFontTx/>
                        <a:buChar char="•"/>
                        <a:tabLst/>
                      </a:pPr>
                      <a:r>
                        <a:rPr kumimoji="1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공동작업 및 </a:t>
                      </a: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Version</a:t>
                      </a:r>
                      <a:r>
                        <a:rPr kumimoji="1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관리용 툴</a:t>
                      </a: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(VSS, CSV, SVN </a:t>
                      </a:r>
                      <a:r>
                        <a:rPr kumimoji="1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등</a:t>
                      </a: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r>
                        <a:rPr kumimoji="1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의 용이한 적용</a:t>
                      </a:r>
                    </a:p>
                    <a:p>
                      <a:pPr marL="85725" marR="0" lvl="0" indent="-85725" algn="l" defTabSz="914400" rtl="0" eaLnBrk="0" fontAlgn="ctr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E0023"/>
                        </a:buClr>
                        <a:buSzTx/>
                        <a:buFontTx/>
                        <a:buChar char="•"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Log4j</a:t>
                      </a:r>
                      <a:r>
                        <a:rPr kumimoji="1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등의 다양한 개발 및 운영 로그 제공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4" name="슬라이드 번호 개체 틀 5"/>
          <p:cNvSpPr txBox="1">
            <a:spLocks/>
          </p:cNvSpPr>
          <p:nvPr/>
        </p:nvSpPr>
        <p:spPr>
          <a:xfrm>
            <a:off x="3797300" y="6492899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b="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dirty="0" smtClean="0"/>
              <a:t>- 7</a:t>
            </a:r>
            <a:r>
              <a:rPr lang="ko-KR" altLang="en-US" dirty="0" smtClean="0"/>
              <a:t> </a:t>
            </a:r>
            <a:r>
              <a:rPr lang="en-US" altLang="ko-KR" dirty="0" smtClean="0"/>
              <a:t>-</a:t>
            </a:r>
            <a:endParaRPr lang="ko-KR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M2M-JDFW (5)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 smtClean="0"/>
              <a:t>2</a:t>
            </a:r>
            <a:endParaRPr lang="ko-KR" altLang="en-US" dirty="0"/>
          </a:p>
        </p:txBody>
      </p:sp>
      <p:sp>
        <p:nvSpPr>
          <p:cNvPr id="4" name="Rectangle 59"/>
          <p:cNvSpPr>
            <a:spLocks noChangeArrowheads="1"/>
          </p:cNvSpPr>
          <p:nvPr/>
        </p:nvSpPr>
        <p:spPr bwMode="auto">
          <a:xfrm>
            <a:off x="502180" y="1805148"/>
            <a:ext cx="8906228" cy="4513510"/>
          </a:xfrm>
          <a:prstGeom prst="rect">
            <a:avLst/>
          </a:prstGeom>
          <a:noFill/>
          <a:ln w="9525">
            <a:solidFill>
              <a:srgbClr val="3875A2"/>
            </a:solidFill>
            <a:miter lim="800000"/>
            <a:headEnd/>
            <a:tailEnd/>
          </a:ln>
          <a:effectLst>
            <a:prstShdw prst="shdw17" dist="17961" dir="2700000">
              <a:srgbClr val="224661"/>
            </a:prstShdw>
          </a:effectLst>
        </p:spPr>
        <p:txBody>
          <a:bodyPr wrap="none" anchor="ctr"/>
          <a:lstStyle/>
          <a:p>
            <a:endParaRPr lang="ko-KR" altLang="ko-KR" sz="1000" b="1"/>
          </a:p>
        </p:txBody>
      </p:sp>
      <p:sp>
        <p:nvSpPr>
          <p:cNvPr id="5" name="AutoShape 60"/>
          <p:cNvSpPr>
            <a:spLocks noChangeArrowheads="1"/>
          </p:cNvSpPr>
          <p:nvPr/>
        </p:nvSpPr>
        <p:spPr bwMode="auto">
          <a:xfrm flipV="1">
            <a:off x="515938" y="1723819"/>
            <a:ext cx="8931451" cy="145073"/>
          </a:xfrm>
          <a:prstGeom prst="cube">
            <a:avLst>
              <a:gd name="adj" fmla="val 3444"/>
            </a:avLst>
          </a:prstGeom>
          <a:solidFill>
            <a:srgbClr val="71A7C5"/>
          </a:solidFill>
          <a:ln w="6350">
            <a:solidFill>
              <a:srgbClr val="384F7C"/>
            </a:solidFill>
            <a:miter lim="800000"/>
            <a:headEnd/>
            <a:tailEnd/>
          </a:ln>
        </p:spPr>
        <p:txBody>
          <a:bodyPr rot="10800000" wrap="none" anchor="ctr"/>
          <a:lstStyle/>
          <a:p>
            <a:endParaRPr lang="ko-KR" altLang="en-US"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6" name="Group 61"/>
          <p:cNvGrpSpPr>
            <a:grpSpLocks/>
          </p:cNvGrpSpPr>
          <p:nvPr/>
        </p:nvGrpSpPr>
        <p:grpSpPr bwMode="auto">
          <a:xfrm>
            <a:off x="632883" y="1588643"/>
            <a:ext cx="4008261" cy="282452"/>
            <a:chOff x="276" y="3241"/>
            <a:chExt cx="1294" cy="257"/>
          </a:xfrm>
        </p:grpSpPr>
        <p:grpSp>
          <p:nvGrpSpPr>
            <p:cNvPr id="7" name="Group 62"/>
            <p:cNvGrpSpPr>
              <a:grpSpLocks/>
            </p:cNvGrpSpPr>
            <p:nvPr/>
          </p:nvGrpSpPr>
          <p:grpSpPr bwMode="auto">
            <a:xfrm flipV="1">
              <a:off x="276" y="3294"/>
              <a:ext cx="1294" cy="161"/>
              <a:chOff x="2019" y="1759"/>
              <a:chExt cx="2340" cy="499"/>
            </a:xfrm>
          </p:grpSpPr>
          <p:sp>
            <p:nvSpPr>
              <p:cNvPr id="9" name="AutoShape 63"/>
              <p:cNvSpPr>
                <a:spLocks noChangeArrowheads="1"/>
              </p:cNvSpPr>
              <p:nvPr/>
            </p:nvSpPr>
            <p:spPr bwMode="auto">
              <a:xfrm flipV="1">
                <a:off x="2052" y="1759"/>
                <a:ext cx="2268" cy="494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3438 w 21600"/>
                  <a:gd name="T13" fmla="*/ 3454 h 21600"/>
                  <a:gd name="T14" fmla="*/ 18162 w 21600"/>
                  <a:gd name="T15" fmla="*/ 18146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3276" y="21600"/>
                    </a:lnTo>
                    <a:lnTo>
                      <a:pt x="18324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71A7C5"/>
                  </a:gs>
                  <a:gs pos="100000">
                    <a:srgbClr val="BBE0E3"/>
                  </a:gs>
                </a:gsLst>
                <a:lin ang="5400000" scaled="1"/>
              </a:gradFill>
              <a:ln w="6350" algn="ctr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10" name="AutoShape 64"/>
              <p:cNvSpPr>
                <a:spLocks noChangeArrowheads="1"/>
              </p:cNvSpPr>
              <p:nvPr/>
            </p:nvSpPr>
            <p:spPr bwMode="auto">
              <a:xfrm flipV="1">
                <a:off x="2143" y="1811"/>
                <a:ext cx="2075" cy="39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3269 w 21600"/>
                  <a:gd name="T13" fmla="*/ 3256 h 21600"/>
                  <a:gd name="T14" fmla="*/ 18331 w 21600"/>
                  <a:gd name="T15" fmla="*/ 18344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2945" y="21600"/>
                    </a:lnTo>
                    <a:lnTo>
                      <a:pt x="18655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0F9FF"/>
                  </a:gs>
                  <a:gs pos="100000">
                    <a:srgbClr val="CCECFF"/>
                  </a:gs>
                </a:gsLst>
                <a:lin ang="5400000" scaled="1"/>
              </a:gradFill>
              <a:ln w="9525" algn="ctr">
                <a:solidFill>
                  <a:srgbClr val="F8F8F8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11" name="Freeform 65"/>
              <p:cNvSpPr>
                <a:spLocks/>
              </p:cNvSpPr>
              <p:nvPr/>
            </p:nvSpPr>
            <p:spPr bwMode="auto">
              <a:xfrm>
                <a:off x="3958" y="1759"/>
                <a:ext cx="401" cy="499"/>
              </a:xfrm>
              <a:custGeom>
                <a:avLst/>
                <a:gdLst>
                  <a:gd name="T0" fmla="*/ 0 w 545"/>
                  <a:gd name="T1" fmla="*/ 0 h 499"/>
                  <a:gd name="T2" fmla="*/ 2 w 545"/>
                  <a:gd name="T3" fmla="*/ 272 h 499"/>
                  <a:gd name="T4" fmla="*/ 2 w 545"/>
                  <a:gd name="T5" fmla="*/ 499 h 499"/>
                  <a:gd name="T6" fmla="*/ 0 w 545"/>
                  <a:gd name="T7" fmla="*/ 0 h 49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45"/>
                  <a:gd name="T13" fmla="*/ 0 h 499"/>
                  <a:gd name="T14" fmla="*/ 545 w 545"/>
                  <a:gd name="T15" fmla="*/ 499 h 49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45" h="499">
                    <a:moveTo>
                      <a:pt x="0" y="0"/>
                    </a:moveTo>
                    <a:lnTo>
                      <a:pt x="545" y="272"/>
                    </a:lnTo>
                    <a:lnTo>
                      <a:pt x="499" y="499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71A7C5"/>
                  </a:gs>
                  <a:gs pos="100000">
                    <a:srgbClr val="BBE0E3"/>
                  </a:gs>
                </a:gsLst>
                <a:lin ang="5400000" scaled="1"/>
              </a:gradFill>
              <a:ln w="6350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 rot="10800000" wrap="none" anchor="ctr"/>
              <a:lstStyle/>
              <a:p>
                <a:endParaRPr lang="ko-KR" altLang="en-US"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12" name="Freeform 66"/>
              <p:cNvSpPr>
                <a:spLocks/>
              </p:cNvSpPr>
              <p:nvPr/>
            </p:nvSpPr>
            <p:spPr bwMode="auto">
              <a:xfrm flipH="1">
                <a:off x="2019" y="1759"/>
                <a:ext cx="384" cy="499"/>
              </a:xfrm>
              <a:custGeom>
                <a:avLst/>
                <a:gdLst>
                  <a:gd name="T0" fmla="*/ 0 w 545"/>
                  <a:gd name="T1" fmla="*/ 0 h 499"/>
                  <a:gd name="T2" fmla="*/ 1 w 545"/>
                  <a:gd name="T3" fmla="*/ 272 h 499"/>
                  <a:gd name="T4" fmla="*/ 1 w 545"/>
                  <a:gd name="T5" fmla="*/ 499 h 499"/>
                  <a:gd name="T6" fmla="*/ 0 w 545"/>
                  <a:gd name="T7" fmla="*/ 0 h 49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45"/>
                  <a:gd name="T13" fmla="*/ 0 h 499"/>
                  <a:gd name="T14" fmla="*/ 545 w 545"/>
                  <a:gd name="T15" fmla="*/ 499 h 49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45" h="499">
                    <a:moveTo>
                      <a:pt x="0" y="0"/>
                    </a:moveTo>
                    <a:lnTo>
                      <a:pt x="545" y="272"/>
                    </a:lnTo>
                    <a:lnTo>
                      <a:pt x="499" y="499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71A7C5"/>
                  </a:gs>
                  <a:gs pos="100000">
                    <a:srgbClr val="BBE0E3"/>
                  </a:gs>
                </a:gsLst>
                <a:lin ang="5400000" scaled="1"/>
              </a:gradFill>
              <a:ln w="6350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 rot="10800000" wrap="none" anchor="ctr"/>
              <a:lstStyle/>
              <a:p>
                <a:endParaRPr lang="ko-KR" altLang="en-US">
                  <a:latin typeface="맑은 고딕" pitchFamily="50" charset="-127"/>
                  <a:ea typeface="맑은 고딕" pitchFamily="50" charset="-127"/>
                </a:endParaRPr>
              </a:p>
            </p:txBody>
          </p:sp>
        </p:grpSp>
        <p:sp>
          <p:nvSpPr>
            <p:cNvPr id="8" name="Text Box 67"/>
            <p:cNvSpPr txBox="1">
              <a:spLocks noChangeArrowheads="1"/>
            </p:cNvSpPr>
            <p:nvPr/>
          </p:nvSpPr>
          <p:spPr bwMode="auto">
            <a:xfrm>
              <a:off x="475" y="3241"/>
              <a:ext cx="1056" cy="2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81253" tIns="40628" rIns="81253" bIns="40628">
              <a:spAutoFit/>
            </a:bodyPr>
            <a:lstStyle/>
            <a:p>
              <a:pPr defTabSz="811213" eaLnBrk="0" latinLnBrk="0" hangingPunct="0"/>
              <a:r>
                <a:rPr kumimoji="0" lang="ko-KR" altLang="en-US" sz="1300" b="1" dirty="0" smtClean="0">
                  <a:latin typeface="맑은 고딕" pitchFamily="50" charset="-127"/>
                  <a:ea typeface="맑은 고딕" pitchFamily="50" charset="-127"/>
                </a:rPr>
                <a:t>표준</a:t>
              </a:r>
              <a:r>
                <a:rPr kumimoji="0" lang="en-US" altLang="ko-KR" sz="1300" b="1" dirty="0" smtClean="0">
                  <a:latin typeface="맑은 고딕" pitchFamily="50" charset="-127"/>
                  <a:ea typeface="맑은 고딕" pitchFamily="50" charset="-127"/>
                </a:rPr>
                <a:t>UI / </a:t>
              </a:r>
              <a:r>
                <a:rPr kumimoji="0" lang="ko-KR" altLang="en-US" sz="1300" b="1" dirty="0" smtClean="0">
                  <a:latin typeface="맑은 고딕" pitchFamily="50" charset="-127"/>
                  <a:ea typeface="맑은 고딕" pitchFamily="50" charset="-127"/>
                </a:rPr>
                <a:t>엑셀다운로드</a:t>
              </a:r>
              <a:endParaRPr kumimoji="0" lang="ko-KR" altLang="en-US" sz="1300" b="1" dirty="0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aphicFrame>
        <p:nvGraphicFramePr>
          <p:cNvPr id="13" name="Object 12"/>
          <p:cNvGraphicFramePr>
            <a:graphicFrameLocks noChangeAspect="1"/>
          </p:cNvGraphicFramePr>
          <p:nvPr/>
        </p:nvGraphicFramePr>
        <p:xfrm>
          <a:off x="1976686" y="2898665"/>
          <a:ext cx="3443912" cy="128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4" name="사진" r:id="rId3" imgW="4871880" imgH="4024080" progId="StaticMetafile">
                  <p:embed/>
                </p:oleObj>
              </mc:Choice>
              <mc:Fallback>
                <p:oleObj name="사진" r:id="rId3" imgW="4871880" imgH="4024080" progId="StaticMetafile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6686" y="2898665"/>
                        <a:ext cx="3443912" cy="1289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B8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3"/>
          <p:cNvGraphicFramePr>
            <a:graphicFrameLocks noChangeAspect="1"/>
          </p:cNvGraphicFramePr>
          <p:nvPr/>
        </p:nvGraphicFramePr>
        <p:xfrm>
          <a:off x="5720170" y="3906523"/>
          <a:ext cx="3450953" cy="8965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5" name="사진" r:id="rId5" imgW="10500000" imgH="6001673" progId="StaticMetafile">
                  <p:embed/>
                </p:oleObj>
              </mc:Choice>
              <mc:Fallback>
                <p:oleObj name="사진" r:id="rId5" imgW="10500000" imgH="6001673" progId="StaticMetafile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0170" y="3906523"/>
                        <a:ext cx="3450953" cy="8965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B8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Line 15"/>
          <p:cNvSpPr>
            <a:spLocks noChangeShapeType="1"/>
          </p:cNvSpPr>
          <p:nvPr/>
        </p:nvSpPr>
        <p:spPr bwMode="auto">
          <a:xfrm>
            <a:off x="4980694" y="4168422"/>
            <a:ext cx="739476" cy="19184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ko-KR" altLang="en-US"/>
          </a:p>
        </p:txBody>
      </p:sp>
      <p:pic>
        <p:nvPicPr>
          <p:cNvPr id="19" name="Picture 18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497208" y="2024799"/>
            <a:ext cx="1871133" cy="6539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" name="Picture 19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935638" y="2352313"/>
            <a:ext cx="729192" cy="2978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1" name="Picture 20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938364" y="4354820"/>
            <a:ext cx="1854261" cy="11056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2" name="Picture 21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4161966" y="2152288"/>
            <a:ext cx="1559278" cy="5967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3" name="Line 22"/>
          <p:cNvSpPr>
            <a:spLocks noChangeShapeType="1"/>
          </p:cNvSpPr>
          <p:nvPr/>
        </p:nvSpPr>
        <p:spPr bwMode="auto">
          <a:xfrm flipH="1" flipV="1">
            <a:off x="1768016" y="2651251"/>
            <a:ext cx="3120849" cy="54842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ko-KR" altLang="en-US"/>
          </a:p>
        </p:txBody>
      </p:sp>
      <p:sp>
        <p:nvSpPr>
          <p:cNvPr id="24" name="Line 23"/>
          <p:cNvSpPr>
            <a:spLocks noChangeShapeType="1"/>
          </p:cNvSpPr>
          <p:nvPr/>
        </p:nvSpPr>
        <p:spPr bwMode="auto">
          <a:xfrm flipH="1" flipV="1">
            <a:off x="4056486" y="2751263"/>
            <a:ext cx="1041047" cy="44840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ko-KR" altLang="en-US"/>
          </a:p>
        </p:txBody>
      </p:sp>
      <p:sp>
        <p:nvSpPr>
          <p:cNvPr id="25" name="Line 24"/>
          <p:cNvSpPr>
            <a:spLocks noChangeShapeType="1"/>
          </p:cNvSpPr>
          <p:nvPr/>
        </p:nvSpPr>
        <p:spPr bwMode="auto">
          <a:xfrm flipH="1">
            <a:off x="2497209" y="3599633"/>
            <a:ext cx="830694" cy="116700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ko-KR" altLang="en-US"/>
          </a:p>
        </p:txBody>
      </p:sp>
      <p:pic>
        <p:nvPicPr>
          <p:cNvPr id="26" name="Picture 8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1988389" y="4766642"/>
            <a:ext cx="1505169" cy="1027864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pic>
        <p:nvPicPr>
          <p:cNvPr id="27" name="Picture 10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3118381" y="5008199"/>
            <a:ext cx="1495048" cy="9045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28" name="Text Box 2"/>
          <p:cNvSpPr txBox="1">
            <a:spLocks noChangeArrowheads="1"/>
          </p:cNvSpPr>
          <p:nvPr/>
        </p:nvSpPr>
        <p:spPr bwMode="auto">
          <a:xfrm>
            <a:off x="518231" y="839648"/>
            <a:ext cx="8910814" cy="4513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81253" tIns="40628" rIns="81253" bIns="40628">
            <a:spAutoFit/>
          </a:bodyPr>
          <a:lstStyle/>
          <a:p>
            <a:pPr algn="just" defTabSz="811213">
              <a:spcBef>
                <a:spcPts val="0"/>
              </a:spcBef>
              <a:buFont typeface="Wingdings" pitchFamily="2" charset="2"/>
              <a:buChar char="§"/>
            </a:pPr>
            <a:r>
              <a:rPr lang="ko-KR" altLang="en-US" sz="1200" dirty="0" smtClean="0">
                <a:latin typeface="맑은 고딕" pitchFamily="50" charset="-127"/>
                <a:ea typeface="맑은 고딕" pitchFamily="50" charset="-127"/>
              </a:rPr>
              <a:t> 모든 </a:t>
            </a:r>
            <a:r>
              <a:rPr lang="ko-KR" altLang="en-US" sz="1200" dirty="0" err="1" smtClean="0">
                <a:latin typeface="맑은 고딕" pitchFamily="50" charset="-127"/>
                <a:ea typeface="맑은 고딕" pitchFamily="50" charset="-127"/>
              </a:rPr>
              <a:t>리스트형</a:t>
            </a:r>
            <a:r>
              <a:rPr lang="ko-KR" altLang="en-US" sz="1200" dirty="0" smtClean="0">
                <a:latin typeface="맑은 고딕" pitchFamily="50" charset="-127"/>
                <a:ea typeface="맑은 고딕" pitchFamily="50" charset="-127"/>
              </a:rPr>
              <a:t> 화면에 엑셀다운로드 기능 부여</a:t>
            </a:r>
            <a:endParaRPr lang="en-US" altLang="ko-KR" sz="1200" dirty="0" smtClean="0">
              <a:latin typeface="맑은 고딕" pitchFamily="50" charset="-127"/>
              <a:ea typeface="맑은 고딕" pitchFamily="50" charset="-127"/>
            </a:endParaRPr>
          </a:p>
          <a:p>
            <a:pPr algn="just" defTabSz="811213">
              <a:spcBef>
                <a:spcPts val="0"/>
              </a:spcBef>
              <a:buFont typeface="Wingdings" pitchFamily="2" charset="2"/>
              <a:buChar char="§"/>
            </a:pPr>
            <a:r>
              <a:rPr lang="en-US" altLang="ko-KR" sz="1200" dirty="0" smtClean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200" dirty="0" smtClean="0">
                <a:latin typeface="맑은 고딕" pitchFamily="50" charset="-127"/>
                <a:ea typeface="맑은 고딕" pitchFamily="50" charset="-127"/>
              </a:rPr>
              <a:t>표준형 통계그래프</a:t>
            </a:r>
            <a:r>
              <a:rPr lang="en-US" altLang="ko-KR" sz="1200" dirty="0" smtClean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1200" dirty="0" smtClean="0">
                <a:latin typeface="맑은 고딕" pitchFamily="50" charset="-127"/>
                <a:ea typeface="맑은 고딕" pitchFamily="50" charset="-127"/>
              </a:rPr>
              <a:t>보고서출력을 통해 다양한 형태의 그래프 및 출력물을 지원</a:t>
            </a:r>
            <a:endParaRPr lang="en-US" altLang="ko-KR" sz="1200" dirty="0" smtClean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9" name="슬라이드 번호 개체 틀 5"/>
          <p:cNvSpPr txBox="1">
            <a:spLocks/>
          </p:cNvSpPr>
          <p:nvPr/>
        </p:nvSpPr>
        <p:spPr>
          <a:xfrm>
            <a:off x="3797300" y="6492899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b="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dirty="0" smtClean="0"/>
              <a:t>- 8</a:t>
            </a:r>
            <a:r>
              <a:rPr lang="ko-KR" altLang="en-US" dirty="0" smtClean="0"/>
              <a:t> </a:t>
            </a:r>
            <a:r>
              <a:rPr lang="en-US" altLang="ko-KR" dirty="0" smtClean="0"/>
              <a:t>-</a:t>
            </a:r>
            <a:endParaRPr lang="ko-KR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M2M-JDFW (6)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 smtClean="0"/>
              <a:t>2</a:t>
            </a:r>
            <a:endParaRPr lang="ko-KR" altLang="en-US" dirty="0"/>
          </a:p>
        </p:txBody>
      </p:sp>
      <p:sp>
        <p:nvSpPr>
          <p:cNvPr id="4" name="Rectangle 59"/>
          <p:cNvSpPr>
            <a:spLocks noChangeArrowheads="1"/>
          </p:cNvSpPr>
          <p:nvPr/>
        </p:nvSpPr>
        <p:spPr bwMode="auto">
          <a:xfrm>
            <a:off x="502180" y="1805821"/>
            <a:ext cx="8906228" cy="4513510"/>
          </a:xfrm>
          <a:prstGeom prst="rect">
            <a:avLst/>
          </a:prstGeom>
          <a:noFill/>
          <a:ln w="9525">
            <a:solidFill>
              <a:srgbClr val="3875A2"/>
            </a:solidFill>
            <a:miter lim="800000"/>
            <a:headEnd/>
            <a:tailEnd/>
          </a:ln>
          <a:effectLst>
            <a:prstShdw prst="shdw17" dist="17961" dir="2700000">
              <a:srgbClr val="224661"/>
            </a:prstShdw>
          </a:effectLst>
        </p:spPr>
        <p:txBody>
          <a:bodyPr wrap="none" anchor="ctr"/>
          <a:lstStyle/>
          <a:p>
            <a:endParaRPr lang="ko-KR" altLang="ko-KR" sz="1000" b="1"/>
          </a:p>
        </p:txBody>
      </p:sp>
      <p:sp>
        <p:nvSpPr>
          <p:cNvPr id="5" name="AutoShape 60"/>
          <p:cNvSpPr>
            <a:spLocks noChangeArrowheads="1"/>
          </p:cNvSpPr>
          <p:nvPr/>
        </p:nvSpPr>
        <p:spPr bwMode="auto">
          <a:xfrm flipV="1">
            <a:off x="515938" y="1724492"/>
            <a:ext cx="8931451" cy="145073"/>
          </a:xfrm>
          <a:prstGeom prst="cube">
            <a:avLst>
              <a:gd name="adj" fmla="val 3444"/>
            </a:avLst>
          </a:prstGeom>
          <a:solidFill>
            <a:srgbClr val="71A7C5"/>
          </a:solidFill>
          <a:ln w="6350">
            <a:solidFill>
              <a:srgbClr val="384F7C"/>
            </a:solidFill>
            <a:miter lim="800000"/>
            <a:headEnd/>
            <a:tailEnd/>
          </a:ln>
        </p:spPr>
        <p:txBody>
          <a:bodyPr rot="10800000" wrap="none" anchor="ctr"/>
          <a:lstStyle/>
          <a:p>
            <a:endParaRPr lang="ko-KR" altLang="en-US"/>
          </a:p>
        </p:txBody>
      </p:sp>
      <p:grpSp>
        <p:nvGrpSpPr>
          <p:cNvPr id="6" name="Group 61"/>
          <p:cNvGrpSpPr>
            <a:grpSpLocks/>
          </p:cNvGrpSpPr>
          <p:nvPr/>
        </p:nvGrpSpPr>
        <p:grpSpPr bwMode="auto">
          <a:xfrm>
            <a:off x="632883" y="1598109"/>
            <a:ext cx="4008261" cy="282453"/>
            <a:chOff x="276" y="3249"/>
            <a:chExt cx="1294" cy="257"/>
          </a:xfrm>
        </p:grpSpPr>
        <p:grpSp>
          <p:nvGrpSpPr>
            <p:cNvPr id="7" name="Group 62"/>
            <p:cNvGrpSpPr>
              <a:grpSpLocks/>
            </p:cNvGrpSpPr>
            <p:nvPr/>
          </p:nvGrpSpPr>
          <p:grpSpPr bwMode="auto">
            <a:xfrm flipV="1">
              <a:off x="276" y="3294"/>
              <a:ext cx="1294" cy="161"/>
              <a:chOff x="2019" y="1759"/>
              <a:chExt cx="2340" cy="499"/>
            </a:xfrm>
          </p:grpSpPr>
          <p:sp>
            <p:nvSpPr>
              <p:cNvPr id="9" name="AutoShape 63"/>
              <p:cNvSpPr>
                <a:spLocks noChangeArrowheads="1"/>
              </p:cNvSpPr>
              <p:nvPr/>
            </p:nvSpPr>
            <p:spPr bwMode="auto">
              <a:xfrm flipV="1">
                <a:off x="2052" y="1759"/>
                <a:ext cx="2268" cy="494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3438 w 21600"/>
                  <a:gd name="T13" fmla="*/ 3454 h 21600"/>
                  <a:gd name="T14" fmla="*/ 18162 w 21600"/>
                  <a:gd name="T15" fmla="*/ 18146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3276" y="21600"/>
                    </a:lnTo>
                    <a:lnTo>
                      <a:pt x="18324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71A7C5"/>
                  </a:gs>
                  <a:gs pos="100000">
                    <a:srgbClr val="BBE0E3"/>
                  </a:gs>
                </a:gsLst>
                <a:lin ang="5400000" scaled="1"/>
              </a:gradFill>
              <a:ln w="6350" algn="ctr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10" name="AutoShape 64"/>
              <p:cNvSpPr>
                <a:spLocks noChangeArrowheads="1"/>
              </p:cNvSpPr>
              <p:nvPr/>
            </p:nvSpPr>
            <p:spPr bwMode="auto">
              <a:xfrm flipV="1">
                <a:off x="2143" y="1811"/>
                <a:ext cx="2075" cy="39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3269 w 21600"/>
                  <a:gd name="T13" fmla="*/ 3256 h 21600"/>
                  <a:gd name="T14" fmla="*/ 18331 w 21600"/>
                  <a:gd name="T15" fmla="*/ 18344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2945" y="21600"/>
                    </a:lnTo>
                    <a:lnTo>
                      <a:pt x="18655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0F9FF"/>
                  </a:gs>
                  <a:gs pos="100000">
                    <a:srgbClr val="CCECFF"/>
                  </a:gs>
                </a:gsLst>
                <a:lin ang="5400000" scaled="1"/>
              </a:gradFill>
              <a:ln w="9525" algn="ctr">
                <a:solidFill>
                  <a:srgbClr val="F8F8F8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11" name="Freeform 65"/>
              <p:cNvSpPr>
                <a:spLocks/>
              </p:cNvSpPr>
              <p:nvPr/>
            </p:nvSpPr>
            <p:spPr bwMode="auto">
              <a:xfrm>
                <a:off x="3958" y="1759"/>
                <a:ext cx="401" cy="499"/>
              </a:xfrm>
              <a:custGeom>
                <a:avLst/>
                <a:gdLst>
                  <a:gd name="T0" fmla="*/ 0 w 545"/>
                  <a:gd name="T1" fmla="*/ 0 h 499"/>
                  <a:gd name="T2" fmla="*/ 2 w 545"/>
                  <a:gd name="T3" fmla="*/ 272 h 499"/>
                  <a:gd name="T4" fmla="*/ 2 w 545"/>
                  <a:gd name="T5" fmla="*/ 499 h 499"/>
                  <a:gd name="T6" fmla="*/ 0 w 545"/>
                  <a:gd name="T7" fmla="*/ 0 h 49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45"/>
                  <a:gd name="T13" fmla="*/ 0 h 499"/>
                  <a:gd name="T14" fmla="*/ 545 w 545"/>
                  <a:gd name="T15" fmla="*/ 499 h 49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45" h="499">
                    <a:moveTo>
                      <a:pt x="0" y="0"/>
                    </a:moveTo>
                    <a:lnTo>
                      <a:pt x="545" y="272"/>
                    </a:lnTo>
                    <a:lnTo>
                      <a:pt x="499" y="499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71A7C5"/>
                  </a:gs>
                  <a:gs pos="100000">
                    <a:srgbClr val="BBE0E3"/>
                  </a:gs>
                </a:gsLst>
                <a:lin ang="5400000" scaled="1"/>
              </a:gradFill>
              <a:ln w="6350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 rot="10800000" wrap="none" anchor="ctr"/>
              <a:lstStyle/>
              <a:p>
                <a:endParaRPr lang="ko-KR" altLang="en-US"/>
              </a:p>
            </p:txBody>
          </p:sp>
          <p:sp>
            <p:nvSpPr>
              <p:cNvPr id="12" name="Freeform 66"/>
              <p:cNvSpPr>
                <a:spLocks/>
              </p:cNvSpPr>
              <p:nvPr/>
            </p:nvSpPr>
            <p:spPr bwMode="auto">
              <a:xfrm flipH="1">
                <a:off x="2019" y="1759"/>
                <a:ext cx="384" cy="499"/>
              </a:xfrm>
              <a:custGeom>
                <a:avLst/>
                <a:gdLst>
                  <a:gd name="T0" fmla="*/ 0 w 545"/>
                  <a:gd name="T1" fmla="*/ 0 h 499"/>
                  <a:gd name="T2" fmla="*/ 1 w 545"/>
                  <a:gd name="T3" fmla="*/ 272 h 499"/>
                  <a:gd name="T4" fmla="*/ 1 w 545"/>
                  <a:gd name="T5" fmla="*/ 499 h 499"/>
                  <a:gd name="T6" fmla="*/ 0 w 545"/>
                  <a:gd name="T7" fmla="*/ 0 h 49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45"/>
                  <a:gd name="T13" fmla="*/ 0 h 499"/>
                  <a:gd name="T14" fmla="*/ 545 w 545"/>
                  <a:gd name="T15" fmla="*/ 499 h 49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45" h="499">
                    <a:moveTo>
                      <a:pt x="0" y="0"/>
                    </a:moveTo>
                    <a:lnTo>
                      <a:pt x="545" y="272"/>
                    </a:lnTo>
                    <a:lnTo>
                      <a:pt x="499" y="499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71A7C5"/>
                  </a:gs>
                  <a:gs pos="100000">
                    <a:srgbClr val="BBE0E3"/>
                  </a:gs>
                </a:gsLst>
                <a:lin ang="5400000" scaled="1"/>
              </a:gradFill>
              <a:ln w="6350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 rot="10800000"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8" name="Text Box 67"/>
            <p:cNvSpPr txBox="1">
              <a:spLocks noChangeArrowheads="1"/>
            </p:cNvSpPr>
            <p:nvPr/>
          </p:nvSpPr>
          <p:spPr bwMode="auto">
            <a:xfrm>
              <a:off x="475" y="3249"/>
              <a:ext cx="1056" cy="2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81253" tIns="40628" rIns="81253" bIns="40628">
              <a:spAutoFit/>
            </a:bodyPr>
            <a:lstStyle/>
            <a:p>
              <a:pPr defTabSz="811213" eaLnBrk="0" latinLnBrk="0" hangingPunct="0"/>
              <a:r>
                <a:rPr kumimoji="0" lang="ko-KR" altLang="en-US" sz="1300" b="1" dirty="0" smtClean="0">
                  <a:latin typeface="맑은 고딕" pitchFamily="50" charset="-127"/>
                  <a:ea typeface="맑은 고딕" pitchFamily="50" charset="-127"/>
                </a:rPr>
                <a:t>화면분할 및 확장기능</a:t>
              </a:r>
            </a:p>
          </p:txBody>
        </p:sp>
      </p:grpSp>
      <p:sp>
        <p:nvSpPr>
          <p:cNvPr id="13" name="Text Box 2"/>
          <p:cNvSpPr txBox="1">
            <a:spLocks noChangeArrowheads="1"/>
          </p:cNvSpPr>
          <p:nvPr/>
        </p:nvSpPr>
        <p:spPr bwMode="auto">
          <a:xfrm>
            <a:off x="518231" y="785794"/>
            <a:ext cx="8910814" cy="8238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81253" tIns="40628" rIns="81253" bIns="40628">
            <a:spAutoFit/>
          </a:bodyPr>
          <a:lstStyle/>
          <a:p>
            <a:pPr marL="177800" indent="-177800" algn="just" defTabSz="811213">
              <a:spcBef>
                <a:spcPts val="0"/>
              </a:spcBef>
              <a:buFont typeface="Wingdings" pitchFamily="2" charset="2"/>
              <a:buChar char="§"/>
            </a:pPr>
            <a:r>
              <a:rPr lang="ko-KR" altLang="en-US" sz="1200" dirty="0" smtClean="0">
                <a:latin typeface="맑은 고딕" pitchFamily="50" charset="-127"/>
                <a:ea typeface="맑은 고딕" pitchFamily="50" charset="-127"/>
              </a:rPr>
              <a:t>현재 인터넷 시장 환경은 빠른 속도</a:t>
            </a:r>
            <a:r>
              <a:rPr lang="en-US" altLang="ko-KR" sz="1200" dirty="0" smtClean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200" dirty="0" smtClean="0">
                <a:latin typeface="맑은 고딕" pitchFamily="50" charset="-127"/>
                <a:ea typeface="맑은 고딕" pitchFamily="50" charset="-127"/>
              </a:rPr>
              <a:t>화려한 사용자 인터페이스 등 클라이언트</a:t>
            </a:r>
            <a:r>
              <a:rPr lang="en-US" altLang="ko-KR" sz="1200" dirty="0" smtClean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1200" dirty="0" smtClean="0">
                <a:latin typeface="맑은 고딕" pitchFamily="50" charset="-127"/>
                <a:ea typeface="맑은 고딕" pitchFamily="50" charset="-127"/>
              </a:rPr>
              <a:t>서버</a:t>
            </a:r>
            <a:r>
              <a:rPr lang="en-US" altLang="ko-KR" sz="1200" dirty="0" smtClean="0">
                <a:latin typeface="맑은 고딕" pitchFamily="50" charset="-127"/>
                <a:ea typeface="맑은 고딕" pitchFamily="50" charset="-127"/>
              </a:rPr>
              <a:t>(CS) </a:t>
            </a:r>
            <a:r>
              <a:rPr lang="ko-KR" altLang="en-US" sz="1200" dirty="0" smtClean="0">
                <a:latin typeface="맑은 고딕" pitchFamily="50" charset="-127"/>
                <a:ea typeface="맑은 고딕" pitchFamily="50" charset="-127"/>
              </a:rPr>
              <a:t>방식의 장점을 살린</a:t>
            </a:r>
            <a:r>
              <a:rPr lang="en-US" altLang="ko-KR" sz="1200" dirty="0" smtClean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200" dirty="0" smtClean="0">
                <a:latin typeface="맑은 고딕" pitchFamily="50" charset="-127"/>
                <a:ea typeface="맑은 고딕" pitchFamily="50" charset="-127"/>
              </a:rPr>
              <a:t>인터넷상에서 운영되는 차세대 인터넷 애플리케이션 환경의 </a:t>
            </a:r>
            <a:r>
              <a:rPr lang="en-US" altLang="ko-KR" sz="1200" dirty="0" smtClean="0">
                <a:latin typeface="맑은 고딕" pitchFamily="50" charset="-127"/>
                <a:ea typeface="맑은 고딕" pitchFamily="50" charset="-127"/>
              </a:rPr>
              <a:t>X </a:t>
            </a:r>
            <a:r>
              <a:rPr lang="ko-KR" altLang="en-US" sz="1200" dirty="0" smtClean="0">
                <a:latin typeface="맑은 고딕" pitchFamily="50" charset="-127"/>
                <a:ea typeface="맑은 고딕" pitchFamily="50" charset="-127"/>
              </a:rPr>
              <a:t>인터넷과 사용자 인터페이스</a:t>
            </a:r>
            <a:r>
              <a:rPr lang="en-US" altLang="ko-KR" sz="1200" dirty="0" smtClean="0">
                <a:latin typeface="맑은 고딕" pitchFamily="50" charset="-127"/>
                <a:ea typeface="맑은 고딕" pitchFamily="50" charset="-127"/>
              </a:rPr>
              <a:t>(UI)</a:t>
            </a:r>
            <a:r>
              <a:rPr lang="ko-KR" altLang="en-US" sz="1200" dirty="0" smtClean="0">
                <a:latin typeface="맑은 고딕" pitchFamily="50" charset="-127"/>
                <a:ea typeface="맑은 고딕" pitchFamily="50" charset="-127"/>
              </a:rPr>
              <a:t>가 하이퍼 텍스트 생성 언어</a:t>
            </a:r>
            <a:r>
              <a:rPr lang="en-US" altLang="ko-KR" sz="1200" dirty="0" smtClean="0">
                <a:latin typeface="맑은 고딕" pitchFamily="50" charset="-127"/>
                <a:ea typeface="맑은 고딕" pitchFamily="50" charset="-127"/>
              </a:rPr>
              <a:t>(HTML) </a:t>
            </a:r>
            <a:r>
              <a:rPr lang="ko-KR" altLang="en-US" sz="1200" dirty="0" smtClean="0">
                <a:latin typeface="맑은 고딕" pitchFamily="50" charset="-127"/>
                <a:ea typeface="맑은 고딕" pitchFamily="50" charset="-127"/>
              </a:rPr>
              <a:t>브라우저에 제한되어 있는 현재의 웹 페이지 방식 </a:t>
            </a:r>
            <a:r>
              <a:rPr lang="ko-KR" altLang="en-US" sz="1200" dirty="0" err="1" smtClean="0">
                <a:latin typeface="맑은 고딕" pitchFamily="50" charset="-127"/>
                <a:ea typeface="맑은 고딕" pitchFamily="50" charset="-127"/>
              </a:rPr>
              <a:t>두가지로</a:t>
            </a:r>
            <a:r>
              <a:rPr lang="ko-KR" altLang="en-US" sz="1200" dirty="0" smtClean="0">
                <a:latin typeface="맑은 고딕" pitchFamily="50" charset="-127"/>
                <a:ea typeface="맑은 고딕" pitchFamily="50" charset="-127"/>
              </a:rPr>
              <a:t> 구분 </a:t>
            </a:r>
            <a:endParaRPr lang="en-US" altLang="ko-KR" sz="1200" dirty="0" smtClean="0">
              <a:latin typeface="맑은 고딕" pitchFamily="50" charset="-127"/>
              <a:ea typeface="맑은 고딕" pitchFamily="50" charset="-127"/>
            </a:endParaRPr>
          </a:p>
          <a:p>
            <a:pPr marL="177800" indent="-177800" algn="just" defTabSz="811213">
              <a:spcBef>
                <a:spcPts val="0"/>
              </a:spcBef>
              <a:buFont typeface="Wingdings" pitchFamily="2" charset="2"/>
              <a:buChar char="§"/>
            </a:pPr>
            <a:r>
              <a:rPr lang="en-US" altLang="ko-KR" sz="1200" dirty="0" smtClean="0">
                <a:latin typeface="맑은 고딕" pitchFamily="50" charset="-127"/>
                <a:ea typeface="맑은 고딕" pitchFamily="50" charset="-127"/>
              </a:rPr>
              <a:t>M2M-JDFW</a:t>
            </a:r>
            <a:r>
              <a:rPr lang="ko-KR" altLang="en-US" sz="1200" dirty="0" smtClean="0">
                <a:latin typeface="맑은 고딕" pitchFamily="50" charset="-127"/>
                <a:ea typeface="맑은 고딕" pitchFamily="50" charset="-127"/>
              </a:rPr>
              <a:t>는 </a:t>
            </a:r>
            <a:r>
              <a:rPr lang="en-US" altLang="ko-KR" sz="1200" dirty="0" smtClean="0">
                <a:latin typeface="맑은 고딕" pitchFamily="50" charset="-127"/>
                <a:ea typeface="맑은 고딕" pitchFamily="50" charset="-127"/>
              </a:rPr>
              <a:t>CS</a:t>
            </a:r>
            <a:r>
              <a:rPr lang="ko-KR" altLang="en-US" sz="1200" dirty="0" smtClean="0">
                <a:latin typeface="맑은 고딕" pitchFamily="50" charset="-127"/>
                <a:ea typeface="맑은 고딕" pitchFamily="50" charset="-127"/>
              </a:rPr>
              <a:t>형태의 리스트와 상세화면을 동시에 지원하므로 사용자에게 </a:t>
            </a:r>
            <a:r>
              <a:rPr lang="en-US" altLang="ko-KR" sz="1200" dirty="0" smtClean="0">
                <a:latin typeface="맑은 고딕" pitchFamily="50" charset="-127"/>
                <a:ea typeface="맑은 고딕" pitchFamily="50" charset="-127"/>
              </a:rPr>
              <a:t>CS</a:t>
            </a:r>
            <a:r>
              <a:rPr lang="ko-KR" altLang="en-US" sz="1200" dirty="0" smtClean="0">
                <a:latin typeface="맑은 고딕" pitchFamily="50" charset="-127"/>
                <a:ea typeface="맑은 고딕" pitchFamily="50" charset="-127"/>
              </a:rPr>
              <a:t>와 같은 형태의 사용이 가능함</a:t>
            </a:r>
          </a:p>
        </p:txBody>
      </p:sp>
      <p:pic>
        <p:nvPicPr>
          <p:cNvPr id="14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9410" y="3295018"/>
            <a:ext cx="5478110" cy="16782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Oval 8"/>
          <p:cNvSpPr>
            <a:spLocks noChangeArrowheads="1"/>
          </p:cNvSpPr>
          <p:nvPr/>
        </p:nvSpPr>
        <p:spPr bwMode="auto">
          <a:xfrm>
            <a:off x="492208" y="3078507"/>
            <a:ext cx="1694569" cy="434120"/>
          </a:xfrm>
          <a:prstGeom prst="ellipse">
            <a:avLst/>
          </a:prstGeom>
          <a:solidFill>
            <a:srgbClr val="447688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10000"/>
              </a:lnSpc>
            </a:pPr>
            <a:r>
              <a:rPr lang="ko-KR" altLang="en-US" sz="1600" b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표준화면</a:t>
            </a:r>
          </a:p>
        </p:txBody>
      </p:sp>
      <p:sp>
        <p:nvSpPr>
          <p:cNvPr id="16" name="Text Box 13"/>
          <p:cNvSpPr txBox="1">
            <a:spLocks noChangeArrowheads="1"/>
          </p:cNvSpPr>
          <p:nvPr/>
        </p:nvSpPr>
        <p:spPr bwMode="auto">
          <a:xfrm>
            <a:off x="730614" y="5148922"/>
            <a:ext cx="3223645" cy="4985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180975" indent="-180975" algn="l">
              <a:lnSpc>
                <a:spcPct val="120000"/>
              </a:lnSpc>
              <a:buFont typeface="Wingdings" pitchFamily="2" charset="2"/>
              <a:buChar char="v"/>
            </a:pPr>
            <a:r>
              <a:rPr lang="ko-KR" altLang="en-US" sz="1100">
                <a:latin typeface="맑은 고딕" pitchFamily="50" charset="-127"/>
                <a:ea typeface="맑은 고딕" pitchFamily="50" charset="-127"/>
              </a:rPr>
              <a:t>업무시스템은 기본적으로 좌측의 리스트와 우측의 상세화면으로 나타남</a:t>
            </a:r>
          </a:p>
        </p:txBody>
      </p:sp>
      <p:sp>
        <p:nvSpPr>
          <p:cNvPr id="17" name="Rectangle 14"/>
          <p:cNvSpPr>
            <a:spLocks noChangeArrowheads="1"/>
          </p:cNvSpPr>
          <p:nvPr/>
        </p:nvSpPr>
        <p:spPr bwMode="auto">
          <a:xfrm>
            <a:off x="2993932" y="3454378"/>
            <a:ext cx="697089" cy="107706"/>
          </a:xfrm>
          <a:prstGeom prst="rect">
            <a:avLst/>
          </a:prstGeom>
          <a:noFill/>
          <a:ln w="28575">
            <a:solidFill>
              <a:srgbClr val="FF3300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lnSpc>
                <a:spcPct val="110000"/>
              </a:lnSpc>
            </a:pPr>
            <a:endParaRPr lang="ko-KR" altLang="ko-KR" sz="1600">
              <a:solidFill>
                <a:srgbClr val="000066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8" name="Rectangle 15"/>
          <p:cNvSpPr>
            <a:spLocks noChangeArrowheads="1"/>
          </p:cNvSpPr>
          <p:nvPr/>
        </p:nvSpPr>
        <p:spPr bwMode="auto">
          <a:xfrm>
            <a:off x="5571326" y="3454378"/>
            <a:ext cx="694795" cy="107706"/>
          </a:xfrm>
          <a:prstGeom prst="rect">
            <a:avLst/>
          </a:prstGeom>
          <a:noFill/>
          <a:ln w="28575">
            <a:solidFill>
              <a:srgbClr val="FF3300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lnSpc>
                <a:spcPct val="110000"/>
              </a:lnSpc>
            </a:pPr>
            <a:endParaRPr lang="ko-KR" altLang="ko-KR" sz="1600">
              <a:solidFill>
                <a:srgbClr val="000066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9" name="Line 16"/>
          <p:cNvSpPr>
            <a:spLocks noChangeShapeType="1"/>
          </p:cNvSpPr>
          <p:nvPr/>
        </p:nvSpPr>
        <p:spPr bwMode="auto">
          <a:xfrm flipV="1">
            <a:off x="3677264" y="2730009"/>
            <a:ext cx="1095805" cy="708833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Line 17"/>
          <p:cNvSpPr>
            <a:spLocks noChangeShapeType="1"/>
          </p:cNvSpPr>
          <p:nvPr/>
        </p:nvSpPr>
        <p:spPr bwMode="auto">
          <a:xfrm>
            <a:off x="6167520" y="3562084"/>
            <a:ext cx="1073734" cy="1411165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1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74385" y="1981667"/>
            <a:ext cx="4182533" cy="10968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" name="Picture 7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853749" y="5148922"/>
            <a:ext cx="4203170" cy="10946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" name="Oval 10"/>
          <p:cNvSpPr>
            <a:spLocks noChangeArrowheads="1"/>
          </p:cNvSpPr>
          <p:nvPr/>
        </p:nvSpPr>
        <p:spPr bwMode="auto">
          <a:xfrm>
            <a:off x="7364644" y="4714802"/>
            <a:ext cx="1692275" cy="434120"/>
          </a:xfrm>
          <a:prstGeom prst="ellipse">
            <a:avLst/>
          </a:prstGeom>
          <a:solidFill>
            <a:srgbClr val="447688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10000"/>
              </a:lnSpc>
            </a:pPr>
            <a:r>
              <a:rPr lang="ko-KR" altLang="en-US" sz="1600" b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우측확장</a:t>
            </a:r>
          </a:p>
        </p:txBody>
      </p:sp>
      <p:sp>
        <p:nvSpPr>
          <p:cNvPr id="24" name="AutoShape 12"/>
          <p:cNvSpPr>
            <a:spLocks noChangeArrowheads="1"/>
          </p:cNvSpPr>
          <p:nvPr/>
        </p:nvSpPr>
        <p:spPr bwMode="auto">
          <a:xfrm rot="4232521" flipV="1">
            <a:off x="7114254" y="3736943"/>
            <a:ext cx="541826" cy="697089"/>
          </a:xfrm>
          <a:prstGeom prst="curvedUpArrow">
            <a:avLst>
              <a:gd name="adj1" fmla="val 32434"/>
              <a:gd name="adj2" fmla="val 64868"/>
              <a:gd name="adj3" fmla="val 33333"/>
            </a:avLst>
          </a:prstGeom>
          <a:solidFill>
            <a:schemeClr val="accent1"/>
          </a:solidFill>
          <a:ln w="9525">
            <a:solidFill>
              <a:schemeClr val="folHlink"/>
            </a:solidFill>
            <a:miter lim="800000"/>
            <a:headEnd/>
            <a:tailEnd/>
          </a:ln>
        </p:spPr>
        <p:txBody>
          <a:bodyPr rot="10800000" wrap="none" anchor="ctr"/>
          <a:lstStyle/>
          <a:p>
            <a:pPr>
              <a:lnSpc>
                <a:spcPct val="110000"/>
              </a:lnSpc>
            </a:pPr>
            <a:endParaRPr lang="ko-KR" altLang="ko-KR" sz="1600">
              <a:solidFill>
                <a:srgbClr val="000066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25" name="AutoShape 11"/>
          <p:cNvSpPr>
            <a:spLocks noChangeArrowheads="1"/>
          </p:cNvSpPr>
          <p:nvPr/>
        </p:nvSpPr>
        <p:spPr bwMode="auto">
          <a:xfrm rot="18053324" flipV="1">
            <a:off x="3683896" y="2415564"/>
            <a:ext cx="540727" cy="697089"/>
          </a:xfrm>
          <a:prstGeom prst="curvedUpArrow">
            <a:avLst>
              <a:gd name="adj1" fmla="val 32368"/>
              <a:gd name="adj2" fmla="val 64737"/>
              <a:gd name="adj3" fmla="val 33333"/>
            </a:avLst>
          </a:prstGeom>
          <a:solidFill>
            <a:schemeClr val="accent1"/>
          </a:solidFill>
          <a:ln w="9525">
            <a:solidFill>
              <a:schemeClr val="folHlink"/>
            </a:solidFill>
            <a:miter lim="800000"/>
            <a:headEnd/>
            <a:tailEnd/>
          </a:ln>
        </p:spPr>
        <p:txBody>
          <a:bodyPr rot="10800000" wrap="none" anchor="ctr"/>
          <a:lstStyle/>
          <a:p>
            <a:pPr>
              <a:lnSpc>
                <a:spcPct val="110000"/>
              </a:lnSpc>
            </a:pPr>
            <a:endParaRPr lang="ko-KR" altLang="ko-KR" sz="1600">
              <a:solidFill>
                <a:srgbClr val="000066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26" name="Oval 9"/>
          <p:cNvSpPr>
            <a:spLocks noChangeArrowheads="1"/>
          </p:cNvSpPr>
          <p:nvPr/>
        </p:nvSpPr>
        <p:spPr bwMode="auto">
          <a:xfrm>
            <a:off x="3108122" y="1978370"/>
            <a:ext cx="1692275" cy="434120"/>
          </a:xfrm>
          <a:prstGeom prst="ellipse">
            <a:avLst/>
          </a:prstGeom>
          <a:solidFill>
            <a:srgbClr val="447688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10000"/>
              </a:lnSpc>
            </a:pPr>
            <a:r>
              <a:rPr lang="ko-KR" altLang="en-US" sz="1600" b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좌측확장</a:t>
            </a:r>
          </a:p>
        </p:txBody>
      </p:sp>
      <p:sp>
        <p:nvSpPr>
          <p:cNvPr id="27" name="슬라이드 번호 개체 틀 5"/>
          <p:cNvSpPr txBox="1">
            <a:spLocks/>
          </p:cNvSpPr>
          <p:nvPr/>
        </p:nvSpPr>
        <p:spPr>
          <a:xfrm>
            <a:off x="3797300" y="6492899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b="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dirty="0" smtClean="0"/>
              <a:t>- 9</a:t>
            </a:r>
            <a:r>
              <a:rPr lang="ko-KR" altLang="en-US" dirty="0" smtClean="0"/>
              <a:t> </a:t>
            </a:r>
            <a:r>
              <a:rPr lang="en-US" altLang="ko-KR" dirty="0" smtClean="0"/>
              <a:t>-</a:t>
            </a:r>
            <a:endParaRPr lang="ko-KR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M2M-JDFW (7)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 smtClean="0"/>
              <a:t>2</a:t>
            </a:r>
            <a:endParaRPr lang="ko-KR" altLang="en-US" dirty="0"/>
          </a:p>
        </p:txBody>
      </p:sp>
      <p:sp>
        <p:nvSpPr>
          <p:cNvPr id="4" name="Rectangle 59"/>
          <p:cNvSpPr>
            <a:spLocks noChangeArrowheads="1"/>
          </p:cNvSpPr>
          <p:nvPr/>
        </p:nvSpPr>
        <p:spPr bwMode="auto">
          <a:xfrm>
            <a:off x="502180" y="1812724"/>
            <a:ext cx="8906228" cy="4513510"/>
          </a:xfrm>
          <a:prstGeom prst="rect">
            <a:avLst/>
          </a:prstGeom>
          <a:noFill/>
          <a:ln w="9525">
            <a:solidFill>
              <a:srgbClr val="3875A2"/>
            </a:solidFill>
            <a:miter lim="800000"/>
            <a:headEnd/>
            <a:tailEnd/>
          </a:ln>
          <a:effectLst>
            <a:prstShdw prst="shdw17" dist="17961" dir="2700000">
              <a:srgbClr val="224661"/>
            </a:prstShdw>
          </a:effectLst>
        </p:spPr>
        <p:txBody>
          <a:bodyPr wrap="none" anchor="ctr"/>
          <a:lstStyle/>
          <a:p>
            <a:endParaRPr lang="ko-KR" altLang="ko-KR" sz="1000" b="1"/>
          </a:p>
        </p:txBody>
      </p:sp>
      <p:sp>
        <p:nvSpPr>
          <p:cNvPr id="5" name="AutoShape 60"/>
          <p:cNvSpPr>
            <a:spLocks noChangeArrowheads="1"/>
          </p:cNvSpPr>
          <p:nvPr/>
        </p:nvSpPr>
        <p:spPr bwMode="auto">
          <a:xfrm flipV="1">
            <a:off x="515938" y="1731395"/>
            <a:ext cx="8931451" cy="145073"/>
          </a:xfrm>
          <a:prstGeom prst="cube">
            <a:avLst>
              <a:gd name="adj" fmla="val 3444"/>
            </a:avLst>
          </a:prstGeom>
          <a:solidFill>
            <a:srgbClr val="71A7C5"/>
          </a:solidFill>
          <a:ln w="6350">
            <a:solidFill>
              <a:srgbClr val="384F7C"/>
            </a:solidFill>
            <a:miter lim="800000"/>
            <a:headEnd/>
            <a:tailEnd/>
          </a:ln>
        </p:spPr>
        <p:txBody>
          <a:bodyPr rot="10800000" wrap="none" anchor="ctr"/>
          <a:lstStyle/>
          <a:p>
            <a:endParaRPr lang="ko-KR" altLang="en-US"/>
          </a:p>
        </p:txBody>
      </p:sp>
      <p:grpSp>
        <p:nvGrpSpPr>
          <p:cNvPr id="6" name="Group 61"/>
          <p:cNvGrpSpPr>
            <a:grpSpLocks/>
          </p:cNvGrpSpPr>
          <p:nvPr/>
        </p:nvGrpSpPr>
        <p:grpSpPr bwMode="auto">
          <a:xfrm>
            <a:off x="632883" y="1596240"/>
            <a:ext cx="4008261" cy="282455"/>
            <a:chOff x="276" y="3241"/>
            <a:chExt cx="1294" cy="257"/>
          </a:xfrm>
        </p:grpSpPr>
        <p:grpSp>
          <p:nvGrpSpPr>
            <p:cNvPr id="7" name="Group 62"/>
            <p:cNvGrpSpPr>
              <a:grpSpLocks/>
            </p:cNvGrpSpPr>
            <p:nvPr/>
          </p:nvGrpSpPr>
          <p:grpSpPr bwMode="auto">
            <a:xfrm flipV="1">
              <a:off x="276" y="3294"/>
              <a:ext cx="1294" cy="161"/>
              <a:chOff x="2019" y="1759"/>
              <a:chExt cx="2340" cy="499"/>
            </a:xfrm>
          </p:grpSpPr>
          <p:sp>
            <p:nvSpPr>
              <p:cNvPr id="9" name="AutoShape 63"/>
              <p:cNvSpPr>
                <a:spLocks noChangeArrowheads="1"/>
              </p:cNvSpPr>
              <p:nvPr/>
            </p:nvSpPr>
            <p:spPr bwMode="auto">
              <a:xfrm flipV="1">
                <a:off x="2052" y="1759"/>
                <a:ext cx="2268" cy="494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3438 w 21600"/>
                  <a:gd name="T13" fmla="*/ 3454 h 21600"/>
                  <a:gd name="T14" fmla="*/ 18162 w 21600"/>
                  <a:gd name="T15" fmla="*/ 18146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3276" y="21600"/>
                    </a:lnTo>
                    <a:lnTo>
                      <a:pt x="18324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71A7C5"/>
                  </a:gs>
                  <a:gs pos="100000">
                    <a:srgbClr val="BBE0E3"/>
                  </a:gs>
                </a:gsLst>
                <a:lin ang="5400000" scaled="1"/>
              </a:gradFill>
              <a:ln w="6350" algn="ctr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10" name="AutoShape 64"/>
              <p:cNvSpPr>
                <a:spLocks noChangeArrowheads="1"/>
              </p:cNvSpPr>
              <p:nvPr/>
            </p:nvSpPr>
            <p:spPr bwMode="auto">
              <a:xfrm flipV="1">
                <a:off x="2143" y="1811"/>
                <a:ext cx="2075" cy="39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3269 w 21600"/>
                  <a:gd name="T13" fmla="*/ 3256 h 21600"/>
                  <a:gd name="T14" fmla="*/ 18331 w 21600"/>
                  <a:gd name="T15" fmla="*/ 18344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2945" y="21600"/>
                    </a:lnTo>
                    <a:lnTo>
                      <a:pt x="18655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0F9FF"/>
                  </a:gs>
                  <a:gs pos="100000">
                    <a:srgbClr val="CCECFF"/>
                  </a:gs>
                </a:gsLst>
                <a:lin ang="5400000" scaled="1"/>
              </a:gradFill>
              <a:ln w="9525" algn="ctr">
                <a:solidFill>
                  <a:srgbClr val="F8F8F8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11" name="Freeform 65"/>
              <p:cNvSpPr>
                <a:spLocks/>
              </p:cNvSpPr>
              <p:nvPr/>
            </p:nvSpPr>
            <p:spPr bwMode="auto">
              <a:xfrm>
                <a:off x="3958" y="1759"/>
                <a:ext cx="401" cy="499"/>
              </a:xfrm>
              <a:custGeom>
                <a:avLst/>
                <a:gdLst>
                  <a:gd name="T0" fmla="*/ 0 w 545"/>
                  <a:gd name="T1" fmla="*/ 0 h 499"/>
                  <a:gd name="T2" fmla="*/ 2 w 545"/>
                  <a:gd name="T3" fmla="*/ 272 h 499"/>
                  <a:gd name="T4" fmla="*/ 2 w 545"/>
                  <a:gd name="T5" fmla="*/ 499 h 499"/>
                  <a:gd name="T6" fmla="*/ 0 w 545"/>
                  <a:gd name="T7" fmla="*/ 0 h 49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45"/>
                  <a:gd name="T13" fmla="*/ 0 h 499"/>
                  <a:gd name="T14" fmla="*/ 545 w 545"/>
                  <a:gd name="T15" fmla="*/ 499 h 49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45" h="499">
                    <a:moveTo>
                      <a:pt x="0" y="0"/>
                    </a:moveTo>
                    <a:lnTo>
                      <a:pt x="545" y="272"/>
                    </a:lnTo>
                    <a:lnTo>
                      <a:pt x="499" y="499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71A7C5"/>
                  </a:gs>
                  <a:gs pos="100000">
                    <a:srgbClr val="BBE0E3"/>
                  </a:gs>
                </a:gsLst>
                <a:lin ang="5400000" scaled="1"/>
              </a:gradFill>
              <a:ln w="6350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 rot="10800000" wrap="none" anchor="ctr"/>
              <a:lstStyle/>
              <a:p>
                <a:endParaRPr lang="ko-KR" altLang="en-US"/>
              </a:p>
            </p:txBody>
          </p:sp>
          <p:sp>
            <p:nvSpPr>
              <p:cNvPr id="12" name="Freeform 66"/>
              <p:cNvSpPr>
                <a:spLocks/>
              </p:cNvSpPr>
              <p:nvPr/>
            </p:nvSpPr>
            <p:spPr bwMode="auto">
              <a:xfrm flipH="1">
                <a:off x="2019" y="1759"/>
                <a:ext cx="384" cy="499"/>
              </a:xfrm>
              <a:custGeom>
                <a:avLst/>
                <a:gdLst>
                  <a:gd name="T0" fmla="*/ 0 w 545"/>
                  <a:gd name="T1" fmla="*/ 0 h 499"/>
                  <a:gd name="T2" fmla="*/ 1 w 545"/>
                  <a:gd name="T3" fmla="*/ 272 h 499"/>
                  <a:gd name="T4" fmla="*/ 1 w 545"/>
                  <a:gd name="T5" fmla="*/ 499 h 499"/>
                  <a:gd name="T6" fmla="*/ 0 w 545"/>
                  <a:gd name="T7" fmla="*/ 0 h 49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45"/>
                  <a:gd name="T13" fmla="*/ 0 h 499"/>
                  <a:gd name="T14" fmla="*/ 545 w 545"/>
                  <a:gd name="T15" fmla="*/ 499 h 49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45" h="499">
                    <a:moveTo>
                      <a:pt x="0" y="0"/>
                    </a:moveTo>
                    <a:lnTo>
                      <a:pt x="545" y="272"/>
                    </a:lnTo>
                    <a:lnTo>
                      <a:pt x="499" y="499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71A7C5"/>
                  </a:gs>
                  <a:gs pos="100000">
                    <a:srgbClr val="BBE0E3"/>
                  </a:gs>
                </a:gsLst>
                <a:lin ang="5400000" scaled="1"/>
              </a:gradFill>
              <a:ln w="6350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 rot="10800000"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8" name="Text Box 67"/>
            <p:cNvSpPr txBox="1">
              <a:spLocks noChangeArrowheads="1"/>
            </p:cNvSpPr>
            <p:nvPr/>
          </p:nvSpPr>
          <p:spPr bwMode="auto">
            <a:xfrm>
              <a:off x="475" y="3241"/>
              <a:ext cx="1056" cy="2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81253" tIns="40628" rIns="81253" bIns="40628">
              <a:spAutoFit/>
            </a:bodyPr>
            <a:lstStyle/>
            <a:p>
              <a:pPr defTabSz="811213" eaLnBrk="0" latinLnBrk="0" hangingPunct="0"/>
              <a:r>
                <a:rPr kumimoji="0" lang="en-US" altLang="ko-KR" sz="1300" b="1" dirty="0" smtClean="0">
                  <a:latin typeface="맑은 고딕" pitchFamily="50" charset="-127"/>
                  <a:ea typeface="맑은 고딕" pitchFamily="50" charset="-127"/>
                </a:rPr>
                <a:t>Web 2.0 (Ajax)</a:t>
              </a:r>
              <a:r>
                <a:rPr kumimoji="0" lang="ko-KR" altLang="en-US" sz="1300" b="1" dirty="0" smtClean="0">
                  <a:latin typeface="맑은 고딕" pitchFamily="50" charset="-127"/>
                  <a:ea typeface="맑은 고딕" pitchFamily="50" charset="-127"/>
                </a:rPr>
                <a:t>개발 지원</a:t>
              </a:r>
              <a:endParaRPr kumimoji="0" lang="ko-KR" altLang="en-US" sz="1300" b="1" dirty="0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13" name="Text Box 2"/>
          <p:cNvSpPr txBox="1">
            <a:spLocks noChangeArrowheads="1"/>
          </p:cNvSpPr>
          <p:nvPr/>
        </p:nvSpPr>
        <p:spPr bwMode="auto">
          <a:xfrm>
            <a:off x="518231" y="792697"/>
            <a:ext cx="8910814" cy="8238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81253" tIns="40628" rIns="81253" bIns="40628">
            <a:spAutoFit/>
          </a:bodyPr>
          <a:lstStyle/>
          <a:p>
            <a:pPr marL="177800" indent="-177800" algn="just" defTabSz="811213">
              <a:spcBef>
                <a:spcPts val="0"/>
              </a:spcBef>
              <a:buFont typeface="Wingdings" pitchFamily="2" charset="2"/>
              <a:buChar char="§"/>
            </a:pPr>
            <a:r>
              <a:rPr lang="en-US" altLang="ko-KR" sz="1200" smtClean="0">
                <a:latin typeface="맑은 고딕" pitchFamily="50" charset="-127"/>
                <a:ea typeface="맑은 고딕" pitchFamily="50" charset="-127"/>
              </a:rPr>
              <a:t>Ajax</a:t>
            </a:r>
            <a:r>
              <a:rPr lang="ko-KR" altLang="en-US" sz="1200" smtClean="0">
                <a:latin typeface="맑은 고딕" pitchFamily="50" charset="-127"/>
                <a:ea typeface="맑은 고딕" pitchFamily="50" charset="-127"/>
              </a:rPr>
              <a:t>는 </a:t>
            </a:r>
            <a:r>
              <a:rPr lang="en-US" altLang="ko-KR" sz="1200" smtClean="0">
                <a:latin typeface="맑은 고딕" pitchFamily="50" charset="-127"/>
                <a:ea typeface="맑은 고딕" pitchFamily="50" charset="-127"/>
              </a:rPr>
              <a:t>'Asynchronous JavaScript + XML'</a:t>
            </a:r>
            <a:r>
              <a:rPr lang="ko-KR" altLang="en-US" sz="1200" smtClean="0">
                <a:latin typeface="맑은 고딕" pitchFamily="50" charset="-127"/>
                <a:ea typeface="맑은 고딕" pitchFamily="50" charset="-127"/>
              </a:rPr>
              <a:t>의 줄임말로</a:t>
            </a:r>
            <a:r>
              <a:rPr lang="en-US" altLang="ko-KR" sz="1200" smtClean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200" smtClean="0">
                <a:latin typeface="맑은 고딕" pitchFamily="50" charset="-127"/>
                <a:ea typeface="맑은 고딕" pitchFamily="50" charset="-127"/>
              </a:rPr>
              <a:t>뜻은 </a:t>
            </a:r>
            <a:r>
              <a:rPr lang="en-US" altLang="ko-KR" sz="1200" smtClean="0">
                <a:latin typeface="맑은 고딕" pitchFamily="50" charset="-127"/>
                <a:ea typeface="맑은 고딕" pitchFamily="50" charset="-127"/>
              </a:rPr>
              <a:t>'</a:t>
            </a:r>
            <a:r>
              <a:rPr lang="ko-KR" altLang="en-US" sz="1200" smtClean="0">
                <a:latin typeface="맑은 고딕" pitchFamily="50" charset="-127"/>
                <a:ea typeface="맑은 고딕" pitchFamily="50" charset="-127"/>
              </a:rPr>
              <a:t>비동기 자바스크립트 </a:t>
            </a:r>
            <a:r>
              <a:rPr lang="en-US" altLang="ko-KR" sz="1200" smtClean="0">
                <a:latin typeface="맑은 고딕" pitchFamily="50" charset="-127"/>
                <a:ea typeface="맑은 고딕" pitchFamily="50" charset="-127"/>
              </a:rPr>
              <a:t>XML‘</a:t>
            </a:r>
            <a:r>
              <a:rPr lang="ko-KR" altLang="en-US" sz="1200" smtClean="0">
                <a:latin typeface="맑은 고딕" pitchFamily="50" charset="-127"/>
                <a:ea typeface="맑은 고딕" pitchFamily="50" charset="-127"/>
              </a:rPr>
              <a:t> 의미 함</a:t>
            </a:r>
            <a:endParaRPr lang="en-US" altLang="ko-KR" sz="1200" smtClean="0">
              <a:latin typeface="맑은 고딕" pitchFamily="50" charset="-127"/>
              <a:ea typeface="맑은 고딕" pitchFamily="50" charset="-127"/>
            </a:endParaRPr>
          </a:p>
          <a:p>
            <a:pPr marL="177800" indent="-177800" algn="just" defTabSz="811213">
              <a:spcBef>
                <a:spcPts val="0"/>
              </a:spcBef>
              <a:buFont typeface="Wingdings" pitchFamily="2" charset="2"/>
              <a:buChar char="§"/>
            </a:pPr>
            <a:r>
              <a:rPr lang="ko-KR" altLang="en-US" sz="1200" smtClean="0">
                <a:latin typeface="맑은 고딕" pitchFamily="50" charset="-127"/>
                <a:ea typeface="맑은 고딕" pitchFamily="50" charset="-127"/>
              </a:rPr>
              <a:t>이는 자바스크립트 렌더링 엔진을 이용한 기술로</a:t>
            </a:r>
            <a:r>
              <a:rPr lang="en-US" altLang="ko-KR" sz="1200" smtClean="0">
                <a:latin typeface="맑은 고딕" pitchFamily="50" charset="-127"/>
                <a:ea typeface="맑은 고딕" pitchFamily="50" charset="-127"/>
              </a:rPr>
              <a:t>, Ajax</a:t>
            </a:r>
            <a:r>
              <a:rPr lang="ko-KR" altLang="en-US" sz="1200" smtClean="0">
                <a:latin typeface="맑은 고딕" pitchFamily="50" charset="-127"/>
                <a:ea typeface="맑은 고딕" pitchFamily="50" charset="-127"/>
              </a:rPr>
              <a:t>를 이용할 경우 플래시나 액티브엑스</a:t>
            </a:r>
            <a:r>
              <a:rPr lang="en-US" altLang="ko-KR" sz="1200" smtClean="0">
                <a:latin typeface="맑은 고딕" pitchFamily="50" charset="-127"/>
                <a:ea typeface="맑은 고딕" pitchFamily="50" charset="-127"/>
              </a:rPr>
              <a:t>(ActiveX) </a:t>
            </a:r>
            <a:r>
              <a:rPr lang="ko-KR" altLang="en-US" sz="1200" smtClean="0">
                <a:latin typeface="맑은 고딕" pitchFamily="50" charset="-127"/>
                <a:ea typeface="맑은 고딕" pitchFamily="50" charset="-127"/>
              </a:rPr>
              <a:t>의존도를 많이 벗어날 수 있음</a:t>
            </a:r>
            <a:endParaRPr lang="en-US" altLang="ko-KR" sz="1200" smtClean="0">
              <a:latin typeface="맑은 고딕" pitchFamily="50" charset="-127"/>
              <a:ea typeface="맑은 고딕" pitchFamily="50" charset="-127"/>
            </a:endParaRPr>
          </a:p>
          <a:p>
            <a:pPr marL="177800" indent="-177800" algn="just" defTabSz="811213">
              <a:spcBef>
                <a:spcPts val="0"/>
              </a:spcBef>
              <a:buFont typeface="Wingdings" pitchFamily="2" charset="2"/>
              <a:buChar char="§"/>
            </a:pPr>
            <a:r>
              <a:rPr lang="en-US" altLang="ko-KR" sz="1200" smtClean="0">
                <a:latin typeface="맑은 고딕" pitchFamily="50" charset="-127"/>
                <a:ea typeface="맑은 고딕" pitchFamily="50" charset="-127"/>
              </a:rPr>
              <a:t>M2M-JDFW</a:t>
            </a:r>
            <a:r>
              <a:rPr lang="ko-KR" altLang="en-US" sz="1200" smtClean="0">
                <a:latin typeface="맑은 고딕" pitchFamily="50" charset="-127"/>
                <a:ea typeface="맑은 고딕" pitchFamily="50" charset="-127"/>
              </a:rPr>
              <a:t>는</a:t>
            </a:r>
            <a:r>
              <a:rPr lang="en-US" altLang="ko-KR" sz="1200" smtClean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200" smtClean="0">
                <a:latin typeface="맑은 고딕" pitchFamily="50" charset="-127"/>
                <a:ea typeface="맑은 고딕" pitchFamily="50" charset="-127"/>
              </a:rPr>
              <a:t>각종 개발 프로젝트에서 </a:t>
            </a:r>
            <a:r>
              <a:rPr lang="en-US" altLang="ko-KR" sz="1200" smtClean="0">
                <a:latin typeface="맑은 고딕" pitchFamily="50" charset="-127"/>
                <a:ea typeface="맑은 고딕" pitchFamily="50" charset="-127"/>
              </a:rPr>
              <a:t>Ajax</a:t>
            </a:r>
            <a:r>
              <a:rPr lang="ko-KR" altLang="en-US" sz="1200" smtClean="0">
                <a:latin typeface="맑은 고딕" pitchFamily="50" charset="-127"/>
                <a:ea typeface="맑은 고딕" pitchFamily="50" charset="-127"/>
              </a:rPr>
              <a:t>를 활용하여 사용자의 편의성을 극대화 시킴</a:t>
            </a:r>
          </a:p>
        </p:txBody>
      </p:sp>
      <p:pic>
        <p:nvPicPr>
          <p:cNvPr id="14" name="Picture 1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90649" y="2138692"/>
            <a:ext cx="4159603" cy="19145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15" name="Text Box 12"/>
          <p:cNvSpPr txBox="1">
            <a:spLocks noChangeArrowheads="1"/>
          </p:cNvSpPr>
          <p:nvPr/>
        </p:nvSpPr>
        <p:spPr bwMode="auto">
          <a:xfrm>
            <a:off x="5664994" y="2288247"/>
            <a:ext cx="3323223" cy="70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buFont typeface="Arial" charset="0"/>
              <a:buChar char="•"/>
            </a:pPr>
            <a:r>
              <a:rPr lang="ko-KR" altLang="en-US" sz="1200" smtClean="0">
                <a:latin typeface="맑은 고딕" pitchFamily="50" charset="-127"/>
                <a:ea typeface="맑은 고딕" pitchFamily="50" charset="-127"/>
              </a:rPr>
              <a:t>제시 </a:t>
            </a:r>
            <a:r>
              <a:rPr lang="ko-KR" altLang="en-US" sz="1200">
                <a:latin typeface="맑은 고딕" pitchFamily="50" charset="-127"/>
                <a:ea typeface="맑은 고딕" pitchFamily="50" charset="-127"/>
              </a:rPr>
              <a:t>제임스 가렛이 비교한 </a:t>
            </a:r>
            <a:br>
              <a:rPr lang="ko-KR" altLang="en-US" sz="1200">
                <a:latin typeface="맑은 고딕" pitchFamily="50" charset="-127"/>
                <a:ea typeface="맑은 고딕" pitchFamily="50" charset="-127"/>
              </a:rPr>
            </a:br>
            <a:r>
              <a:rPr lang="ko-KR" altLang="en-US" sz="120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200" smtClean="0">
                <a:latin typeface="맑은 고딕" pitchFamily="50" charset="-127"/>
                <a:ea typeface="맑은 고딕" pitchFamily="50" charset="-127"/>
              </a:rPr>
              <a:t>이전의 </a:t>
            </a:r>
            <a:r>
              <a:rPr lang="ko-KR" altLang="en-US" sz="1200">
                <a:latin typeface="맑은 고딕" pitchFamily="50" charset="-127"/>
                <a:ea typeface="맑은 고딕" pitchFamily="50" charset="-127"/>
              </a:rPr>
              <a:t>웹응용 모델과 </a:t>
            </a:r>
            <a:r>
              <a:rPr lang="en-US" altLang="ko-KR" sz="1200" smtClean="0">
                <a:latin typeface="맑은 고딕" pitchFamily="50" charset="-127"/>
                <a:ea typeface="맑은 고딕" pitchFamily="50" charset="-127"/>
              </a:rPr>
              <a:t>Ajax</a:t>
            </a:r>
          </a:p>
          <a:p>
            <a:pPr algn="l">
              <a:lnSpc>
                <a:spcPct val="110000"/>
              </a:lnSpc>
            </a:pPr>
            <a:r>
              <a:rPr lang="en-US" altLang="ko-KR" sz="1200" smtClean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200" smtClean="0">
                <a:latin typeface="맑은 고딕" pitchFamily="50" charset="-127"/>
                <a:ea typeface="맑은 고딕" pitchFamily="50" charset="-127"/>
              </a:rPr>
              <a:t>웹응용 </a:t>
            </a:r>
            <a:r>
              <a:rPr lang="ko-KR" altLang="en-US" sz="1200">
                <a:latin typeface="맑은 고딕" pitchFamily="50" charset="-127"/>
                <a:ea typeface="맑은 고딕" pitchFamily="50" charset="-127"/>
              </a:rPr>
              <a:t>모델의 차이 </a:t>
            </a:r>
          </a:p>
        </p:txBody>
      </p:sp>
      <p:pic>
        <p:nvPicPr>
          <p:cNvPr id="16" name="Picture 9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21695" y="4174008"/>
            <a:ext cx="3641372" cy="141885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17" name="Rectangle 13"/>
          <p:cNvSpPr>
            <a:spLocks noChangeArrowheads="1"/>
          </p:cNvSpPr>
          <p:nvPr/>
        </p:nvSpPr>
        <p:spPr bwMode="auto">
          <a:xfrm>
            <a:off x="2796382" y="5727876"/>
            <a:ext cx="5159375" cy="398951"/>
          </a:xfrm>
          <a:prstGeom prst="rect">
            <a:avLst/>
          </a:prstGeom>
          <a:solidFill>
            <a:srgbClr val="FFFF66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lnSpc>
                <a:spcPct val="110000"/>
              </a:lnSpc>
            </a:pPr>
            <a:r>
              <a:rPr lang="ko-KR" altLang="en-US" sz="120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사용자에게 서버의 응답을 </a:t>
            </a:r>
          </a:p>
          <a:p>
            <a:pPr>
              <a:lnSpc>
                <a:spcPct val="110000"/>
              </a:lnSpc>
            </a:pPr>
            <a:r>
              <a:rPr lang="ko-KR" altLang="en-US" sz="120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기다리지 않고 즉시 응답을 보내주는 개발사례</a:t>
            </a:r>
          </a:p>
        </p:txBody>
      </p:sp>
      <p:sp>
        <p:nvSpPr>
          <p:cNvPr id="18" name="AutoShape 15"/>
          <p:cNvSpPr>
            <a:spLocks noChangeArrowheads="1"/>
          </p:cNvSpPr>
          <p:nvPr/>
        </p:nvSpPr>
        <p:spPr bwMode="auto">
          <a:xfrm>
            <a:off x="1428574" y="4144070"/>
            <a:ext cx="2290763" cy="307151"/>
          </a:xfrm>
          <a:prstGeom prst="roundRect">
            <a:avLst>
              <a:gd name="adj" fmla="val 25593"/>
            </a:avLst>
          </a:prstGeom>
          <a:gradFill rotWithShape="0">
            <a:gsLst>
              <a:gs pos="0">
                <a:srgbClr val="93C6FF"/>
              </a:gs>
              <a:gs pos="50000">
                <a:srgbClr val="DEEEFF"/>
              </a:gs>
              <a:gs pos="100000">
                <a:srgbClr val="93C6FF"/>
              </a:gs>
            </a:gsLst>
            <a:lin ang="0" scaled="1"/>
          </a:gradFill>
          <a:ln w="9525">
            <a:noFill/>
            <a:round/>
            <a:headEnd/>
            <a:tailEnd/>
          </a:ln>
          <a:effectLst>
            <a:prstShdw prst="shdw17" dist="17961" dir="2700000">
              <a:srgbClr val="587799"/>
            </a:prstShdw>
          </a:effectLst>
        </p:spPr>
        <p:txBody>
          <a:bodyPr anchor="ctr">
            <a:spAutoFit/>
          </a:bodyPr>
          <a:lstStyle/>
          <a:p>
            <a:pPr>
              <a:lnSpc>
                <a:spcPct val="110000"/>
              </a:lnSpc>
            </a:pPr>
            <a:r>
              <a:rPr lang="ko-KR" altLang="en-US" sz="1000" dirty="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기존 동기방식 </a:t>
            </a:r>
            <a:r>
              <a:rPr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Site</a:t>
            </a:r>
          </a:p>
        </p:txBody>
      </p:sp>
      <p:pic>
        <p:nvPicPr>
          <p:cNvPr id="19" name="Picture 1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664993" y="4149830"/>
            <a:ext cx="3218305" cy="1443038"/>
          </a:xfrm>
          <a:prstGeom prst="rect">
            <a:avLst/>
          </a:prstGeom>
          <a:noFill/>
          <a:ln w="9525">
            <a:solidFill>
              <a:schemeClr val="tx1">
                <a:lumMod val="95000"/>
                <a:lumOff val="5000"/>
              </a:schemeClr>
            </a:solidFill>
            <a:miter lim="800000"/>
            <a:headEnd/>
            <a:tailEnd/>
          </a:ln>
        </p:spPr>
      </p:pic>
      <p:sp>
        <p:nvSpPr>
          <p:cNvPr id="20" name="AutoShape 17"/>
          <p:cNvSpPr>
            <a:spLocks noChangeArrowheads="1"/>
          </p:cNvSpPr>
          <p:nvPr/>
        </p:nvSpPr>
        <p:spPr bwMode="auto">
          <a:xfrm>
            <a:off x="5664994" y="4127628"/>
            <a:ext cx="2290763" cy="290288"/>
          </a:xfrm>
          <a:prstGeom prst="roundRect">
            <a:avLst>
              <a:gd name="adj" fmla="val 25593"/>
            </a:avLst>
          </a:prstGeom>
          <a:gradFill rotWithShape="0">
            <a:gsLst>
              <a:gs pos="0">
                <a:srgbClr val="93C6FF"/>
              </a:gs>
              <a:gs pos="50000">
                <a:srgbClr val="DEEEFF"/>
              </a:gs>
              <a:gs pos="100000">
                <a:srgbClr val="93C6FF"/>
              </a:gs>
            </a:gsLst>
            <a:lin ang="0" scaled="1"/>
          </a:gradFill>
          <a:ln w="9525">
            <a:noFill/>
            <a:round/>
            <a:headEnd/>
            <a:tailEnd/>
          </a:ln>
          <a:effectLst>
            <a:prstShdw prst="shdw17" dist="17961" dir="2700000">
              <a:srgbClr val="587799"/>
            </a:prstShdw>
          </a:effectLst>
        </p:spPr>
        <p:txBody>
          <a:bodyPr anchor="ctr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ko-KR" sz="1000" dirty="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M2M-JDFW</a:t>
            </a:r>
            <a:endParaRPr lang="en-US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1" name="굽은 화살표 20"/>
          <p:cNvSpPr/>
          <p:nvPr/>
        </p:nvSpPr>
        <p:spPr bwMode="auto">
          <a:xfrm rot="5400000">
            <a:off x="6501515" y="2508036"/>
            <a:ext cx="867068" cy="1883865"/>
          </a:xfrm>
          <a:prstGeom prst="bentArrow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1" i="0" u="none" strike="noStrike" cap="none" normalizeH="0" baseline="0" smtClean="0">
              <a:ln>
                <a:noFill/>
              </a:ln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983660" y="3279251"/>
            <a:ext cx="11557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smtClean="0">
                <a:latin typeface="맑은 고딕" pitchFamily="50" charset="-127"/>
                <a:ea typeface="맑은 고딕" pitchFamily="50" charset="-127"/>
              </a:rPr>
              <a:t>Ajax</a:t>
            </a:r>
            <a:r>
              <a:rPr lang="ko-KR" altLang="en-US" sz="1600" b="1" smtClean="0">
                <a:latin typeface="맑은 고딕" pitchFamily="50" charset="-127"/>
                <a:ea typeface="맑은 고딕" pitchFamily="50" charset="-127"/>
              </a:rPr>
              <a:t>적용</a:t>
            </a:r>
            <a:endParaRPr lang="ko-KR" altLang="en-US" sz="1600" b="1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3" name="슬라이드 번호 개체 틀 5"/>
          <p:cNvSpPr txBox="1">
            <a:spLocks/>
          </p:cNvSpPr>
          <p:nvPr/>
        </p:nvSpPr>
        <p:spPr>
          <a:xfrm>
            <a:off x="3797300" y="6492899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b="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dirty="0" smtClean="0"/>
              <a:t>- 10</a:t>
            </a:r>
            <a:r>
              <a:rPr lang="ko-KR" altLang="en-US" dirty="0" smtClean="0"/>
              <a:t> </a:t>
            </a:r>
            <a:r>
              <a:rPr lang="en-US" altLang="ko-KR" dirty="0" smtClean="0"/>
              <a:t>-</a:t>
            </a:r>
            <a:endParaRPr lang="ko-KR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WINUS Framework - </a:t>
            </a:r>
            <a:r>
              <a:rPr lang="ko-KR" altLang="en-US" dirty="0" smtClean="0"/>
              <a:t>구성</a:t>
            </a:r>
            <a:endParaRPr lang="ko-KR" altLang="en-US" dirty="0"/>
          </a:p>
        </p:txBody>
      </p:sp>
      <p:sp>
        <p:nvSpPr>
          <p:cNvPr id="225" name="텍스트 개체 틀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 smtClean="0"/>
              <a:t>3</a:t>
            </a:r>
            <a:endParaRPr lang="ko-KR" altLang="en-US" dirty="0"/>
          </a:p>
        </p:txBody>
      </p:sp>
      <p:sp>
        <p:nvSpPr>
          <p:cNvPr id="224" name="Rectangle 108"/>
          <p:cNvSpPr>
            <a:spLocks noChangeArrowheads="1"/>
          </p:cNvSpPr>
          <p:nvPr/>
        </p:nvSpPr>
        <p:spPr bwMode="auto">
          <a:xfrm>
            <a:off x="344488" y="980728"/>
            <a:ext cx="9217025" cy="648072"/>
          </a:xfrm>
          <a:prstGeom prst="rect">
            <a:avLst/>
          </a:prstGeom>
          <a:solidFill>
            <a:srgbClr val="F0F8FA">
              <a:alpha val="50000"/>
            </a:srgbClr>
          </a:solidFill>
          <a:ln w="9525">
            <a:solidFill>
              <a:schemeClr val="tx2">
                <a:lumMod val="20000"/>
                <a:lumOff val="8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atinLnBrk="0"/>
            <a:r>
              <a:rPr kumimoji="1" lang="en-US" altLang="ko-KR" sz="1400" dirty="0" smtClean="0">
                <a:latin typeface="맑은 고딕" pitchFamily="50" charset="-127"/>
                <a:ea typeface="맑은 고딕" pitchFamily="50" charset="-127"/>
              </a:rPr>
              <a:t>Spring Framework</a:t>
            </a:r>
            <a:r>
              <a:rPr kumimoji="1" lang="ko-KR" altLang="en-US" sz="1400" dirty="0" smtClean="0">
                <a:latin typeface="맑은 고딕" pitchFamily="50" charset="-127"/>
                <a:ea typeface="맑은 고딕" pitchFamily="50" charset="-127"/>
              </a:rPr>
              <a:t>를 기반으로 개발환경을 구축하고 필요한 공통컴포넌트를 개발하여 프레임워크를 완성한 후 업무영역을 개발합니다</a:t>
            </a:r>
            <a:r>
              <a:rPr kumimoji="1" lang="en-US" altLang="ko-KR" sz="1400" dirty="0" smtClean="0">
                <a:latin typeface="맑은 고딕" pitchFamily="50" charset="-127"/>
                <a:ea typeface="맑은 고딕" pitchFamily="50" charset="-127"/>
              </a:rPr>
              <a:t>.</a:t>
            </a:r>
            <a:endParaRPr kumimoji="1" lang="ko-KR" altLang="en-US" sz="1400" dirty="0" smtClean="0">
              <a:solidFill>
                <a:srgbClr val="000000"/>
              </a:solidFill>
              <a:latin typeface="맑은 고딕" pitchFamily="50" charset="-127"/>
            </a:endParaRPr>
          </a:p>
        </p:txBody>
      </p:sp>
      <p:sp>
        <p:nvSpPr>
          <p:cNvPr id="227" name="모서리가 둥근 직사각형 155"/>
          <p:cNvSpPr>
            <a:spLocks noChangeArrowheads="1"/>
          </p:cNvSpPr>
          <p:nvPr/>
        </p:nvSpPr>
        <p:spPr bwMode="auto">
          <a:xfrm>
            <a:off x="344488" y="1988840"/>
            <a:ext cx="4322760" cy="4177010"/>
          </a:xfrm>
          <a:prstGeom prst="roundRect">
            <a:avLst>
              <a:gd name="adj" fmla="val 3116"/>
            </a:avLst>
          </a:prstGeom>
          <a:solidFill>
            <a:srgbClr val="E7F5FF">
              <a:alpha val="27058"/>
            </a:srgbClr>
          </a:solidFill>
          <a:ln w="28575">
            <a:solidFill>
              <a:srgbClr val="00B0F0"/>
            </a:solidFill>
            <a:round/>
            <a:headEnd/>
            <a:tailEnd/>
          </a:ln>
        </p:spPr>
        <p:txBody>
          <a:bodyPr lIns="0" tIns="0" rIns="0" bIns="0"/>
          <a:lstStyle/>
          <a:p>
            <a:pPr algn="ctr" eaLnBrk="1" hangingPunct="1">
              <a:lnSpc>
                <a:spcPct val="100000"/>
              </a:lnSpc>
            </a:pPr>
            <a:endParaRPr lang="ko-KR" altLang="en-US" sz="1300" b="1">
              <a:solidFill>
                <a:srgbClr val="FFFFFF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28" name="직사각형 227"/>
          <p:cNvSpPr/>
          <p:nvPr/>
        </p:nvSpPr>
        <p:spPr>
          <a:xfrm>
            <a:off x="1863477" y="2250380"/>
            <a:ext cx="800100" cy="44620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anchor="ctr"/>
          <a:lstStyle/>
          <a:p>
            <a:pPr algn="ctr">
              <a:lnSpc>
                <a:spcPct val="100000"/>
              </a:lnSpc>
              <a:defRPr/>
            </a:pPr>
            <a:r>
              <a:rPr lang="ko-KR" altLang="en-US" sz="1050" b="1" dirty="0" smtClean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입고관리</a:t>
            </a:r>
            <a:endParaRPr lang="ko-KR" altLang="en-US" sz="1050" b="1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29" name="직사각형 228"/>
          <p:cNvSpPr/>
          <p:nvPr/>
        </p:nvSpPr>
        <p:spPr>
          <a:xfrm>
            <a:off x="2701677" y="2250380"/>
            <a:ext cx="798512" cy="44620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anchor="ctr"/>
          <a:lstStyle/>
          <a:p>
            <a:pPr algn="ctr">
              <a:lnSpc>
                <a:spcPct val="100000"/>
              </a:lnSpc>
              <a:defRPr/>
            </a:pPr>
            <a:r>
              <a:rPr lang="ko-KR" altLang="en-US" sz="1050" b="1" dirty="0" smtClean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출고관리</a:t>
            </a:r>
            <a:endParaRPr lang="ko-KR" altLang="en-US" sz="1050" b="1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30" name="직사각형 229"/>
          <p:cNvSpPr/>
          <p:nvPr/>
        </p:nvSpPr>
        <p:spPr>
          <a:xfrm>
            <a:off x="1863477" y="3303928"/>
            <a:ext cx="2473325" cy="403713"/>
          </a:xfrm>
          <a:prstGeom prst="rect">
            <a:avLst/>
          </a:prstGeom>
          <a:solidFill>
            <a:srgbClr val="00A1DE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anchor="ctr"/>
          <a:lstStyle/>
          <a:p>
            <a:pPr algn="ctr">
              <a:lnSpc>
                <a:spcPct val="100000"/>
              </a:lnSpc>
              <a:defRPr/>
            </a:pPr>
            <a:r>
              <a:rPr lang="ko-KR" altLang="en-US" sz="1050" b="1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공통컴포넌트</a:t>
            </a:r>
          </a:p>
        </p:txBody>
      </p:sp>
      <p:sp>
        <p:nvSpPr>
          <p:cNvPr id="231" name="직사각형 230"/>
          <p:cNvSpPr/>
          <p:nvPr/>
        </p:nvSpPr>
        <p:spPr>
          <a:xfrm>
            <a:off x="1863477" y="3829817"/>
            <a:ext cx="603250" cy="446209"/>
          </a:xfrm>
          <a:prstGeom prst="rect">
            <a:avLst/>
          </a:prstGeom>
          <a:solidFill>
            <a:srgbClr val="00A1DE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anchor="ctr"/>
          <a:lstStyle/>
          <a:p>
            <a:pPr algn="ctr">
              <a:lnSpc>
                <a:spcPct val="100000"/>
              </a:lnSpc>
              <a:defRPr/>
            </a:pPr>
            <a:r>
              <a:rPr lang="ko-KR" altLang="en-US" sz="1050" b="1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화면처리</a:t>
            </a:r>
            <a:r>
              <a:rPr lang="en-US" altLang="ko-KR" sz="1050" b="1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/>
            </a:r>
            <a:br>
              <a:rPr lang="en-US" altLang="ko-KR" sz="1050" b="1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</a:br>
            <a:r>
              <a:rPr lang="ko-KR" altLang="en-US" sz="1050" b="1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계층</a:t>
            </a:r>
          </a:p>
        </p:txBody>
      </p:sp>
      <p:sp>
        <p:nvSpPr>
          <p:cNvPr id="232" name="직사각형 231"/>
          <p:cNvSpPr/>
          <p:nvPr/>
        </p:nvSpPr>
        <p:spPr>
          <a:xfrm>
            <a:off x="2487364" y="3829817"/>
            <a:ext cx="603250" cy="446209"/>
          </a:xfrm>
          <a:prstGeom prst="rect">
            <a:avLst/>
          </a:prstGeom>
          <a:solidFill>
            <a:srgbClr val="00A1DE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anchor="ctr"/>
          <a:lstStyle/>
          <a:p>
            <a:pPr algn="ctr">
              <a:lnSpc>
                <a:spcPct val="100000"/>
              </a:lnSpc>
              <a:defRPr/>
            </a:pPr>
            <a:r>
              <a:rPr lang="ko-KR" altLang="en-US" sz="1050" b="1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업무처리</a:t>
            </a:r>
            <a:r>
              <a:rPr lang="en-US" altLang="ko-KR" sz="1050" b="1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/>
            </a:r>
            <a:br>
              <a:rPr lang="en-US" altLang="ko-KR" sz="1050" b="1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</a:br>
            <a:r>
              <a:rPr lang="ko-KR" altLang="en-US" sz="1050" b="1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계층</a:t>
            </a:r>
          </a:p>
        </p:txBody>
      </p:sp>
      <p:sp>
        <p:nvSpPr>
          <p:cNvPr id="233" name="직사각형 232"/>
          <p:cNvSpPr/>
          <p:nvPr/>
        </p:nvSpPr>
        <p:spPr>
          <a:xfrm>
            <a:off x="3111252" y="3829817"/>
            <a:ext cx="601662" cy="446209"/>
          </a:xfrm>
          <a:prstGeom prst="rect">
            <a:avLst/>
          </a:prstGeom>
          <a:solidFill>
            <a:srgbClr val="00A1DE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anchor="ctr"/>
          <a:lstStyle/>
          <a:p>
            <a:pPr algn="ctr">
              <a:lnSpc>
                <a:spcPct val="100000"/>
              </a:lnSpc>
              <a:defRPr/>
            </a:pPr>
            <a:r>
              <a:rPr lang="ko-KR" altLang="en-US" sz="1050" b="1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데이터</a:t>
            </a:r>
            <a:endParaRPr lang="en-US" altLang="ko-KR" sz="1050" b="1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>
              <a:lnSpc>
                <a:spcPct val="100000"/>
              </a:lnSpc>
              <a:defRPr/>
            </a:pPr>
            <a:r>
              <a:rPr lang="ko-KR" altLang="en-US" sz="1050" b="1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처리 계층</a:t>
            </a:r>
          </a:p>
        </p:txBody>
      </p:sp>
      <p:sp>
        <p:nvSpPr>
          <p:cNvPr id="234" name="직사각형 233"/>
          <p:cNvSpPr/>
          <p:nvPr/>
        </p:nvSpPr>
        <p:spPr>
          <a:xfrm>
            <a:off x="3735139" y="3829817"/>
            <a:ext cx="601663" cy="446209"/>
          </a:xfrm>
          <a:prstGeom prst="rect">
            <a:avLst/>
          </a:prstGeom>
          <a:solidFill>
            <a:srgbClr val="00A1DE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anchor="ctr"/>
          <a:lstStyle/>
          <a:p>
            <a:pPr algn="ctr">
              <a:lnSpc>
                <a:spcPct val="100000"/>
              </a:lnSpc>
              <a:defRPr/>
            </a:pPr>
            <a:r>
              <a:rPr lang="ko-KR" altLang="en-US" sz="1050" b="1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연계통합</a:t>
            </a:r>
            <a:r>
              <a:rPr lang="en-US" altLang="ko-KR" sz="1050" b="1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/>
            </a:r>
            <a:br>
              <a:rPr lang="en-US" altLang="ko-KR" sz="1050" b="1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</a:br>
            <a:r>
              <a:rPr lang="ko-KR" altLang="en-US" sz="1050" b="1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계층</a:t>
            </a:r>
          </a:p>
        </p:txBody>
      </p:sp>
      <p:sp>
        <p:nvSpPr>
          <p:cNvPr id="235" name="직사각형 234"/>
          <p:cNvSpPr/>
          <p:nvPr/>
        </p:nvSpPr>
        <p:spPr>
          <a:xfrm>
            <a:off x="1863477" y="4318522"/>
            <a:ext cx="2473325" cy="446209"/>
          </a:xfrm>
          <a:prstGeom prst="rect">
            <a:avLst/>
          </a:prstGeom>
          <a:solidFill>
            <a:srgbClr val="00A1DE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anchor="ctr"/>
          <a:lstStyle/>
          <a:p>
            <a:pPr algn="ctr">
              <a:lnSpc>
                <a:spcPct val="100000"/>
              </a:lnSpc>
              <a:defRPr/>
            </a:pPr>
            <a:r>
              <a:rPr lang="ko-KR" altLang="en-US" sz="1050" b="1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공통기반 계층</a:t>
            </a:r>
          </a:p>
        </p:txBody>
      </p:sp>
      <p:sp>
        <p:nvSpPr>
          <p:cNvPr id="236" name="직사각형 235"/>
          <p:cNvSpPr/>
          <p:nvPr/>
        </p:nvSpPr>
        <p:spPr>
          <a:xfrm>
            <a:off x="1863477" y="4856806"/>
            <a:ext cx="603250" cy="444437"/>
          </a:xfrm>
          <a:prstGeom prst="rect">
            <a:avLst/>
          </a:prstGeom>
          <a:solidFill>
            <a:srgbClr val="92D400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anchor="ctr"/>
          <a:lstStyle/>
          <a:p>
            <a:pPr algn="ctr">
              <a:lnSpc>
                <a:spcPct val="100000"/>
              </a:lnSpc>
              <a:defRPr/>
            </a:pPr>
            <a:r>
              <a:rPr lang="ko-KR" altLang="en-US" sz="1050" b="1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구현도구</a:t>
            </a:r>
          </a:p>
        </p:txBody>
      </p:sp>
      <p:sp>
        <p:nvSpPr>
          <p:cNvPr id="237" name="직사각형 236"/>
          <p:cNvSpPr/>
          <p:nvPr/>
        </p:nvSpPr>
        <p:spPr>
          <a:xfrm>
            <a:off x="2487364" y="4856806"/>
            <a:ext cx="603250" cy="444437"/>
          </a:xfrm>
          <a:prstGeom prst="rect">
            <a:avLst/>
          </a:prstGeom>
          <a:solidFill>
            <a:srgbClr val="92D400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anchor="ctr"/>
          <a:lstStyle/>
          <a:p>
            <a:pPr algn="ctr">
              <a:lnSpc>
                <a:spcPct val="100000"/>
              </a:lnSpc>
              <a:defRPr/>
            </a:pPr>
            <a:r>
              <a:rPr lang="ko-KR" altLang="en-US" sz="1050" b="1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테스트</a:t>
            </a:r>
            <a:endParaRPr lang="en-US" altLang="ko-KR" sz="1050" b="1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>
              <a:lnSpc>
                <a:spcPct val="100000"/>
              </a:lnSpc>
              <a:defRPr/>
            </a:pPr>
            <a:r>
              <a:rPr lang="ko-KR" altLang="en-US" sz="1050" b="1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도구</a:t>
            </a:r>
          </a:p>
        </p:txBody>
      </p:sp>
      <p:sp>
        <p:nvSpPr>
          <p:cNvPr id="238" name="직사각형 237"/>
          <p:cNvSpPr/>
          <p:nvPr/>
        </p:nvSpPr>
        <p:spPr>
          <a:xfrm>
            <a:off x="3111252" y="4856806"/>
            <a:ext cx="601662" cy="444437"/>
          </a:xfrm>
          <a:prstGeom prst="rect">
            <a:avLst/>
          </a:prstGeom>
          <a:solidFill>
            <a:srgbClr val="92D400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anchor="ctr"/>
          <a:lstStyle/>
          <a:p>
            <a:pPr algn="ctr">
              <a:lnSpc>
                <a:spcPct val="100000"/>
              </a:lnSpc>
              <a:defRPr/>
            </a:pPr>
            <a:r>
              <a:rPr lang="ko-KR" altLang="en-US" sz="1050" b="1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형상관리도구</a:t>
            </a:r>
          </a:p>
        </p:txBody>
      </p:sp>
      <p:sp>
        <p:nvSpPr>
          <p:cNvPr id="239" name="직사각형 238"/>
          <p:cNvSpPr/>
          <p:nvPr/>
        </p:nvSpPr>
        <p:spPr>
          <a:xfrm>
            <a:off x="3735139" y="4856806"/>
            <a:ext cx="601663" cy="444437"/>
          </a:xfrm>
          <a:prstGeom prst="rect">
            <a:avLst/>
          </a:prstGeom>
          <a:solidFill>
            <a:srgbClr val="92D400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anchor="ctr"/>
          <a:lstStyle/>
          <a:p>
            <a:pPr algn="ctr">
              <a:lnSpc>
                <a:spcPct val="100000"/>
              </a:lnSpc>
              <a:defRPr/>
            </a:pPr>
            <a:r>
              <a:rPr lang="ko-KR" altLang="en-US" sz="1050" b="1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배포도구</a:t>
            </a:r>
          </a:p>
        </p:txBody>
      </p:sp>
      <p:sp>
        <p:nvSpPr>
          <p:cNvPr id="241" name="직사각형 240"/>
          <p:cNvSpPr/>
          <p:nvPr/>
        </p:nvSpPr>
        <p:spPr>
          <a:xfrm>
            <a:off x="1661864" y="2066230"/>
            <a:ext cx="115888" cy="3934428"/>
          </a:xfrm>
          <a:prstGeom prst="rect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anchor="ctr"/>
          <a:lstStyle/>
          <a:p>
            <a:pPr algn="ctr">
              <a:lnSpc>
                <a:spcPct val="100000"/>
              </a:lnSpc>
              <a:defRPr/>
            </a:pPr>
            <a:endParaRPr lang="ko-KR" altLang="en-US" sz="1050" b="1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2" name="직사각형 241"/>
          <p:cNvSpPr/>
          <p:nvPr/>
        </p:nvSpPr>
        <p:spPr>
          <a:xfrm>
            <a:off x="1719014" y="5411025"/>
            <a:ext cx="2735263" cy="589634"/>
          </a:xfrm>
          <a:prstGeom prst="rect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anchor="ctr"/>
          <a:lstStyle/>
          <a:p>
            <a:pPr algn="ctr">
              <a:lnSpc>
                <a:spcPct val="100000"/>
              </a:lnSpc>
              <a:defRPr/>
            </a:pPr>
            <a:endParaRPr lang="ko-KR" altLang="en-US" sz="1050" b="1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3" name="직사각형 242"/>
          <p:cNvSpPr/>
          <p:nvPr/>
        </p:nvSpPr>
        <p:spPr>
          <a:xfrm>
            <a:off x="4405064" y="2066230"/>
            <a:ext cx="115888" cy="3934428"/>
          </a:xfrm>
          <a:prstGeom prst="rect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anchor="ctr"/>
          <a:lstStyle/>
          <a:p>
            <a:pPr algn="ctr">
              <a:lnSpc>
                <a:spcPct val="100000"/>
              </a:lnSpc>
              <a:defRPr/>
            </a:pPr>
            <a:endParaRPr lang="ko-KR" altLang="en-US" sz="1050" b="1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4" name="TextBox 260"/>
          <p:cNvSpPr txBox="1">
            <a:spLocks noChangeArrowheads="1"/>
          </p:cNvSpPr>
          <p:nvPr/>
        </p:nvSpPr>
        <p:spPr bwMode="auto">
          <a:xfrm>
            <a:off x="2408940" y="5564648"/>
            <a:ext cx="1458605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altLang="ko-KR" sz="1200" dirty="0" smtClean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rPr>
              <a:t>Spring Framework</a:t>
            </a:r>
            <a:endParaRPr lang="ko-KR" altLang="en-US" sz="1200" dirty="0">
              <a:solidFill>
                <a:srgbClr val="FFFFFF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51" name="직사각형 250"/>
          <p:cNvSpPr/>
          <p:nvPr/>
        </p:nvSpPr>
        <p:spPr>
          <a:xfrm>
            <a:off x="1833314" y="2220278"/>
            <a:ext cx="2530475" cy="1007512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00000"/>
              </a:lnSpc>
              <a:defRPr/>
            </a:pPr>
            <a:endParaRPr lang="ko-KR" altLang="en-US">
              <a:solidFill>
                <a:prstClr val="white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52" name="직사각형 251"/>
          <p:cNvSpPr/>
          <p:nvPr/>
        </p:nvSpPr>
        <p:spPr>
          <a:xfrm>
            <a:off x="1833314" y="3270286"/>
            <a:ext cx="2530475" cy="467457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00000"/>
              </a:lnSpc>
              <a:defRPr/>
            </a:pPr>
            <a:endParaRPr lang="ko-KR" altLang="en-US">
              <a:solidFill>
                <a:prstClr val="white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53" name="직사각형 252"/>
          <p:cNvSpPr/>
          <p:nvPr/>
        </p:nvSpPr>
        <p:spPr>
          <a:xfrm>
            <a:off x="1833314" y="3792633"/>
            <a:ext cx="2530475" cy="991575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00000"/>
              </a:lnSpc>
              <a:defRPr/>
            </a:pPr>
            <a:endParaRPr lang="ko-KR" altLang="en-US">
              <a:solidFill>
                <a:prstClr val="white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254" name="그룹 201"/>
          <p:cNvGrpSpPr>
            <a:grpSpLocks noChangeAspect="1"/>
          </p:cNvGrpSpPr>
          <p:nvPr/>
        </p:nvGrpSpPr>
        <p:grpSpPr bwMode="auto">
          <a:xfrm>
            <a:off x="1738064" y="2662945"/>
            <a:ext cx="136525" cy="139883"/>
            <a:chOff x="272480" y="4834467"/>
            <a:chExt cx="235520" cy="228158"/>
          </a:xfrm>
        </p:grpSpPr>
        <p:sp>
          <p:nvSpPr>
            <p:cNvPr id="318" name="타원 4"/>
            <p:cNvSpPr>
              <a:spLocks noChangeArrowheads="1"/>
            </p:cNvSpPr>
            <p:nvPr/>
          </p:nvSpPr>
          <p:spPr bwMode="gray">
            <a:xfrm>
              <a:off x="272480" y="4834467"/>
              <a:ext cx="235520" cy="228158"/>
            </a:xfrm>
            <a:prstGeom prst="ellipse">
              <a:avLst/>
            </a:prstGeom>
            <a:solidFill>
              <a:srgbClr val="00A1DE"/>
            </a:solidFill>
            <a:ln w="12700">
              <a:solidFill>
                <a:schemeClr val="bg1"/>
              </a:solidFill>
            </a:ln>
            <a:extLst/>
          </p:spPr>
          <p:txBody>
            <a:bodyPr rIns="36000" bIns="36000"/>
            <a:lstStyle/>
            <a:p>
              <a:pPr defTabSz="914400">
                <a:lnSpc>
                  <a:spcPct val="100000"/>
                </a:lnSpc>
                <a:defRPr/>
              </a:pPr>
              <a:endParaRPr lang="ko-KR" altLang="en-US" sz="5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endParaRPr>
            </a:p>
          </p:txBody>
        </p:sp>
        <p:sp>
          <p:nvSpPr>
            <p:cNvPr id="319" name="타원 4"/>
            <p:cNvSpPr>
              <a:spLocks noChangeAspect="1" noChangeArrowheads="1"/>
            </p:cNvSpPr>
            <p:nvPr/>
          </p:nvSpPr>
          <p:spPr bwMode="gray">
            <a:xfrm>
              <a:off x="299866" y="4860460"/>
              <a:ext cx="186225" cy="179060"/>
            </a:xfrm>
            <a:prstGeom prst="ellipse">
              <a:avLst/>
            </a:prstGeom>
            <a:solidFill>
              <a:schemeClr val="bg1"/>
            </a:solidFill>
            <a:ln w="12700">
              <a:noFill/>
            </a:ln>
            <a:extLst/>
          </p:spPr>
          <p:txBody>
            <a:bodyPr rIns="36000" bIns="36000"/>
            <a:lstStyle/>
            <a:p>
              <a:pPr defTabSz="914400">
                <a:lnSpc>
                  <a:spcPct val="100000"/>
                </a:lnSpc>
                <a:defRPr/>
              </a:pPr>
              <a:endParaRPr lang="ko-KR" altLang="en-US" sz="5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endParaRPr>
            </a:p>
          </p:txBody>
        </p:sp>
        <p:sp>
          <p:nvSpPr>
            <p:cNvPr id="320" name="타원 19"/>
            <p:cNvSpPr>
              <a:spLocks noChangeArrowheads="1"/>
            </p:cNvSpPr>
            <p:nvPr/>
          </p:nvSpPr>
          <p:spPr bwMode="gray">
            <a:xfrm>
              <a:off x="286174" y="4912446"/>
              <a:ext cx="210872" cy="75090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ctr"/>
            <a:lstStyle/>
            <a:p>
              <a:pPr algn="ctr" defTabSz="914400">
                <a:lnSpc>
                  <a:spcPct val="100000"/>
                </a:lnSpc>
                <a:defRPr/>
              </a:pPr>
              <a:r>
                <a:rPr kumimoji="1" lang="en-US" altLang="ko-KR" sz="900" b="1" kern="0" dirty="0">
                  <a:solidFill>
                    <a:srgbClr val="00B0F0"/>
                  </a:solidFill>
                  <a:latin typeface="맑은 고딕" pitchFamily="50" charset="-127"/>
                  <a:ea typeface="맑은 고딕" pitchFamily="50" charset="-127"/>
                  <a:cs typeface="Arial" pitchFamily="34" charset="0"/>
                </a:rPr>
                <a:t>1</a:t>
              </a:r>
              <a:endParaRPr kumimoji="1" lang="ko-KR" altLang="en-US" sz="900" b="1" kern="0" dirty="0">
                <a:solidFill>
                  <a:srgbClr val="00B0F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endParaRPr>
            </a:p>
          </p:txBody>
        </p:sp>
      </p:grpSp>
      <p:grpSp>
        <p:nvGrpSpPr>
          <p:cNvPr id="255" name="그룹 214"/>
          <p:cNvGrpSpPr>
            <a:grpSpLocks noChangeAspect="1"/>
          </p:cNvGrpSpPr>
          <p:nvPr/>
        </p:nvGrpSpPr>
        <p:grpSpPr bwMode="auto">
          <a:xfrm>
            <a:off x="1747589" y="4226447"/>
            <a:ext cx="136525" cy="139882"/>
            <a:chOff x="272480" y="4834467"/>
            <a:chExt cx="235520" cy="228158"/>
          </a:xfrm>
        </p:grpSpPr>
        <p:sp>
          <p:nvSpPr>
            <p:cNvPr id="315" name="타원 4"/>
            <p:cNvSpPr>
              <a:spLocks noChangeArrowheads="1"/>
            </p:cNvSpPr>
            <p:nvPr/>
          </p:nvSpPr>
          <p:spPr bwMode="gray">
            <a:xfrm>
              <a:off x="272480" y="4834467"/>
              <a:ext cx="235520" cy="228158"/>
            </a:xfrm>
            <a:prstGeom prst="ellipse">
              <a:avLst/>
            </a:prstGeom>
            <a:solidFill>
              <a:srgbClr val="00A1DE"/>
            </a:solidFill>
            <a:ln w="12700">
              <a:solidFill>
                <a:schemeClr val="bg1"/>
              </a:solidFill>
            </a:ln>
            <a:extLst/>
          </p:spPr>
          <p:txBody>
            <a:bodyPr rIns="36000" bIns="36000"/>
            <a:lstStyle/>
            <a:p>
              <a:pPr defTabSz="914400">
                <a:lnSpc>
                  <a:spcPct val="100000"/>
                </a:lnSpc>
                <a:defRPr/>
              </a:pPr>
              <a:endParaRPr lang="ko-KR" altLang="en-US" sz="5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endParaRPr>
            </a:p>
          </p:txBody>
        </p:sp>
        <p:sp>
          <p:nvSpPr>
            <p:cNvPr id="316" name="타원 4"/>
            <p:cNvSpPr>
              <a:spLocks noChangeAspect="1" noChangeArrowheads="1"/>
            </p:cNvSpPr>
            <p:nvPr/>
          </p:nvSpPr>
          <p:spPr bwMode="gray">
            <a:xfrm>
              <a:off x="299866" y="4860459"/>
              <a:ext cx="186225" cy="179061"/>
            </a:xfrm>
            <a:prstGeom prst="ellipse">
              <a:avLst/>
            </a:prstGeom>
            <a:solidFill>
              <a:schemeClr val="bg1"/>
            </a:solidFill>
            <a:ln w="12700">
              <a:noFill/>
            </a:ln>
            <a:extLst/>
          </p:spPr>
          <p:txBody>
            <a:bodyPr rIns="36000" bIns="36000"/>
            <a:lstStyle/>
            <a:p>
              <a:pPr defTabSz="914400">
                <a:lnSpc>
                  <a:spcPct val="100000"/>
                </a:lnSpc>
                <a:defRPr/>
              </a:pPr>
              <a:endParaRPr lang="ko-KR" altLang="en-US" sz="5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endParaRPr>
            </a:p>
          </p:txBody>
        </p:sp>
        <p:sp>
          <p:nvSpPr>
            <p:cNvPr id="317" name="타원 19"/>
            <p:cNvSpPr>
              <a:spLocks noChangeArrowheads="1"/>
            </p:cNvSpPr>
            <p:nvPr/>
          </p:nvSpPr>
          <p:spPr bwMode="gray">
            <a:xfrm>
              <a:off x="286174" y="4912444"/>
              <a:ext cx="210872" cy="75090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ctr"/>
            <a:lstStyle/>
            <a:p>
              <a:pPr algn="ctr" defTabSz="914400">
                <a:lnSpc>
                  <a:spcPct val="100000"/>
                </a:lnSpc>
                <a:defRPr/>
              </a:pPr>
              <a:r>
                <a:rPr kumimoji="1" lang="en-US" altLang="ko-KR" sz="900" b="1" kern="0" dirty="0">
                  <a:solidFill>
                    <a:srgbClr val="00B0F0"/>
                  </a:solidFill>
                  <a:latin typeface="맑은 고딕" pitchFamily="50" charset="-127"/>
                  <a:ea typeface="맑은 고딕" pitchFamily="50" charset="-127"/>
                  <a:cs typeface="Arial" pitchFamily="34" charset="0"/>
                </a:rPr>
                <a:t>3</a:t>
              </a:r>
              <a:endParaRPr kumimoji="1" lang="ko-KR" altLang="en-US" sz="900" b="1" kern="0" dirty="0">
                <a:solidFill>
                  <a:srgbClr val="00B0F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endParaRPr>
            </a:p>
          </p:txBody>
        </p:sp>
      </p:grpSp>
      <p:grpSp>
        <p:nvGrpSpPr>
          <p:cNvPr id="256" name="그룹 218"/>
          <p:cNvGrpSpPr>
            <a:grpSpLocks noChangeAspect="1"/>
          </p:cNvGrpSpPr>
          <p:nvPr/>
        </p:nvGrpSpPr>
        <p:grpSpPr bwMode="auto">
          <a:xfrm>
            <a:off x="1742827" y="3459747"/>
            <a:ext cx="136525" cy="139883"/>
            <a:chOff x="272480" y="4834467"/>
            <a:chExt cx="235520" cy="228158"/>
          </a:xfrm>
        </p:grpSpPr>
        <p:sp>
          <p:nvSpPr>
            <p:cNvPr id="312" name="타원 4"/>
            <p:cNvSpPr>
              <a:spLocks noChangeArrowheads="1"/>
            </p:cNvSpPr>
            <p:nvPr/>
          </p:nvSpPr>
          <p:spPr bwMode="gray">
            <a:xfrm>
              <a:off x="272480" y="4834467"/>
              <a:ext cx="235520" cy="228158"/>
            </a:xfrm>
            <a:prstGeom prst="ellipse">
              <a:avLst/>
            </a:prstGeom>
            <a:solidFill>
              <a:srgbClr val="00A1DE"/>
            </a:solidFill>
            <a:ln w="12700">
              <a:solidFill>
                <a:schemeClr val="bg1"/>
              </a:solidFill>
            </a:ln>
            <a:extLst/>
          </p:spPr>
          <p:txBody>
            <a:bodyPr rIns="36000" bIns="36000"/>
            <a:lstStyle/>
            <a:p>
              <a:pPr defTabSz="914400">
                <a:lnSpc>
                  <a:spcPct val="100000"/>
                </a:lnSpc>
                <a:defRPr/>
              </a:pPr>
              <a:endParaRPr lang="ko-KR" altLang="en-US" sz="5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endParaRPr>
            </a:p>
          </p:txBody>
        </p:sp>
        <p:sp>
          <p:nvSpPr>
            <p:cNvPr id="313" name="타원 4"/>
            <p:cNvSpPr>
              <a:spLocks noChangeAspect="1" noChangeArrowheads="1"/>
            </p:cNvSpPr>
            <p:nvPr/>
          </p:nvSpPr>
          <p:spPr bwMode="gray">
            <a:xfrm>
              <a:off x="299866" y="4860460"/>
              <a:ext cx="186225" cy="179060"/>
            </a:xfrm>
            <a:prstGeom prst="ellipse">
              <a:avLst/>
            </a:prstGeom>
            <a:solidFill>
              <a:schemeClr val="bg1"/>
            </a:solidFill>
            <a:ln w="12700">
              <a:noFill/>
            </a:ln>
            <a:extLst/>
          </p:spPr>
          <p:txBody>
            <a:bodyPr rIns="36000" bIns="36000"/>
            <a:lstStyle/>
            <a:p>
              <a:pPr defTabSz="914400">
                <a:lnSpc>
                  <a:spcPct val="100000"/>
                </a:lnSpc>
                <a:defRPr/>
              </a:pPr>
              <a:endParaRPr lang="ko-KR" altLang="en-US" sz="5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endParaRPr>
            </a:p>
          </p:txBody>
        </p:sp>
        <p:sp>
          <p:nvSpPr>
            <p:cNvPr id="314" name="타원 19"/>
            <p:cNvSpPr>
              <a:spLocks noChangeArrowheads="1"/>
            </p:cNvSpPr>
            <p:nvPr/>
          </p:nvSpPr>
          <p:spPr bwMode="gray">
            <a:xfrm>
              <a:off x="286172" y="4912446"/>
              <a:ext cx="210873" cy="75090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ctr"/>
            <a:lstStyle/>
            <a:p>
              <a:pPr algn="ctr" defTabSz="914400">
                <a:lnSpc>
                  <a:spcPct val="100000"/>
                </a:lnSpc>
                <a:defRPr/>
              </a:pPr>
              <a:r>
                <a:rPr kumimoji="1" lang="en-US" altLang="ko-KR" sz="900" b="1" kern="0" dirty="0">
                  <a:solidFill>
                    <a:srgbClr val="00B0F0"/>
                  </a:solidFill>
                  <a:latin typeface="맑은 고딕" pitchFamily="50" charset="-127"/>
                  <a:ea typeface="맑은 고딕" pitchFamily="50" charset="-127"/>
                  <a:cs typeface="Arial" pitchFamily="34" charset="0"/>
                </a:rPr>
                <a:t>2</a:t>
              </a:r>
              <a:endParaRPr kumimoji="1" lang="ko-KR" altLang="en-US" sz="900" b="1" kern="0" dirty="0">
                <a:solidFill>
                  <a:srgbClr val="00B0F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endParaRPr>
            </a:p>
          </p:txBody>
        </p:sp>
      </p:grpSp>
      <p:sp>
        <p:nvSpPr>
          <p:cNvPr id="258" name="대각선 방향의 모서리가 둥근 사각형 257"/>
          <p:cNvSpPr/>
          <p:nvPr/>
        </p:nvSpPr>
        <p:spPr bwMode="auto">
          <a:xfrm flipH="1">
            <a:off x="485776" y="3181700"/>
            <a:ext cx="1000125" cy="607340"/>
          </a:xfrm>
          <a:prstGeom prst="round2DiagRect">
            <a:avLst>
              <a:gd name="adj1" fmla="val 22830"/>
              <a:gd name="adj2" fmla="val 0"/>
            </a:avLst>
          </a:prstGeom>
          <a:solidFill>
            <a:schemeClr val="bg1"/>
          </a:solidFill>
          <a:ln w="6350" cap="flat" cmpd="sng" algn="ctr">
            <a:solidFill>
              <a:srgbClr val="00A1DE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144000" tIns="0" rIns="0" bIns="0"/>
          <a:lstStyle/>
          <a:p>
            <a:pPr>
              <a:lnSpc>
                <a:spcPct val="100000"/>
              </a:lnSpc>
              <a:defRPr/>
            </a:pPr>
            <a:endParaRPr lang="ko-KR" altLang="en-US" sz="1050" dirty="0">
              <a:solidFill>
                <a:srgbClr val="00277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59" name="직사각형 258"/>
          <p:cNvSpPr/>
          <p:nvPr/>
        </p:nvSpPr>
        <p:spPr>
          <a:xfrm>
            <a:off x="485776" y="3300335"/>
            <a:ext cx="1000125" cy="253916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lang="ko-KR" altLang="en-US" sz="1050" dirty="0" smtClean="0">
                <a:solidFill>
                  <a:srgbClr val="002776"/>
                </a:solidFill>
                <a:latin typeface="맑은 고딕" pitchFamily="50" charset="-127"/>
                <a:ea typeface="맑은 고딕" pitchFamily="50" charset="-127"/>
              </a:rPr>
              <a:t>공통요소</a:t>
            </a:r>
            <a:endParaRPr lang="ko-KR" altLang="en-US" sz="1050" dirty="0">
              <a:solidFill>
                <a:srgbClr val="00277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60" name="대각선 방향의 모서리가 둥근 사각형 259"/>
          <p:cNvSpPr/>
          <p:nvPr/>
        </p:nvSpPr>
        <p:spPr bwMode="auto">
          <a:xfrm flipH="1">
            <a:off x="485776" y="3975559"/>
            <a:ext cx="1000125" cy="605569"/>
          </a:xfrm>
          <a:prstGeom prst="round2DiagRect">
            <a:avLst>
              <a:gd name="adj1" fmla="val 22830"/>
              <a:gd name="adj2" fmla="val 0"/>
            </a:avLst>
          </a:prstGeom>
          <a:solidFill>
            <a:schemeClr val="bg1"/>
          </a:solidFill>
          <a:ln w="6350" cap="flat" cmpd="sng" algn="ctr">
            <a:solidFill>
              <a:srgbClr val="00A1DE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144000" tIns="0" rIns="0" bIns="0"/>
          <a:lstStyle/>
          <a:p>
            <a:pPr>
              <a:lnSpc>
                <a:spcPct val="100000"/>
              </a:lnSpc>
              <a:defRPr/>
            </a:pPr>
            <a:endParaRPr lang="ko-KR" altLang="en-US" sz="1050" dirty="0">
              <a:solidFill>
                <a:srgbClr val="00277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61" name="직사각형 260"/>
          <p:cNvSpPr/>
          <p:nvPr/>
        </p:nvSpPr>
        <p:spPr>
          <a:xfrm>
            <a:off x="485776" y="3991496"/>
            <a:ext cx="1000125" cy="423193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00000"/>
              </a:lnSpc>
              <a:defRPr/>
            </a:pPr>
            <a:endParaRPr lang="en-US" altLang="ko-KR" sz="1050" dirty="0">
              <a:solidFill>
                <a:srgbClr val="002776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>
              <a:lnSpc>
                <a:spcPct val="100000"/>
              </a:lnSpc>
              <a:defRPr/>
            </a:pPr>
            <a:r>
              <a:rPr lang="ko-KR" altLang="en-US" sz="1050" dirty="0" smtClean="0">
                <a:solidFill>
                  <a:srgbClr val="002776"/>
                </a:solidFill>
                <a:latin typeface="맑은 고딕" pitchFamily="50" charset="-127"/>
                <a:ea typeface="맑은 고딕" pitchFamily="50" charset="-127"/>
              </a:rPr>
              <a:t>실행환경</a:t>
            </a:r>
            <a:endParaRPr lang="ko-KR" altLang="en-US" sz="1050" dirty="0">
              <a:solidFill>
                <a:srgbClr val="00277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62" name="대각선 방향의 모서리가 둥근 사각형 261"/>
          <p:cNvSpPr/>
          <p:nvPr/>
        </p:nvSpPr>
        <p:spPr bwMode="auto">
          <a:xfrm flipH="1">
            <a:off x="485776" y="4654908"/>
            <a:ext cx="1000125" cy="605569"/>
          </a:xfrm>
          <a:prstGeom prst="round2DiagRect">
            <a:avLst>
              <a:gd name="adj1" fmla="val 22830"/>
              <a:gd name="adj2" fmla="val 0"/>
            </a:avLst>
          </a:prstGeom>
          <a:solidFill>
            <a:schemeClr val="bg1"/>
          </a:solidFill>
          <a:ln w="6350" cap="flat" cmpd="sng" algn="ctr">
            <a:solidFill>
              <a:srgbClr val="00A1DE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144000" tIns="0" rIns="0" bIns="0" anchor="ctr"/>
          <a:lstStyle/>
          <a:p>
            <a:pPr algn="ctr">
              <a:lnSpc>
                <a:spcPct val="100000"/>
              </a:lnSpc>
              <a:defRPr/>
            </a:pPr>
            <a:r>
              <a:rPr lang="ko-KR" altLang="en-US" sz="1050" dirty="0" smtClean="0">
                <a:solidFill>
                  <a:srgbClr val="002776"/>
                </a:solidFill>
                <a:latin typeface="맑은 고딕" pitchFamily="50" charset="-127"/>
                <a:ea typeface="맑은 고딕" pitchFamily="50" charset="-127"/>
              </a:rPr>
              <a:t>개발환경</a:t>
            </a:r>
            <a:endParaRPr lang="ko-KR" altLang="en-US" sz="1050" dirty="0">
              <a:solidFill>
                <a:srgbClr val="00277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264" name="그룹 335"/>
          <p:cNvGrpSpPr>
            <a:grpSpLocks/>
          </p:cNvGrpSpPr>
          <p:nvPr/>
        </p:nvGrpSpPr>
        <p:grpSpPr bwMode="auto">
          <a:xfrm>
            <a:off x="484188" y="5399153"/>
            <a:ext cx="1001713" cy="607340"/>
            <a:chOff x="4550769" y="6330886"/>
            <a:chExt cx="1034026" cy="627104"/>
          </a:xfrm>
        </p:grpSpPr>
        <p:sp>
          <p:nvSpPr>
            <p:cNvPr id="301" name="대각선 방향의 모서리가 둥근 사각형 300"/>
            <p:cNvSpPr/>
            <p:nvPr/>
          </p:nvSpPr>
          <p:spPr bwMode="auto">
            <a:xfrm flipH="1">
              <a:off x="4552408" y="6330886"/>
              <a:ext cx="1032387" cy="627104"/>
            </a:xfrm>
            <a:prstGeom prst="round2DiagRect">
              <a:avLst>
                <a:gd name="adj1" fmla="val 22830"/>
                <a:gd name="adj2" fmla="val 0"/>
              </a:avLst>
            </a:prstGeom>
            <a:solidFill>
              <a:schemeClr val="bg1"/>
            </a:solidFill>
            <a:ln w="6350" cap="flat" cmpd="sng" algn="ctr">
              <a:solidFill>
                <a:srgbClr val="00A1DE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144000" tIns="0" rIns="0" bIns="0" anchor="ctr"/>
            <a:lstStyle/>
            <a:p>
              <a:pPr>
                <a:defRPr/>
              </a:pPr>
              <a:r>
                <a:rPr lang="en-US" altLang="ko-KR" sz="1050" dirty="0" smtClean="0">
                  <a:solidFill>
                    <a:srgbClr val="002776"/>
                  </a:solidFill>
                  <a:latin typeface="맑은 고딕" pitchFamily="50" charset="-127"/>
                  <a:ea typeface="맑은 고딕" pitchFamily="50" charset="-127"/>
                </a:rPr>
                <a:t>Framework</a:t>
              </a:r>
              <a:endParaRPr lang="ko-KR" altLang="en-US" sz="1050" dirty="0" smtClean="0">
                <a:solidFill>
                  <a:srgbClr val="002776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02" name="직사각형 301"/>
            <p:cNvSpPr/>
            <p:nvPr/>
          </p:nvSpPr>
          <p:spPr>
            <a:xfrm>
              <a:off x="4552408" y="6347341"/>
              <a:ext cx="1032387" cy="262179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ctr">
                <a:lnSpc>
                  <a:spcPct val="100000"/>
                </a:lnSpc>
                <a:defRPr/>
              </a:pPr>
              <a:endParaRPr lang="ko-KR" altLang="en-US" sz="1050" dirty="0">
                <a:solidFill>
                  <a:srgbClr val="002776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grpSp>
          <p:nvGrpSpPr>
            <p:cNvPr id="303" name="그룹 230"/>
            <p:cNvGrpSpPr>
              <a:grpSpLocks/>
            </p:cNvGrpSpPr>
            <p:nvPr/>
          </p:nvGrpSpPr>
          <p:grpSpPr bwMode="auto">
            <a:xfrm>
              <a:off x="4550769" y="6330886"/>
              <a:ext cx="374712" cy="261632"/>
              <a:chOff x="8593171" y="2807328"/>
              <a:chExt cx="392277" cy="261632"/>
            </a:xfrm>
          </p:grpSpPr>
          <p:sp>
            <p:nvSpPr>
              <p:cNvPr id="304" name="자유형 22"/>
              <p:cNvSpPr>
                <a:spLocks noChangeArrowheads="1"/>
              </p:cNvSpPr>
              <p:nvPr/>
            </p:nvSpPr>
            <p:spPr bwMode="auto">
              <a:xfrm>
                <a:off x="8593171" y="2807328"/>
                <a:ext cx="392277" cy="261632"/>
              </a:xfrm>
              <a:custGeom>
                <a:avLst/>
                <a:gdLst>
                  <a:gd name="T0" fmla="*/ 0 w 352356"/>
                  <a:gd name="T1" fmla="*/ 436254 h 329415"/>
                  <a:gd name="T2" fmla="*/ 688741 w 352356"/>
                  <a:gd name="T3" fmla="*/ 2324 h 329415"/>
                  <a:gd name="T4" fmla="*/ 673768 w 352356"/>
                  <a:gd name="T5" fmla="*/ 2324 h 329415"/>
                  <a:gd name="T6" fmla="*/ 0 w 352356"/>
                  <a:gd name="T7" fmla="*/ 2324 h 329415"/>
                  <a:gd name="T8" fmla="*/ 0 w 352356"/>
                  <a:gd name="T9" fmla="*/ 436254 h 32941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2356"/>
                  <a:gd name="T16" fmla="*/ 0 h 329415"/>
                  <a:gd name="T17" fmla="*/ 352356 w 352356"/>
                  <a:gd name="T18" fmla="*/ 329415 h 32941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2356" h="329415">
                    <a:moveTo>
                      <a:pt x="0" y="329415"/>
                    </a:moveTo>
                    <a:cubicBezTo>
                      <a:pt x="116840" y="220195"/>
                      <a:pt x="234885" y="112250"/>
                      <a:pt x="350520" y="1755"/>
                    </a:cubicBezTo>
                    <a:cubicBezTo>
                      <a:pt x="352356" y="0"/>
                      <a:pt x="345440" y="1755"/>
                      <a:pt x="342900" y="1755"/>
                    </a:cubicBezTo>
                    <a:lnTo>
                      <a:pt x="0" y="1755"/>
                    </a:lnTo>
                    <a:lnTo>
                      <a:pt x="0" y="329415"/>
                    </a:lnTo>
                    <a:close/>
                  </a:path>
                </a:pathLst>
              </a:custGeom>
              <a:solidFill>
                <a:srgbClr val="00A1DE"/>
              </a:solidFill>
              <a:ln w="9525">
                <a:noFill/>
                <a:round/>
                <a:headEnd/>
                <a:tailEnd/>
              </a:ln>
            </p:spPr>
            <p:txBody>
              <a:bodyPr rIns="36000" bIns="36000"/>
              <a:lstStyle/>
              <a:p>
                <a:endParaRPr lang="ko-KR" altLang="en-US"/>
              </a:p>
            </p:txBody>
          </p:sp>
          <p:grpSp>
            <p:nvGrpSpPr>
              <p:cNvPr id="305" name="그룹 226"/>
              <p:cNvGrpSpPr>
                <a:grpSpLocks noChangeAspect="1"/>
              </p:cNvGrpSpPr>
              <p:nvPr/>
            </p:nvGrpSpPr>
            <p:grpSpPr bwMode="auto">
              <a:xfrm>
                <a:off x="8615076" y="2821940"/>
                <a:ext cx="148646" cy="144000"/>
                <a:chOff x="272480" y="4834467"/>
                <a:chExt cx="235520" cy="228158"/>
              </a:xfrm>
            </p:grpSpPr>
            <p:sp>
              <p:nvSpPr>
                <p:cNvPr id="306" name="타원 4"/>
                <p:cNvSpPr>
                  <a:spLocks noChangeArrowheads="1"/>
                </p:cNvSpPr>
                <p:nvPr/>
              </p:nvSpPr>
              <p:spPr bwMode="gray">
                <a:xfrm>
                  <a:off x="273110" y="4834489"/>
                  <a:ext cx="236477" cy="228848"/>
                </a:xfrm>
                <a:prstGeom prst="ellipse">
                  <a:avLst/>
                </a:prstGeom>
                <a:solidFill>
                  <a:srgbClr val="00A1DE"/>
                </a:solidFill>
                <a:ln w="12700">
                  <a:solidFill>
                    <a:schemeClr val="bg1"/>
                  </a:solidFill>
                </a:ln>
                <a:extLst/>
              </p:spPr>
              <p:txBody>
                <a:bodyPr rIns="36000" bIns="36000"/>
                <a:lstStyle/>
                <a:p>
                  <a:pPr defTabSz="914400">
                    <a:lnSpc>
                      <a:spcPct val="100000"/>
                    </a:lnSpc>
                    <a:defRPr/>
                  </a:pPr>
                  <a:endParaRPr lang="ko-KR" altLang="en-US" sz="400" kern="0" dirty="0">
                    <a:solidFill>
                      <a:srgbClr val="000000"/>
                    </a:solidFill>
                    <a:latin typeface="맑은 고딕" pitchFamily="50" charset="-127"/>
                    <a:ea typeface="맑은 고딕" pitchFamily="50" charset="-127"/>
                    <a:cs typeface="Arial" charset="0"/>
                  </a:endParaRPr>
                </a:p>
              </p:txBody>
            </p:sp>
            <p:sp>
              <p:nvSpPr>
                <p:cNvPr id="307" name="타원 4"/>
                <p:cNvSpPr>
                  <a:spLocks noChangeAspect="1" noChangeArrowheads="1"/>
                </p:cNvSpPr>
                <p:nvPr/>
              </p:nvSpPr>
              <p:spPr bwMode="gray">
                <a:xfrm>
                  <a:off x="300291" y="4860561"/>
                  <a:ext cx="187551" cy="179601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noFill/>
                </a:ln>
                <a:extLst/>
              </p:spPr>
              <p:txBody>
                <a:bodyPr rIns="36000" bIns="36000"/>
                <a:lstStyle/>
                <a:p>
                  <a:pPr defTabSz="914400">
                    <a:lnSpc>
                      <a:spcPct val="100000"/>
                    </a:lnSpc>
                    <a:defRPr/>
                  </a:pPr>
                  <a:endParaRPr lang="ko-KR" altLang="en-US" sz="400" kern="0" dirty="0">
                    <a:solidFill>
                      <a:srgbClr val="000000"/>
                    </a:solidFill>
                    <a:latin typeface="맑은 고딕" pitchFamily="50" charset="-127"/>
                    <a:ea typeface="맑은 고딕" pitchFamily="50" charset="-127"/>
                    <a:cs typeface="Arial" charset="0"/>
                  </a:endParaRPr>
                </a:p>
              </p:txBody>
            </p:sp>
            <p:sp>
              <p:nvSpPr>
                <p:cNvPr id="308" name="타원 19"/>
                <p:cNvSpPr>
                  <a:spLocks noChangeArrowheads="1"/>
                </p:cNvSpPr>
                <p:nvPr/>
              </p:nvSpPr>
              <p:spPr bwMode="gray">
                <a:xfrm>
                  <a:off x="286700" y="4912703"/>
                  <a:ext cx="212015" cy="7531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anchor="ctr"/>
                <a:lstStyle/>
                <a:p>
                  <a:pPr algn="ctr" defTabSz="914400">
                    <a:lnSpc>
                      <a:spcPct val="100000"/>
                    </a:lnSpc>
                    <a:defRPr/>
                  </a:pPr>
                  <a:r>
                    <a:rPr kumimoji="1" lang="en-US" altLang="ko-KR" sz="800" b="1" kern="0" dirty="0">
                      <a:solidFill>
                        <a:srgbClr val="00B0F0"/>
                      </a:solidFill>
                      <a:latin typeface="맑은 고딕" pitchFamily="50" charset="-127"/>
                      <a:ea typeface="맑은 고딕" pitchFamily="50" charset="-127"/>
                      <a:cs typeface="Arial" pitchFamily="34" charset="0"/>
                    </a:rPr>
                    <a:t>5</a:t>
                  </a:r>
                  <a:endParaRPr kumimoji="1" lang="ko-KR" altLang="en-US" sz="800" b="1" kern="0" dirty="0">
                    <a:solidFill>
                      <a:srgbClr val="00B0F0"/>
                    </a:solidFill>
                    <a:latin typeface="맑은 고딕" pitchFamily="50" charset="-127"/>
                    <a:ea typeface="맑은 고딕" pitchFamily="50" charset="-127"/>
                    <a:cs typeface="Arial" pitchFamily="34" charset="0"/>
                  </a:endParaRPr>
                </a:p>
              </p:txBody>
            </p:sp>
          </p:grpSp>
        </p:grpSp>
      </p:grpSp>
      <p:grpSp>
        <p:nvGrpSpPr>
          <p:cNvPr id="265" name="그룹 231"/>
          <p:cNvGrpSpPr>
            <a:grpSpLocks/>
          </p:cNvGrpSpPr>
          <p:nvPr/>
        </p:nvGrpSpPr>
        <p:grpSpPr bwMode="auto">
          <a:xfrm>
            <a:off x="484188" y="3183471"/>
            <a:ext cx="363538" cy="253205"/>
            <a:chOff x="8593171" y="2807328"/>
            <a:chExt cx="392277" cy="261632"/>
          </a:xfrm>
        </p:grpSpPr>
        <p:sp>
          <p:nvSpPr>
            <p:cNvPr id="296" name="자유형 22"/>
            <p:cNvSpPr>
              <a:spLocks noChangeArrowheads="1"/>
            </p:cNvSpPr>
            <p:nvPr/>
          </p:nvSpPr>
          <p:spPr bwMode="auto">
            <a:xfrm>
              <a:off x="8593171" y="2807328"/>
              <a:ext cx="392277" cy="261632"/>
            </a:xfrm>
            <a:custGeom>
              <a:avLst/>
              <a:gdLst>
                <a:gd name="T0" fmla="*/ 0 w 352356"/>
                <a:gd name="T1" fmla="*/ 436254 h 329415"/>
                <a:gd name="T2" fmla="*/ 688741 w 352356"/>
                <a:gd name="T3" fmla="*/ 2324 h 329415"/>
                <a:gd name="T4" fmla="*/ 673768 w 352356"/>
                <a:gd name="T5" fmla="*/ 2324 h 329415"/>
                <a:gd name="T6" fmla="*/ 0 w 352356"/>
                <a:gd name="T7" fmla="*/ 2324 h 329415"/>
                <a:gd name="T8" fmla="*/ 0 w 352356"/>
                <a:gd name="T9" fmla="*/ 436254 h 3294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2356"/>
                <a:gd name="T16" fmla="*/ 0 h 329415"/>
                <a:gd name="T17" fmla="*/ 352356 w 352356"/>
                <a:gd name="T18" fmla="*/ 329415 h 32941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2356" h="329415">
                  <a:moveTo>
                    <a:pt x="0" y="329415"/>
                  </a:moveTo>
                  <a:cubicBezTo>
                    <a:pt x="116840" y="220195"/>
                    <a:pt x="234885" y="112250"/>
                    <a:pt x="350520" y="1755"/>
                  </a:cubicBezTo>
                  <a:cubicBezTo>
                    <a:pt x="352356" y="0"/>
                    <a:pt x="345440" y="1755"/>
                    <a:pt x="342900" y="1755"/>
                  </a:cubicBezTo>
                  <a:lnTo>
                    <a:pt x="0" y="1755"/>
                  </a:lnTo>
                  <a:lnTo>
                    <a:pt x="0" y="329415"/>
                  </a:lnTo>
                  <a:close/>
                </a:path>
              </a:pathLst>
            </a:custGeom>
            <a:solidFill>
              <a:srgbClr val="00A1DE"/>
            </a:solidFill>
            <a:ln w="9525">
              <a:noFill/>
              <a:round/>
              <a:headEnd/>
              <a:tailEnd/>
            </a:ln>
          </p:spPr>
          <p:txBody>
            <a:bodyPr rIns="36000" bIns="36000"/>
            <a:lstStyle/>
            <a:p>
              <a:endParaRPr lang="ko-KR" altLang="en-US"/>
            </a:p>
          </p:txBody>
        </p:sp>
        <p:grpSp>
          <p:nvGrpSpPr>
            <p:cNvPr id="297" name="그룹 226"/>
            <p:cNvGrpSpPr>
              <a:grpSpLocks noChangeAspect="1"/>
            </p:cNvGrpSpPr>
            <p:nvPr/>
          </p:nvGrpSpPr>
          <p:grpSpPr bwMode="auto">
            <a:xfrm>
              <a:off x="8615076" y="2821940"/>
              <a:ext cx="148646" cy="144000"/>
              <a:chOff x="272480" y="4834467"/>
              <a:chExt cx="235520" cy="228158"/>
            </a:xfrm>
          </p:grpSpPr>
          <p:sp>
            <p:nvSpPr>
              <p:cNvPr id="298" name="타원 4"/>
              <p:cNvSpPr>
                <a:spLocks noChangeArrowheads="1"/>
              </p:cNvSpPr>
              <p:nvPr/>
            </p:nvSpPr>
            <p:spPr bwMode="gray">
              <a:xfrm>
                <a:off x="273058" y="4834507"/>
                <a:ext cx="236129" cy="229011"/>
              </a:xfrm>
              <a:prstGeom prst="ellipse">
                <a:avLst/>
              </a:prstGeom>
              <a:solidFill>
                <a:srgbClr val="00A1DE"/>
              </a:solidFill>
              <a:ln w="12700">
                <a:solidFill>
                  <a:schemeClr val="bg1"/>
                </a:solidFill>
              </a:ln>
              <a:extLst/>
            </p:spPr>
            <p:txBody>
              <a:bodyPr rIns="36000" bIns="36000"/>
              <a:lstStyle/>
              <a:p>
                <a:pPr defTabSz="914400">
                  <a:lnSpc>
                    <a:spcPct val="100000"/>
                  </a:lnSpc>
                  <a:defRPr/>
                </a:pPr>
                <a:endParaRPr lang="ko-KR" altLang="en-US" sz="400" kern="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  <a:cs typeface="Arial" charset="0"/>
                </a:endParaRPr>
              </a:p>
            </p:txBody>
          </p:sp>
          <p:sp>
            <p:nvSpPr>
              <p:cNvPr id="299" name="타원 4"/>
              <p:cNvSpPr>
                <a:spLocks noChangeAspect="1" noChangeArrowheads="1"/>
              </p:cNvSpPr>
              <p:nvPr/>
            </p:nvSpPr>
            <p:spPr bwMode="gray">
              <a:xfrm>
                <a:off x="300199" y="4860596"/>
                <a:ext cx="187274" cy="179731"/>
              </a:xfrm>
              <a:prstGeom prst="ellipse">
                <a:avLst/>
              </a:prstGeom>
              <a:solidFill>
                <a:schemeClr val="bg1"/>
              </a:solidFill>
              <a:ln w="12700">
                <a:noFill/>
              </a:ln>
              <a:extLst/>
            </p:spPr>
            <p:txBody>
              <a:bodyPr rIns="36000" bIns="36000"/>
              <a:lstStyle/>
              <a:p>
                <a:pPr defTabSz="914400">
                  <a:lnSpc>
                    <a:spcPct val="100000"/>
                  </a:lnSpc>
                  <a:defRPr/>
                </a:pPr>
                <a:endParaRPr lang="ko-KR" altLang="en-US" sz="400" kern="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  <a:cs typeface="Arial" charset="0"/>
                </a:endParaRPr>
              </a:p>
            </p:txBody>
          </p:sp>
          <p:sp>
            <p:nvSpPr>
              <p:cNvPr id="300" name="타원 19"/>
              <p:cNvSpPr>
                <a:spLocks noChangeArrowheads="1"/>
              </p:cNvSpPr>
              <p:nvPr/>
            </p:nvSpPr>
            <p:spPr bwMode="gray">
              <a:xfrm>
                <a:off x="286628" y="4912776"/>
                <a:ext cx="211702" cy="753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anchor="ctr"/>
              <a:lstStyle/>
              <a:p>
                <a:pPr algn="ctr" defTabSz="914400">
                  <a:lnSpc>
                    <a:spcPct val="100000"/>
                  </a:lnSpc>
                  <a:defRPr/>
                </a:pPr>
                <a:r>
                  <a:rPr kumimoji="1" lang="en-US" altLang="ko-KR" sz="800" b="1" kern="0" dirty="0">
                    <a:solidFill>
                      <a:srgbClr val="00B0F0"/>
                    </a:solidFill>
                    <a:latin typeface="맑은 고딕" pitchFamily="50" charset="-127"/>
                    <a:ea typeface="맑은 고딕" pitchFamily="50" charset="-127"/>
                    <a:cs typeface="Arial" pitchFamily="34" charset="0"/>
                  </a:rPr>
                  <a:t>2</a:t>
                </a:r>
                <a:endParaRPr kumimoji="1" lang="ko-KR" altLang="en-US" sz="800" b="1" kern="0" dirty="0">
                  <a:solidFill>
                    <a:srgbClr val="00B0F0"/>
                  </a:solidFill>
                  <a:latin typeface="맑은 고딕" pitchFamily="50" charset="-127"/>
                  <a:ea typeface="맑은 고딕" pitchFamily="50" charset="-127"/>
                  <a:cs typeface="Arial" pitchFamily="34" charset="0"/>
                </a:endParaRPr>
              </a:p>
            </p:txBody>
          </p:sp>
        </p:grpSp>
      </p:grpSp>
      <p:grpSp>
        <p:nvGrpSpPr>
          <p:cNvPr id="266" name="그룹 237"/>
          <p:cNvGrpSpPr>
            <a:grpSpLocks/>
          </p:cNvGrpSpPr>
          <p:nvPr/>
        </p:nvGrpSpPr>
        <p:grpSpPr bwMode="auto">
          <a:xfrm>
            <a:off x="484188" y="3977331"/>
            <a:ext cx="363538" cy="253205"/>
            <a:chOff x="8593171" y="2807328"/>
            <a:chExt cx="392277" cy="261632"/>
          </a:xfrm>
        </p:grpSpPr>
        <p:sp>
          <p:nvSpPr>
            <p:cNvPr id="291" name="자유형 22"/>
            <p:cNvSpPr>
              <a:spLocks noChangeArrowheads="1"/>
            </p:cNvSpPr>
            <p:nvPr/>
          </p:nvSpPr>
          <p:spPr bwMode="auto">
            <a:xfrm>
              <a:off x="8593171" y="2807328"/>
              <a:ext cx="392277" cy="261632"/>
            </a:xfrm>
            <a:custGeom>
              <a:avLst/>
              <a:gdLst>
                <a:gd name="T0" fmla="*/ 0 w 352356"/>
                <a:gd name="T1" fmla="*/ 436254 h 329415"/>
                <a:gd name="T2" fmla="*/ 688741 w 352356"/>
                <a:gd name="T3" fmla="*/ 2324 h 329415"/>
                <a:gd name="T4" fmla="*/ 673768 w 352356"/>
                <a:gd name="T5" fmla="*/ 2324 h 329415"/>
                <a:gd name="T6" fmla="*/ 0 w 352356"/>
                <a:gd name="T7" fmla="*/ 2324 h 329415"/>
                <a:gd name="T8" fmla="*/ 0 w 352356"/>
                <a:gd name="T9" fmla="*/ 436254 h 3294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2356"/>
                <a:gd name="T16" fmla="*/ 0 h 329415"/>
                <a:gd name="T17" fmla="*/ 352356 w 352356"/>
                <a:gd name="T18" fmla="*/ 329415 h 32941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2356" h="329415">
                  <a:moveTo>
                    <a:pt x="0" y="329415"/>
                  </a:moveTo>
                  <a:cubicBezTo>
                    <a:pt x="116840" y="220195"/>
                    <a:pt x="234885" y="112250"/>
                    <a:pt x="350520" y="1755"/>
                  </a:cubicBezTo>
                  <a:cubicBezTo>
                    <a:pt x="352356" y="0"/>
                    <a:pt x="345440" y="1755"/>
                    <a:pt x="342900" y="1755"/>
                  </a:cubicBezTo>
                  <a:lnTo>
                    <a:pt x="0" y="1755"/>
                  </a:lnTo>
                  <a:lnTo>
                    <a:pt x="0" y="329415"/>
                  </a:lnTo>
                  <a:close/>
                </a:path>
              </a:pathLst>
            </a:custGeom>
            <a:solidFill>
              <a:srgbClr val="00A1DE"/>
            </a:solidFill>
            <a:ln w="9525">
              <a:noFill/>
              <a:round/>
              <a:headEnd/>
              <a:tailEnd/>
            </a:ln>
          </p:spPr>
          <p:txBody>
            <a:bodyPr rIns="36000" bIns="36000"/>
            <a:lstStyle/>
            <a:p>
              <a:endParaRPr lang="ko-KR" altLang="en-US"/>
            </a:p>
          </p:txBody>
        </p:sp>
        <p:grpSp>
          <p:nvGrpSpPr>
            <p:cNvPr id="292" name="그룹 226"/>
            <p:cNvGrpSpPr>
              <a:grpSpLocks noChangeAspect="1"/>
            </p:cNvGrpSpPr>
            <p:nvPr/>
          </p:nvGrpSpPr>
          <p:grpSpPr bwMode="auto">
            <a:xfrm>
              <a:off x="8615076" y="2821940"/>
              <a:ext cx="148646" cy="144000"/>
              <a:chOff x="272480" y="4834467"/>
              <a:chExt cx="235520" cy="228158"/>
            </a:xfrm>
          </p:grpSpPr>
          <p:sp>
            <p:nvSpPr>
              <p:cNvPr id="293" name="타원 4"/>
              <p:cNvSpPr>
                <a:spLocks noChangeArrowheads="1"/>
              </p:cNvSpPr>
              <p:nvPr/>
            </p:nvSpPr>
            <p:spPr bwMode="gray">
              <a:xfrm>
                <a:off x="273058" y="4834507"/>
                <a:ext cx="236129" cy="229011"/>
              </a:xfrm>
              <a:prstGeom prst="ellipse">
                <a:avLst/>
              </a:prstGeom>
              <a:solidFill>
                <a:srgbClr val="00A1DE"/>
              </a:solidFill>
              <a:ln w="12700">
                <a:solidFill>
                  <a:schemeClr val="bg1"/>
                </a:solidFill>
              </a:ln>
              <a:extLst/>
            </p:spPr>
            <p:txBody>
              <a:bodyPr rIns="36000" bIns="36000"/>
              <a:lstStyle/>
              <a:p>
                <a:pPr defTabSz="914400">
                  <a:lnSpc>
                    <a:spcPct val="100000"/>
                  </a:lnSpc>
                  <a:defRPr/>
                </a:pPr>
                <a:endParaRPr lang="ko-KR" altLang="en-US" sz="400" kern="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  <a:cs typeface="Arial" charset="0"/>
                </a:endParaRPr>
              </a:p>
            </p:txBody>
          </p:sp>
          <p:sp>
            <p:nvSpPr>
              <p:cNvPr id="294" name="타원 4"/>
              <p:cNvSpPr>
                <a:spLocks noChangeAspect="1" noChangeArrowheads="1"/>
              </p:cNvSpPr>
              <p:nvPr/>
            </p:nvSpPr>
            <p:spPr bwMode="gray">
              <a:xfrm>
                <a:off x="300199" y="4860596"/>
                <a:ext cx="187274" cy="179731"/>
              </a:xfrm>
              <a:prstGeom prst="ellipse">
                <a:avLst/>
              </a:prstGeom>
              <a:solidFill>
                <a:schemeClr val="bg1"/>
              </a:solidFill>
              <a:ln w="12700">
                <a:noFill/>
              </a:ln>
              <a:extLst/>
            </p:spPr>
            <p:txBody>
              <a:bodyPr rIns="36000" bIns="36000"/>
              <a:lstStyle/>
              <a:p>
                <a:pPr defTabSz="914400">
                  <a:lnSpc>
                    <a:spcPct val="100000"/>
                  </a:lnSpc>
                  <a:defRPr/>
                </a:pPr>
                <a:endParaRPr lang="ko-KR" altLang="en-US" sz="400" kern="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  <a:cs typeface="Arial" charset="0"/>
                </a:endParaRPr>
              </a:p>
            </p:txBody>
          </p:sp>
          <p:sp>
            <p:nvSpPr>
              <p:cNvPr id="295" name="타원 19"/>
              <p:cNvSpPr>
                <a:spLocks noChangeArrowheads="1"/>
              </p:cNvSpPr>
              <p:nvPr/>
            </p:nvSpPr>
            <p:spPr bwMode="gray">
              <a:xfrm>
                <a:off x="286628" y="4912776"/>
                <a:ext cx="211702" cy="753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anchor="ctr"/>
              <a:lstStyle/>
              <a:p>
                <a:pPr algn="ctr" defTabSz="914400">
                  <a:lnSpc>
                    <a:spcPct val="100000"/>
                  </a:lnSpc>
                  <a:defRPr/>
                </a:pPr>
                <a:r>
                  <a:rPr kumimoji="1" lang="en-US" altLang="ko-KR" sz="800" b="1" kern="0" dirty="0">
                    <a:solidFill>
                      <a:srgbClr val="00B0F0"/>
                    </a:solidFill>
                    <a:latin typeface="맑은 고딕" pitchFamily="50" charset="-127"/>
                    <a:ea typeface="맑은 고딕" pitchFamily="50" charset="-127"/>
                    <a:cs typeface="Arial" pitchFamily="34" charset="0"/>
                  </a:rPr>
                  <a:t>3</a:t>
                </a:r>
                <a:endParaRPr kumimoji="1" lang="ko-KR" altLang="en-US" sz="800" b="1" kern="0" dirty="0">
                  <a:solidFill>
                    <a:srgbClr val="00B0F0"/>
                  </a:solidFill>
                  <a:latin typeface="맑은 고딕" pitchFamily="50" charset="-127"/>
                  <a:ea typeface="맑은 고딕" pitchFamily="50" charset="-127"/>
                  <a:cs typeface="Arial" pitchFamily="34" charset="0"/>
                </a:endParaRPr>
              </a:p>
            </p:txBody>
          </p:sp>
        </p:grpSp>
      </p:grpSp>
      <p:grpSp>
        <p:nvGrpSpPr>
          <p:cNvPr id="267" name="그룹 243"/>
          <p:cNvGrpSpPr>
            <a:grpSpLocks/>
          </p:cNvGrpSpPr>
          <p:nvPr/>
        </p:nvGrpSpPr>
        <p:grpSpPr bwMode="auto">
          <a:xfrm>
            <a:off x="484188" y="4653136"/>
            <a:ext cx="363538" cy="253206"/>
            <a:chOff x="8593171" y="2807328"/>
            <a:chExt cx="392277" cy="261632"/>
          </a:xfrm>
        </p:grpSpPr>
        <p:sp>
          <p:nvSpPr>
            <p:cNvPr id="286" name="자유형 22"/>
            <p:cNvSpPr>
              <a:spLocks noChangeArrowheads="1"/>
            </p:cNvSpPr>
            <p:nvPr/>
          </p:nvSpPr>
          <p:spPr bwMode="auto">
            <a:xfrm>
              <a:off x="8593171" y="2807328"/>
              <a:ext cx="392277" cy="261632"/>
            </a:xfrm>
            <a:custGeom>
              <a:avLst/>
              <a:gdLst>
                <a:gd name="T0" fmla="*/ 0 w 352356"/>
                <a:gd name="T1" fmla="*/ 436254 h 329415"/>
                <a:gd name="T2" fmla="*/ 688741 w 352356"/>
                <a:gd name="T3" fmla="*/ 2324 h 329415"/>
                <a:gd name="T4" fmla="*/ 673768 w 352356"/>
                <a:gd name="T5" fmla="*/ 2324 h 329415"/>
                <a:gd name="T6" fmla="*/ 0 w 352356"/>
                <a:gd name="T7" fmla="*/ 2324 h 329415"/>
                <a:gd name="T8" fmla="*/ 0 w 352356"/>
                <a:gd name="T9" fmla="*/ 436254 h 3294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2356"/>
                <a:gd name="T16" fmla="*/ 0 h 329415"/>
                <a:gd name="T17" fmla="*/ 352356 w 352356"/>
                <a:gd name="T18" fmla="*/ 329415 h 32941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2356" h="329415">
                  <a:moveTo>
                    <a:pt x="0" y="329415"/>
                  </a:moveTo>
                  <a:cubicBezTo>
                    <a:pt x="116840" y="220195"/>
                    <a:pt x="234885" y="112250"/>
                    <a:pt x="350520" y="1755"/>
                  </a:cubicBezTo>
                  <a:cubicBezTo>
                    <a:pt x="352356" y="0"/>
                    <a:pt x="345440" y="1755"/>
                    <a:pt x="342900" y="1755"/>
                  </a:cubicBezTo>
                  <a:lnTo>
                    <a:pt x="0" y="1755"/>
                  </a:lnTo>
                  <a:lnTo>
                    <a:pt x="0" y="329415"/>
                  </a:lnTo>
                  <a:close/>
                </a:path>
              </a:pathLst>
            </a:custGeom>
            <a:solidFill>
              <a:srgbClr val="00A1DE"/>
            </a:solidFill>
            <a:ln w="9525">
              <a:noFill/>
              <a:round/>
              <a:headEnd/>
              <a:tailEnd/>
            </a:ln>
          </p:spPr>
          <p:txBody>
            <a:bodyPr rIns="36000" bIns="36000"/>
            <a:lstStyle/>
            <a:p>
              <a:endParaRPr lang="ko-KR" altLang="en-US"/>
            </a:p>
          </p:txBody>
        </p:sp>
        <p:grpSp>
          <p:nvGrpSpPr>
            <p:cNvPr id="287" name="그룹 226"/>
            <p:cNvGrpSpPr>
              <a:grpSpLocks noChangeAspect="1"/>
            </p:cNvGrpSpPr>
            <p:nvPr/>
          </p:nvGrpSpPr>
          <p:grpSpPr bwMode="auto">
            <a:xfrm>
              <a:off x="8615076" y="2821940"/>
              <a:ext cx="148646" cy="144000"/>
              <a:chOff x="272480" y="4834467"/>
              <a:chExt cx="235520" cy="228158"/>
            </a:xfrm>
          </p:grpSpPr>
          <p:sp>
            <p:nvSpPr>
              <p:cNvPr id="288" name="타원 4"/>
              <p:cNvSpPr>
                <a:spLocks noChangeArrowheads="1"/>
              </p:cNvSpPr>
              <p:nvPr/>
            </p:nvSpPr>
            <p:spPr bwMode="gray">
              <a:xfrm>
                <a:off x="273058" y="4834505"/>
                <a:ext cx="236129" cy="229011"/>
              </a:xfrm>
              <a:prstGeom prst="ellipse">
                <a:avLst/>
              </a:prstGeom>
              <a:solidFill>
                <a:srgbClr val="00A1DE"/>
              </a:solidFill>
              <a:ln w="12700">
                <a:solidFill>
                  <a:schemeClr val="bg1"/>
                </a:solidFill>
              </a:ln>
              <a:extLst/>
            </p:spPr>
            <p:txBody>
              <a:bodyPr rIns="36000" bIns="36000"/>
              <a:lstStyle/>
              <a:p>
                <a:pPr defTabSz="914400">
                  <a:lnSpc>
                    <a:spcPct val="100000"/>
                  </a:lnSpc>
                  <a:defRPr/>
                </a:pPr>
                <a:endParaRPr lang="ko-KR" altLang="en-US" sz="400" kern="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  <a:cs typeface="Arial" charset="0"/>
                </a:endParaRPr>
              </a:p>
            </p:txBody>
          </p:sp>
          <p:sp>
            <p:nvSpPr>
              <p:cNvPr id="289" name="타원 4"/>
              <p:cNvSpPr>
                <a:spLocks noChangeAspect="1" noChangeArrowheads="1"/>
              </p:cNvSpPr>
              <p:nvPr/>
            </p:nvSpPr>
            <p:spPr bwMode="gray">
              <a:xfrm>
                <a:off x="300199" y="4860596"/>
                <a:ext cx="187274" cy="179729"/>
              </a:xfrm>
              <a:prstGeom prst="ellipse">
                <a:avLst/>
              </a:prstGeom>
              <a:solidFill>
                <a:schemeClr val="bg1"/>
              </a:solidFill>
              <a:ln w="12700">
                <a:noFill/>
              </a:ln>
              <a:extLst/>
            </p:spPr>
            <p:txBody>
              <a:bodyPr rIns="36000" bIns="36000"/>
              <a:lstStyle/>
              <a:p>
                <a:pPr defTabSz="914400">
                  <a:lnSpc>
                    <a:spcPct val="100000"/>
                  </a:lnSpc>
                  <a:defRPr/>
                </a:pPr>
                <a:endParaRPr lang="ko-KR" altLang="en-US" sz="400" kern="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  <a:cs typeface="Arial" charset="0"/>
                </a:endParaRPr>
              </a:p>
            </p:txBody>
          </p:sp>
          <p:sp>
            <p:nvSpPr>
              <p:cNvPr id="290" name="타원 19"/>
              <p:cNvSpPr>
                <a:spLocks noChangeArrowheads="1"/>
              </p:cNvSpPr>
              <p:nvPr/>
            </p:nvSpPr>
            <p:spPr bwMode="gray">
              <a:xfrm>
                <a:off x="286628" y="4912775"/>
                <a:ext cx="211702" cy="75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anchor="ctr"/>
              <a:lstStyle/>
              <a:p>
                <a:pPr algn="ctr" defTabSz="914400">
                  <a:lnSpc>
                    <a:spcPct val="100000"/>
                  </a:lnSpc>
                  <a:defRPr/>
                </a:pPr>
                <a:r>
                  <a:rPr kumimoji="1" lang="en-US" altLang="ko-KR" sz="800" b="1" kern="0" dirty="0">
                    <a:solidFill>
                      <a:srgbClr val="00B0F0"/>
                    </a:solidFill>
                    <a:latin typeface="맑은 고딕" pitchFamily="50" charset="-127"/>
                    <a:ea typeface="맑은 고딕" pitchFamily="50" charset="-127"/>
                    <a:cs typeface="Arial" pitchFamily="34" charset="0"/>
                  </a:rPr>
                  <a:t>4</a:t>
                </a:r>
                <a:endParaRPr kumimoji="1" lang="ko-KR" altLang="en-US" sz="800" b="1" kern="0" dirty="0">
                  <a:solidFill>
                    <a:srgbClr val="00B0F0"/>
                  </a:solidFill>
                  <a:latin typeface="맑은 고딕" pitchFamily="50" charset="-127"/>
                  <a:ea typeface="맑은 고딕" pitchFamily="50" charset="-127"/>
                  <a:cs typeface="Arial" pitchFamily="34" charset="0"/>
                </a:endParaRPr>
              </a:p>
            </p:txBody>
          </p:sp>
        </p:grpSp>
      </p:grpSp>
      <p:grpSp>
        <p:nvGrpSpPr>
          <p:cNvPr id="268" name="그룹 362"/>
          <p:cNvGrpSpPr>
            <a:grpSpLocks/>
          </p:cNvGrpSpPr>
          <p:nvPr/>
        </p:nvGrpSpPr>
        <p:grpSpPr bwMode="auto">
          <a:xfrm>
            <a:off x="484188" y="2413362"/>
            <a:ext cx="1001713" cy="607340"/>
            <a:chOff x="3944888" y="5538466"/>
            <a:chExt cx="1034026" cy="627409"/>
          </a:xfrm>
        </p:grpSpPr>
        <p:sp>
          <p:nvSpPr>
            <p:cNvPr id="278" name="대각선 방향의 모서리가 둥근 사각형 277"/>
            <p:cNvSpPr/>
            <p:nvPr/>
          </p:nvSpPr>
          <p:spPr bwMode="auto">
            <a:xfrm flipH="1">
              <a:off x="3946527" y="5538466"/>
              <a:ext cx="1032387" cy="627409"/>
            </a:xfrm>
            <a:prstGeom prst="round2DiagRect">
              <a:avLst>
                <a:gd name="adj1" fmla="val 22830"/>
                <a:gd name="adj2" fmla="val 0"/>
              </a:avLst>
            </a:prstGeom>
            <a:solidFill>
              <a:schemeClr val="bg1"/>
            </a:solidFill>
            <a:ln w="6350" cap="flat" cmpd="sng" algn="ctr">
              <a:solidFill>
                <a:srgbClr val="00A1DE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144000" tIns="0" rIns="0" bIns="0"/>
            <a:lstStyle/>
            <a:p>
              <a:pPr>
                <a:lnSpc>
                  <a:spcPct val="100000"/>
                </a:lnSpc>
                <a:defRPr/>
              </a:pPr>
              <a:endParaRPr lang="ko-KR" altLang="en-US" sz="1050" dirty="0">
                <a:solidFill>
                  <a:srgbClr val="002776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79" name="직사각형 278"/>
            <p:cNvSpPr/>
            <p:nvPr/>
          </p:nvSpPr>
          <p:spPr>
            <a:xfrm>
              <a:off x="3946527" y="5554929"/>
              <a:ext cx="1032387" cy="262306"/>
            </a:xfrm>
            <a:prstGeom prst="rect">
              <a:avLst/>
            </a:prstGeom>
          </p:spPr>
          <p:txBody>
            <a:bodyPr lIns="0" rIns="0">
              <a:spAutoFit/>
            </a:bodyPr>
            <a:lstStyle/>
            <a:p>
              <a:pPr algn="ctr">
                <a:lnSpc>
                  <a:spcPct val="100000"/>
                </a:lnSpc>
                <a:defRPr/>
              </a:pPr>
              <a:endParaRPr lang="ko-KR" altLang="en-US" sz="1050" dirty="0">
                <a:solidFill>
                  <a:srgbClr val="002776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grpSp>
          <p:nvGrpSpPr>
            <p:cNvPr id="280" name="그룹 249"/>
            <p:cNvGrpSpPr>
              <a:grpSpLocks/>
            </p:cNvGrpSpPr>
            <p:nvPr/>
          </p:nvGrpSpPr>
          <p:grpSpPr bwMode="auto">
            <a:xfrm>
              <a:off x="3944888" y="5538466"/>
              <a:ext cx="374712" cy="261632"/>
              <a:chOff x="8593171" y="2807328"/>
              <a:chExt cx="392277" cy="261632"/>
            </a:xfrm>
          </p:grpSpPr>
          <p:sp>
            <p:nvSpPr>
              <p:cNvPr id="281" name="자유형 22"/>
              <p:cNvSpPr>
                <a:spLocks noChangeArrowheads="1"/>
              </p:cNvSpPr>
              <p:nvPr/>
            </p:nvSpPr>
            <p:spPr bwMode="auto">
              <a:xfrm>
                <a:off x="8593171" y="2807328"/>
                <a:ext cx="392277" cy="261632"/>
              </a:xfrm>
              <a:custGeom>
                <a:avLst/>
                <a:gdLst>
                  <a:gd name="T0" fmla="*/ 0 w 352356"/>
                  <a:gd name="T1" fmla="*/ 436254 h 329415"/>
                  <a:gd name="T2" fmla="*/ 688741 w 352356"/>
                  <a:gd name="T3" fmla="*/ 2324 h 329415"/>
                  <a:gd name="T4" fmla="*/ 673768 w 352356"/>
                  <a:gd name="T5" fmla="*/ 2324 h 329415"/>
                  <a:gd name="T6" fmla="*/ 0 w 352356"/>
                  <a:gd name="T7" fmla="*/ 2324 h 329415"/>
                  <a:gd name="T8" fmla="*/ 0 w 352356"/>
                  <a:gd name="T9" fmla="*/ 436254 h 32941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2356"/>
                  <a:gd name="T16" fmla="*/ 0 h 329415"/>
                  <a:gd name="T17" fmla="*/ 352356 w 352356"/>
                  <a:gd name="T18" fmla="*/ 329415 h 32941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2356" h="329415">
                    <a:moveTo>
                      <a:pt x="0" y="329415"/>
                    </a:moveTo>
                    <a:cubicBezTo>
                      <a:pt x="116840" y="220195"/>
                      <a:pt x="234885" y="112250"/>
                      <a:pt x="350520" y="1755"/>
                    </a:cubicBezTo>
                    <a:cubicBezTo>
                      <a:pt x="352356" y="0"/>
                      <a:pt x="345440" y="1755"/>
                      <a:pt x="342900" y="1755"/>
                    </a:cubicBezTo>
                    <a:lnTo>
                      <a:pt x="0" y="1755"/>
                    </a:lnTo>
                    <a:lnTo>
                      <a:pt x="0" y="329415"/>
                    </a:lnTo>
                    <a:close/>
                  </a:path>
                </a:pathLst>
              </a:custGeom>
              <a:solidFill>
                <a:srgbClr val="00A1DE"/>
              </a:solidFill>
              <a:ln w="9525">
                <a:noFill/>
                <a:round/>
                <a:headEnd/>
                <a:tailEnd/>
              </a:ln>
            </p:spPr>
            <p:txBody>
              <a:bodyPr rIns="36000" bIns="36000"/>
              <a:lstStyle/>
              <a:p>
                <a:endParaRPr lang="ko-KR" altLang="en-US"/>
              </a:p>
            </p:txBody>
          </p:sp>
          <p:grpSp>
            <p:nvGrpSpPr>
              <p:cNvPr id="282" name="그룹 226"/>
              <p:cNvGrpSpPr>
                <a:grpSpLocks noChangeAspect="1"/>
              </p:cNvGrpSpPr>
              <p:nvPr/>
            </p:nvGrpSpPr>
            <p:grpSpPr bwMode="auto">
              <a:xfrm>
                <a:off x="8615076" y="2821940"/>
                <a:ext cx="148646" cy="144000"/>
                <a:chOff x="272480" y="4834467"/>
                <a:chExt cx="235520" cy="228158"/>
              </a:xfrm>
            </p:grpSpPr>
            <p:sp>
              <p:nvSpPr>
                <p:cNvPr id="283" name="타원 4"/>
                <p:cNvSpPr>
                  <a:spLocks noChangeArrowheads="1"/>
                </p:cNvSpPr>
                <p:nvPr/>
              </p:nvSpPr>
              <p:spPr bwMode="gray">
                <a:xfrm>
                  <a:off x="273110" y="4834502"/>
                  <a:ext cx="236477" cy="228959"/>
                </a:xfrm>
                <a:prstGeom prst="ellipse">
                  <a:avLst/>
                </a:prstGeom>
                <a:solidFill>
                  <a:srgbClr val="00A1DE"/>
                </a:solidFill>
                <a:ln w="12700">
                  <a:solidFill>
                    <a:schemeClr val="bg1"/>
                  </a:solidFill>
                </a:ln>
                <a:extLst/>
              </p:spPr>
              <p:txBody>
                <a:bodyPr rIns="36000" bIns="36000"/>
                <a:lstStyle/>
                <a:p>
                  <a:pPr defTabSz="914400">
                    <a:lnSpc>
                      <a:spcPct val="100000"/>
                    </a:lnSpc>
                    <a:defRPr/>
                  </a:pPr>
                  <a:endParaRPr lang="ko-KR" altLang="en-US" sz="400" kern="0" dirty="0">
                    <a:solidFill>
                      <a:srgbClr val="000000"/>
                    </a:solidFill>
                    <a:latin typeface="맑은 고딕" pitchFamily="50" charset="-127"/>
                    <a:ea typeface="맑은 고딕" pitchFamily="50" charset="-127"/>
                    <a:cs typeface="Arial" charset="0"/>
                  </a:endParaRPr>
                </a:p>
              </p:txBody>
            </p:sp>
            <p:sp>
              <p:nvSpPr>
                <p:cNvPr id="284" name="타원 4"/>
                <p:cNvSpPr>
                  <a:spLocks noChangeAspect="1" noChangeArrowheads="1"/>
                </p:cNvSpPr>
                <p:nvPr/>
              </p:nvSpPr>
              <p:spPr bwMode="gray">
                <a:xfrm>
                  <a:off x="300291" y="4860586"/>
                  <a:ext cx="187551" cy="179689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noFill/>
                </a:ln>
                <a:extLst/>
              </p:spPr>
              <p:txBody>
                <a:bodyPr rIns="36000" bIns="36000"/>
                <a:lstStyle/>
                <a:p>
                  <a:pPr defTabSz="914400">
                    <a:lnSpc>
                      <a:spcPct val="100000"/>
                    </a:lnSpc>
                    <a:defRPr/>
                  </a:pPr>
                  <a:endParaRPr lang="ko-KR" altLang="en-US" sz="400" kern="0" dirty="0">
                    <a:solidFill>
                      <a:srgbClr val="000000"/>
                    </a:solidFill>
                    <a:latin typeface="맑은 고딕" pitchFamily="50" charset="-127"/>
                    <a:ea typeface="맑은 고딕" pitchFamily="50" charset="-127"/>
                    <a:cs typeface="Arial" charset="0"/>
                  </a:endParaRPr>
                </a:p>
              </p:txBody>
            </p:sp>
            <p:sp>
              <p:nvSpPr>
                <p:cNvPr id="285" name="타원 19"/>
                <p:cNvSpPr>
                  <a:spLocks noChangeArrowheads="1"/>
                </p:cNvSpPr>
                <p:nvPr/>
              </p:nvSpPr>
              <p:spPr bwMode="gray">
                <a:xfrm>
                  <a:off x="286700" y="4912754"/>
                  <a:ext cx="212015" cy="7535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anchor="ctr"/>
                <a:lstStyle/>
                <a:p>
                  <a:pPr algn="ctr" defTabSz="914400">
                    <a:lnSpc>
                      <a:spcPct val="100000"/>
                    </a:lnSpc>
                    <a:defRPr/>
                  </a:pPr>
                  <a:r>
                    <a:rPr kumimoji="1" lang="en-US" altLang="ko-KR" sz="800" b="1" kern="0" dirty="0">
                      <a:solidFill>
                        <a:srgbClr val="00B0F0"/>
                      </a:solidFill>
                      <a:latin typeface="맑은 고딕" pitchFamily="50" charset="-127"/>
                      <a:ea typeface="맑은 고딕" pitchFamily="50" charset="-127"/>
                      <a:cs typeface="Arial" pitchFamily="34" charset="0"/>
                    </a:rPr>
                    <a:t>1</a:t>
                  </a:r>
                  <a:endParaRPr kumimoji="1" lang="ko-KR" altLang="en-US" sz="800" b="1" kern="0" dirty="0">
                    <a:solidFill>
                      <a:srgbClr val="00B0F0"/>
                    </a:solidFill>
                    <a:latin typeface="맑은 고딕" pitchFamily="50" charset="-127"/>
                    <a:ea typeface="맑은 고딕" pitchFamily="50" charset="-127"/>
                    <a:cs typeface="Arial" pitchFamily="34" charset="0"/>
                  </a:endParaRPr>
                </a:p>
              </p:txBody>
            </p:sp>
          </p:grpSp>
        </p:grpSp>
      </p:grpSp>
      <p:sp>
        <p:nvSpPr>
          <p:cNvPr id="269" name="직사각형 268"/>
          <p:cNvSpPr/>
          <p:nvPr/>
        </p:nvSpPr>
        <p:spPr>
          <a:xfrm>
            <a:off x="1861889" y="2733772"/>
            <a:ext cx="800100" cy="44620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anchor="ctr"/>
          <a:lstStyle/>
          <a:p>
            <a:pPr algn="ctr">
              <a:lnSpc>
                <a:spcPct val="100000"/>
              </a:lnSpc>
              <a:defRPr/>
            </a:pPr>
            <a:r>
              <a:rPr lang="ko-KR" altLang="en-US" sz="1050" b="1" dirty="0" smtClean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재고관리</a:t>
            </a:r>
            <a:endParaRPr lang="ko-KR" altLang="en-US" sz="1050" b="1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70" name="직사각형 269"/>
          <p:cNvSpPr/>
          <p:nvPr/>
        </p:nvSpPr>
        <p:spPr>
          <a:xfrm>
            <a:off x="2698502" y="2733772"/>
            <a:ext cx="800100" cy="44620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anchor="ctr"/>
          <a:lstStyle/>
          <a:p>
            <a:pPr algn="ctr">
              <a:lnSpc>
                <a:spcPct val="100000"/>
              </a:lnSpc>
              <a:defRPr/>
            </a:pPr>
            <a:r>
              <a:rPr lang="ko-KR" altLang="en-US" sz="1050" b="1" dirty="0" smtClean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정산관리</a:t>
            </a:r>
            <a:endParaRPr lang="ko-KR" altLang="en-US" sz="1050" b="1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72" name="직사각형 271"/>
          <p:cNvSpPr/>
          <p:nvPr/>
        </p:nvSpPr>
        <p:spPr>
          <a:xfrm>
            <a:off x="1722189" y="2066230"/>
            <a:ext cx="2733675" cy="113323"/>
          </a:xfrm>
          <a:prstGeom prst="rect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anchor="ctr"/>
          <a:lstStyle/>
          <a:p>
            <a:pPr algn="ctr">
              <a:lnSpc>
                <a:spcPct val="100000"/>
              </a:lnSpc>
              <a:defRPr/>
            </a:pPr>
            <a:endParaRPr lang="ko-KR" altLang="en-US" sz="1050" b="1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73" name="직사각형 272"/>
          <p:cNvSpPr/>
          <p:nvPr/>
        </p:nvSpPr>
        <p:spPr>
          <a:xfrm>
            <a:off x="1707902" y="2135286"/>
            <a:ext cx="2781300" cy="3833500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00000"/>
              </a:lnSpc>
              <a:defRPr/>
            </a:pPr>
            <a:endParaRPr lang="ko-KR" altLang="en-US">
              <a:solidFill>
                <a:prstClr val="white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274" name="그룹 210"/>
          <p:cNvGrpSpPr>
            <a:grpSpLocks noChangeAspect="1"/>
          </p:cNvGrpSpPr>
          <p:nvPr/>
        </p:nvGrpSpPr>
        <p:grpSpPr bwMode="auto">
          <a:xfrm>
            <a:off x="1622177" y="5411025"/>
            <a:ext cx="136525" cy="139883"/>
            <a:chOff x="272480" y="4834467"/>
            <a:chExt cx="235520" cy="228158"/>
          </a:xfrm>
        </p:grpSpPr>
        <p:sp>
          <p:nvSpPr>
            <p:cNvPr id="275" name="타원 4"/>
            <p:cNvSpPr>
              <a:spLocks noChangeArrowheads="1"/>
            </p:cNvSpPr>
            <p:nvPr/>
          </p:nvSpPr>
          <p:spPr bwMode="gray">
            <a:xfrm>
              <a:off x="272480" y="4834467"/>
              <a:ext cx="235520" cy="228158"/>
            </a:xfrm>
            <a:prstGeom prst="ellipse">
              <a:avLst/>
            </a:prstGeom>
            <a:solidFill>
              <a:srgbClr val="00A1DE"/>
            </a:solidFill>
            <a:ln w="12700">
              <a:solidFill>
                <a:schemeClr val="bg1"/>
              </a:solidFill>
            </a:ln>
            <a:extLst/>
          </p:spPr>
          <p:txBody>
            <a:bodyPr rIns="36000" bIns="36000"/>
            <a:lstStyle/>
            <a:p>
              <a:pPr defTabSz="914400">
                <a:lnSpc>
                  <a:spcPct val="100000"/>
                </a:lnSpc>
                <a:defRPr/>
              </a:pPr>
              <a:endParaRPr lang="ko-KR" altLang="en-US" sz="5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endParaRPr>
            </a:p>
          </p:txBody>
        </p:sp>
        <p:sp>
          <p:nvSpPr>
            <p:cNvPr id="276" name="타원 4"/>
            <p:cNvSpPr>
              <a:spLocks noChangeAspect="1" noChangeArrowheads="1"/>
            </p:cNvSpPr>
            <p:nvPr/>
          </p:nvSpPr>
          <p:spPr bwMode="gray">
            <a:xfrm>
              <a:off x="299866" y="4860460"/>
              <a:ext cx="186225" cy="179060"/>
            </a:xfrm>
            <a:prstGeom prst="ellipse">
              <a:avLst/>
            </a:prstGeom>
            <a:solidFill>
              <a:schemeClr val="bg1"/>
            </a:solidFill>
            <a:ln w="12700">
              <a:noFill/>
            </a:ln>
            <a:extLst/>
          </p:spPr>
          <p:txBody>
            <a:bodyPr rIns="36000" bIns="36000"/>
            <a:lstStyle/>
            <a:p>
              <a:pPr defTabSz="914400">
                <a:lnSpc>
                  <a:spcPct val="100000"/>
                </a:lnSpc>
                <a:defRPr/>
              </a:pPr>
              <a:endParaRPr lang="ko-KR" altLang="en-US" sz="5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endParaRPr>
            </a:p>
          </p:txBody>
        </p:sp>
        <p:sp>
          <p:nvSpPr>
            <p:cNvPr id="277" name="타원 19"/>
            <p:cNvSpPr>
              <a:spLocks noChangeArrowheads="1"/>
            </p:cNvSpPr>
            <p:nvPr/>
          </p:nvSpPr>
          <p:spPr bwMode="gray">
            <a:xfrm>
              <a:off x="286172" y="4912446"/>
              <a:ext cx="210873" cy="75090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ctr"/>
            <a:lstStyle/>
            <a:p>
              <a:pPr algn="ctr" defTabSz="914400">
                <a:lnSpc>
                  <a:spcPct val="100000"/>
                </a:lnSpc>
                <a:defRPr/>
              </a:pPr>
              <a:r>
                <a:rPr kumimoji="1" lang="en-US" altLang="ko-KR" sz="900" b="1" kern="0" dirty="0">
                  <a:solidFill>
                    <a:srgbClr val="00B0F0"/>
                  </a:solidFill>
                  <a:latin typeface="맑은 고딕" pitchFamily="50" charset="-127"/>
                  <a:ea typeface="맑은 고딕" pitchFamily="50" charset="-127"/>
                  <a:cs typeface="Arial" pitchFamily="34" charset="0"/>
                </a:rPr>
                <a:t>5</a:t>
              </a:r>
              <a:endParaRPr kumimoji="1" lang="ko-KR" altLang="en-US" sz="900" b="1" kern="0" dirty="0">
                <a:solidFill>
                  <a:srgbClr val="00B0F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endParaRPr>
            </a:p>
          </p:txBody>
        </p:sp>
      </p:grpSp>
      <p:sp>
        <p:nvSpPr>
          <p:cNvPr id="332" name="직사각형 331"/>
          <p:cNvSpPr/>
          <p:nvPr/>
        </p:nvSpPr>
        <p:spPr>
          <a:xfrm>
            <a:off x="488504" y="2551482"/>
            <a:ext cx="1000125" cy="253916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lang="ko-KR" altLang="en-US" sz="1050" dirty="0" smtClean="0">
                <a:solidFill>
                  <a:srgbClr val="002776"/>
                </a:solidFill>
                <a:latin typeface="맑은 고딕" pitchFamily="50" charset="-127"/>
                <a:ea typeface="맑은 고딕" pitchFamily="50" charset="-127"/>
              </a:rPr>
              <a:t>업무영역</a:t>
            </a:r>
            <a:endParaRPr lang="ko-KR" altLang="en-US" sz="1050" dirty="0">
              <a:solidFill>
                <a:srgbClr val="00277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33" name="직사각형 332"/>
          <p:cNvSpPr/>
          <p:nvPr/>
        </p:nvSpPr>
        <p:spPr>
          <a:xfrm>
            <a:off x="1848916" y="4845626"/>
            <a:ext cx="2530475" cy="467457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00000"/>
              </a:lnSpc>
              <a:defRPr/>
            </a:pPr>
            <a:endParaRPr lang="ko-KR" altLang="en-US">
              <a:solidFill>
                <a:prstClr val="white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257" name="그룹 222"/>
          <p:cNvGrpSpPr>
            <a:grpSpLocks noChangeAspect="1"/>
          </p:cNvGrpSpPr>
          <p:nvPr/>
        </p:nvGrpSpPr>
        <p:grpSpPr bwMode="auto">
          <a:xfrm>
            <a:off x="1782811" y="4953043"/>
            <a:ext cx="138113" cy="139883"/>
            <a:chOff x="272480" y="4834467"/>
            <a:chExt cx="235520" cy="228158"/>
          </a:xfrm>
        </p:grpSpPr>
        <p:sp>
          <p:nvSpPr>
            <p:cNvPr id="309" name="타원 4"/>
            <p:cNvSpPr>
              <a:spLocks noChangeArrowheads="1"/>
            </p:cNvSpPr>
            <p:nvPr/>
          </p:nvSpPr>
          <p:spPr bwMode="gray">
            <a:xfrm>
              <a:off x="272480" y="4834467"/>
              <a:ext cx="235520" cy="228158"/>
            </a:xfrm>
            <a:prstGeom prst="ellipse">
              <a:avLst/>
            </a:prstGeom>
            <a:solidFill>
              <a:srgbClr val="00A1DE"/>
            </a:solidFill>
            <a:ln w="12700">
              <a:solidFill>
                <a:schemeClr val="bg1"/>
              </a:solidFill>
            </a:ln>
            <a:extLst/>
          </p:spPr>
          <p:txBody>
            <a:bodyPr rIns="36000" bIns="36000"/>
            <a:lstStyle/>
            <a:p>
              <a:pPr defTabSz="914400">
                <a:lnSpc>
                  <a:spcPct val="100000"/>
                </a:lnSpc>
                <a:defRPr/>
              </a:pPr>
              <a:endParaRPr lang="ko-KR" altLang="en-US" sz="5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endParaRPr>
            </a:p>
          </p:txBody>
        </p:sp>
        <p:sp>
          <p:nvSpPr>
            <p:cNvPr id="310" name="타원 4"/>
            <p:cNvSpPr>
              <a:spLocks noChangeAspect="1" noChangeArrowheads="1"/>
            </p:cNvSpPr>
            <p:nvPr/>
          </p:nvSpPr>
          <p:spPr bwMode="gray">
            <a:xfrm>
              <a:off x="299551" y="4860460"/>
              <a:ext cx="186792" cy="179060"/>
            </a:xfrm>
            <a:prstGeom prst="ellipse">
              <a:avLst/>
            </a:prstGeom>
            <a:solidFill>
              <a:schemeClr val="bg1"/>
            </a:solidFill>
            <a:ln w="12700">
              <a:noFill/>
            </a:ln>
            <a:extLst/>
          </p:spPr>
          <p:txBody>
            <a:bodyPr rIns="36000" bIns="36000"/>
            <a:lstStyle/>
            <a:p>
              <a:pPr defTabSz="914400">
                <a:lnSpc>
                  <a:spcPct val="100000"/>
                </a:lnSpc>
                <a:defRPr/>
              </a:pPr>
              <a:endParaRPr lang="ko-KR" altLang="en-US" sz="5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endParaRPr>
            </a:p>
          </p:txBody>
        </p:sp>
        <p:sp>
          <p:nvSpPr>
            <p:cNvPr id="311" name="타원 19"/>
            <p:cNvSpPr>
              <a:spLocks noChangeArrowheads="1"/>
            </p:cNvSpPr>
            <p:nvPr/>
          </p:nvSpPr>
          <p:spPr bwMode="gray">
            <a:xfrm>
              <a:off x="286016" y="4912446"/>
              <a:ext cx="211155" cy="75090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ctr"/>
            <a:lstStyle/>
            <a:p>
              <a:pPr algn="ctr" defTabSz="914400">
                <a:lnSpc>
                  <a:spcPct val="100000"/>
                </a:lnSpc>
                <a:defRPr/>
              </a:pPr>
              <a:r>
                <a:rPr kumimoji="1" lang="en-US" altLang="ko-KR" sz="900" b="1" kern="0" dirty="0">
                  <a:solidFill>
                    <a:srgbClr val="00B0F0"/>
                  </a:solidFill>
                  <a:latin typeface="맑은 고딕" pitchFamily="50" charset="-127"/>
                  <a:ea typeface="맑은 고딕" pitchFamily="50" charset="-127"/>
                  <a:cs typeface="Arial" pitchFamily="34" charset="0"/>
                </a:rPr>
                <a:t>4</a:t>
              </a:r>
              <a:endParaRPr kumimoji="1" lang="ko-KR" altLang="en-US" sz="900" b="1" kern="0" dirty="0">
                <a:solidFill>
                  <a:srgbClr val="00B0F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endParaRPr>
            </a:p>
          </p:txBody>
        </p:sp>
      </p:grpSp>
      <p:sp>
        <p:nvSpPr>
          <p:cNvPr id="334" name="직사각형 333"/>
          <p:cNvSpPr/>
          <p:nvPr/>
        </p:nvSpPr>
        <p:spPr>
          <a:xfrm>
            <a:off x="3532025" y="2253122"/>
            <a:ext cx="798512" cy="44620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anchor="ctr"/>
          <a:lstStyle/>
          <a:p>
            <a:pPr algn="ctr">
              <a:lnSpc>
                <a:spcPct val="100000"/>
              </a:lnSpc>
              <a:defRPr/>
            </a:pPr>
            <a:r>
              <a:rPr lang="ko-KR" altLang="en-US" sz="1050" b="1" dirty="0" smtClean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기준관리</a:t>
            </a:r>
            <a:endParaRPr lang="ko-KR" altLang="en-US" sz="1050" b="1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35" name="직사각형 334"/>
          <p:cNvSpPr/>
          <p:nvPr/>
        </p:nvSpPr>
        <p:spPr>
          <a:xfrm>
            <a:off x="3528850" y="2736514"/>
            <a:ext cx="800100" cy="44620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anchor="ctr"/>
          <a:lstStyle/>
          <a:p>
            <a:pPr algn="ctr">
              <a:lnSpc>
                <a:spcPct val="100000"/>
              </a:lnSpc>
              <a:defRPr/>
            </a:pPr>
            <a:r>
              <a:rPr lang="ko-KR" altLang="en-US" sz="1050" b="1" dirty="0" smtClean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통계관리</a:t>
            </a:r>
            <a:endParaRPr lang="ko-KR" altLang="en-US" sz="1050" b="1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40" name="직사각형 339"/>
          <p:cNvSpPr/>
          <p:nvPr/>
        </p:nvSpPr>
        <p:spPr>
          <a:xfrm>
            <a:off x="4881562" y="3512158"/>
            <a:ext cx="1728192" cy="345470"/>
          </a:xfrm>
          <a:prstGeom prst="rect">
            <a:avLst/>
          </a:prstGeom>
          <a:solidFill>
            <a:srgbClr val="4F81BD"/>
          </a:solidFill>
          <a:ln w="25400" cap="flat" cmpd="sng" algn="ctr">
            <a:solidFill>
              <a:sysClr val="window" lastClr="FFFFFF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b="1" kern="0" dirty="0" smtClean="0">
                <a:solidFill>
                  <a:sysClr val="window" lastClr="FFFFFF"/>
                </a:solidFill>
                <a:latin typeface="+mn-ea"/>
              </a:rPr>
              <a:t>개발환경</a:t>
            </a:r>
            <a:endParaRPr kumimoji="0" lang="ko-KR" altLang="en-US" sz="1400" b="1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341" name="직사각형 340"/>
          <p:cNvSpPr/>
          <p:nvPr/>
        </p:nvSpPr>
        <p:spPr>
          <a:xfrm>
            <a:off x="4881562" y="1988840"/>
            <a:ext cx="1728192" cy="345470"/>
          </a:xfrm>
          <a:prstGeom prst="rect">
            <a:avLst/>
          </a:prstGeom>
          <a:solidFill>
            <a:srgbClr val="4F81BD"/>
          </a:solidFill>
          <a:ln w="25400" cap="flat" cmpd="sng" algn="ctr">
            <a:solidFill>
              <a:sysClr val="window" lastClr="FFFFFF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b="1" kern="0" dirty="0" smtClean="0">
                <a:solidFill>
                  <a:sysClr val="window" lastClr="FFFFFF"/>
                </a:solidFill>
                <a:latin typeface="+mn-ea"/>
              </a:rPr>
              <a:t>공통요소</a:t>
            </a:r>
            <a:endParaRPr kumimoji="0" lang="ko-KR" altLang="en-US" sz="1400" b="1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grpSp>
        <p:nvGrpSpPr>
          <p:cNvPr id="109" name="그룹 108"/>
          <p:cNvGrpSpPr/>
          <p:nvPr/>
        </p:nvGrpSpPr>
        <p:grpSpPr>
          <a:xfrm>
            <a:off x="4881562" y="2420888"/>
            <a:ext cx="4612016" cy="936674"/>
            <a:chOff x="4953000" y="2420888"/>
            <a:chExt cx="4612016" cy="720080"/>
          </a:xfrm>
        </p:grpSpPr>
        <p:sp>
          <p:nvSpPr>
            <p:cNvPr id="342" name="AutoShape 214"/>
            <p:cNvSpPr>
              <a:spLocks noChangeArrowheads="1"/>
            </p:cNvSpPr>
            <p:nvPr/>
          </p:nvSpPr>
          <p:spPr bwMode="auto">
            <a:xfrm>
              <a:off x="4953000" y="2420888"/>
              <a:ext cx="868271" cy="36004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28575" algn="ctr">
              <a:solidFill>
                <a:srgbClr val="9EBFD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ko-KR" altLang="en-US" sz="1200" b="1" smtClean="0">
                  <a:latin typeface="+mn-ea"/>
                </a:rPr>
                <a:t>인증</a:t>
              </a:r>
              <a:endParaRPr lang="ko-KR" altLang="en-US" sz="1200" b="1" dirty="0" smtClean="0">
                <a:latin typeface="+mn-ea"/>
              </a:endParaRPr>
            </a:p>
          </p:txBody>
        </p:sp>
        <p:sp>
          <p:nvSpPr>
            <p:cNvPr id="344" name="AutoShape 214"/>
            <p:cNvSpPr>
              <a:spLocks noChangeArrowheads="1"/>
            </p:cNvSpPr>
            <p:nvPr/>
          </p:nvSpPr>
          <p:spPr bwMode="auto">
            <a:xfrm>
              <a:off x="5888936" y="2420888"/>
              <a:ext cx="868271" cy="36004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28575" algn="ctr">
              <a:solidFill>
                <a:srgbClr val="9EBFD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ko-KR" altLang="en-US" sz="1200" b="1" smtClean="0">
                  <a:latin typeface="+mn-ea"/>
                </a:rPr>
                <a:t>보안</a:t>
              </a:r>
              <a:endParaRPr lang="ko-KR" altLang="en-US" sz="1200" b="1" dirty="0" smtClean="0">
                <a:latin typeface="+mn-ea"/>
              </a:endParaRPr>
            </a:p>
          </p:txBody>
        </p:sp>
        <p:sp>
          <p:nvSpPr>
            <p:cNvPr id="345" name="AutoShape 214"/>
            <p:cNvSpPr>
              <a:spLocks noChangeArrowheads="1"/>
            </p:cNvSpPr>
            <p:nvPr/>
          </p:nvSpPr>
          <p:spPr bwMode="auto">
            <a:xfrm>
              <a:off x="6824872" y="2420888"/>
              <a:ext cx="868271" cy="36004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28575" algn="ctr">
              <a:solidFill>
                <a:srgbClr val="9EBFD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ko-KR" altLang="en-US" sz="1200" b="1" dirty="0" smtClean="0">
                  <a:latin typeface="+mn-ea"/>
                </a:rPr>
                <a:t>시스템</a:t>
              </a:r>
            </a:p>
          </p:txBody>
        </p:sp>
        <p:sp>
          <p:nvSpPr>
            <p:cNvPr id="346" name="AutoShape 214"/>
            <p:cNvSpPr>
              <a:spLocks noChangeArrowheads="1"/>
            </p:cNvSpPr>
            <p:nvPr/>
          </p:nvSpPr>
          <p:spPr bwMode="auto">
            <a:xfrm>
              <a:off x="7760808" y="2420888"/>
              <a:ext cx="868271" cy="36004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28575" algn="ctr">
              <a:solidFill>
                <a:srgbClr val="9EBFD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ko-KR" altLang="en-US" sz="1200" b="1" dirty="0" smtClean="0">
                  <a:latin typeface="+mn-ea"/>
                </a:rPr>
                <a:t>연계</a:t>
              </a:r>
            </a:p>
          </p:txBody>
        </p:sp>
        <p:sp>
          <p:nvSpPr>
            <p:cNvPr id="347" name="AutoShape 214"/>
            <p:cNvSpPr>
              <a:spLocks noChangeArrowheads="1"/>
            </p:cNvSpPr>
            <p:nvPr/>
          </p:nvSpPr>
          <p:spPr bwMode="auto">
            <a:xfrm>
              <a:off x="8696745" y="2420888"/>
              <a:ext cx="868271" cy="36004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28575" algn="ctr">
              <a:solidFill>
                <a:srgbClr val="9EBFD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ko-KR" altLang="en-US" sz="1200" b="1" dirty="0" smtClean="0">
                  <a:latin typeface="+mn-ea"/>
                </a:rPr>
                <a:t>요소기술</a:t>
              </a:r>
            </a:p>
          </p:txBody>
        </p:sp>
        <p:sp>
          <p:nvSpPr>
            <p:cNvPr id="349" name="직사각형 127"/>
            <p:cNvSpPr>
              <a:spLocks noChangeArrowheads="1"/>
            </p:cNvSpPr>
            <p:nvPr/>
          </p:nvSpPr>
          <p:spPr bwMode="auto">
            <a:xfrm>
              <a:off x="4953000" y="2823960"/>
              <a:ext cx="867600" cy="317008"/>
            </a:xfrm>
            <a:prstGeom prst="rect">
              <a:avLst/>
            </a:prstGeom>
            <a:solidFill>
              <a:schemeClr val="bg1"/>
            </a:solidFill>
            <a:ln w="28575" algn="ctr">
              <a:solidFill>
                <a:srgbClr val="9EBFD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ko-KR" altLang="en-US" sz="1000" dirty="0" smtClean="0">
                  <a:latin typeface="+mn-ea"/>
                </a:rPr>
                <a:t>로그인</a:t>
              </a:r>
              <a:endParaRPr lang="en-US" altLang="ko-KR" sz="1000" dirty="0" smtClean="0">
                <a:latin typeface="+mn-ea"/>
              </a:endParaRPr>
            </a:p>
            <a:p>
              <a:pPr algn="ctr">
                <a:lnSpc>
                  <a:spcPct val="100000"/>
                </a:lnSpc>
              </a:pPr>
              <a:r>
                <a:rPr lang="ko-KR" altLang="en-US" sz="1000" dirty="0" smtClean="0">
                  <a:latin typeface="+mn-ea"/>
                </a:rPr>
                <a:t>인증</a:t>
              </a:r>
            </a:p>
          </p:txBody>
        </p:sp>
        <p:sp>
          <p:nvSpPr>
            <p:cNvPr id="350" name="직사각형 127"/>
            <p:cNvSpPr>
              <a:spLocks noChangeArrowheads="1"/>
            </p:cNvSpPr>
            <p:nvPr/>
          </p:nvSpPr>
          <p:spPr bwMode="auto">
            <a:xfrm>
              <a:off x="5889104" y="2823960"/>
              <a:ext cx="867600" cy="317008"/>
            </a:xfrm>
            <a:prstGeom prst="rect">
              <a:avLst/>
            </a:prstGeom>
            <a:solidFill>
              <a:schemeClr val="bg1"/>
            </a:solidFill>
            <a:ln w="28575" algn="ctr">
              <a:solidFill>
                <a:srgbClr val="9EBFD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ko-KR" altLang="en-US" sz="1000" dirty="0" smtClean="0">
                  <a:latin typeface="+mn-ea"/>
                </a:rPr>
                <a:t>권한관리</a:t>
              </a:r>
              <a:endParaRPr lang="en-US" altLang="ko-KR" sz="1000" dirty="0" smtClean="0">
                <a:latin typeface="+mn-ea"/>
              </a:endParaRPr>
            </a:p>
            <a:p>
              <a:pPr algn="ctr">
                <a:lnSpc>
                  <a:spcPct val="100000"/>
                </a:lnSpc>
              </a:pPr>
              <a:r>
                <a:rPr lang="ko-KR" altLang="en-US" sz="1000" dirty="0" err="1" smtClean="0">
                  <a:latin typeface="+mn-ea"/>
                </a:rPr>
                <a:t>암복호화</a:t>
              </a:r>
              <a:endParaRPr lang="ko-KR" altLang="en-US" sz="1000" dirty="0" smtClean="0">
                <a:latin typeface="+mn-ea"/>
              </a:endParaRPr>
            </a:p>
          </p:txBody>
        </p:sp>
        <p:sp>
          <p:nvSpPr>
            <p:cNvPr id="351" name="직사각형 127"/>
            <p:cNvSpPr>
              <a:spLocks noChangeArrowheads="1"/>
            </p:cNvSpPr>
            <p:nvPr/>
          </p:nvSpPr>
          <p:spPr bwMode="auto">
            <a:xfrm>
              <a:off x="6825208" y="2823960"/>
              <a:ext cx="867600" cy="317008"/>
            </a:xfrm>
            <a:prstGeom prst="rect">
              <a:avLst/>
            </a:prstGeom>
            <a:solidFill>
              <a:schemeClr val="bg1"/>
            </a:solidFill>
            <a:ln w="28575" algn="ctr">
              <a:solidFill>
                <a:srgbClr val="9EBFD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ko-KR" altLang="en-US" sz="1000" dirty="0" smtClean="0">
                  <a:latin typeface="+mn-ea"/>
                </a:rPr>
                <a:t>공통코드</a:t>
              </a:r>
              <a:endParaRPr lang="en-US" altLang="ko-KR" sz="1000" dirty="0" smtClean="0">
                <a:latin typeface="+mn-ea"/>
              </a:endParaRPr>
            </a:p>
            <a:p>
              <a:pPr algn="ctr">
                <a:lnSpc>
                  <a:spcPct val="100000"/>
                </a:lnSpc>
              </a:pPr>
              <a:r>
                <a:rPr lang="ko-KR" altLang="en-US" sz="1000" dirty="0" err="1" smtClean="0">
                  <a:latin typeface="+mn-ea"/>
                </a:rPr>
                <a:t>매뉴</a:t>
              </a:r>
              <a:r>
                <a:rPr lang="en-US" altLang="ko-KR" sz="1000" b="1" dirty="0" smtClean="0">
                  <a:solidFill>
                    <a:schemeClr val="tx2"/>
                  </a:solidFill>
                  <a:latin typeface="+mn-ea"/>
                </a:rPr>
                <a:t>, </a:t>
              </a:r>
              <a:r>
                <a:rPr lang="ko-KR" altLang="en-US" sz="1000" b="1" dirty="0" smtClean="0">
                  <a:solidFill>
                    <a:schemeClr val="tx2"/>
                  </a:solidFill>
                  <a:latin typeface="+mn-ea"/>
                </a:rPr>
                <a:t>다국어</a:t>
              </a:r>
            </a:p>
          </p:txBody>
        </p:sp>
        <p:sp>
          <p:nvSpPr>
            <p:cNvPr id="352" name="직사각형 127"/>
            <p:cNvSpPr>
              <a:spLocks noChangeArrowheads="1"/>
            </p:cNvSpPr>
            <p:nvPr/>
          </p:nvSpPr>
          <p:spPr bwMode="auto">
            <a:xfrm>
              <a:off x="7761312" y="2823960"/>
              <a:ext cx="867600" cy="317008"/>
            </a:xfrm>
            <a:prstGeom prst="rect">
              <a:avLst/>
            </a:prstGeom>
            <a:solidFill>
              <a:schemeClr val="bg1"/>
            </a:solidFill>
            <a:ln w="28575" algn="ctr">
              <a:solidFill>
                <a:srgbClr val="9EBFD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altLang="ko-KR" sz="1000" dirty="0" smtClean="0">
                  <a:latin typeface="+mn-ea"/>
                </a:rPr>
                <a:t>DB</a:t>
              </a:r>
              <a:r>
                <a:rPr lang="ko-KR" altLang="en-US" sz="1000" dirty="0" smtClean="0">
                  <a:latin typeface="+mn-ea"/>
                </a:rPr>
                <a:t>연계</a:t>
              </a:r>
              <a:endParaRPr lang="en-US" altLang="ko-KR" sz="1000" dirty="0" smtClean="0">
                <a:latin typeface="+mn-ea"/>
              </a:endParaRPr>
            </a:p>
            <a:p>
              <a:pPr algn="ctr">
                <a:lnSpc>
                  <a:spcPct val="100000"/>
                </a:lnSpc>
              </a:pPr>
              <a:r>
                <a:rPr lang="ko-KR" altLang="en-US" sz="1000" b="1" dirty="0" err="1" smtClean="0">
                  <a:solidFill>
                    <a:schemeClr val="tx2"/>
                  </a:solidFill>
                  <a:latin typeface="+mn-ea"/>
                </a:rPr>
                <a:t>웹서비스</a:t>
              </a:r>
              <a:endParaRPr lang="ko-KR" altLang="en-US" sz="1000" b="1" dirty="0" smtClean="0">
                <a:solidFill>
                  <a:schemeClr val="tx2"/>
                </a:solidFill>
                <a:latin typeface="+mn-ea"/>
              </a:endParaRPr>
            </a:p>
          </p:txBody>
        </p:sp>
        <p:sp>
          <p:nvSpPr>
            <p:cNvPr id="353" name="직사각형 127"/>
            <p:cNvSpPr>
              <a:spLocks noChangeArrowheads="1"/>
            </p:cNvSpPr>
            <p:nvPr/>
          </p:nvSpPr>
          <p:spPr bwMode="auto">
            <a:xfrm>
              <a:off x="8697416" y="2823960"/>
              <a:ext cx="867600" cy="317008"/>
            </a:xfrm>
            <a:prstGeom prst="rect">
              <a:avLst/>
            </a:prstGeom>
            <a:solidFill>
              <a:schemeClr val="bg1"/>
            </a:solidFill>
            <a:ln w="28575" algn="ctr">
              <a:solidFill>
                <a:srgbClr val="9EBFD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ko-KR" altLang="en-US" sz="1000" dirty="0" smtClean="0">
                  <a:latin typeface="+mn-ea"/>
                </a:rPr>
                <a:t>메시지</a:t>
              </a:r>
              <a:r>
                <a:rPr lang="en-US" altLang="ko-KR" sz="1000" dirty="0" smtClean="0">
                  <a:latin typeface="+mn-ea"/>
                </a:rPr>
                <a:t>,</a:t>
              </a:r>
              <a:r>
                <a:rPr lang="ko-KR" altLang="en-US" sz="1000" dirty="0" smtClean="0">
                  <a:latin typeface="+mn-ea"/>
                </a:rPr>
                <a:t>세션</a:t>
              </a:r>
              <a:r>
                <a:rPr lang="en-US" altLang="ko-KR" sz="1000" dirty="0" smtClean="0">
                  <a:latin typeface="+mn-ea"/>
                </a:rPr>
                <a:t>,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000" dirty="0" smtClean="0">
                  <a:latin typeface="+mn-ea"/>
                </a:rPr>
                <a:t>쿠키</a:t>
              </a:r>
              <a:r>
                <a:rPr lang="en-US" altLang="ko-KR" sz="1000" dirty="0" smtClean="0">
                  <a:latin typeface="+mn-ea"/>
                </a:rPr>
                <a:t>, </a:t>
              </a:r>
              <a:r>
                <a:rPr lang="ko-KR" altLang="en-US" sz="1000" b="1" dirty="0" err="1" smtClean="0">
                  <a:solidFill>
                    <a:schemeClr val="tx2"/>
                  </a:solidFill>
                  <a:latin typeface="+mn-ea"/>
                </a:rPr>
                <a:t>그리드</a:t>
              </a:r>
              <a:endParaRPr lang="ko-KR" altLang="en-US" sz="1000" b="1" dirty="0" smtClean="0">
                <a:solidFill>
                  <a:schemeClr val="tx2"/>
                </a:solidFill>
                <a:latin typeface="+mn-ea"/>
              </a:endParaRPr>
            </a:p>
          </p:txBody>
        </p:sp>
      </p:grpSp>
      <p:graphicFrame>
        <p:nvGraphicFramePr>
          <p:cNvPr id="108" name="표 10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8409340"/>
              </p:ext>
            </p:extLst>
          </p:nvPr>
        </p:nvGraphicFramePr>
        <p:xfrm>
          <a:off x="4881563" y="3857629"/>
          <a:ext cx="4643470" cy="2308220"/>
        </p:xfrm>
        <a:graphic>
          <a:graphicData uri="http://schemas.openxmlformats.org/drawingml/2006/table">
            <a:tbl>
              <a:tblPr/>
              <a:tblGrid>
                <a:gridCol w="916374"/>
                <a:gridCol w="1952287"/>
                <a:gridCol w="1774809"/>
              </a:tblGrid>
              <a:tr h="242845">
                <a:tc>
                  <a:txBody>
                    <a:bodyPr/>
                    <a:lstStyle/>
                    <a:p>
                      <a:pPr marL="0" marR="0" lvl="0" indent="0" algn="ctr" defTabSz="449263" rtl="0" eaLnBrk="0" fontAlgn="ctr" latinLnBrk="0" hangingPunct="0">
                        <a:lnSpc>
                          <a:spcPts val="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100000"/>
                        <a:buFont typeface="HY헤드라인M" pitchFamily="18" charset="-127"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서비스구분</a:t>
                      </a:r>
                    </a:p>
                  </a:txBody>
                  <a:tcPr marT="18000" marB="1800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9263" rtl="0" eaLnBrk="0" fontAlgn="ctr" latinLnBrk="0" hangingPunct="0">
                        <a:lnSpc>
                          <a:spcPts val="6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100000"/>
                        <a:buFont typeface="HY헤드라인M" pitchFamily="18" charset="-127"/>
                        <a:buNone/>
                        <a:tabLst/>
                      </a:pPr>
                      <a:r>
                        <a:rPr kumimoji="0" lang="ko-KR" altLang="en-GB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서비스</a:t>
                      </a:r>
                    </a:p>
                  </a:txBody>
                  <a:tcPr marT="18000" marB="1800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9263" rtl="0" eaLnBrk="0" fontAlgn="ctr" latinLnBrk="0" hangingPunct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100000"/>
                        <a:buFont typeface="HY헤드라인M" pitchFamily="18" charset="-127"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오픈 </a:t>
                      </a:r>
                      <a:r>
                        <a:rPr kumimoji="0" lang="ko-KR" altLang="en-GB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소프트웨어 </a:t>
                      </a:r>
                    </a:p>
                  </a:txBody>
                  <a:tcPr marT="18000" marB="1800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</a:tr>
              <a:tr h="151899">
                <a:tc rowSpan="3">
                  <a:txBody>
                    <a:bodyPr/>
                    <a:lstStyle/>
                    <a:p>
                      <a:pPr marL="0" marR="0" lvl="0" indent="0" algn="ctr" defTabSz="449263" rtl="0" eaLnBrk="0" fontAlgn="ctr" latinLnBrk="0" hangingPunct="0">
                        <a:lnSpc>
                          <a:spcPts val="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100000"/>
                        <a:buFont typeface="HY헤드라인M" pitchFamily="18" charset="-127"/>
                        <a:buNone/>
                        <a:tabLst/>
                      </a:pPr>
                      <a:r>
                        <a:rPr kumimoji="0" lang="ko-KR" altLang="en-GB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화면처리</a:t>
                      </a:r>
                    </a:p>
                  </a:txBody>
                  <a:tcPr marT="18000" marB="1800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0" fontAlgn="ctr" latinLnBrk="0" hangingPunct="0">
                        <a:lnSpc>
                          <a:spcPts val="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100000"/>
                        <a:buFont typeface="HY헤드라인M" pitchFamily="18" charset="-127"/>
                        <a:buNone/>
                        <a:tabLst/>
                      </a:pPr>
                      <a:r>
                        <a:rPr kumimoji="0" lang="en-GB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Ajax Support</a:t>
                      </a:r>
                      <a:endParaRPr kumimoji="0" lang="en-GB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18000" marB="1800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0" fontAlgn="ctr" latinLnBrk="0" hangingPunct="0">
                        <a:lnSpc>
                          <a:spcPts val="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100000"/>
                        <a:buFont typeface="HY헤드라인M" pitchFamily="18" charset="-127"/>
                        <a:buNone/>
                        <a:tabLst/>
                      </a:pPr>
                      <a:r>
                        <a:rPr kumimoji="0" lang="en-GB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Ajax Tags</a:t>
                      </a:r>
                      <a:endParaRPr kumimoji="0" lang="en-GB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18000" marB="1800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518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0" fontAlgn="ctr" latinLnBrk="0" hangingPunct="0">
                        <a:lnSpc>
                          <a:spcPts val="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100000"/>
                        <a:buFont typeface="HY헤드라인M" pitchFamily="18" charset="-127"/>
                        <a:buNone/>
                        <a:tabLst/>
                      </a:pPr>
                      <a:r>
                        <a:rPr kumimoji="0" lang="en-GB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Template Engine</a:t>
                      </a:r>
                      <a:endParaRPr kumimoji="0" lang="en-GB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18000" marB="1800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0" fontAlgn="ctr" latinLnBrk="0" hangingPunct="0">
                        <a:lnSpc>
                          <a:spcPts val="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100000"/>
                        <a:buFont typeface="HY헤드라인M" pitchFamily="18" charset="-127"/>
                        <a:buNone/>
                        <a:tabLst/>
                      </a:pPr>
                      <a:r>
                        <a:rPr kumimoji="0" lang="en-GB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Velocity1.6</a:t>
                      </a:r>
                      <a:endParaRPr kumimoji="0" lang="en-GB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18000" marB="1800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518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0" fontAlgn="ctr" latinLnBrk="0" hangingPunct="0">
                        <a:lnSpc>
                          <a:spcPts val="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100000"/>
                        <a:buFont typeface="HY헤드라인M" pitchFamily="18" charset="-127"/>
                        <a:buNone/>
                        <a:tabLst/>
                      </a:pPr>
                      <a:r>
                        <a:rPr kumimoji="0" lang="en-GB" altLang="ko-KR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JqGrid</a:t>
                      </a:r>
                      <a:endParaRPr kumimoji="0" lang="en-GB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18000" marB="1800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0" fontAlgn="ctr" latinLnBrk="0" hangingPunct="0">
                        <a:lnSpc>
                          <a:spcPts val="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100000"/>
                        <a:buFont typeface="HY헤드라인M" pitchFamily="18" charset="-127"/>
                        <a:buNone/>
                        <a:tabLst/>
                      </a:pPr>
                      <a:r>
                        <a:rPr kumimoji="0" lang="en-GB" altLang="ko-KR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JqGrid</a:t>
                      </a:r>
                      <a:r>
                        <a:rPr kumimoji="0" lang="en-GB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4.5.4</a:t>
                      </a:r>
                    </a:p>
                  </a:txBody>
                  <a:tcPr marT="18000" marB="1800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1247">
                <a:tc>
                  <a:txBody>
                    <a:bodyPr/>
                    <a:lstStyle/>
                    <a:p>
                      <a:pPr marL="0" marR="0" lvl="0" indent="0" algn="ctr" defTabSz="449263" rtl="0" eaLnBrk="0" fontAlgn="ctr" latinLnBrk="0" hangingPunct="0">
                        <a:lnSpc>
                          <a:spcPts val="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100000"/>
                        <a:buFont typeface="HY헤드라인M" pitchFamily="18" charset="-127"/>
                        <a:buNone/>
                        <a:tabLst/>
                      </a:pPr>
                      <a:r>
                        <a:rPr kumimoji="0" lang="ko-KR" altLang="en-GB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업무처리</a:t>
                      </a:r>
                    </a:p>
                  </a:txBody>
                  <a:tcPr marT="18000" marB="1800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0" fontAlgn="ctr" latinLnBrk="0" hangingPunct="0">
                        <a:lnSpc>
                          <a:spcPts val="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100000"/>
                        <a:buFont typeface="HY헤드라인M" pitchFamily="18" charset="-127"/>
                        <a:buNone/>
                        <a:tabLst/>
                      </a:pPr>
                      <a:r>
                        <a:rPr kumimoji="0" lang="en-GB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Exception Handling</a:t>
                      </a:r>
                      <a:endParaRPr kumimoji="0" lang="en-GB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18000" marB="1800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0" fontAlgn="ctr" latinLnBrk="0" hangingPunct="0">
                        <a:lnSpc>
                          <a:spcPts val="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100000"/>
                        <a:buFont typeface="HY헤드라인M" pitchFamily="18" charset="-127"/>
                        <a:buNone/>
                        <a:tabLst/>
                      </a:pPr>
                      <a:r>
                        <a:rPr kumimoji="0" lang="en-GB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Spring 2.5.6</a:t>
                      </a:r>
                    </a:p>
                  </a:txBody>
                  <a:tcPr marT="18000" marB="1800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57904">
                <a:tc rowSpan="2">
                  <a:txBody>
                    <a:bodyPr/>
                    <a:lstStyle/>
                    <a:p>
                      <a:pPr marL="0" marR="0" lvl="0" indent="0" algn="ctr" defTabSz="449263" rtl="0" eaLnBrk="0" fontAlgn="ctr" latinLnBrk="0" hangingPunct="0">
                        <a:lnSpc>
                          <a:spcPts val="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100000"/>
                        <a:buFont typeface="HY헤드라인M" pitchFamily="18" charset="-127"/>
                        <a:buNone/>
                        <a:tabLst/>
                      </a:pPr>
                      <a:r>
                        <a:rPr kumimoji="0" lang="ko-KR" altLang="en-GB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데이터처리</a:t>
                      </a:r>
                    </a:p>
                  </a:txBody>
                  <a:tcPr marT="18000" marB="1800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0" fontAlgn="ctr" latinLnBrk="0" hangingPunct="0">
                        <a:lnSpc>
                          <a:spcPts val="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100000"/>
                        <a:buFont typeface="HY헤드라인M" pitchFamily="18" charset="-127"/>
                        <a:buNone/>
                        <a:tabLst/>
                      </a:pPr>
                      <a:r>
                        <a:rPr kumimoji="0" lang="en-GB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Data Access</a:t>
                      </a:r>
                      <a:endParaRPr kumimoji="0" lang="en-GB" altLang="ko-KR" sz="1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18000" marB="1800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0" fontAlgn="ctr" latinLnBrk="0" hangingPunct="0">
                        <a:lnSpc>
                          <a:spcPts val="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100000"/>
                        <a:buFont typeface="HY헤드라인M" pitchFamily="18" charset="-127"/>
                        <a:buNone/>
                        <a:tabLst/>
                      </a:pPr>
                      <a:r>
                        <a:rPr kumimoji="0" lang="en-GB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iBatis2.3.4 SQL Maps</a:t>
                      </a:r>
                      <a:endParaRPr kumimoji="0" lang="en-GB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18000" marB="1800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5790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0" fontAlgn="ctr" latinLnBrk="0" hangingPunct="0">
                        <a:lnSpc>
                          <a:spcPts val="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100000"/>
                        <a:buFont typeface="HY헤드라인M" pitchFamily="18" charset="-127"/>
                        <a:buNone/>
                        <a:tabLst/>
                      </a:pPr>
                      <a:r>
                        <a:rPr kumimoji="0" lang="en-GB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Transaction</a:t>
                      </a:r>
                      <a:endParaRPr kumimoji="0" lang="en-GB" altLang="ko-KR" sz="1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18000" marB="1800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0" fontAlgn="ctr" latinLnBrk="0" hangingPunct="0">
                        <a:lnSpc>
                          <a:spcPts val="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100000"/>
                        <a:buFont typeface="HY헤드라인M" pitchFamily="18" charset="-127"/>
                        <a:buNone/>
                        <a:tabLst/>
                      </a:pPr>
                      <a:r>
                        <a:rPr kumimoji="0" lang="en-GB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Spring 2.5.6</a:t>
                      </a:r>
                    </a:p>
                  </a:txBody>
                  <a:tcPr marT="18000" marB="1800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1204">
                <a:tc>
                  <a:txBody>
                    <a:bodyPr/>
                    <a:lstStyle/>
                    <a:p>
                      <a:pPr marL="0" marR="0" lvl="0" indent="0" algn="ctr" defTabSz="449263" rtl="0" eaLnBrk="0" fontAlgn="ctr" latinLnBrk="0" hangingPunct="0">
                        <a:lnSpc>
                          <a:spcPts val="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100000"/>
                        <a:buFont typeface="HY헤드라인M" pitchFamily="18" charset="-127"/>
                        <a:buNone/>
                        <a:tabLst/>
                      </a:pPr>
                      <a:r>
                        <a:rPr kumimoji="0" lang="ko-KR" altLang="en-GB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연계통합</a:t>
                      </a:r>
                      <a:endParaRPr kumimoji="0" lang="ko-KR" altLang="en-GB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18000" marB="1800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0" fontAlgn="ctr" latinLnBrk="0" hangingPunct="0">
                        <a:lnSpc>
                          <a:spcPts val="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100000"/>
                        <a:buFont typeface="HY헤드라인M" pitchFamily="18" charset="-127"/>
                        <a:buNone/>
                        <a:tabLst/>
                      </a:pPr>
                      <a:r>
                        <a:rPr kumimoji="0" lang="en-GB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Web Service Interface</a:t>
                      </a:r>
                      <a:endParaRPr kumimoji="0" lang="en-GB" altLang="ko-KR" sz="1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18000" marB="1800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0" fontAlgn="ctr" latinLnBrk="0" hangingPunct="0">
                        <a:lnSpc>
                          <a:spcPts val="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100000"/>
                        <a:buFont typeface="HY헤드라인M" pitchFamily="18" charset="-127"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Apache </a:t>
                      </a:r>
                      <a:r>
                        <a:rPr kumimoji="0" lang="en-US" altLang="ko-KR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cxf</a:t>
                      </a:r>
                      <a:endParaRPr kumimoji="0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18000" marB="1800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57904">
                <a:tc rowSpan="6">
                  <a:txBody>
                    <a:bodyPr/>
                    <a:lstStyle/>
                    <a:p>
                      <a:pPr marL="0" marR="0" lvl="0" indent="0" algn="ctr" defTabSz="449263" rtl="0" eaLnBrk="0" fontAlgn="ctr" latinLnBrk="0" hangingPunct="0">
                        <a:lnSpc>
                          <a:spcPts val="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100000"/>
                        <a:buFont typeface="HY헤드라인M" pitchFamily="18" charset="-127"/>
                        <a:buNone/>
                        <a:tabLst/>
                      </a:pPr>
                      <a:r>
                        <a:rPr kumimoji="0" lang="ko-KR" altLang="en-GB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공통</a:t>
                      </a:r>
                      <a:endParaRPr kumimoji="0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marR="0" lvl="0" indent="0" algn="ctr" defTabSz="449263" rtl="0" eaLnBrk="0" fontAlgn="ctr" latinLnBrk="0" hangingPunct="0">
                        <a:lnSpc>
                          <a:spcPts val="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100000"/>
                        <a:buFont typeface="HY헤드라인M" pitchFamily="18" charset="-127"/>
                        <a:buNone/>
                        <a:tabLst/>
                      </a:pPr>
                      <a:r>
                        <a:rPr kumimoji="0" lang="ko-KR" altLang="en-GB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기반</a:t>
                      </a:r>
                      <a:endParaRPr kumimoji="0" lang="ko-KR" altLang="en-GB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18000" marB="1800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0" fontAlgn="ctr" latinLnBrk="0" hangingPunct="0">
                        <a:lnSpc>
                          <a:spcPts val="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100000"/>
                        <a:buFont typeface="HY헤드라인M" pitchFamily="18" charset="-127"/>
                        <a:buNone/>
                        <a:tabLst/>
                      </a:pPr>
                      <a:r>
                        <a:rPr kumimoji="0" lang="en-GB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AOP</a:t>
                      </a:r>
                      <a:endParaRPr kumimoji="0" lang="en-GB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18000" marB="1800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0" fontAlgn="ctr" latinLnBrk="0" hangingPunct="0">
                        <a:lnSpc>
                          <a:spcPts val="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100000"/>
                        <a:buFont typeface="HY헤드라인M" pitchFamily="18" charset="-127"/>
                        <a:buNone/>
                        <a:tabLst/>
                      </a:pPr>
                      <a:r>
                        <a:rPr kumimoji="0" lang="en-GB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Spring 2.5.6</a:t>
                      </a:r>
                    </a:p>
                  </a:txBody>
                  <a:tcPr marT="18000" marB="1800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518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0" fontAlgn="ctr" latinLnBrk="0" hangingPunct="0">
                        <a:lnSpc>
                          <a:spcPts val="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100000"/>
                        <a:buFont typeface="HY헤드라인M" pitchFamily="18" charset="-127"/>
                        <a:buNone/>
                        <a:tabLst/>
                      </a:pPr>
                      <a:r>
                        <a:rPr kumimoji="0" lang="en-GB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Excel</a:t>
                      </a:r>
                      <a:endParaRPr kumimoji="0" lang="en-GB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18000" marB="1800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0" fontAlgn="ctr" latinLnBrk="0" hangingPunct="0">
                        <a:lnSpc>
                          <a:spcPts val="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100000"/>
                        <a:buFont typeface="HY헤드라인M" pitchFamily="18" charset="-127"/>
                        <a:buNone/>
                        <a:tabLst/>
                      </a:pPr>
                      <a:r>
                        <a:rPr kumimoji="0" lang="en-GB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Apache POI </a:t>
                      </a:r>
                    </a:p>
                  </a:txBody>
                  <a:tcPr marT="18000" marB="1800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5790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0" fontAlgn="ctr" latinLnBrk="0" hangingPunct="0">
                        <a:lnSpc>
                          <a:spcPts val="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100000"/>
                        <a:buFont typeface="HY헤드라인M" pitchFamily="18" charset="-127"/>
                        <a:buNone/>
                        <a:tabLst/>
                      </a:pPr>
                      <a:r>
                        <a:rPr kumimoji="0" lang="en-GB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Object Pooling</a:t>
                      </a:r>
                      <a:endParaRPr kumimoji="0" lang="en-GB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18000" marB="1800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0" fontAlgn="ctr" latinLnBrk="0" hangingPunct="0">
                        <a:lnSpc>
                          <a:spcPts val="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100000"/>
                        <a:buFont typeface="HY헤드라인M" pitchFamily="18" charset="-127"/>
                        <a:buNone/>
                        <a:tabLst/>
                      </a:pPr>
                      <a:r>
                        <a:rPr kumimoji="0" lang="en-GB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Apache Commons Pool 1.3</a:t>
                      </a:r>
                    </a:p>
                  </a:txBody>
                  <a:tcPr marT="18000" marB="1800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5790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0" fontAlgn="ctr" latinLnBrk="0" hangingPunct="0">
                        <a:lnSpc>
                          <a:spcPts val="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100000"/>
                        <a:buFont typeface="HY헤드라인M" pitchFamily="18" charset="-127"/>
                        <a:buNone/>
                        <a:tabLst/>
                      </a:pPr>
                      <a:r>
                        <a:rPr kumimoji="0" lang="en-GB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Property</a:t>
                      </a:r>
                      <a:endParaRPr kumimoji="0" lang="en-GB" altLang="ko-KR" sz="1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18000" marB="1800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0" fontAlgn="ctr" latinLnBrk="0" hangingPunct="0">
                        <a:lnSpc>
                          <a:spcPts val="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100000"/>
                        <a:buFont typeface="HY헤드라인M" pitchFamily="18" charset="-127"/>
                        <a:buNone/>
                        <a:tabLst/>
                      </a:pPr>
                      <a:r>
                        <a:rPr kumimoji="0" lang="en-GB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Spring 2.5.6</a:t>
                      </a:r>
                    </a:p>
                  </a:txBody>
                  <a:tcPr marT="18000" marB="1800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5790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0" fontAlgn="ctr" latinLnBrk="0" hangingPunct="0">
                        <a:lnSpc>
                          <a:spcPts val="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100000"/>
                        <a:buFont typeface="HY헤드라인M" pitchFamily="18" charset="-127"/>
                        <a:buNone/>
                        <a:tabLst/>
                      </a:pPr>
                      <a:r>
                        <a:rPr kumimoji="0" lang="en-GB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Resource</a:t>
                      </a:r>
                      <a:endParaRPr kumimoji="0" lang="en-GB" altLang="ko-KR" sz="1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18000" marB="1800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0" fontAlgn="ctr" latinLnBrk="0" hangingPunct="0">
                        <a:lnSpc>
                          <a:spcPts val="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100000"/>
                        <a:buFont typeface="HY헤드라인M" pitchFamily="18" charset="-127"/>
                        <a:buNone/>
                        <a:tabLst/>
                      </a:pPr>
                      <a:r>
                        <a:rPr kumimoji="0" lang="en-GB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Spring 2.5.6</a:t>
                      </a:r>
                    </a:p>
                  </a:txBody>
                  <a:tcPr marT="18000" marB="1800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5790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0" fontAlgn="ctr" latinLnBrk="0" hangingPunct="0">
                        <a:lnSpc>
                          <a:spcPts val="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100000"/>
                        <a:buFont typeface="HY헤드라인M" pitchFamily="18" charset="-127"/>
                        <a:buNone/>
                        <a:tabLst/>
                      </a:pPr>
                      <a:r>
                        <a:rPr kumimoji="0" lang="en-GB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Scheduling</a:t>
                      </a:r>
                      <a:endParaRPr kumimoji="0" lang="en-GB" altLang="ko-KR" sz="1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18000" marB="1800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0" fontAlgn="ctr" latinLnBrk="0" hangingPunct="0">
                        <a:lnSpc>
                          <a:spcPts val="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100000"/>
                        <a:buFont typeface="HY헤드라인M" pitchFamily="18" charset="-127"/>
                        <a:buNone/>
                        <a:tabLst/>
                      </a:pPr>
                      <a:r>
                        <a:rPr kumimoji="0" lang="en-GB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Quartz 1.5</a:t>
                      </a:r>
                      <a:endParaRPr kumimoji="0" lang="en-GB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18000" marB="1800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10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3797300" y="6492899"/>
            <a:ext cx="2311400" cy="276999"/>
          </a:xfrm>
        </p:spPr>
        <p:txBody>
          <a:bodyPr wrap="square">
            <a:spAutoFit/>
          </a:bodyPr>
          <a:lstStyle/>
          <a:p>
            <a:pPr algn="ctr"/>
            <a:r>
              <a:rPr lang="en-US" altLang="ko-KR" dirty="0" smtClean="0">
                <a:latin typeface="+mn-ea"/>
              </a:rPr>
              <a:t>- </a:t>
            </a:r>
            <a:r>
              <a:rPr lang="en-US" altLang="ko-KR" dirty="0" smtClean="0">
                <a:latin typeface="+mn-ea"/>
              </a:rPr>
              <a:t>11</a:t>
            </a:r>
            <a:r>
              <a:rPr lang="ko-KR" altLang="en-US" dirty="0" smtClean="0">
                <a:latin typeface="+mn-ea"/>
              </a:rPr>
              <a:t> </a:t>
            </a:r>
            <a:r>
              <a:rPr lang="en-US" altLang="ko-KR" dirty="0" smtClean="0">
                <a:latin typeface="+mn-ea"/>
              </a:rPr>
              <a:t>-</a:t>
            </a:r>
            <a:endParaRPr lang="ko-KR" altLang="en-US" dirty="0"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WINUS Framework – Spring AOP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 smtClean="0"/>
              <a:t>3</a:t>
            </a:r>
            <a:endParaRPr lang="ko-KR" altLang="en-US" dirty="0"/>
          </a:p>
        </p:txBody>
      </p:sp>
      <p:sp>
        <p:nvSpPr>
          <p:cNvPr id="4" name="Rectangle 108"/>
          <p:cNvSpPr>
            <a:spLocks noChangeArrowheads="1"/>
          </p:cNvSpPr>
          <p:nvPr/>
        </p:nvSpPr>
        <p:spPr bwMode="auto">
          <a:xfrm>
            <a:off x="344488" y="980728"/>
            <a:ext cx="9217025" cy="648072"/>
          </a:xfrm>
          <a:prstGeom prst="rect">
            <a:avLst/>
          </a:prstGeom>
          <a:solidFill>
            <a:srgbClr val="F0F8FA">
              <a:alpha val="50000"/>
            </a:srgbClr>
          </a:solidFill>
          <a:ln w="9525">
            <a:solidFill>
              <a:schemeClr val="tx2">
                <a:lumMod val="20000"/>
                <a:lumOff val="8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atinLnBrk="0"/>
            <a:r>
              <a:rPr lang="en-US" altLang="ko-KR" sz="1400" dirty="0" smtClean="0"/>
              <a:t>Spring Framework AOP</a:t>
            </a:r>
            <a:r>
              <a:rPr lang="ko-KR" altLang="en-US" sz="1400" dirty="0" smtClean="0"/>
              <a:t>를 사용하여 공통적인 기능을 한곳에서 정의 </a:t>
            </a:r>
            <a:r>
              <a:rPr lang="ko-KR" altLang="en-US" sz="1400" dirty="0" err="1" smtClean="0"/>
              <a:t>할수</a:t>
            </a:r>
            <a:r>
              <a:rPr lang="ko-KR" altLang="en-US" sz="1400" dirty="0" smtClean="0"/>
              <a:t> 있으며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새로운 기능을 적용하려고 하는 클래스를 수정할 필요 없이 해당 기능을 어디에 어떻게 적용할 것인지를 선언적으로 정의 할 수 있습니다</a:t>
            </a:r>
            <a:r>
              <a:rPr lang="en-US" altLang="ko-KR" sz="1400" dirty="0" smtClean="0"/>
              <a:t>. </a:t>
            </a:r>
            <a:r>
              <a:rPr lang="ko-KR" altLang="en-US" sz="1400" dirty="0" smtClean="0"/>
              <a:t>횡단 관심사는 </a:t>
            </a:r>
            <a:r>
              <a:rPr lang="ko-KR" altLang="en-US" sz="1400" dirty="0" err="1" smtClean="0"/>
              <a:t>애스팩트</a:t>
            </a:r>
            <a:r>
              <a:rPr lang="en-US" altLang="ko-KR" sz="1400" dirty="0" smtClean="0"/>
              <a:t>(aspect) </a:t>
            </a:r>
            <a:r>
              <a:rPr lang="ko-KR" altLang="en-US" sz="1400" dirty="0" smtClean="0"/>
              <a:t>라고 하는 특별한 객체로 모듈화된다</a:t>
            </a:r>
            <a:r>
              <a:rPr lang="en-US" altLang="ko-KR" sz="1400" dirty="0" smtClean="0"/>
              <a:t>.</a:t>
            </a:r>
            <a:endParaRPr kumimoji="1" lang="ko-KR" altLang="en-US" sz="1400" dirty="0" smtClean="0">
              <a:solidFill>
                <a:srgbClr val="000000"/>
              </a:solidFill>
              <a:latin typeface="맑은 고딕" pitchFamily="50" charset="-127"/>
            </a:endParaRPr>
          </a:p>
        </p:txBody>
      </p:sp>
      <p:sp>
        <p:nvSpPr>
          <p:cNvPr id="5" name="Rectangle 128"/>
          <p:cNvSpPr>
            <a:spLocks noChangeArrowheads="1"/>
          </p:cNvSpPr>
          <p:nvPr/>
        </p:nvSpPr>
        <p:spPr bwMode="auto">
          <a:xfrm>
            <a:off x="452406" y="1855260"/>
            <a:ext cx="8954469" cy="268321"/>
          </a:xfrm>
          <a:prstGeom prst="rect">
            <a:avLst/>
          </a:prstGeom>
          <a:blipFill dpi="0" rotWithShape="1">
            <a:blip r:embed="rId2" cstate="print">
              <a:lum bright="12000"/>
            </a:blip>
            <a:srcRect/>
            <a:stretch>
              <a:fillRect/>
            </a:stretch>
          </a:blipFill>
          <a:ln w="9525" algn="ctr">
            <a:solidFill>
              <a:srgbClr val="3991BD"/>
            </a:solidFill>
            <a:miter lim="800000"/>
            <a:headEnd/>
            <a:tailEnd/>
          </a:ln>
          <a:effectLst>
            <a:outerShdw dist="35921" dir="2700000" algn="ctr" rotWithShape="0">
              <a:srgbClr val="CCECFF"/>
            </a:outerShdw>
          </a:effectLst>
        </p:spPr>
        <p:txBody>
          <a:bodyPr wrap="none" anchor="ctr"/>
          <a:lstStyle/>
          <a:p>
            <a:pPr algn="ctr" defTabSz="839788">
              <a:lnSpc>
                <a:spcPct val="90000"/>
              </a:lnSpc>
              <a:defRPr/>
            </a:pPr>
            <a:r>
              <a:rPr lang="en-US" altLang="ko-KR" sz="1100" dirty="0" smtClean="0">
                <a:latin typeface="맑은 고딕" pitchFamily="50" charset="-127"/>
                <a:ea typeface="맑은 고딕" pitchFamily="50" charset="-127"/>
              </a:rPr>
              <a:t>Spring Framework AOP</a:t>
            </a:r>
            <a:endParaRPr lang="ko-KR" altLang="en-US" sz="11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" name="Rectangle 93"/>
          <p:cNvSpPr>
            <a:spLocks noChangeArrowheads="1"/>
          </p:cNvSpPr>
          <p:nvPr/>
        </p:nvSpPr>
        <p:spPr bwMode="auto">
          <a:xfrm>
            <a:off x="452406" y="2143116"/>
            <a:ext cx="8957691" cy="3669161"/>
          </a:xfrm>
          <a:prstGeom prst="rect">
            <a:avLst/>
          </a:prstGeom>
          <a:solidFill>
            <a:schemeClr val="bg1"/>
          </a:solidFill>
          <a:ln w="9525" algn="ctr">
            <a:solidFill>
              <a:srgbClr val="588D9A"/>
            </a:solidFill>
            <a:miter lim="800000"/>
            <a:headEnd/>
            <a:tailEnd/>
          </a:ln>
          <a:effectLst>
            <a:outerShdw dist="35921" dir="2700000" algn="ctr" rotWithShape="0">
              <a:srgbClr val="CCECFF"/>
            </a:outerShdw>
          </a:effectLst>
        </p:spPr>
        <p:txBody>
          <a:bodyPr lIns="53976" tIns="35985" rIns="0" bIns="45702"/>
          <a:lstStyle/>
          <a:p>
            <a:pPr algn="ctr">
              <a:defRPr/>
            </a:pPr>
            <a:endParaRPr lang="ko-KR" altLang="en-US" sz="1100" b="0"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20" name="Picture 5" descr="http://cfile25.uf.tistory.com/original/1849FF334FE275222CE4C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0035" y="2571744"/>
            <a:ext cx="4630024" cy="2786082"/>
          </a:xfrm>
          <a:prstGeom prst="rect">
            <a:avLst/>
          </a:prstGeom>
          <a:noFill/>
        </p:spPr>
      </p:pic>
      <p:sp>
        <p:nvSpPr>
          <p:cNvPr id="23" name="Rectangle 13"/>
          <p:cNvSpPr>
            <a:spLocks noChangeArrowheads="1"/>
          </p:cNvSpPr>
          <p:nvPr/>
        </p:nvSpPr>
        <p:spPr bwMode="auto">
          <a:xfrm>
            <a:off x="5251638" y="2352934"/>
            <a:ext cx="4017347" cy="361686"/>
          </a:xfrm>
          <a:prstGeom prst="rect">
            <a:avLst/>
          </a:prstGeom>
          <a:solidFill>
            <a:schemeClr val="bg1"/>
          </a:solidFill>
          <a:ln w="3175" algn="ctr">
            <a:solidFill>
              <a:srgbClr val="7EA4C0"/>
            </a:solidFill>
            <a:miter lim="800000"/>
            <a:headEnd/>
            <a:tailEnd/>
          </a:ln>
          <a:effectLst>
            <a:outerShdw dist="35921" dir="2700000" algn="ctr" rotWithShape="0">
              <a:srgbClr val="EAEAEA"/>
            </a:outerShdw>
          </a:effectLst>
        </p:spPr>
        <p:txBody>
          <a:bodyPr lIns="180000" tIns="0" rIns="36000" bIns="0" anchor="ctr"/>
          <a:lstStyle/>
          <a:p>
            <a:pPr marL="265113">
              <a:defRPr/>
            </a:pPr>
            <a:r>
              <a:rPr lang="ko-KR" altLang="en-US" sz="1000" b="0" dirty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000" b="1" dirty="0" smtClean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&lt;</a:t>
            </a:r>
            <a:r>
              <a:rPr lang="en-US" altLang="ko-KR" sz="1000" b="1" dirty="0" err="1" smtClean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aop:advisor</a:t>
            </a:r>
            <a:r>
              <a:rPr lang="en-US" altLang="ko-KR" sz="1000" b="1" dirty="0" smtClean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&gt;</a:t>
            </a:r>
          </a:p>
          <a:p>
            <a:pPr marL="265113">
              <a:defRPr/>
            </a:pPr>
            <a:r>
              <a:rPr lang="en-US" altLang="ko-KR" sz="1000" dirty="0" smtClean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  AOP </a:t>
            </a:r>
            <a:r>
              <a:rPr lang="ko-KR" altLang="en-US" sz="1000" dirty="0" err="1" smtClean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어드바이저를</a:t>
            </a:r>
            <a:r>
              <a:rPr lang="ko-KR" altLang="en-US" sz="1000" dirty="0" smtClean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 정의한다</a:t>
            </a:r>
            <a:r>
              <a:rPr lang="en-US" altLang="ko-KR" sz="1000" dirty="0" smtClean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</p:txBody>
      </p:sp>
      <p:sp>
        <p:nvSpPr>
          <p:cNvPr id="24" name="Rectangle 14"/>
          <p:cNvSpPr>
            <a:spLocks noChangeArrowheads="1"/>
          </p:cNvSpPr>
          <p:nvPr/>
        </p:nvSpPr>
        <p:spPr bwMode="auto">
          <a:xfrm>
            <a:off x="5238752" y="2354522"/>
            <a:ext cx="449414" cy="360959"/>
          </a:xfrm>
          <a:prstGeom prst="rect">
            <a:avLst/>
          </a:prstGeom>
          <a:solidFill>
            <a:srgbClr val="9DB7CF"/>
          </a:solidFill>
          <a:ln w="3175" algn="ctr">
            <a:solidFill>
              <a:srgbClr val="6F99B9"/>
            </a:solidFill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algn="ctr"/>
            <a:r>
              <a:rPr lang="en-US" altLang="ko-KR" sz="10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1</a:t>
            </a:r>
            <a:endParaRPr lang="en-US" altLang="ko-KR" sz="1000" b="0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5" name="Rectangle 13"/>
          <p:cNvSpPr>
            <a:spLocks noChangeArrowheads="1"/>
          </p:cNvSpPr>
          <p:nvPr/>
        </p:nvSpPr>
        <p:spPr bwMode="auto">
          <a:xfrm>
            <a:off x="5251638" y="2780701"/>
            <a:ext cx="4017347" cy="361686"/>
          </a:xfrm>
          <a:prstGeom prst="rect">
            <a:avLst/>
          </a:prstGeom>
          <a:solidFill>
            <a:schemeClr val="bg1"/>
          </a:solidFill>
          <a:ln w="3175" algn="ctr">
            <a:solidFill>
              <a:srgbClr val="7EA4C0"/>
            </a:solidFill>
            <a:miter lim="800000"/>
            <a:headEnd/>
            <a:tailEnd/>
          </a:ln>
          <a:effectLst>
            <a:outerShdw dist="35921" dir="2700000" algn="ctr" rotWithShape="0">
              <a:srgbClr val="EAEAEA"/>
            </a:outerShdw>
          </a:effectLst>
        </p:spPr>
        <p:txBody>
          <a:bodyPr lIns="180000" tIns="0" rIns="36000" bIns="0" anchor="ctr"/>
          <a:lstStyle/>
          <a:p>
            <a:pPr marL="265113">
              <a:defRPr/>
            </a:pPr>
            <a:r>
              <a:rPr lang="ko-KR" altLang="en-US" sz="1000" b="0" dirty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000" b="1" dirty="0" smtClean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&lt;</a:t>
            </a:r>
            <a:r>
              <a:rPr lang="en-US" altLang="ko-KR" sz="1000" b="1" dirty="0" err="1" smtClean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aop:after</a:t>
            </a:r>
            <a:r>
              <a:rPr lang="en-US" altLang="ko-KR" sz="1000" b="1" dirty="0" smtClean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&gt;</a:t>
            </a:r>
            <a:r>
              <a:rPr lang="en-US" altLang="ko-KR" sz="1000" dirty="0" smtClean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 </a:t>
            </a:r>
            <a:endParaRPr lang="en-US" altLang="ko-KR" sz="1000" b="1" dirty="0" smtClean="0">
              <a:solidFill>
                <a:srgbClr val="333333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265113">
              <a:defRPr/>
            </a:pPr>
            <a:r>
              <a:rPr lang="en-US" altLang="ko-KR" sz="1000" dirty="0" smtClean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000" dirty="0" smtClean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예외발생여부와 관계없이 </a:t>
            </a:r>
            <a:r>
              <a:rPr lang="ko-KR" altLang="en-US" sz="1000" dirty="0" err="1" smtClean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메서트</a:t>
            </a:r>
            <a:r>
              <a:rPr lang="ko-KR" altLang="en-US" sz="1000" dirty="0" smtClean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 실행 후 기능을 정의한다</a:t>
            </a:r>
            <a:r>
              <a:rPr lang="en-US" altLang="ko-KR" sz="1000" dirty="0" smtClean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</p:txBody>
      </p:sp>
      <p:sp>
        <p:nvSpPr>
          <p:cNvPr id="36" name="Rectangle 14"/>
          <p:cNvSpPr>
            <a:spLocks noChangeArrowheads="1"/>
          </p:cNvSpPr>
          <p:nvPr/>
        </p:nvSpPr>
        <p:spPr bwMode="auto">
          <a:xfrm>
            <a:off x="5238752" y="2782289"/>
            <a:ext cx="449414" cy="360959"/>
          </a:xfrm>
          <a:prstGeom prst="rect">
            <a:avLst/>
          </a:prstGeom>
          <a:solidFill>
            <a:srgbClr val="9DB7CF"/>
          </a:solidFill>
          <a:ln w="3175" algn="ctr">
            <a:solidFill>
              <a:srgbClr val="6F99B9"/>
            </a:solidFill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algn="ctr"/>
            <a:r>
              <a:rPr lang="en-US" altLang="ko-KR" sz="1000" b="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2</a:t>
            </a:r>
          </a:p>
        </p:txBody>
      </p:sp>
      <p:sp>
        <p:nvSpPr>
          <p:cNvPr id="37" name="Rectangle 13"/>
          <p:cNvSpPr>
            <a:spLocks noChangeArrowheads="1"/>
          </p:cNvSpPr>
          <p:nvPr/>
        </p:nvSpPr>
        <p:spPr bwMode="auto">
          <a:xfrm>
            <a:off x="5251638" y="3209329"/>
            <a:ext cx="4017347" cy="361686"/>
          </a:xfrm>
          <a:prstGeom prst="rect">
            <a:avLst/>
          </a:prstGeom>
          <a:solidFill>
            <a:schemeClr val="bg1"/>
          </a:solidFill>
          <a:ln w="3175" algn="ctr">
            <a:solidFill>
              <a:srgbClr val="7EA4C0"/>
            </a:solidFill>
            <a:miter lim="800000"/>
            <a:headEnd/>
            <a:tailEnd/>
          </a:ln>
          <a:effectLst>
            <a:outerShdw dist="35921" dir="2700000" algn="ctr" rotWithShape="0">
              <a:srgbClr val="EAEAEA"/>
            </a:outerShdw>
          </a:effectLst>
        </p:spPr>
        <p:txBody>
          <a:bodyPr lIns="180000" tIns="0" rIns="36000" bIns="0" anchor="ctr"/>
          <a:lstStyle/>
          <a:p>
            <a:pPr marL="265113">
              <a:defRPr/>
            </a:pPr>
            <a:r>
              <a:rPr lang="ko-KR" altLang="en-US" sz="1000" b="1" dirty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000" b="1" dirty="0" smtClean="0">
                <a:solidFill>
                  <a:srgbClr val="333333"/>
                </a:solidFill>
                <a:ea typeface="맑은 고딕" pitchFamily="50" charset="-127"/>
              </a:rPr>
              <a:t>&lt;</a:t>
            </a:r>
            <a:r>
              <a:rPr lang="en-US" altLang="ko-KR" sz="1000" b="1" dirty="0" err="1" smtClean="0">
                <a:solidFill>
                  <a:srgbClr val="333333"/>
                </a:solidFill>
                <a:ea typeface="맑은 고딕" pitchFamily="50" charset="-127"/>
              </a:rPr>
              <a:t>aop:after</a:t>
            </a:r>
            <a:r>
              <a:rPr lang="en-US" altLang="ko-KR" sz="1000" b="1" dirty="0" smtClean="0">
                <a:solidFill>
                  <a:srgbClr val="333333"/>
                </a:solidFill>
                <a:ea typeface="맑은 고딕" pitchFamily="50" charset="-127"/>
              </a:rPr>
              <a:t>-returning&gt;</a:t>
            </a:r>
            <a:r>
              <a:rPr lang="en-US" altLang="ko-KR" sz="1000" dirty="0" smtClean="0">
                <a:solidFill>
                  <a:srgbClr val="333333"/>
                </a:solidFill>
                <a:ea typeface="맑은 고딕" pitchFamily="50" charset="-127"/>
              </a:rPr>
              <a:t> </a:t>
            </a:r>
            <a:endParaRPr lang="en-US" altLang="ko-KR" sz="1000" b="1" dirty="0" smtClean="0">
              <a:solidFill>
                <a:srgbClr val="333333"/>
              </a:solidFill>
              <a:ea typeface="맑은 고딕" pitchFamily="50" charset="-127"/>
            </a:endParaRPr>
          </a:p>
          <a:p>
            <a:pPr marL="265113">
              <a:defRPr/>
            </a:pPr>
            <a:r>
              <a:rPr lang="en-US" altLang="ko-KR" sz="1000" dirty="0" smtClean="0">
                <a:solidFill>
                  <a:srgbClr val="333333"/>
                </a:solidFill>
                <a:ea typeface="맑은 고딕" pitchFamily="50" charset="-127"/>
              </a:rPr>
              <a:t> </a:t>
            </a:r>
            <a:r>
              <a:rPr lang="ko-KR" altLang="en-US" sz="1000" dirty="0" smtClean="0"/>
              <a:t>정상적으로 </a:t>
            </a:r>
            <a:r>
              <a:rPr lang="ko-KR" altLang="en-US" sz="1000" dirty="0" err="1" smtClean="0"/>
              <a:t>메소드가</a:t>
            </a:r>
            <a:r>
              <a:rPr lang="ko-KR" altLang="en-US" sz="1000" dirty="0" smtClean="0"/>
              <a:t> 실행될 때 수행되는 기능을 정의한다</a:t>
            </a:r>
            <a:r>
              <a:rPr lang="en-US" altLang="ko-KR" sz="1000" dirty="0" smtClean="0"/>
              <a:t>.</a:t>
            </a:r>
            <a:endParaRPr lang="en-US" altLang="ko-KR" sz="1000" dirty="0" smtClean="0">
              <a:solidFill>
                <a:srgbClr val="333333"/>
              </a:solidFill>
              <a:ea typeface="맑은 고딕" pitchFamily="50" charset="-127"/>
            </a:endParaRPr>
          </a:p>
        </p:txBody>
      </p:sp>
      <p:sp>
        <p:nvSpPr>
          <p:cNvPr id="38" name="Rectangle 14"/>
          <p:cNvSpPr>
            <a:spLocks noChangeArrowheads="1"/>
          </p:cNvSpPr>
          <p:nvPr/>
        </p:nvSpPr>
        <p:spPr bwMode="auto">
          <a:xfrm>
            <a:off x="5238752" y="3210917"/>
            <a:ext cx="449414" cy="360959"/>
          </a:xfrm>
          <a:prstGeom prst="rect">
            <a:avLst/>
          </a:prstGeom>
          <a:solidFill>
            <a:srgbClr val="9DB7CF"/>
          </a:solidFill>
          <a:ln w="3175" algn="ctr">
            <a:solidFill>
              <a:srgbClr val="6F99B9"/>
            </a:solidFill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algn="ctr"/>
            <a:r>
              <a:rPr lang="en-US" altLang="ko-KR" sz="100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3</a:t>
            </a:r>
            <a:endParaRPr lang="en-US" altLang="ko-KR" sz="1000" b="0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9" name="Rectangle 13"/>
          <p:cNvSpPr>
            <a:spLocks noChangeArrowheads="1"/>
          </p:cNvSpPr>
          <p:nvPr/>
        </p:nvSpPr>
        <p:spPr bwMode="auto">
          <a:xfrm>
            <a:off x="5251638" y="3637957"/>
            <a:ext cx="4017347" cy="361686"/>
          </a:xfrm>
          <a:prstGeom prst="rect">
            <a:avLst/>
          </a:prstGeom>
          <a:solidFill>
            <a:schemeClr val="bg1"/>
          </a:solidFill>
          <a:ln w="3175" algn="ctr">
            <a:solidFill>
              <a:srgbClr val="7EA4C0"/>
            </a:solidFill>
            <a:miter lim="800000"/>
            <a:headEnd/>
            <a:tailEnd/>
          </a:ln>
          <a:effectLst>
            <a:outerShdw dist="35921" dir="2700000" algn="ctr" rotWithShape="0">
              <a:srgbClr val="EAEAEA"/>
            </a:outerShdw>
          </a:effectLst>
        </p:spPr>
        <p:txBody>
          <a:bodyPr lIns="180000" tIns="0" rIns="36000" bIns="0" anchor="ctr"/>
          <a:lstStyle/>
          <a:p>
            <a:pPr marL="265113">
              <a:defRPr/>
            </a:pPr>
            <a:r>
              <a:rPr lang="en-US" altLang="ko-KR" sz="1000" b="1" dirty="0" smtClean="0">
                <a:solidFill>
                  <a:srgbClr val="333333"/>
                </a:solidFill>
                <a:ea typeface="맑은 고딕" pitchFamily="50" charset="-127"/>
              </a:rPr>
              <a:t> &lt;</a:t>
            </a:r>
            <a:r>
              <a:rPr lang="en-US" altLang="ko-KR" sz="1000" b="1" dirty="0" err="1" smtClean="0">
                <a:solidFill>
                  <a:srgbClr val="333333"/>
                </a:solidFill>
                <a:ea typeface="맑은 고딕" pitchFamily="50" charset="-127"/>
              </a:rPr>
              <a:t>aop:after</a:t>
            </a:r>
            <a:r>
              <a:rPr lang="en-US" altLang="ko-KR" sz="1000" b="1" dirty="0" smtClean="0">
                <a:solidFill>
                  <a:srgbClr val="333333"/>
                </a:solidFill>
                <a:ea typeface="맑은 고딕" pitchFamily="50" charset="-127"/>
              </a:rPr>
              <a:t>-throwing&gt;</a:t>
            </a:r>
          </a:p>
          <a:p>
            <a:pPr marL="265113">
              <a:defRPr/>
            </a:pPr>
            <a:r>
              <a:rPr lang="en-US" altLang="ko-KR" sz="1000" dirty="0" smtClean="0">
                <a:solidFill>
                  <a:srgbClr val="333333"/>
                </a:solidFill>
                <a:ea typeface="맑은 고딕" pitchFamily="50" charset="-127"/>
              </a:rPr>
              <a:t> </a:t>
            </a:r>
            <a:r>
              <a:rPr lang="ko-KR" altLang="en-US" sz="1000" dirty="0" smtClean="0"/>
              <a:t>실행 중 </a:t>
            </a:r>
            <a:r>
              <a:rPr lang="ko-KR" altLang="en-US" sz="1000" dirty="0" err="1" smtClean="0"/>
              <a:t>예외사항반환후</a:t>
            </a:r>
            <a:r>
              <a:rPr lang="ko-KR" altLang="en-US" sz="1000" dirty="0" smtClean="0"/>
              <a:t> 종료하는 경우의 기능을 </a:t>
            </a:r>
            <a:r>
              <a:rPr lang="ko-KR" altLang="en-US" sz="1000" dirty="0" err="1" smtClean="0"/>
              <a:t>정의힌다</a:t>
            </a:r>
            <a:r>
              <a:rPr lang="en-US" altLang="ko-KR" sz="1000" dirty="0" smtClean="0"/>
              <a:t>.</a:t>
            </a:r>
            <a:endParaRPr lang="en-US" altLang="ko-KR" sz="1000" dirty="0" smtClean="0">
              <a:solidFill>
                <a:srgbClr val="333333"/>
              </a:solidFill>
              <a:ea typeface="맑은 고딕" pitchFamily="50" charset="-127"/>
            </a:endParaRPr>
          </a:p>
        </p:txBody>
      </p:sp>
      <p:sp>
        <p:nvSpPr>
          <p:cNvPr id="40" name="Rectangle 14"/>
          <p:cNvSpPr>
            <a:spLocks noChangeArrowheads="1"/>
          </p:cNvSpPr>
          <p:nvPr/>
        </p:nvSpPr>
        <p:spPr bwMode="auto">
          <a:xfrm>
            <a:off x="5238752" y="3639545"/>
            <a:ext cx="449414" cy="360959"/>
          </a:xfrm>
          <a:prstGeom prst="rect">
            <a:avLst/>
          </a:prstGeom>
          <a:solidFill>
            <a:srgbClr val="9DB7CF"/>
          </a:solidFill>
          <a:ln w="3175" algn="ctr">
            <a:solidFill>
              <a:srgbClr val="6F99B9"/>
            </a:solidFill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algn="ctr"/>
            <a:r>
              <a:rPr lang="en-US" altLang="ko-KR" sz="1000" b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4</a:t>
            </a:r>
            <a:endParaRPr lang="en-US" altLang="ko-KR" sz="1000" b="0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1" name="Rectangle 13"/>
          <p:cNvSpPr>
            <a:spLocks noChangeArrowheads="1"/>
          </p:cNvSpPr>
          <p:nvPr/>
        </p:nvSpPr>
        <p:spPr bwMode="auto">
          <a:xfrm>
            <a:off x="5251638" y="4066585"/>
            <a:ext cx="4017347" cy="361686"/>
          </a:xfrm>
          <a:prstGeom prst="rect">
            <a:avLst/>
          </a:prstGeom>
          <a:solidFill>
            <a:schemeClr val="bg1"/>
          </a:solidFill>
          <a:ln w="3175" algn="ctr">
            <a:solidFill>
              <a:srgbClr val="7EA4C0"/>
            </a:solidFill>
            <a:miter lim="800000"/>
            <a:headEnd/>
            <a:tailEnd/>
          </a:ln>
          <a:effectLst>
            <a:outerShdw dist="35921" dir="2700000" algn="ctr" rotWithShape="0">
              <a:srgbClr val="EAEAEA"/>
            </a:outerShdw>
          </a:effectLst>
        </p:spPr>
        <p:txBody>
          <a:bodyPr lIns="180000" tIns="0" rIns="36000" bIns="0" anchor="ctr"/>
          <a:lstStyle/>
          <a:p>
            <a:pPr marL="265113">
              <a:defRPr/>
            </a:pPr>
            <a:r>
              <a:rPr lang="en-US" altLang="ko-KR" sz="1000" b="1" dirty="0" smtClean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 &lt;</a:t>
            </a:r>
            <a:r>
              <a:rPr lang="en-US" altLang="ko-KR" sz="1000" b="1" dirty="0" err="1" smtClean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aop:around</a:t>
            </a:r>
            <a:r>
              <a:rPr lang="en-US" altLang="ko-KR" sz="1000" b="1" dirty="0" smtClean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&gt;</a:t>
            </a:r>
          </a:p>
          <a:p>
            <a:pPr marL="265113">
              <a:defRPr/>
            </a:pPr>
            <a:r>
              <a:rPr lang="en-US" altLang="ko-KR" sz="1000" dirty="0" smtClean="0">
                <a:solidFill>
                  <a:srgbClr val="333333"/>
                </a:solidFill>
                <a:latin typeface="+mn-ea"/>
              </a:rPr>
              <a:t>   </a:t>
            </a:r>
            <a:r>
              <a:rPr lang="ko-KR" altLang="en-US" sz="1000" dirty="0" smtClean="0">
                <a:latin typeface="+mn-ea"/>
              </a:rPr>
              <a:t>대상 </a:t>
            </a:r>
            <a:r>
              <a:rPr lang="ko-KR" altLang="en-US" sz="1000" dirty="0" err="1" smtClean="0">
                <a:latin typeface="+mn-ea"/>
              </a:rPr>
              <a:t>메서드</a:t>
            </a:r>
            <a:r>
              <a:rPr lang="ko-KR" altLang="en-US" sz="1000" dirty="0" smtClean="0">
                <a:latin typeface="+mn-ea"/>
              </a:rPr>
              <a:t> 실행 전</a:t>
            </a:r>
            <a:r>
              <a:rPr lang="en-US" altLang="ko-KR" sz="1000" dirty="0" smtClean="0">
                <a:latin typeface="+mn-ea"/>
              </a:rPr>
              <a:t>, </a:t>
            </a:r>
            <a:r>
              <a:rPr lang="ko-KR" altLang="en-US" sz="1000" dirty="0" smtClean="0">
                <a:latin typeface="+mn-ea"/>
              </a:rPr>
              <a:t>후</a:t>
            </a:r>
            <a:r>
              <a:rPr lang="en-US" altLang="ko-KR" sz="1000" dirty="0" smtClean="0">
                <a:latin typeface="+mn-ea"/>
              </a:rPr>
              <a:t>, </a:t>
            </a:r>
            <a:r>
              <a:rPr lang="ko-KR" altLang="en-US" sz="1000" dirty="0" smtClean="0">
                <a:latin typeface="+mn-ea"/>
              </a:rPr>
              <a:t>예외발생에 공통기능을 정</a:t>
            </a:r>
            <a:r>
              <a:rPr lang="ko-KR" altLang="en-US" sz="1000" dirty="0" smtClean="0">
                <a:solidFill>
                  <a:srgbClr val="333333"/>
                </a:solidFill>
                <a:latin typeface="+mn-ea"/>
              </a:rPr>
              <a:t>의한다</a:t>
            </a:r>
            <a:r>
              <a:rPr lang="en-US" altLang="ko-KR" sz="1000" dirty="0" smtClean="0">
                <a:solidFill>
                  <a:srgbClr val="333333"/>
                </a:solidFill>
                <a:latin typeface="+mn-ea"/>
              </a:rPr>
              <a:t>.</a:t>
            </a:r>
          </a:p>
        </p:txBody>
      </p:sp>
      <p:sp>
        <p:nvSpPr>
          <p:cNvPr id="42" name="Rectangle 14"/>
          <p:cNvSpPr>
            <a:spLocks noChangeArrowheads="1"/>
          </p:cNvSpPr>
          <p:nvPr/>
        </p:nvSpPr>
        <p:spPr bwMode="auto">
          <a:xfrm>
            <a:off x="5238752" y="4068173"/>
            <a:ext cx="449414" cy="360959"/>
          </a:xfrm>
          <a:prstGeom prst="rect">
            <a:avLst/>
          </a:prstGeom>
          <a:solidFill>
            <a:srgbClr val="9DB7CF"/>
          </a:solidFill>
          <a:ln w="3175" algn="ctr">
            <a:solidFill>
              <a:srgbClr val="6F99B9"/>
            </a:solidFill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algn="ctr"/>
            <a:r>
              <a:rPr lang="en-US" altLang="ko-KR" sz="100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5</a:t>
            </a:r>
            <a:endParaRPr lang="en-US" altLang="ko-KR" sz="1000" b="0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3" name="Rectangle 13"/>
          <p:cNvSpPr>
            <a:spLocks noChangeArrowheads="1"/>
          </p:cNvSpPr>
          <p:nvPr/>
        </p:nvSpPr>
        <p:spPr bwMode="auto">
          <a:xfrm>
            <a:off x="5251638" y="4500570"/>
            <a:ext cx="4017347" cy="500066"/>
          </a:xfrm>
          <a:prstGeom prst="rect">
            <a:avLst/>
          </a:prstGeom>
          <a:solidFill>
            <a:schemeClr val="bg1"/>
          </a:solidFill>
          <a:ln w="3175" algn="ctr">
            <a:solidFill>
              <a:srgbClr val="7EA4C0"/>
            </a:solidFill>
            <a:miter lim="800000"/>
            <a:headEnd/>
            <a:tailEnd/>
          </a:ln>
          <a:effectLst>
            <a:outerShdw dist="35921" dir="2700000" algn="ctr" rotWithShape="0">
              <a:srgbClr val="EAEAEA"/>
            </a:outerShdw>
          </a:effectLst>
        </p:spPr>
        <p:txBody>
          <a:bodyPr lIns="180000" tIns="0" rIns="36000" bIns="0" anchor="ctr"/>
          <a:lstStyle/>
          <a:p>
            <a:pPr marL="265113">
              <a:defRPr/>
            </a:pPr>
            <a:r>
              <a:rPr lang="en-US" altLang="ko-KR" sz="1000" b="1" dirty="0" smtClean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 &lt;</a:t>
            </a:r>
            <a:r>
              <a:rPr lang="en-US" altLang="ko-KR" sz="1000" b="1" dirty="0" err="1" smtClean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aop:aspect</a:t>
            </a:r>
            <a:r>
              <a:rPr lang="en-US" altLang="ko-KR" sz="1000" b="1" dirty="0" smtClean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&gt;</a:t>
            </a:r>
          </a:p>
          <a:p>
            <a:pPr marL="265113">
              <a:defRPr/>
            </a:pPr>
            <a:r>
              <a:rPr lang="en-US" altLang="ko-KR" sz="1000" dirty="0" smtClean="0">
                <a:solidFill>
                  <a:srgbClr val="333333"/>
                </a:solidFill>
                <a:latin typeface="+mn-ea"/>
              </a:rPr>
              <a:t>   </a:t>
            </a:r>
            <a:r>
              <a:rPr lang="ko-KR" altLang="en-US" sz="1000" dirty="0" smtClean="0">
                <a:solidFill>
                  <a:srgbClr val="333333"/>
                </a:solidFill>
                <a:latin typeface="+mn-ea"/>
              </a:rPr>
              <a:t>어플리케이션 </a:t>
            </a:r>
            <a:r>
              <a:rPr lang="ko-KR" altLang="en-US" sz="1000" dirty="0" err="1" smtClean="0">
                <a:solidFill>
                  <a:srgbClr val="333333"/>
                </a:solidFill>
                <a:latin typeface="+mn-ea"/>
              </a:rPr>
              <a:t>컨텍스트에서</a:t>
            </a:r>
            <a:r>
              <a:rPr lang="ko-KR" altLang="en-US" sz="1000" dirty="0" smtClean="0">
                <a:solidFill>
                  <a:srgbClr val="333333"/>
                </a:solidFill>
                <a:latin typeface="+mn-ea"/>
              </a:rPr>
              <a:t> 빈으로 정의된 </a:t>
            </a:r>
            <a:r>
              <a:rPr lang="en-US" altLang="ko-KR" sz="1000" dirty="0" smtClean="0">
                <a:solidFill>
                  <a:srgbClr val="333333"/>
                </a:solidFill>
                <a:latin typeface="+mn-ea"/>
              </a:rPr>
              <a:t>JAVA</a:t>
            </a:r>
            <a:r>
              <a:rPr lang="ko-KR" altLang="en-US" sz="1000" dirty="0" smtClean="0">
                <a:solidFill>
                  <a:srgbClr val="333333"/>
                </a:solidFill>
                <a:latin typeface="+mn-ea"/>
              </a:rPr>
              <a:t>개체를 관점으로 정의하여 의존성 주입에 사용한다</a:t>
            </a:r>
            <a:r>
              <a:rPr lang="en-US" altLang="ko-KR" sz="1000" dirty="0" smtClean="0">
                <a:solidFill>
                  <a:srgbClr val="333333"/>
                </a:solidFill>
                <a:latin typeface="+mn-ea"/>
              </a:rPr>
              <a:t>.</a:t>
            </a:r>
          </a:p>
        </p:txBody>
      </p:sp>
      <p:sp>
        <p:nvSpPr>
          <p:cNvPr id="44" name="Rectangle 14"/>
          <p:cNvSpPr>
            <a:spLocks noChangeArrowheads="1"/>
          </p:cNvSpPr>
          <p:nvPr/>
        </p:nvSpPr>
        <p:spPr bwMode="auto">
          <a:xfrm>
            <a:off x="5238752" y="4502158"/>
            <a:ext cx="449414" cy="498478"/>
          </a:xfrm>
          <a:prstGeom prst="rect">
            <a:avLst/>
          </a:prstGeom>
          <a:solidFill>
            <a:srgbClr val="9DB7CF"/>
          </a:solidFill>
          <a:ln w="3175" algn="ctr">
            <a:solidFill>
              <a:srgbClr val="6F99B9"/>
            </a:solidFill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algn="ctr"/>
            <a:r>
              <a:rPr lang="en-US" altLang="ko-KR" sz="1000" b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6</a:t>
            </a:r>
            <a:endParaRPr lang="en-US" altLang="ko-KR" sz="1000" b="0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5" name="Rectangle 13"/>
          <p:cNvSpPr>
            <a:spLocks noChangeArrowheads="1"/>
          </p:cNvSpPr>
          <p:nvPr/>
        </p:nvSpPr>
        <p:spPr bwMode="auto">
          <a:xfrm>
            <a:off x="5251638" y="5066716"/>
            <a:ext cx="4017347" cy="648299"/>
          </a:xfrm>
          <a:prstGeom prst="rect">
            <a:avLst/>
          </a:prstGeom>
          <a:solidFill>
            <a:schemeClr val="bg1"/>
          </a:solidFill>
          <a:ln w="3175" algn="ctr">
            <a:solidFill>
              <a:srgbClr val="7EA4C0"/>
            </a:solidFill>
            <a:miter lim="800000"/>
            <a:headEnd/>
            <a:tailEnd/>
          </a:ln>
          <a:effectLst>
            <a:outerShdw dist="35921" dir="2700000" algn="ctr" rotWithShape="0">
              <a:srgbClr val="EAEAEA"/>
            </a:outerShdw>
          </a:effectLst>
        </p:spPr>
        <p:txBody>
          <a:bodyPr lIns="180000" tIns="0" rIns="36000" bIns="0" anchor="ctr"/>
          <a:lstStyle/>
          <a:p>
            <a:pPr marL="265113">
              <a:defRPr/>
            </a:pPr>
            <a:r>
              <a:rPr lang="en-US" altLang="ko-KR" sz="1000" b="1" dirty="0" smtClean="0">
                <a:solidFill>
                  <a:srgbClr val="333333"/>
                </a:solidFill>
                <a:ea typeface="맑은 고딕" pitchFamily="50" charset="-127"/>
              </a:rPr>
              <a:t> &lt;</a:t>
            </a:r>
            <a:r>
              <a:rPr lang="en-US" altLang="ko-KR" sz="1000" b="1" dirty="0" err="1" smtClean="0">
                <a:solidFill>
                  <a:srgbClr val="333333"/>
                </a:solidFill>
                <a:ea typeface="맑은 고딕" pitchFamily="50" charset="-127"/>
              </a:rPr>
              <a:t>aop:pointcut</a:t>
            </a:r>
            <a:r>
              <a:rPr lang="en-US" altLang="ko-KR" sz="1000" b="1" dirty="0" smtClean="0">
                <a:solidFill>
                  <a:srgbClr val="333333"/>
                </a:solidFill>
                <a:ea typeface="맑은 고딕" pitchFamily="50" charset="-127"/>
              </a:rPr>
              <a:t>&gt;</a:t>
            </a:r>
          </a:p>
          <a:p>
            <a:pPr marL="265113">
              <a:defRPr/>
            </a:pPr>
            <a:r>
              <a:rPr lang="en-US" altLang="ko-KR" sz="1000" dirty="0" smtClean="0">
                <a:solidFill>
                  <a:srgbClr val="333333"/>
                </a:solidFill>
              </a:rPr>
              <a:t>   </a:t>
            </a:r>
            <a:r>
              <a:rPr lang="ko-KR" altLang="en-US" sz="1000" dirty="0" smtClean="0"/>
              <a:t>대상 </a:t>
            </a:r>
            <a:r>
              <a:rPr lang="ko-KR" altLang="en-US" sz="1000" dirty="0" err="1" smtClean="0"/>
              <a:t>메서드</a:t>
            </a:r>
            <a:r>
              <a:rPr lang="ko-KR" altLang="en-US" sz="1000" dirty="0" smtClean="0"/>
              <a:t> </a:t>
            </a:r>
            <a:r>
              <a:rPr lang="ko-KR" altLang="en-US" sz="1000" dirty="0" err="1" smtClean="0"/>
              <a:t>결합점</a:t>
            </a:r>
            <a:r>
              <a:rPr lang="en-US" altLang="ko-KR" sz="1000" dirty="0" smtClean="0"/>
              <a:t>(Join points)</a:t>
            </a:r>
            <a:r>
              <a:rPr lang="ko-KR" altLang="en-US" sz="1000" dirty="0" smtClean="0"/>
              <a:t>을 지정하여 충고</a:t>
            </a:r>
            <a:r>
              <a:rPr lang="en-US" altLang="ko-KR" sz="1000" dirty="0" smtClean="0"/>
              <a:t>(Advice)</a:t>
            </a:r>
            <a:r>
              <a:rPr lang="ko-KR" altLang="en-US" sz="1000" dirty="0" smtClean="0"/>
              <a:t>가 언제 실행될지를 지정</a:t>
            </a:r>
            <a:r>
              <a:rPr lang="en-US" altLang="ko-KR" sz="1000" dirty="0" smtClean="0"/>
              <a:t>. Spring</a:t>
            </a:r>
            <a:r>
              <a:rPr lang="ko-KR" altLang="en-US" sz="1000" dirty="0" smtClean="0"/>
              <a:t>에서 포인트컷은</a:t>
            </a:r>
            <a:r>
              <a:rPr lang="en-US" altLang="ko-KR" sz="1000" dirty="0" smtClean="0"/>
              <a:t> </a:t>
            </a:r>
            <a:r>
              <a:rPr lang="ko-KR" altLang="en-US" sz="1000" dirty="0" smtClean="0"/>
              <a:t>빈의 </a:t>
            </a:r>
            <a:r>
              <a:rPr lang="ko-KR" altLang="en-US" sz="1000" dirty="0" err="1" smtClean="0"/>
              <a:t>메소드</a:t>
            </a:r>
            <a:r>
              <a:rPr lang="ko-KR" altLang="en-US" sz="1000" dirty="0" smtClean="0"/>
              <a:t> </a:t>
            </a:r>
            <a:r>
              <a:rPr lang="ko-KR" altLang="en-US" sz="1000" dirty="0" err="1" smtClean="0"/>
              <a:t>실행점을</a:t>
            </a:r>
            <a:r>
              <a:rPr lang="ko-KR" altLang="en-US" sz="1000" dirty="0" smtClean="0"/>
              <a:t> 지정하는 것으로 생각할 수 있다</a:t>
            </a:r>
            <a:r>
              <a:rPr lang="en-US" altLang="ko-KR" sz="1000" dirty="0" smtClean="0"/>
              <a:t>.</a:t>
            </a:r>
            <a:endParaRPr lang="en-US" altLang="ko-KR" sz="1000" dirty="0" smtClean="0">
              <a:solidFill>
                <a:srgbClr val="333333"/>
              </a:solidFill>
            </a:endParaRPr>
          </a:p>
        </p:txBody>
      </p:sp>
      <p:sp>
        <p:nvSpPr>
          <p:cNvPr id="46" name="Rectangle 14"/>
          <p:cNvSpPr>
            <a:spLocks noChangeArrowheads="1"/>
          </p:cNvSpPr>
          <p:nvPr/>
        </p:nvSpPr>
        <p:spPr bwMode="auto">
          <a:xfrm>
            <a:off x="5238752" y="5068305"/>
            <a:ext cx="449414" cy="646711"/>
          </a:xfrm>
          <a:prstGeom prst="rect">
            <a:avLst/>
          </a:prstGeom>
          <a:solidFill>
            <a:srgbClr val="9DB7CF"/>
          </a:solidFill>
          <a:ln w="3175" algn="ctr">
            <a:solidFill>
              <a:srgbClr val="6F99B9"/>
            </a:solidFill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algn="ctr"/>
            <a:r>
              <a:rPr lang="en-US" altLang="ko-KR" sz="1000" b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7</a:t>
            </a:r>
            <a:endParaRPr lang="en-US" altLang="ko-KR" sz="1000" b="0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2" name="슬라이드 번호 개체 틀 5"/>
          <p:cNvSpPr txBox="1">
            <a:spLocks/>
          </p:cNvSpPr>
          <p:nvPr/>
        </p:nvSpPr>
        <p:spPr>
          <a:xfrm>
            <a:off x="3797300" y="6492899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b="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dirty="0" smtClean="0"/>
              <a:t>- 12</a:t>
            </a:r>
            <a:r>
              <a:rPr lang="ko-KR" altLang="en-US" dirty="0" smtClean="0"/>
              <a:t> </a:t>
            </a:r>
            <a:r>
              <a:rPr lang="en-US" altLang="ko-KR" dirty="0" smtClean="0"/>
              <a:t>-</a:t>
            </a:r>
            <a:endParaRPr lang="ko-KR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099074" y="117655"/>
            <a:ext cx="6143668" cy="576064"/>
          </a:xfrm>
        </p:spPr>
        <p:txBody>
          <a:bodyPr>
            <a:normAutofit/>
          </a:bodyPr>
          <a:lstStyle/>
          <a:p>
            <a:r>
              <a:rPr lang="en-US" altLang="ko-KR" sz="2400" dirty="0" smtClean="0"/>
              <a:t>WINUS Framework – </a:t>
            </a:r>
            <a:r>
              <a:rPr lang="en-US" altLang="ko-KR" sz="2400" dirty="0" err="1" smtClean="0"/>
              <a:t>DispatcherServlet</a:t>
            </a:r>
            <a:endParaRPr lang="ko-KR" altLang="en-US" sz="2400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 smtClean="0"/>
              <a:t>3</a:t>
            </a:r>
            <a:endParaRPr lang="ko-KR" altLang="en-US" dirty="0"/>
          </a:p>
        </p:txBody>
      </p:sp>
      <p:sp>
        <p:nvSpPr>
          <p:cNvPr id="5" name="Rectangle 108"/>
          <p:cNvSpPr>
            <a:spLocks noChangeArrowheads="1"/>
          </p:cNvSpPr>
          <p:nvPr/>
        </p:nvSpPr>
        <p:spPr bwMode="auto">
          <a:xfrm>
            <a:off x="344488" y="980728"/>
            <a:ext cx="9217025" cy="648072"/>
          </a:xfrm>
          <a:prstGeom prst="rect">
            <a:avLst/>
          </a:prstGeom>
          <a:solidFill>
            <a:srgbClr val="F0F8FA">
              <a:alpha val="50000"/>
            </a:srgbClr>
          </a:solidFill>
          <a:ln w="9525">
            <a:solidFill>
              <a:schemeClr val="tx2">
                <a:lumMod val="20000"/>
                <a:lumOff val="8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atinLnBrk="0"/>
            <a:r>
              <a:rPr lang="en-US" altLang="ko-KR" sz="1400" dirty="0" err="1" smtClean="0"/>
              <a:t>DispatcherServlet</a:t>
            </a:r>
            <a:r>
              <a:rPr lang="ko-KR" altLang="en-US" sz="1400" dirty="0" smtClean="0"/>
              <a:t>은 </a:t>
            </a:r>
            <a:r>
              <a:rPr lang="en-US" altLang="ko-KR" sz="1400" dirty="0" smtClean="0"/>
              <a:t>Spring MVC</a:t>
            </a:r>
            <a:r>
              <a:rPr lang="ko-KR" altLang="en-US" sz="1400" dirty="0" smtClean="0"/>
              <a:t>의 핵심 요소로 </a:t>
            </a:r>
            <a:r>
              <a:rPr lang="en-US" altLang="ko-KR" sz="1400" dirty="0" smtClean="0"/>
              <a:t>Spring MVC</a:t>
            </a:r>
            <a:r>
              <a:rPr lang="ko-KR" altLang="en-US" sz="1400" dirty="0" smtClean="0"/>
              <a:t>의 웹요청 </a:t>
            </a:r>
            <a:r>
              <a:rPr lang="en-US" altLang="ko-KR" sz="1400" dirty="0" smtClean="0"/>
              <a:t>Life Cycle</a:t>
            </a:r>
            <a:r>
              <a:rPr lang="ko-KR" altLang="en-US" sz="1400" dirty="0" smtClean="0"/>
              <a:t>을 주관한다 할 수 있습니다</a:t>
            </a:r>
            <a:r>
              <a:rPr lang="en-US" altLang="ko-KR" sz="1400" dirty="0" smtClean="0"/>
              <a:t>. </a:t>
            </a:r>
          </a:p>
          <a:p>
            <a:pPr latinLnBrk="0"/>
            <a:r>
              <a:rPr lang="en-US" altLang="ko-KR" sz="1400" dirty="0" smtClean="0"/>
              <a:t>Controller</a:t>
            </a:r>
            <a:r>
              <a:rPr lang="ko-KR" altLang="en-US" sz="1400" dirty="0" smtClean="0"/>
              <a:t>로 향하는 모든 </a:t>
            </a:r>
            <a:r>
              <a:rPr lang="ko-KR" altLang="en-US" sz="1400" dirty="0" err="1" smtClean="0"/>
              <a:t>웹요청의</a:t>
            </a:r>
            <a:r>
              <a:rPr lang="ko-KR" altLang="en-US" sz="1400" dirty="0" smtClean="0"/>
              <a:t> </a:t>
            </a:r>
            <a:r>
              <a:rPr lang="ko-KR" altLang="en-US" sz="1400" dirty="0" err="1" smtClean="0"/>
              <a:t>진입점이며</a:t>
            </a:r>
            <a:r>
              <a:rPr lang="en-US" altLang="ko-KR" sz="1400" dirty="0" smtClean="0"/>
              <a:t>, </a:t>
            </a:r>
            <a:r>
              <a:rPr lang="ko-KR" altLang="en-US" sz="1400" dirty="0" err="1" smtClean="0"/>
              <a:t>웹요청을</a:t>
            </a:r>
            <a:r>
              <a:rPr lang="ko-KR" altLang="en-US" sz="1400" dirty="0" smtClean="0"/>
              <a:t> 처리하며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결과 데이터를 </a:t>
            </a:r>
            <a:r>
              <a:rPr lang="en-US" altLang="ko-KR" sz="1400" dirty="0" smtClean="0"/>
              <a:t>Client</a:t>
            </a:r>
            <a:r>
              <a:rPr lang="ko-KR" altLang="en-US" sz="1400" dirty="0" smtClean="0"/>
              <a:t>에게 응답합니다</a:t>
            </a:r>
            <a:r>
              <a:rPr lang="en-US" altLang="ko-KR" sz="1400" dirty="0" smtClean="0"/>
              <a:t>. </a:t>
            </a:r>
            <a:endParaRPr kumimoji="1" lang="ko-KR" altLang="en-US" sz="1400" dirty="0" smtClean="0">
              <a:solidFill>
                <a:srgbClr val="000000"/>
              </a:solidFill>
              <a:latin typeface="맑은 고딕" pitchFamily="50" charset="-127"/>
            </a:endParaRPr>
          </a:p>
        </p:txBody>
      </p:sp>
      <p:sp>
        <p:nvSpPr>
          <p:cNvPr id="6" name="Rectangle 128"/>
          <p:cNvSpPr>
            <a:spLocks noChangeArrowheads="1"/>
          </p:cNvSpPr>
          <p:nvPr/>
        </p:nvSpPr>
        <p:spPr bwMode="auto">
          <a:xfrm>
            <a:off x="452406" y="1855260"/>
            <a:ext cx="8954469" cy="268321"/>
          </a:xfrm>
          <a:prstGeom prst="rect">
            <a:avLst/>
          </a:prstGeom>
          <a:blipFill dpi="0" rotWithShape="1">
            <a:blip r:embed="rId2" cstate="print">
              <a:lum bright="12000"/>
            </a:blip>
            <a:srcRect/>
            <a:stretch>
              <a:fillRect/>
            </a:stretch>
          </a:blipFill>
          <a:ln w="9525" algn="ctr">
            <a:solidFill>
              <a:srgbClr val="3991BD"/>
            </a:solidFill>
            <a:miter lim="800000"/>
            <a:headEnd/>
            <a:tailEnd/>
          </a:ln>
          <a:effectLst>
            <a:outerShdw dist="35921" dir="2700000" algn="ctr" rotWithShape="0">
              <a:srgbClr val="CCECFF"/>
            </a:outerShdw>
          </a:effectLst>
        </p:spPr>
        <p:txBody>
          <a:bodyPr wrap="none" anchor="ctr"/>
          <a:lstStyle/>
          <a:p>
            <a:pPr algn="ctr" defTabSz="839788">
              <a:lnSpc>
                <a:spcPct val="90000"/>
              </a:lnSpc>
              <a:defRPr/>
            </a:pPr>
            <a:r>
              <a:rPr lang="en-US" altLang="ko-KR" sz="1100" dirty="0" err="1" smtClean="0">
                <a:latin typeface="맑은 고딕" pitchFamily="50" charset="-127"/>
                <a:ea typeface="맑은 고딕" pitchFamily="50" charset="-127"/>
              </a:rPr>
              <a:t>DispatcherServlet</a:t>
            </a:r>
            <a:endParaRPr lang="ko-KR" altLang="en-US" sz="11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Rectangle 93"/>
          <p:cNvSpPr>
            <a:spLocks noChangeArrowheads="1"/>
          </p:cNvSpPr>
          <p:nvPr/>
        </p:nvSpPr>
        <p:spPr bwMode="auto">
          <a:xfrm>
            <a:off x="452406" y="2143116"/>
            <a:ext cx="8957691" cy="3669161"/>
          </a:xfrm>
          <a:prstGeom prst="rect">
            <a:avLst/>
          </a:prstGeom>
          <a:solidFill>
            <a:schemeClr val="bg1"/>
          </a:solidFill>
          <a:ln w="9525" algn="ctr">
            <a:solidFill>
              <a:srgbClr val="588D9A"/>
            </a:solidFill>
            <a:miter lim="800000"/>
            <a:headEnd/>
            <a:tailEnd/>
          </a:ln>
          <a:effectLst>
            <a:outerShdw dist="35921" dir="2700000" algn="ctr" rotWithShape="0">
              <a:srgbClr val="CCECFF"/>
            </a:outerShdw>
          </a:effectLst>
        </p:spPr>
        <p:txBody>
          <a:bodyPr lIns="53976" tIns="35985" rIns="0" bIns="45702"/>
          <a:lstStyle/>
          <a:p>
            <a:pPr algn="ctr">
              <a:defRPr/>
            </a:pPr>
            <a:endParaRPr lang="ko-KR" altLang="en-US" sz="1100" b="0"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4" name="Picture 2" descr="http://pds21.egloos.com/pds/201202/24/49/d0144949_4f47a0b19ed33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35803" y="2357430"/>
            <a:ext cx="4782805" cy="3214710"/>
          </a:xfrm>
          <a:prstGeom prst="rect">
            <a:avLst/>
          </a:prstGeom>
          <a:noFill/>
        </p:spPr>
      </p:pic>
      <p:sp>
        <p:nvSpPr>
          <p:cNvPr id="9" name="Rectangle 13"/>
          <p:cNvSpPr>
            <a:spLocks noChangeArrowheads="1"/>
          </p:cNvSpPr>
          <p:nvPr/>
        </p:nvSpPr>
        <p:spPr bwMode="auto">
          <a:xfrm>
            <a:off x="5251638" y="2352934"/>
            <a:ext cx="4017347" cy="504562"/>
          </a:xfrm>
          <a:prstGeom prst="rect">
            <a:avLst/>
          </a:prstGeom>
          <a:solidFill>
            <a:schemeClr val="bg1"/>
          </a:solidFill>
          <a:ln w="3175" algn="ctr">
            <a:solidFill>
              <a:srgbClr val="7EA4C0"/>
            </a:solidFill>
            <a:miter lim="800000"/>
            <a:headEnd/>
            <a:tailEnd/>
          </a:ln>
          <a:effectLst>
            <a:outerShdw dist="35921" dir="2700000" algn="ctr" rotWithShape="0">
              <a:srgbClr val="EAEAEA"/>
            </a:outerShdw>
          </a:effectLst>
        </p:spPr>
        <p:txBody>
          <a:bodyPr lIns="180000" tIns="0" rIns="36000" bIns="0" anchor="ctr"/>
          <a:lstStyle/>
          <a:p>
            <a:pPr marL="265113">
              <a:defRPr/>
            </a:pPr>
            <a:r>
              <a:rPr lang="ko-KR" altLang="en-US" sz="1000" b="0" dirty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000" b="1" dirty="0" smtClean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클라이언트 </a:t>
            </a:r>
            <a:r>
              <a:rPr lang="en-US" altLang="ko-KR" sz="1000" b="1" dirty="0" smtClean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URL</a:t>
            </a:r>
            <a:r>
              <a:rPr lang="ko-KR" altLang="en-US" sz="1000" b="1" dirty="0" smtClean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요청  접수</a:t>
            </a:r>
            <a:endParaRPr lang="en-US" altLang="ko-KR" sz="1000" dirty="0" smtClean="0">
              <a:solidFill>
                <a:srgbClr val="333333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265113">
              <a:defRPr/>
            </a:pPr>
            <a:r>
              <a:rPr lang="en-US" altLang="ko-KR" sz="1000" dirty="0" smtClean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   </a:t>
            </a:r>
            <a:r>
              <a:rPr lang="en-US" altLang="ko-KR" sz="1000" dirty="0" smtClean="0"/>
              <a:t>web.xml</a:t>
            </a:r>
            <a:r>
              <a:rPr lang="ko-KR" altLang="en-US" sz="1000" dirty="0" smtClean="0"/>
              <a:t>에 등록된 </a:t>
            </a:r>
            <a:r>
              <a:rPr lang="en-US" altLang="ko-KR" sz="1000" dirty="0" smtClean="0"/>
              <a:t>URL </a:t>
            </a:r>
            <a:r>
              <a:rPr lang="ko-KR" altLang="en-US" sz="1000" dirty="0" smtClean="0"/>
              <a:t>패턴정보를 이용하여 클라이언트가 해당 어플리케이션에 접근하면 해당 </a:t>
            </a:r>
            <a:r>
              <a:rPr lang="en-US" altLang="ko-KR" sz="1000" dirty="0" smtClean="0"/>
              <a:t>URL </a:t>
            </a:r>
            <a:r>
              <a:rPr lang="ko-KR" altLang="en-US" sz="1000" dirty="0" smtClean="0"/>
              <a:t>요청을 가로챕니다</a:t>
            </a:r>
            <a:r>
              <a:rPr lang="en-US" altLang="ko-KR" sz="1000" dirty="0" smtClean="0"/>
              <a:t>.</a:t>
            </a:r>
            <a:endParaRPr lang="en-US" altLang="ko-KR" sz="1000" dirty="0" smtClean="0">
              <a:solidFill>
                <a:srgbClr val="333333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" name="Rectangle 14"/>
          <p:cNvSpPr>
            <a:spLocks noChangeArrowheads="1"/>
          </p:cNvSpPr>
          <p:nvPr/>
        </p:nvSpPr>
        <p:spPr bwMode="auto">
          <a:xfrm>
            <a:off x="5238752" y="2354521"/>
            <a:ext cx="449414" cy="503549"/>
          </a:xfrm>
          <a:prstGeom prst="rect">
            <a:avLst/>
          </a:prstGeom>
          <a:solidFill>
            <a:srgbClr val="9DB7CF"/>
          </a:solidFill>
          <a:ln w="3175" algn="ctr">
            <a:solidFill>
              <a:srgbClr val="6F99B9"/>
            </a:solidFill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algn="ctr"/>
            <a:r>
              <a:rPr lang="en-US" altLang="ko-KR" sz="10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1</a:t>
            </a:r>
            <a:endParaRPr lang="en-US" altLang="ko-KR" sz="1000" b="0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9" name="Rectangle 13"/>
          <p:cNvSpPr>
            <a:spLocks noChangeArrowheads="1"/>
          </p:cNvSpPr>
          <p:nvPr/>
        </p:nvSpPr>
        <p:spPr bwMode="auto">
          <a:xfrm>
            <a:off x="5251638" y="2923864"/>
            <a:ext cx="4017347" cy="504562"/>
          </a:xfrm>
          <a:prstGeom prst="rect">
            <a:avLst/>
          </a:prstGeom>
          <a:solidFill>
            <a:schemeClr val="bg1"/>
          </a:solidFill>
          <a:ln w="3175" algn="ctr">
            <a:solidFill>
              <a:srgbClr val="7EA4C0"/>
            </a:solidFill>
            <a:miter lim="800000"/>
            <a:headEnd/>
            <a:tailEnd/>
          </a:ln>
          <a:effectLst>
            <a:outerShdw dist="35921" dir="2700000" algn="ctr" rotWithShape="0">
              <a:srgbClr val="EAEAEA"/>
            </a:outerShdw>
          </a:effectLst>
        </p:spPr>
        <p:txBody>
          <a:bodyPr lIns="180000" tIns="0" rIns="36000" bIns="0" anchor="ctr"/>
          <a:lstStyle/>
          <a:p>
            <a:pPr marL="265113">
              <a:defRPr/>
            </a:pPr>
            <a:r>
              <a:rPr lang="ko-KR" altLang="en-US" sz="1000" b="0" dirty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sz="1000" b="1" dirty="0" err="1" smtClean="0"/>
              <a:t>HandlerMapping</a:t>
            </a:r>
            <a:r>
              <a:rPr lang="ko-KR" altLang="en-US" sz="1000" b="1" dirty="0" smtClean="0"/>
              <a:t>을 이용 맵핑된 </a:t>
            </a:r>
            <a:r>
              <a:rPr lang="en-US" altLang="ko-KR" sz="1000" b="1" dirty="0" smtClean="0"/>
              <a:t>Controller </a:t>
            </a:r>
            <a:r>
              <a:rPr lang="ko-KR" altLang="en-US" sz="1000" b="1" dirty="0" smtClean="0"/>
              <a:t>검색</a:t>
            </a:r>
            <a:endParaRPr lang="en-US" altLang="ko-KR" sz="1000" b="1" dirty="0" smtClean="0">
              <a:solidFill>
                <a:srgbClr val="333333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265113">
              <a:defRPr/>
            </a:pPr>
            <a:r>
              <a:rPr lang="ko-KR" altLang="en-US" sz="1000" dirty="0" smtClean="0"/>
              <a:t>  </a:t>
            </a:r>
            <a:r>
              <a:rPr lang="en-US" altLang="ko-KR" sz="1000" dirty="0" smtClean="0"/>
              <a:t>Spring Framework</a:t>
            </a:r>
            <a:r>
              <a:rPr lang="ko-KR" altLang="en-US" sz="1000" dirty="0" smtClean="0"/>
              <a:t>의 핸들러 </a:t>
            </a:r>
            <a:r>
              <a:rPr lang="ko-KR" altLang="en-US" sz="1000" dirty="0" err="1" smtClean="0"/>
              <a:t>매핑</a:t>
            </a:r>
            <a:r>
              <a:rPr lang="en-US" altLang="ko-KR" sz="1000" dirty="0" smtClean="0"/>
              <a:t> </a:t>
            </a:r>
            <a:r>
              <a:rPr lang="ko-KR" altLang="en-US" sz="1000" dirty="0" smtClean="0"/>
              <a:t>기능을 이용하여 해당 요청을 처리할 수 있는 </a:t>
            </a:r>
            <a:r>
              <a:rPr lang="en-US" altLang="ko-KR" sz="1000" dirty="0" smtClean="0"/>
              <a:t>Controller</a:t>
            </a:r>
            <a:r>
              <a:rPr lang="ko-KR" altLang="en-US" sz="1000" dirty="0" smtClean="0"/>
              <a:t>를 찾아냅니다</a:t>
            </a:r>
            <a:endParaRPr lang="en-US" altLang="ko-KR" sz="1000" dirty="0" smtClean="0">
              <a:solidFill>
                <a:srgbClr val="333333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Rectangle 14"/>
          <p:cNvSpPr>
            <a:spLocks noChangeArrowheads="1"/>
          </p:cNvSpPr>
          <p:nvPr/>
        </p:nvSpPr>
        <p:spPr bwMode="auto">
          <a:xfrm>
            <a:off x="5238752" y="2925451"/>
            <a:ext cx="449414" cy="503549"/>
          </a:xfrm>
          <a:prstGeom prst="rect">
            <a:avLst/>
          </a:prstGeom>
          <a:solidFill>
            <a:srgbClr val="9DB7CF"/>
          </a:solidFill>
          <a:ln w="3175" algn="ctr">
            <a:solidFill>
              <a:srgbClr val="6F99B9"/>
            </a:solidFill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algn="ctr"/>
            <a:r>
              <a:rPr lang="en-US" altLang="ko-KR" sz="1000" b="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2</a:t>
            </a:r>
          </a:p>
        </p:txBody>
      </p:sp>
      <p:sp>
        <p:nvSpPr>
          <p:cNvPr id="21" name="Rectangle 13"/>
          <p:cNvSpPr>
            <a:spLocks noChangeArrowheads="1"/>
          </p:cNvSpPr>
          <p:nvPr/>
        </p:nvSpPr>
        <p:spPr bwMode="auto">
          <a:xfrm>
            <a:off x="5251638" y="3495368"/>
            <a:ext cx="4017347" cy="504562"/>
          </a:xfrm>
          <a:prstGeom prst="rect">
            <a:avLst/>
          </a:prstGeom>
          <a:solidFill>
            <a:schemeClr val="bg1"/>
          </a:solidFill>
          <a:ln w="3175" algn="ctr">
            <a:solidFill>
              <a:srgbClr val="7EA4C0"/>
            </a:solidFill>
            <a:miter lim="800000"/>
            <a:headEnd/>
            <a:tailEnd/>
          </a:ln>
          <a:effectLst>
            <a:outerShdw dist="35921" dir="2700000" algn="ctr" rotWithShape="0">
              <a:srgbClr val="EAEAEA"/>
            </a:outerShdw>
          </a:effectLst>
        </p:spPr>
        <p:txBody>
          <a:bodyPr lIns="180000" tIns="0" rIns="36000" bIns="0" anchor="ctr"/>
          <a:lstStyle/>
          <a:p>
            <a:pPr marL="265113">
              <a:defRPr/>
            </a:pPr>
            <a:r>
              <a:rPr lang="ko-KR" altLang="en-US" sz="1000" b="0" dirty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000" b="1" dirty="0" smtClean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검색된 </a:t>
            </a:r>
            <a:r>
              <a:rPr lang="en-US" altLang="ko-KR" sz="1000" b="1" dirty="0" smtClean="0"/>
              <a:t>Controller </a:t>
            </a:r>
            <a:r>
              <a:rPr lang="ko-KR" altLang="en-US" sz="1000" b="1" dirty="0" smtClean="0"/>
              <a:t>에 처리 요청</a:t>
            </a:r>
            <a:endParaRPr lang="en-US" altLang="ko-KR" sz="1000" b="1" dirty="0" smtClean="0">
              <a:solidFill>
                <a:srgbClr val="333333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265113">
              <a:defRPr/>
            </a:pPr>
            <a:r>
              <a:rPr lang="ko-KR" altLang="en-US" sz="1000" dirty="0" smtClean="0"/>
              <a:t>  사용자가 구현한 컨트롤러에 클라이언트의 요청을 전송하여 해당 요청을 처리합니다</a:t>
            </a:r>
            <a:r>
              <a:rPr lang="en-US" altLang="ko-KR" sz="1000" dirty="0" smtClean="0"/>
              <a:t>.</a:t>
            </a:r>
            <a:endParaRPr lang="en-US" altLang="ko-KR" sz="1000" dirty="0" smtClean="0">
              <a:solidFill>
                <a:srgbClr val="333333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2" name="Rectangle 14"/>
          <p:cNvSpPr>
            <a:spLocks noChangeArrowheads="1"/>
          </p:cNvSpPr>
          <p:nvPr/>
        </p:nvSpPr>
        <p:spPr bwMode="auto">
          <a:xfrm>
            <a:off x="5238752" y="3496955"/>
            <a:ext cx="449414" cy="503549"/>
          </a:xfrm>
          <a:prstGeom prst="rect">
            <a:avLst/>
          </a:prstGeom>
          <a:solidFill>
            <a:srgbClr val="9DB7CF"/>
          </a:solidFill>
          <a:ln w="3175" algn="ctr">
            <a:solidFill>
              <a:srgbClr val="6F99B9"/>
            </a:solidFill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algn="ctr"/>
            <a:r>
              <a:rPr lang="en-US" altLang="ko-KR" sz="100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3</a:t>
            </a:r>
            <a:endParaRPr lang="en-US" altLang="ko-KR" sz="1000" b="0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3" name="Rectangle 13"/>
          <p:cNvSpPr>
            <a:spLocks noChangeArrowheads="1"/>
          </p:cNvSpPr>
          <p:nvPr/>
        </p:nvSpPr>
        <p:spPr bwMode="auto">
          <a:xfrm>
            <a:off x="5251638" y="4066872"/>
            <a:ext cx="4017347" cy="504562"/>
          </a:xfrm>
          <a:prstGeom prst="rect">
            <a:avLst/>
          </a:prstGeom>
          <a:solidFill>
            <a:schemeClr val="bg1"/>
          </a:solidFill>
          <a:ln w="3175" algn="ctr">
            <a:solidFill>
              <a:srgbClr val="7EA4C0"/>
            </a:solidFill>
            <a:miter lim="800000"/>
            <a:headEnd/>
            <a:tailEnd/>
          </a:ln>
          <a:effectLst>
            <a:outerShdw dist="35921" dir="2700000" algn="ctr" rotWithShape="0">
              <a:srgbClr val="EAEAEA"/>
            </a:outerShdw>
          </a:effectLst>
        </p:spPr>
        <p:txBody>
          <a:bodyPr lIns="180000" tIns="0" rIns="36000" bIns="0" anchor="ctr"/>
          <a:lstStyle/>
          <a:p>
            <a:pPr marL="265113">
              <a:defRPr/>
            </a:pPr>
            <a:r>
              <a:rPr lang="ko-KR" altLang="en-US" sz="1000" b="0" dirty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000" b="1" dirty="0" smtClean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요청 처리 후 출력할 </a:t>
            </a:r>
            <a:r>
              <a:rPr lang="en-US" altLang="ko-KR" sz="1000" b="1" dirty="0" smtClean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View </a:t>
            </a:r>
            <a:r>
              <a:rPr lang="ko-KR" altLang="en-US" sz="1000" b="1" dirty="0" smtClean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이름 리턴 </a:t>
            </a:r>
            <a:endParaRPr lang="en-US" altLang="ko-KR" sz="1000" b="1" dirty="0" smtClean="0">
              <a:solidFill>
                <a:srgbClr val="333333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265113">
              <a:defRPr/>
            </a:pPr>
            <a:r>
              <a:rPr lang="ko-KR" altLang="en-US" sz="1000" dirty="0" smtClean="0"/>
              <a:t>  컨트롤러는 해당 요청을 처리한 후에 요청을 </a:t>
            </a:r>
            <a:r>
              <a:rPr lang="ko-KR" altLang="en-US" sz="1000" dirty="0" err="1" smtClean="0"/>
              <a:t>응답받을</a:t>
            </a:r>
            <a:r>
              <a:rPr lang="ko-KR" altLang="en-US" sz="1000" dirty="0" smtClean="0"/>
              <a:t> </a:t>
            </a:r>
            <a:r>
              <a:rPr lang="en-US" altLang="ko-KR" sz="1000" dirty="0" smtClean="0"/>
              <a:t>View</a:t>
            </a:r>
            <a:r>
              <a:rPr lang="ko-KR" altLang="en-US" sz="1000" dirty="0" smtClean="0"/>
              <a:t>의 이름을 리턴하게 됩니다</a:t>
            </a:r>
            <a:endParaRPr lang="en-US" altLang="ko-KR" sz="1000" dirty="0" smtClean="0">
              <a:solidFill>
                <a:srgbClr val="333333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" name="Rectangle 14"/>
          <p:cNvSpPr>
            <a:spLocks noChangeArrowheads="1"/>
          </p:cNvSpPr>
          <p:nvPr/>
        </p:nvSpPr>
        <p:spPr bwMode="auto">
          <a:xfrm>
            <a:off x="5238752" y="4068459"/>
            <a:ext cx="449414" cy="503549"/>
          </a:xfrm>
          <a:prstGeom prst="rect">
            <a:avLst/>
          </a:prstGeom>
          <a:solidFill>
            <a:srgbClr val="9DB7CF"/>
          </a:solidFill>
          <a:ln w="3175" algn="ctr">
            <a:solidFill>
              <a:srgbClr val="6F99B9"/>
            </a:solidFill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algn="ctr"/>
            <a:r>
              <a:rPr lang="en-US" altLang="ko-KR" sz="1000" b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4</a:t>
            </a:r>
            <a:endParaRPr lang="en-US" altLang="ko-KR" sz="1000" b="0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5" name="Rectangle 13"/>
          <p:cNvSpPr>
            <a:spLocks noChangeArrowheads="1"/>
          </p:cNvSpPr>
          <p:nvPr/>
        </p:nvSpPr>
        <p:spPr bwMode="auto">
          <a:xfrm>
            <a:off x="5251638" y="4638376"/>
            <a:ext cx="4017347" cy="504562"/>
          </a:xfrm>
          <a:prstGeom prst="rect">
            <a:avLst/>
          </a:prstGeom>
          <a:solidFill>
            <a:schemeClr val="bg1"/>
          </a:solidFill>
          <a:ln w="3175" algn="ctr">
            <a:solidFill>
              <a:srgbClr val="7EA4C0"/>
            </a:solidFill>
            <a:miter lim="800000"/>
            <a:headEnd/>
            <a:tailEnd/>
          </a:ln>
          <a:effectLst>
            <a:outerShdw dist="35921" dir="2700000" algn="ctr" rotWithShape="0">
              <a:srgbClr val="EAEAEA"/>
            </a:outerShdw>
          </a:effectLst>
        </p:spPr>
        <p:txBody>
          <a:bodyPr lIns="180000" tIns="0" rIns="36000" bIns="0" anchor="ctr"/>
          <a:lstStyle/>
          <a:p>
            <a:pPr marL="265113">
              <a:defRPr/>
            </a:pPr>
            <a:r>
              <a:rPr lang="ko-KR" altLang="en-US" sz="1000" b="0" dirty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000" b="1" dirty="0" smtClean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View </a:t>
            </a:r>
            <a:r>
              <a:rPr lang="ko-KR" altLang="en-US" sz="1000" b="1" dirty="0" smtClean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송신</a:t>
            </a:r>
            <a:endParaRPr lang="en-US" altLang="ko-KR" sz="1000" b="1" dirty="0" smtClean="0">
              <a:solidFill>
                <a:srgbClr val="333333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265113">
              <a:defRPr/>
            </a:pPr>
            <a:r>
              <a:rPr lang="ko-KR" altLang="en-US" sz="1000" dirty="0" smtClean="0"/>
              <a:t>  </a:t>
            </a:r>
            <a:r>
              <a:rPr lang="en-US" sz="1000" dirty="0" err="1" smtClean="0"/>
              <a:t>ViwResolve</a:t>
            </a:r>
            <a:r>
              <a:rPr lang="ko-KR" altLang="en-US" sz="1000" dirty="0" smtClean="0"/>
              <a:t>가 리턴된 </a:t>
            </a:r>
            <a:r>
              <a:rPr lang="en-US" altLang="ko-KR" sz="1000" dirty="0" smtClean="0"/>
              <a:t>View</a:t>
            </a:r>
            <a:r>
              <a:rPr lang="ko-KR" altLang="en-US" sz="1000" dirty="0" smtClean="0"/>
              <a:t>의 존재여부를 검색하여 해당 </a:t>
            </a:r>
            <a:r>
              <a:rPr lang="en-US" altLang="ko-KR" sz="1000" dirty="0" smtClean="0"/>
              <a:t>View</a:t>
            </a:r>
            <a:r>
              <a:rPr lang="ko-KR" altLang="en-US" sz="1000" dirty="0" smtClean="0"/>
              <a:t>에 처리결과를 전송합니다</a:t>
            </a:r>
            <a:r>
              <a:rPr lang="en-US" altLang="ko-KR" sz="1000" dirty="0" smtClean="0"/>
              <a:t>.</a:t>
            </a:r>
            <a:endParaRPr lang="en-US" altLang="ko-KR" sz="1000" dirty="0" smtClean="0">
              <a:solidFill>
                <a:srgbClr val="333333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6" name="Rectangle 14"/>
          <p:cNvSpPr>
            <a:spLocks noChangeArrowheads="1"/>
          </p:cNvSpPr>
          <p:nvPr/>
        </p:nvSpPr>
        <p:spPr bwMode="auto">
          <a:xfrm>
            <a:off x="5238752" y="4639963"/>
            <a:ext cx="449414" cy="503549"/>
          </a:xfrm>
          <a:prstGeom prst="rect">
            <a:avLst/>
          </a:prstGeom>
          <a:solidFill>
            <a:srgbClr val="9DB7CF"/>
          </a:solidFill>
          <a:ln w="3175" algn="ctr">
            <a:solidFill>
              <a:srgbClr val="6F99B9"/>
            </a:solidFill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algn="ctr"/>
            <a:r>
              <a:rPr lang="en-US" altLang="ko-KR" sz="100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5~6</a:t>
            </a:r>
            <a:endParaRPr lang="en-US" altLang="ko-KR" sz="1000" b="0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7" name="Rectangle 13"/>
          <p:cNvSpPr>
            <a:spLocks noChangeArrowheads="1"/>
          </p:cNvSpPr>
          <p:nvPr/>
        </p:nvSpPr>
        <p:spPr bwMode="auto">
          <a:xfrm>
            <a:off x="5251638" y="5209880"/>
            <a:ext cx="4017347" cy="504562"/>
          </a:xfrm>
          <a:prstGeom prst="rect">
            <a:avLst/>
          </a:prstGeom>
          <a:solidFill>
            <a:schemeClr val="bg1"/>
          </a:solidFill>
          <a:ln w="3175" algn="ctr">
            <a:solidFill>
              <a:srgbClr val="7EA4C0"/>
            </a:solidFill>
            <a:miter lim="800000"/>
            <a:headEnd/>
            <a:tailEnd/>
          </a:ln>
          <a:effectLst>
            <a:outerShdw dist="35921" dir="2700000" algn="ctr" rotWithShape="0">
              <a:srgbClr val="EAEAEA"/>
            </a:outerShdw>
          </a:effectLst>
        </p:spPr>
        <p:txBody>
          <a:bodyPr lIns="180000" tIns="0" rIns="36000" bIns="0" anchor="ctr"/>
          <a:lstStyle/>
          <a:p>
            <a:pPr marL="265113">
              <a:defRPr/>
            </a:pPr>
            <a:r>
              <a:rPr lang="ko-KR" altLang="en-US" sz="1000" b="0" dirty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000" b="1" dirty="0" err="1" smtClean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DispatcherServlet</a:t>
            </a:r>
            <a:r>
              <a:rPr lang="ko-KR" altLang="en-US" sz="1000" b="1" dirty="0" smtClean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를 이용한 처리결과 리턴</a:t>
            </a:r>
            <a:endParaRPr lang="en-US" altLang="ko-KR" sz="1000" b="1" dirty="0" smtClean="0">
              <a:solidFill>
                <a:srgbClr val="333333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265113">
              <a:defRPr/>
            </a:pPr>
            <a:r>
              <a:rPr lang="ko-KR" altLang="en-US" sz="1000" dirty="0" smtClean="0"/>
              <a:t>  처리결과가 포함된 </a:t>
            </a:r>
            <a:r>
              <a:rPr lang="en-US" altLang="ko-KR" sz="1000" dirty="0" smtClean="0"/>
              <a:t>View </a:t>
            </a:r>
            <a:r>
              <a:rPr lang="ko-KR" altLang="en-US" sz="1000" dirty="0" smtClean="0"/>
              <a:t>정보를 </a:t>
            </a:r>
            <a:r>
              <a:rPr lang="en-US" altLang="ko-KR" sz="1000" dirty="0" err="1" smtClean="0"/>
              <a:t>DispatcherServlet</a:t>
            </a:r>
            <a:r>
              <a:rPr lang="ko-KR" altLang="en-US" sz="1000" dirty="0" smtClean="0"/>
              <a:t>에 송신</a:t>
            </a:r>
            <a:r>
              <a:rPr lang="en-US" altLang="ko-KR" sz="1000" dirty="0" smtClean="0"/>
              <a:t>, </a:t>
            </a:r>
            <a:r>
              <a:rPr lang="en-US" altLang="ko-KR" sz="1000" dirty="0" err="1" smtClean="0"/>
              <a:t>DispatcherServlet</a:t>
            </a:r>
            <a:r>
              <a:rPr lang="ko-KR" altLang="en-US" sz="1000" dirty="0" smtClean="0"/>
              <a:t>는 이 정보를 요청한 클라이언트에 송신</a:t>
            </a:r>
            <a:endParaRPr lang="en-US" altLang="ko-KR" sz="1000" dirty="0" smtClean="0">
              <a:solidFill>
                <a:srgbClr val="333333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8" name="Rectangle 14"/>
          <p:cNvSpPr>
            <a:spLocks noChangeArrowheads="1"/>
          </p:cNvSpPr>
          <p:nvPr/>
        </p:nvSpPr>
        <p:spPr bwMode="auto">
          <a:xfrm>
            <a:off x="5238752" y="5211467"/>
            <a:ext cx="449414" cy="503549"/>
          </a:xfrm>
          <a:prstGeom prst="rect">
            <a:avLst/>
          </a:prstGeom>
          <a:solidFill>
            <a:srgbClr val="9DB7CF"/>
          </a:solidFill>
          <a:ln w="3175" algn="ctr">
            <a:solidFill>
              <a:srgbClr val="6F99B9"/>
            </a:solidFill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algn="ctr"/>
            <a:r>
              <a:rPr lang="en-US" altLang="ko-KR" sz="1000" b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7~8</a:t>
            </a:r>
            <a:endParaRPr lang="en-US" altLang="ko-KR" sz="1000" b="0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9" name="슬라이드 번호 개체 틀 5"/>
          <p:cNvSpPr txBox="1">
            <a:spLocks/>
          </p:cNvSpPr>
          <p:nvPr/>
        </p:nvSpPr>
        <p:spPr>
          <a:xfrm>
            <a:off x="3797300" y="6492899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b="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dirty="0" smtClean="0"/>
              <a:t>- 13</a:t>
            </a:r>
            <a:r>
              <a:rPr lang="ko-KR" altLang="en-US" dirty="0" smtClean="0"/>
              <a:t> </a:t>
            </a:r>
            <a:r>
              <a:rPr lang="en-US" altLang="ko-KR" dirty="0" smtClean="0"/>
              <a:t>-</a:t>
            </a:r>
            <a:endParaRPr lang="ko-KR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WINUS Framework – OR Mapping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 smtClean="0"/>
              <a:t>3</a:t>
            </a:r>
            <a:endParaRPr lang="ko-KR" altLang="en-US" dirty="0"/>
          </a:p>
        </p:txBody>
      </p:sp>
      <p:sp>
        <p:nvSpPr>
          <p:cNvPr id="5" name="Rectangle 108"/>
          <p:cNvSpPr>
            <a:spLocks noChangeArrowheads="1"/>
          </p:cNvSpPr>
          <p:nvPr/>
        </p:nvSpPr>
        <p:spPr bwMode="auto">
          <a:xfrm>
            <a:off x="344488" y="980728"/>
            <a:ext cx="9217025" cy="648072"/>
          </a:xfrm>
          <a:prstGeom prst="rect">
            <a:avLst/>
          </a:prstGeom>
          <a:solidFill>
            <a:srgbClr val="F0F8FA">
              <a:alpha val="50000"/>
            </a:srgbClr>
          </a:solidFill>
          <a:ln w="9525">
            <a:solidFill>
              <a:schemeClr val="tx2">
                <a:lumMod val="20000"/>
                <a:lumOff val="8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atinLnBrk="0"/>
            <a:r>
              <a:rPr lang="en-US" altLang="ko-KR" sz="1400" dirty="0" smtClean="0"/>
              <a:t>Data Access </a:t>
            </a:r>
            <a:r>
              <a:rPr lang="ko-KR" altLang="en-US" sz="1400" dirty="0" smtClean="0"/>
              <a:t>를 추상화하여 간편하고 쉽게 사용할 수 있는 </a:t>
            </a:r>
            <a:r>
              <a:rPr lang="en-US" altLang="ko-KR" sz="1400" dirty="0" smtClean="0"/>
              <a:t>Data </a:t>
            </a:r>
            <a:r>
              <a:rPr lang="en-US" altLang="ko-KR" sz="1400" dirty="0" err="1" smtClean="0"/>
              <a:t>Mapper</a:t>
            </a:r>
            <a:r>
              <a:rPr lang="en-US" altLang="ko-KR" sz="1400" dirty="0" smtClean="0"/>
              <a:t> framework </a:t>
            </a:r>
            <a:r>
              <a:rPr lang="ko-KR" altLang="en-US" sz="1400" dirty="0" smtClean="0"/>
              <a:t>인 </a:t>
            </a:r>
            <a:r>
              <a:rPr lang="en-US" altLang="ko-KR" sz="1400" dirty="0" err="1" smtClean="0"/>
              <a:t>iBATIS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를 사용하여 </a:t>
            </a:r>
            <a:r>
              <a:rPr lang="ko-KR" altLang="en-US" sz="1400" dirty="0" err="1" smtClean="0"/>
              <a:t>관계형</a:t>
            </a:r>
            <a:r>
              <a:rPr lang="ko-KR" altLang="en-US" sz="1400" dirty="0" smtClean="0"/>
              <a:t> 데이터베이스에 </a:t>
            </a:r>
            <a:r>
              <a:rPr lang="ko-KR" altLang="en-US" sz="1400" dirty="0" err="1" smtClean="0"/>
              <a:t>억세스하기</a:t>
            </a:r>
            <a:r>
              <a:rPr lang="ko-KR" altLang="en-US" sz="1400" dirty="0" smtClean="0"/>
              <a:t> 위해 필요한 일련의 자바 코드 사용을 현저히 줄일 수 있으며 간단한 </a:t>
            </a:r>
            <a:r>
              <a:rPr lang="en-US" altLang="ko-KR" sz="1400" dirty="0" smtClean="0"/>
              <a:t>XML </a:t>
            </a:r>
            <a:r>
              <a:rPr lang="ko-KR" altLang="en-US" sz="1400" dirty="0" smtClean="0"/>
              <a:t>기술을 사용하여 </a:t>
            </a:r>
            <a:r>
              <a:rPr lang="en-US" altLang="ko-KR" sz="1400" dirty="0" smtClean="0"/>
              <a:t>SQL </a:t>
            </a:r>
            <a:r>
              <a:rPr lang="ko-KR" altLang="en-US" sz="1400" dirty="0" smtClean="0"/>
              <a:t>문을 </a:t>
            </a:r>
            <a:r>
              <a:rPr lang="en-US" altLang="ko-KR" sz="1400" dirty="0" smtClean="0"/>
              <a:t>JavaBeans (</a:t>
            </a:r>
            <a:r>
              <a:rPr lang="ko-KR" altLang="en-US" sz="1400" dirty="0" smtClean="0"/>
              <a:t>또는 </a:t>
            </a:r>
            <a:r>
              <a:rPr lang="en-US" altLang="ko-KR" sz="1400" dirty="0" smtClean="0"/>
              <a:t>Map) </a:t>
            </a:r>
            <a:r>
              <a:rPr lang="ko-KR" altLang="en-US" sz="1400" dirty="0" smtClean="0"/>
              <a:t>에 간편하게 맵핑할 수 있습니다</a:t>
            </a:r>
            <a:r>
              <a:rPr lang="en-US" altLang="ko-KR" sz="1400" dirty="0" smtClean="0"/>
              <a:t>.</a:t>
            </a:r>
            <a:endParaRPr kumimoji="1" lang="ko-KR" altLang="en-US" sz="1400" dirty="0" smtClean="0">
              <a:solidFill>
                <a:srgbClr val="000000"/>
              </a:solidFill>
              <a:latin typeface="맑은 고딕" pitchFamily="50" charset="-127"/>
            </a:endParaRPr>
          </a:p>
        </p:txBody>
      </p:sp>
      <p:sp>
        <p:nvSpPr>
          <p:cNvPr id="109" name="Rectangle 128"/>
          <p:cNvSpPr>
            <a:spLocks noChangeArrowheads="1"/>
          </p:cNvSpPr>
          <p:nvPr/>
        </p:nvSpPr>
        <p:spPr bwMode="auto">
          <a:xfrm>
            <a:off x="452406" y="1855260"/>
            <a:ext cx="8954469" cy="268321"/>
          </a:xfrm>
          <a:prstGeom prst="rect">
            <a:avLst/>
          </a:prstGeom>
          <a:blipFill dpi="0" rotWithShape="1">
            <a:blip r:embed="rId2" cstate="print">
              <a:lum bright="12000"/>
            </a:blip>
            <a:srcRect/>
            <a:stretch>
              <a:fillRect/>
            </a:stretch>
          </a:blipFill>
          <a:ln w="9525" algn="ctr">
            <a:solidFill>
              <a:srgbClr val="3991BD"/>
            </a:solidFill>
            <a:miter lim="800000"/>
            <a:headEnd/>
            <a:tailEnd/>
          </a:ln>
          <a:effectLst>
            <a:outerShdw dist="35921" dir="2700000" algn="ctr" rotWithShape="0">
              <a:srgbClr val="CCECFF"/>
            </a:outerShdw>
          </a:effectLst>
        </p:spPr>
        <p:txBody>
          <a:bodyPr wrap="none" anchor="ctr"/>
          <a:lstStyle/>
          <a:p>
            <a:pPr algn="ctr" defTabSz="839788">
              <a:lnSpc>
                <a:spcPct val="90000"/>
              </a:lnSpc>
              <a:defRPr/>
            </a:pPr>
            <a:r>
              <a:rPr lang="en-US" altLang="ko-KR" sz="1100" dirty="0" err="1" smtClean="0">
                <a:latin typeface="맑은 고딕" pitchFamily="50" charset="-127"/>
                <a:ea typeface="맑은 고딕" pitchFamily="50" charset="-127"/>
              </a:rPr>
              <a:t>iBATIS</a:t>
            </a:r>
            <a:r>
              <a:rPr lang="ko-KR" altLang="en-US" sz="1100" dirty="0" smtClean="0">
                <a:latin typeface="맑은 고딕" pitchFamily="50" charset="-127"/>
                <a:ea typeface="맑은 고딕" pitchFamily="50" charset="-127"/>
              </a:rPr>
              <a:t> </a:t>
            </a:r>
            <a:endParaRPr lang="ko-KR" altLang="en-US" sz="11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0" name="Rectangle 93"/>
          <p:cNvSpPr>
            <a:spLocks noChangeArrowheads="1"/>
          </p:cNvSpPr>
          <p:nvPr/>
        </p:nvSpPr>
        <p:spPr bwMode="auto">
          <a:xfrm>
            <a:off x="452406" y="2143116"/>
            <a:ext cx="8957691" cy="3669161"/>
          </a:xfrm>
          <a:prstGeom prst="rect">
            <a:avLst/>
          </a:prstGeom>
          <a:solidFill>
            <a:schemeClr val="bg1"/>
          </a:solidFill>
          <a:ln w="9525" algn="ctr">
            <a:solidFill>
              <a:srgbClr val="588D9A"/>
            </a:solidFill>
            <a:miter lim="800000"/>
            <a:headEnd/>
            <a:tailEnd/>
          </a:ln>
          <a:effectLst>
            <a:outerShdw dist="35921" dir="2700000" algn="ctr" rotWithShape="0">
              <a:srgbClr val="CCECFF"/>
            </a:outerShdw>
          </a:effectLst>
        </p:spPr>
        <p:txBody>
          <a:bodyPr lIns="53976" tIns="35985" rIns="0" bIns="45702"/>
          <a:lstStyle/>
          <a:p>
            <a:pPr algn="ctr">
              <a:defRPr/>
            </a:pPr>
            <a:endParaRPr lang="ko-KR" altLang="en-US" sz="1100" b="0"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5122" name="Picture 2" descr="ibatis_architecure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23844" y="2357431"/>
            <a:ext cx="4617335" cy="3143271"/>
          </a:xfrm>
          <a:prstGeom prst="rect">
            <a:avLst/>
          </a:prstGeom>
          <a:noFill/>
        </p:spPr>
      </p:pic>
      <p:sp>
        <p:nvSpPr>
          <p:cNvPr id="165" name="Rectangle 13"/>
          <p:cNvSpPr>
            <a:spLocks noChangeArrowheads="1"/>
          </p:cNvSpPr>
          <p:nvPr/>
        </p:nvSpPr>
        <p:spPr bwMode="auto">
          <a:xfrm>
            <a:off x="5251638" y="2352934"/>
            <a:ext cx="4017347" cy="576000"/>
          </a:xfrm>
          <a:prstGeom prst="rect">
            <a:avLst/>
          </a:prstGeom>
          <a:solidFill>
            <a:schemeClr val="bg1"/>
          </a:solidFill>
          <a:ln w="3175" algn="ctr">
            <a:solidFill>
              <a:srgbClr val="7EA4C0"/>
            </a:solidFill>
            <a:miter lim="800000"/>
            <a:headEnd/>
            <a:tailEnd/>
          </a:ln>
          <a:effectLst>
            <a:outerShdw dist="35921" dir="2700000" algn="ctr" rotWithShape="0">
              <a:srgbClr val="EAEAEA"/>
            </a:outerShdw>
          </a:effectLst>
        </p:spPr>
        <p:txBody>
          <a:bodyPr lIns="180000" tIns="0" rIns="36000" bIns="0" anchor="ctr"/>
          <a:lstStyle/>
          <a:p>
            <a:pPr marL="265113">
              <a:defRPr/>
            </a:pPr>
            <a:r>
              <a:rPr lang="ko-KR" altLang="en-US" sz="1000" b="0" dirty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000" b="1" dirty="0" smtClean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추상화된 </a:t>
            </a:r>
            <a:r>
              <a:rPr lang="en-US" altLang="ko-KR" sz="1000" b="1" dirty="0" smtClean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JDBC </a:t>
            </a:r>
            <a:r>
              <a:rPr lang="ko-KR" altLang="en-US" sz="1000" b="1" dirty="0" err="1" smtClean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데이터엑세스</a:t>
            </a:r>
            <a:r>
              <a:rPr lang="ko-KR" altLang="en-US" sz="1000" b="1" dirty="0" smtClean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 방식제공 </a:t>
            </a:r>
            <a:r>
              <a:rPr lang="en-US" altLang="ko-KR" sz="1000" dirty="0" smtClean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: </a:t>
            </a:r>
          </a:p>
          <a:p>
            <a:pPr marL="265113">
              <a:defRPr/>
            </a:pPr>
            <a:r>
              <a:rPr lang="en-US" altLang="ko-KR" sz="1000" dirty="0" smtClean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   </a:t>
            </a:r>
            <a:r>
              <a:rPr lang="ko-KR" altLang="en-US" sz="1000" dirty="0" smtClean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간편하고 쉬운 </a:t>
            </a:r>
            <a:r>
              <a:rPr lang="en-US" altLang="ko-KR" sz="1000" dirty="0" smtClean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API, </a:t>
            </a:r>
            <a:r>
              <a:rPr lang="ko-KR" altLang="en-US" sz="1000" dirty="0" smtClean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자원연결</a:t>
            </a:r>
            <a:r>
              <a:rPr lang="en-US" altLang="ko-KR" sz="1000" dirty="0" smtClean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1000" dirty="0" smtClean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해제</a:t>
            </a:r>
            <a:r>
              <a:rPr lang="en-US" altLang="ko-KR" sz="1000" dirty="0" smtClean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00" dirty="0" smtClean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공통 에러처리 등을 </a:t>
            </a:r>
            <a:endParaRPr lang="en-US" altLang="ko-KR" sz="1000" dirty="0" smtClean="0">
              <a:solidFill>
                <a:srgbClr val="333333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265113">
              <a:defRPr/>
            </a:pPr>
            <a:r>
              <a:rPr lang="en-US" altLang="ko-KR" sz="1000" dirty="0" smtClean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   </a:t>
            </a:r>
            <a:r>
              <a:rPr lang="ko-KR" altLang="en-US" sz="1000" dirty="0" smtClean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통합지원</a:t>
            </a:r>
            <a:r>
              <a:rPr lang="en-US" altLang="ko-KR" sz="1000" dirty="0" smtClean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endParaRPr lang="ko-KR" altLang="en-US" sz="1000" b="0" dirty="0">
              <a:solidFill>
                <a:srgbClr val="333333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6" name="Rectangle 14"/>
          <p:cNvSpPr>
            <a:spLocks noChangeArrowheads="1"/>
          </p:cNvSpPr>
          <p:nvPr/>
        </p:nvSpPr>
        <p:spPr bwMode="auto">
          <a:xfrm>
            <a:off x="5238752" y="2354521"/>
            <a:ext cx="449414" cy="574844"/>
          </a:xfrm>
          <a:prstGeom prst="rect">
            <a:avLst/>
          </a:prstGeom>
          <a:solidFill>
            <a:srgbClr val="9DB7CF"/>
          </a:solidFill>
          <a:ln w="3175" algn="ctr">
            <a:solidFill>
              <a:srgbClr val="6F99B9"/>
            </a:solidFill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algn="ctr"/>
            <a:r>
              <a:rPr lang="en-US" altLang="ko-KR" sz="10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1</a:t>
            </a:r>
            <a:endParaRPr lang="en-US" altLang="ko-KR" sz="1000" b="0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7" name="Rectangle 13"/>
          <p:cNvSpPr>
            <a:spLocks noChangeArrowheads="1"/>
          </p:cNvSpPr>
          <p:nvPr/>
        </p:nvSpPr>
        <p:spPr bwMode="auto">
          <a:xfrm>
            <a:off x="5251638" y="2994873"/>
            <a:ext cx="4017347" cy="576574"/>
          </a:xfrm>
          <a:prstGeom prst="rect">
            <a:avLst/>
          </a:prstGeom>
          <a:solidFill>
            <a:schemeClr val="bg1"/>
          </a:solidFill>
          <a:ln w="3175" algn="ctr">
            <a:solidFill>
              <a:srgbClr val="7EA4C0"/>
            </a:solidFill>
            <a:miter lim="800000"/>
            <a:headEnd/>
            <a:tailEnd/>
          </a:ln>
          <a:effectLst>
            <a:outerShdw dist="35921" dir="2700000" algn="ctr" rotWithShape="0">
              <a:srgbClr val="EAEAEA"/>
            </a:outerShdw>
          </a:effectLst>
        </p:spPr>
        <p:txBody>
          <a:bodyPr lIns="180000" tIns="0" rIns="36000" bIns="0" anchor="ctr"/>
          <a:lstStyle/>
          <a:p>
            <a:pPr marL="265113">
              <a:defRPr/>
            </a:pPr>
            <a:r>
              <a:rPr lang="ko-KR" altLang="en-US" sz="1000" b="0" dirty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000" b="1" dirty="0" smtClean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소스코드로부터 </a:t>
            </a:r>
            <a:r>
              <a:rPr lang="en-US" altLang="ko-KR" sz="1000" b="1" dirty="0" smtClean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SQL</a:t>
            </a:r>
            <a:r>
              <a:rPr lang="ko-KR" altLang="en-US" sz="1000" b="1" dirty="0" smtClean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분리 </a:t>
            </a:r>
            <a:r>
              <a:rPr lang="en-US" altLang="ko-KR" sz="1000" dirty="0" smtClean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: </a:t>
            </a:r>
          </a:p>
          <a:p>
            <a:pPr marL="265113">
              <a:defRPr/>
            </a:pPr>
            <a:r>
              <a:rPr lang="en-US" altLang="ko-KR" sz="1000" dirty="0" smtClean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   </a:t>
            </a:r>
            <a:r>
              <a:rPr lang="ko-KR" altLang="en-US" sz="1000" dirty="0" smtClean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빠른 참조구조를 내부적으로 구현 관리</a:t>
            </a:r>
            <a:r>
              <a:rPr lang="en-US" altLang="ko-KR" sz="1000" dirty="0" smtClean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1000" dirty="0" smtClean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유지보수가 용이</a:t>
            </a:r>
            <a:endParaRPr lang="en-US" altLang="ko-KR" sz="1000" dirty="0" smtClean="0">
              <a:solidFill>
                <a:srgbClr val="333333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8" name="Rectangle 14"/>
          <p:cNvSpPr>
            <a:spLocks noChangeArrowheads="1"/>
          </p:cNvSpPr>
          <p:nvPr/>
        </p:nvSpPr>
        <p:spPr bwMode="auto">
          <a:xfrm>
            <a:off x="5238752" y="2996460"/>
            <a:ext cx="449414" cy="575416"/>
          </a:xfrm>
          <a:prstGeom prst="rect">
            <a:avLst/>
          </a:prstGeom>
          <a:solidFill>
            <a:srgbClr val="9DB7CF"/>
          </a:solidFill>
          <a:ln w="3175" algn="ctr">
            <a:solidFill>
              <a:srgbClr val="6F99B9"/>
            </a:solidFill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algn="ctr"/>
            <a:r>
              <a:rPr lang="en-US" altLang="ko-KR" sz="1000" b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2</a:t>
            </a:r>
            <a:endParaRPr lang="en-US" altLang="ko-KR" sz="1000" b="0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9" name="Rectangle 13"/>
          <p:cNvSpPr>
            <a:spLocks noChangeArrowheads="1"/>
          </p:cNvSpPr>
          <p:nvPr/>
        </p:nvSpPr>
        <p:spPr bwMode="auto">
          <a:xfrm>
            <a:off x="5251638" y="3637815"/>
            <a:ext cx="4017347" cy="576574"/>
          </a:xfrm>
          <a:prstGeom prst="rect">
            <a:avLst/>
          </a:prstGeom>
          <a:solidFill>
            <a:schemeClr val="bg1"/>
          </a:solidFill>
          <a:ln w="3175" algn="ctr">
            <a:solidFill>
              <a:srgbClr val="7EA4C0"/>
            </a:solidFill>
            <a:miter lim="800000"/>
            <a:headEnd/>
            <a:tailEnd/>
          </a:ln>
          <a:effectLst>
            <a:outerShdw dist="35921" dir="2700000" algn="ctr" rotWithShape="0">
              <a:srgbClr val="EAEAEA"/>
            </a:outerShdw>
          </a:effectLst>
        </p:spPr>
        <p:txBody>
          <a:bodyPr lIns="180000" tIns="0" rIns="36000" bIns="0" anchor="ctr"/>
          <a:lstStyle/>
          <a:p>
            <a:pPr marL="265113">
              <a:defRPr/>
            </a:pPr>
            <a:r>
              <a:rPr lang="ko-KR" altLang="en-US" sz="1000" b="0" dirty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000" b="1" dirty="0" smtClean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쿼리실행의 입</a:t>
            </a:r>
            <a:r>
              <a:rPr lang="en-US" altLang="ko-KR" sz="1000" b="1" dirty="0" smtClean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1000" b="1" dirty="0" smtClean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출력 객체바인딩</a:t>
            </a:r>
            <a:r>
              <a:rPr lang="en-US" altLang="ko-KR" sz="1000" b="1" dirty="0" smtClean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1000" b="1" dirty="0" err="1" smtClean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맵핑</a:t>
            </a:r>
            <a:r>
              <a:rPr lang="ko-KR" altLang="en-US" sz="1000" b="1" dirty="0" smtClean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 지원 </a:t>
            </a:r>
            <a:r>
              <a:rPr lang="en-US" altLang="ko-KR" sz="1000" dirty="0" smtClean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: </a:t>
            </a:r>
          </a:p>
          <a:p>
            <a:pPr marL="265113">
              <a:defRPr/>
            </a:pPr>
            <a:r>
              <a:rPr lang="en-US" altLang="ko-KR" sz="1000" dirty="0" smtClean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   </a:t>
            </a:r>
            <a:r>
              <a:rPr lang="ko-KR" altLang="en-US" sz="1000" dirty="0" smtClean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입력 </a:t>
            </a:r>
            <a:r>
              <a:rPr lang="ko-KR" altLang="en-US" sz="1000" dirty="0" err="1" smtClean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팔라메터에</a:t>
            </a:r>
            <a:r>
              <a:rPr lang="ko-KR" altLang="en-US" sz="1000" dirty="0" smtClean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 대한 바인딩과 실행결과 </a:t>
            </a:r>
            <a:r>
              <a:rPr lang="en-US" altLang="ko-KR" sz="1000" dirty="0" smtClean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RESULTSET</a:t>
            </a:r>
            <a:r>
              <a:rPr lang="ko-KR" altLang="en-US" sz="1000" dirty="0" smtClean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의 </a:t>
            </a:r>
            <a:endParaRPr lang="en-US" altLang="ko-KR" sz="1000" dirty="0" smtClean="0">
              <a:solidFill>
                <a:srgbClr val="333333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265113">
              <a:defRPr/>
            </a:pPr>
            <a:r>
              <a:rPr lang="en-US" altLang="ko-KR" sz="1000" dirty="0" smtClean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   </a:t>
            </a:r>
            <a:r>
              <a:rPr lang="ko-KR" altLang="en-US" sz="1000" dirty="0" smtClean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가공</a:t>
            </a:r>
            <a:r>
              <a:rPr lang="en-US" altLang="ko-KR" sz="1000" dirty="0" smtClean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1000" dirty="0" err="1" smtClean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맵핑</a:t>
            </a:r>
            <a:r>
              <a:rPr lang="en-US" altLang="ko-KR" sz="1000" dirty="0" smtClean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) </a:t>
            </a:r>
            <a:r>
              <a:rPr lang="ko-KR" altLang="en-US" sz="1000" dirty="0" smtClean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처리시 객체 수준의 자동화를 지원</a:t>
            </a:r>
            <a:endParaRPr lang="en-US" altLang="ko-KR" sz="1000" dirty="0" smtClean="0">
              <a:solidFill>
                <a:srgbClr val="333333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0" name="Rectangle 14"/>
          <p:cNvSpPr>
            <a:spLocks noChangeArrowheads="1"/>
          </p:cNvSpPr>
          <p:nvPr/>
        </p:nvSpPr>
        <p:spPr bwMode="auto">
          <a:xfrm>
            <a:off x="5238752" y="3639402"/>
            <a:ext cx="449414" cy="575416"/>
          </a:xfrm>
          <a:prstGeom prst="rect">
            <a:avLst/>
          </a:prstGeom>
          <a:solidFill>
            <a:srgbClr val="9DB7CF"/>
          </a:solidFill>
          <a:ln w="3175" algn="ctr">
            <a:solidFill>
              <a:srgbClr val="6F99B9"/>
            </a:solidFill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algn="ctr"/>
            <a:r>
              <a:rPr lang="en-US" altLang="ko-KR" sz="100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3</a:t>
            </a:r>
            <a:endParaRPr lang="en-US" altLang="ko-KR" sz="1000" b="0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1" name="Rectangle 13"/>
          <p:cNvSpPr>
            <a:spLocks noChangeArrowheads="1"/>
          </p:cNvSpPr>
          <p:nvPr/>
        </p:nvSpPr>
        <p:spPr bwMode="auto">
          <a:xfrm>
            <a:off x="5251638" y="4285960"/>
            <a:ext cx="4017347" cy="571800"/>
          </a:xfrm>
          <a:prstGeom prst="rect">
            <a:avLst/>
          </a:prstGeom>
          <a:solidFill>
            <a:schemeClr val="bg1"/>
          </a:solidFill>
          <a:ln w="3175" algn="ctr">
            <a:solidFill>
              <a:srgbClr val="7EA4C0"/>
            </a:solidFill>
            <a:miter lim="800000"/>
            <a:headEnd/>
            <a:tailEnd/>
          </a:ln>
          <a:effectLst>
            <a:outerShdw dist="35921" dir="2700000" algn="ctr" rotWithShape="0">
              <a:srgbClr val="EAEAEA"/>
            </a:outerShdw>
          </a:effectLst>
        </p:spPr>
        <p:txBody>
          <a:bodyPr lIns="180000" tIns="0" rIns="36000" bIns="0" anchor="ctr"/>
          <a:lstStyle/>
          <a:p>
            <a:pPr marL="265113">
              <a:defRPr/>
            </a:pPr>
            <a:r>
              <a:rPr lang="ko-KR" altLang="en-US" sz="1000" b="0" dirty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000" b="1" dirty="0" smtClean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Dynamic SQL</a:t>
            </a:r>
            <a:r>
              <a:rPr lang="ko-KR" altLang="en-US" sz="1000" b="1" dirty="0" smtClean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 지원 </a:t>
            </a:r>
            <a:r>
              <a:rPr lang="en-US" altLang="ko-KR" sz="1000" dirty="0" smtClean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:</a:t>
            </a:r>
          </a:p>
          <a:p>
            <a:pPr marL="265113">
              <a:defRPr/>
            </a:pPr>
            <a:r>
              <a:rPr lang="en-US" altLang="ko-KR" sz="1000" dirty="0" smtClean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    </a:t>
            </a:r>
            <a:r>
              <a:rPr lang="ko-KR" altLang="en-US" sz="1000" dirty="0" smtClean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코드작성</a:t>
            </a:r>
            <a:r>
              <a:rPr lang="en-US" altLang="ko-KR" sz="1000" dirty="0" smtClean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, API </a:t>
            </a:r>
            <a:r>
              <a:rPr lang="ko-KR" altLang="en-US" sz="1000" dirty="0" smtClean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직접 </a:t>
            </a:r>
            <a:r>
              <a:rPr lang="ko-KR" altLang="en-US" sz="1000" dirty="0" err="1" smtClean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사용없이</a:t>
            </a:r>
            <a:r>
              <a:rPr lang="ko-KR" altLang="en-US" sz="1000" dirty="0" smtClean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 입력조건에 따른 동적 </a:t>
            </a:r>
            <a:r>
              <a:rPr lang="ko-KR" altLang="en-US" sz="1000" dirty="0" err="1" smtClean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쿼리문</a:t>
            </a:r>
            <a:endParaRPr lang="en-US" altLang="ko-KR" sz="1000" dirty="0" smtClean="0">
              <a:solidFill>
                <a:srgbClr val="333333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265113">
              <a:defRPr/>
            </a:pPr>
            <a:r>
              <a:rPr lang="en-US" altLang="ko-KR" sz="1000" dirty="0" smtClean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   </a:t>
            </a:r>
            <a:r>
              <a:rPr lang="ko-KR" altLang="en-US" sz="1000" dirty="0" smtClean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 변경 지원</a:t>
            </a:r>
            <a:r>
              <a:rPr lang="en-US" altLang="ko-KR" sz="1000" dirty="0" smtClean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   </a:t>
            </a:r>
          </a:p>
        </p:txBody>
      </p:sp>
      <p:sp>
        <p:nvSpPr>
          <p:cNvPr id="172" name="Rectangle 14"/>
          <p:cNvSpPr>
            <a:spLocks noChangeArrowheads="1"/>
          </p:cNvSpPr>
          <p:nvPr/>
        </p:nvSpPr>
        <p:spPr bwMode="auto">
          <a:xfrm>
            <a:off x="5238752" y="4287548"/>
            <a:ext cx="449414" cy="570652"/>
          </a:xfrm>
          <a:prstGeom prst="rect">
            <a:avLst/>
          </a:prstGeom>
          <a:solidFill>
            <a:srgbClr val="9DB7CF"/>
          </a:solidFill>
          <a:ln w="3175" algn="ctr">
            <a:solidFill>
              <a:srgbClr val="6F99B9"/>
            </a:solidFill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algn="ctr"/>
            <a:r>
              <a:rPr lang="en-US" altLang="ko-KR" sz="1000" b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4</a:t>
            </a:r>
            <a:endParaRPr lang="en-US" altLang="ko-KR" sz="1000" b="0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3" name="Rectangle 13"/>
          <p:cNvSpPr>
            <a:spLocks noChangeArrowheads="1"/>
          </p:cNvSpPr>
          <p:nvPr/>
        </p:nvSpPr>
        <p:spPr bwMode="auto">
          <a:xfrm>
            <a:off x="5251638" y="4932920"/>
            <a:ext cx="4017347" cy="550198"/>
          </a:xfrm>
          <a:prstGeom prst="rect">
            <a:avLst/>
          </a:prstGeom>
          <a:solidFill>
            <a:schemeClr val="bg1"/>
          </a:solidFill>
          <a:ln w="3175" algn="ctr">
            <a:solidFill>
              <a:srgbClr val="7EA4C0"/>
            </a:solidFill>
            <a:miter lim="800000"/>
            <a:headEnd/>
            <a:tailEnd/>
          </a:ln>
          <a:effectLst>
            <a:outerShdw dist="35921" dir="2700000" algn="ctr" rotWithShape="0">
              <a:srgbClr val="EAEAEA"/>
            </a:outerShdw>
          </a:effectLst>
        </p:spPr>
        <p:txBody>
          <a:bodyPr lIns="180000" tIns="0" rIns="36000" bIns="0" anchor="ctr"/>
          <a:lstStyle/>
          <a:p>
            <a:pPr marL="265113">
              <a:defRPr/>
            </a:pPr>
            <a:r>
              <a:rPr lang="ko-KR" altLang="en-US" sz="1000" b="0" dirty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000" b="1" dirty="0" smtClean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다양한 </a:t>
            </a:r>
            <a:r>
              <a:rPr lang="en-US" altLang="ko-KR" sz="1000" b="1" dirty="0" smtClean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DB </a:t>
            </a:r>
            <a:r>
              <a:rPr lang="ko-KR" altLang="en-US" sz="1000" b="1" dirty="0" smtClean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처리지원 </a:t>
            </a:r>
            <a:r>
              <a:rPr lang="en-US" altLang="ko-KR" sz="1000" dirty="0" smtClean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: </a:t>
            </a:r>
          </a:p>
          <a:p>
            <a:pPr marL="265113">
              <a:defRPr/>
            </a:pPr>
            <a:r>
              <a:rPr lang="en-US" altLang="ko-KR" sz="1000" dirty="0" smtClean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   </a:t>
            </a:r>
            <a:r>
              <a:rPr lang="ko-KR" altLang="en-US" sz="1000" dirty="0" smtClean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기본 질의 외에 </a:t>
            </a:r>
            <a:r>
              <a:rPr lang="en-US" altLang="ko-KR" sz="1000" dirty="0" smtClean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Batch SQL, Paging, Callable Statement, </a:t>
            </a:r>
          </a:p>
          <a:p>
            <a:pPr marL="265113">
              <a:defRPr/>
            </a:pPr>
            <a:r>
              <a:rPr lang="en-US" altLang="ko-KR" sz="1000" dirty="0" smtClean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   BLOB, CLOB </a:t>
            </a:r>
            <a:r>
              <a:rPr lang="ko-KR" altLang="en-US" sz="1000" dirty="0" smtClean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등 다양한 </a:t>
            </a:r>
            <a:r>
              <a:rPr lang="en-US" altLang="ko-KR" sz="1000" dirty="0" smtClean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DB</a:t>
            </a:r>
            <a:r>
              <a:rPr lang="ko-KR" altLang="en-US" sz="1000" dirty="0" smtClean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처리 지원</a:t>
            </a:r>
            <a:endParaRPr lang="en-US" altLang="ko-KR" sz="1000" dirty="0" smtClean="0">
              <a:solidFill>
                <a:srgbClr val="333333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4" name="Rectangle 14"/>
          <p:cNvSpPr>
            <a:spLocks noChangeArrowheads="1"/>
          </p:cNvSpPr>
          <p:nvPr/>
        </p:nvSpPr>
        <p:spPr bwMode="auto">
          <a:xfrm>
            <a:off x="5238752" y="4934507"/>
            <a:ext cx="449414" cy="549093"/>
          </a:xfrm>
          <a:prstGeom prst="rect">
            <a:avLst/>
          </a:prstGeom>
          <a:solidFill>
            <a:srgbClr val="9DB7CF"/>
          </a:solidFill>
          <a:ln w="3175" algn="ctr">
            <a:solidFill>
              <a:srgbClr val="6F99B9"/>
            </a:solidFill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algn="ctr"/>
            <a:r>
              <a:rPr lang="en-US" altLang="ko-KR" sz="1000" b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5</a:t>
            </a:r>
            <a:endParaRPr lang="en-US" altLang="ko-KR" sz="1000" b="0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8" name="슬라이드 번호 개체 틀 5"/>
          <p:cNvSpPr txBox="1">
            <a:spLocks/>
          </p:cNvSpPr>
          <p:nvPr/>
        </p:nvSpPr>
        <p:spPr>
          <a:xfrm>
            <a:off x="3797300" y="6492899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b="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dirty="0" smtClean="0"/>
              <a:t>- 14</a:t>
            </a:r>
            <a:r>
              <a:rPr lang="ko-KR" altLang="en-US" dirty="0" smtClean="0"/>
              <a:t> </a:t>
            </a:r>
            <a:r>
              <a:rPr lang="en-US" altLang="ko-KR" dirty="0" smtClean="0"/>
              <a:t>-</a:t>
            </a:r>
            <a:endParaRPr lang="ko-KR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jQuery</a:t>
            </a:r>
            <a:r>
              <a:rPr lang="en-US" altLang="ko-KR" dirty="0" smtClean="0"/>
              <a:t> Grid </a:t>
            </a:r>
            <a:endParaRPr lang="ko-KR" altLang="en-US" dirty="0"/>
          </a:p>
        </p:txBody>
      </p:sp>
      <p:sp>
        <p:nvSpPr>
          <p:cNvPr id="225" name="텍스트 개체 틀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 smtClean="0"/>
              <a:t>4</a:t>
            </a:r>
            <a:endParaRPr lang="ko-KR" altLang="en-US" dirty="0"/>
          </a:p>
        </p:txBody>
      </p:sp>
      <p:sp>
        <p:nvSpPr>
          <p:cNvPr id="224" name="Rectangle 108"/>
          <p:cNvSpPr>
            <a:spLocks noChangeArrowheads="1"/>
          </p:cNvSpPr>
          <p:nvPr/>
        </p:nvSpPr>
        <p:spPr bwMode="auto">
          <a:xfrm>
            <a:off x="344488" y="980728"/>
            <a:ext cx="9217025" cy="648072"/>
          </a:xfrm>
          <a:prstGeom prst="rect">
            <a:avLst/>
          </a:prstGeom>
          <a:solidFill>
            <a:srgbClr val="F0F8FA">
              <a:alpha val="50000"/>
            </a:srgbClr>
          </a:solidFill>
          <a:ln w="9525">
            <a:solidFill>
              <a:schemeClr val="tx2">
                <a:lumMod val="20000"/>
                <a:lumOff val="8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atinLnBrk="0"/>
            <a:r>
              <a:rPr kumimoji="1" lang="en-US" altLang="ko-KR" sz="1400" dirty="0" err="1" smtClean="0">
                <a:solidFill>
                  <a:srgbClr val="000000"/>
                </a:solidFill>
                <a:latin typeface="+mn-ea"/>
              </a:rPr>
              <a:t>JQuery</a:t>
            </a:r>
            <a:r>
              <a:rPr kumimoji="1" lang="en-US" altLang="ko-KR" sz="1400" dirty="0" smtClean="0">
                <a:solidFill>
                  <a:srgbClr val="000000"/>
                </a:solidFill>
                <a:latin typeface="+mn-ea"/>
              </a:rPr>
              <a:t> Grid</a:t>
            </a:r>
            <a:r>
              <a:rPr kumimoji="1" lang="ko-KR" altLang="en-US" sz="1400" dirty="0" smtClean="0">
                <a:solidFill>
                  <a:srgbClr val="000000"/>
                </a:solidFill>
                <a:latin typeface="+mn-ea"/>
              </a:rPr>
              <a:t>는 </a:t>
            </a:r>
            <a:r>
              <a:rPr kumimoji="1" lang="en-US" altLang="ko-KR" sz="1400" dirty="0" err="1" smtClean="0">
                <a:solidFill>
                  <a:srgbClr val="000000"/>
                </a:solidFill>
                <a:latin typeface="+mn-ea"/>
              </a:rPr>
              <a:t>Jquery</a:t>
            </a:r>
            <a:r>
              <a:rPr kumimoji="1" lang="ko-KR" altLang="en-US" sz="1400" dirty="0" smtClean="0">
                <a:solidFill>
                  <a:srgbClr val="000000"/>
                </a:solidFill>
                <a:latin typeface="+mn-ea"/>
              </a:rPr>
              <a:t>기반의 </a:t>
            </a:r>
            <a:r>
              <a:rPr kumimoji="1" lang="en-US" altLang="ko-KR" sz="1400" dirty="0" smtClean="0">
                <a:solidFill>
                  <a:srgbClr val="000000"/>
                </a:solidFill>
                <a:latin typeface="+mn-ea"/>
              </a:rPr>
              <a:t>Grid Component</a:t>
            </a:r>
            <a:r>
              <a:rPr kumimoji="1" lang="ko-KR" altLang="en-US" sz="1400" dirty="0" smtClean="0">
                <a:solidFill>
                  <a:srgbClr val="000000"/>
                </a:solidFill>
                <a:latin typeface="+mn-ea"/>
              </a:rPr>
              <a:t>입니다</a:t>
            </a:r>
            <a:r>
              <a:rPr kumimoji="1" lang="en-US" altLang="ko-KR" sz="1400" dirty="0" smtClean="0">
                <a:solidFill>
                  <a:srgbClr val="000000"/>
                </a:solidFill>
                <a:latin typeface="+mn-ea"/>
              </a:rPr>
              <a:t>. </a:t>
            </a:r>
            <a:r>
              <a:rPr kumimoji="1" lang="ko-KR" altLang="en-US" sz="1400" dirty="0" smtClean="0">
                <a:solidFill>
                  <a:srgbClr val="000000"/>
                </a:solidFill>
                <a:latin typeface="+mn-ea"/>
              </a:rPr>
              <a:t>편집</a:t>
            </a:r>
            <a:r>
              <a:rPr kumimoji="1" lang="en-US" altLang="ko-KR" sz="1400" dirty="0" smtClean="0">
                <a:solidFill>
                  <a:srgbClr val="000000"/>
                </a:solidFill>
                <a:latin typeface="+mn-ea"/>
              </a:rPr>
              <a:t>, </a:t>
            </a:r>
            <a:r>
              <a:rPr kumimoji="1" lang="ko-KR" altLang="en-US" sz="1400" dirty="0" err="1" smtClean="0">
                <a:solidFill>
                  <a:srgbClr val="000000"/>
                </a:solidFill>
                <a:latin typeface="+mn-ea"/>
              </a:rPr>
              <a:t>페이징</a:t>
            </a:r>
            <a:r>
              <a:rPr kumimoji="1" lang="en-US" altLang="ko-KR" sz="1400" dirty="0" smtClean="0">
                <a:solidFill>
                  <a:srgbClr val="000000"/>
                </a:solidFill>
                <a:latin typeface="+mn-ea"/>
              </a:rPr>
              <a:t>, </a:t>
            </a:r>
            <a:r>
              <a:rPr kumimoji="1" lang="ko-KR" altLang="en-US" sz="1400" dirty="0" smtClean="0">
                <a:solidFill>
                  <a:srgbClr val="000000"/>
                </a:solidFill>
                <a:latin typeface="+mn-ea"/>
              </a:rPr>
              <a:t>검색</a:t>
            </a:r>
            <a:r>
              <a:rPr kumimoji="1" lang="en-US" altLang="ko-KR" sz="1400" dirty="0" smtClean="0">
                <a:solidFill>
                  <a:srgbClr val="000000"/>
                </a:solidFill>
                <a:latin typeface="+mn-ea"/>
              </a:rPr>
              <a:t>, </a:t>
            </a:r>
            <a:r>
              <a:rPr kumimoji="1" lang="ko-KR" altLang="en-US" sz="1400" dirty="0" smtClean="0">
                <a:solidFill>
                  <a:srgbClr val="000000"/>
                </a:solidFill>
                <a:latin typeface="+mn-ea"/>
              </a:rPr>
              <a:t>정렬 등의 기능을 제공하여 </a:t>
            </a:r>
            <a:r>
              <a:rPr kumimoji="1" lang="en-US" altLang="ko-KR" sz="1400" dirty="0" smtClean="0">
                <a:solidFill>
                  <a:srgbClr val="000000"/>
                </a:solidFill>
                <a:latin typeface="+mn-ea"/>
              </a:rPr>
              <a:t>HTML</a:t>
            </a:r>
            <a:r>
              <a:rPr kumimoji="1" lang="ko-KR" altLang="en-US" sz="1400" dirty="0" smtClean="0">
                <a:solidFill>
                  <a:srgbClr val="000000"/>
                </a:solidFill>
                <a:latin typeface="+mn-ea"/>
              </a:rPr>
              <a:t>을 사용하여 </a:t>
            </a:r>
            <a:r>
              <a:rPr kumimoji="1" lang="en-US" altLang="ko-KR" sz="1400" dirty="0" smtClean="0">
                <a:solidFill>
                  <a:srgbClr val="000000"/>
                </a:solidFill>
                <a:latin typeface="+mn-ea"/>
              </a:rPr>
              <a:t>Table</a:t>
            </a:r>
            <a:r>
              <a:rPr kumimoji="1" lang="ko-KR" altLang="en-US" sz="1400" dirty="0" smtClean="0">
                <a:solidFill>
                  <a:srgbClr val="000000"/>
                </a:solidFill>
                <a:latin typeface="+mn-ea"/>
              </a:rPr>
              <a:t>을 구성하는 것보다 사용자에게 편리함을 제공합니다</a:t>
            </a:r>
            <a:r>
              <a:rPr kumimoji="1" lang="en-US" altLang="ko-KR" sz="1400" dirty="0" smtClean="0">
                <a:solidFill>
                  <a:srgbClr val="000000"/>
                </a:solidFill>
                <a:latin typeface="+mn-ea"/>
              </a:rPr>
              <a:t>.</a:t>
            </a:r>
            <a:r>
              <a:rPr kumimoji="1" lang="ko-KR" altLang="en-US" sz="1400" dirty="0" smtClean="0">
                <a:solidFill>
                  <a:srgbClr val="000000"/>
                </a:solidFill>
                <a:latin typeface="+mn-ea"/>
              </a:rPr>
              <a:t> </a:t>
            </a:r>
          </a:p>
        </p:txBody>
      </p:sp>
      <p:sp>
        <p:nvSpPr>
          <p:cNvPr id="14" name="Rectangle 93"/>
          <p:cNvSpPr>
            <a:spLocks noChangeArrowheads="1"/>
          </p:cNvSpPr>
          <p:nvPr/>
        </p:nvSpPr>
        <p:spPr bwMode="auto">
          <a:xfrm>
            <a:off x="344488" y="1698079"/>
            <a:ext cx="9217025" cy="4467771"/>
          </a:xfrm>
          <a:prstGeom prst="rect">
            <a:avLst/>
          </a:prstGeom>
          <a:noFill/>
          <a:ln w="9525" algn="ctr">
            <a:solidFill>
              <a:srgbClr val="588D9A"/>
            </a:solidFill>
            <a:miter lim="800000"/>
            <a:headEnd/>
            <a:tailEnd/>
          </a:ln>
          <a:effectLst>
            <a:outerShdw dist="35921" dir="2700000" algn="ctr" rotWithShape="0">
              <a:srgbClr val="CCECFF"/>
            </a:outerShdw>
          </a:effectLst>
        </p:spPr>
        <p:txBody>
          <a:bodyPr lIns="53976" tIns="35985" rIns="0" bIns="45702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b="0" kern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" name="Rectangle 128"/>
          <p:cNvSpPr>
            <a:spLocks noChangeArrowheads="1"/>
          </p:cNvSpPr>
          <p:nvPr/>
        </p:nvSpPr>
        <p:spPr bwMode="auto">
          <a:xfrm>
            <a:off x="5102805" y="1855260"/>
            <a:ext cx="4304070" cy="268321"/>
          </a:xfrm>
          <a:prstGeom prst="rect">
            <a:avLst/>
          </a:prstGeom>
          <a:blipFill dpi="0" rotWithShape="1">
            <a:blip r:embed="rId2" cstate="print">
              <a:lum bright="12000"/>
            </a:blip>
            <a:srcRect/>
            <a:stretch>
              <a:fillRect/>
            </a:stretch>
          </a:blipFill>
          <a:ln w="9525" algn="ctr">
            <a:solidFill>
              <a:srgbClr val="3991BD"/>
            </a:solidFill>
            <a:miter lim="800000"/>
            <a:headEnd/>
            <a:tailEnd/>
          </a:ln>
          <a:effectLst>
            <a:outerShdw dist="35921" dir="2700000" algn="ctr" rotWithShape="0">
              <a:srgbClr val="CCECFF"/>
            </a:outerShdw>
          </a:effectLst>
        </p:spPr>
        <p:txBody>
          <a:bodyPr wrap="none" anchor="ctr"/>
          <a:lstStyle/>
          <a:p>
            <a:pPr algn="ctr" defTabSz="968375">
              <a:lnSpc>
                <a:spcPct val="100000"/>
              </a:lnSpc>
            </a:pPr>
            <a:r>
              <a:rPr lang="ko-KR" altLang="en-US" sz="11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편리한 고객 </a:t>
            </a:r>
            <a:r>
              <a:rPr lang="ko-KR" altLang="en-US" sz="11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사용성</a:t>
            </a:r>
            <a:endParaRPr lang="en-US" altLang="ko-KR" sz="11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" name="Rectangle 128"/>
          <p:cNvSpPr>
            <a:spLocks noChangeArrowheads="1"/>
          </p:cNvSpPr>
          <p:nvPr/>
        </p:nvSpPr>
        <p:spPr bwMode="auto">
          <a:xfrm>
            <a:off x="508790" y="1855260"/>
            <a:ext cx="4304070" cy="268321"/>
          </a:xfrm>
          <a:prstGeom prst="rect">
            <a:avLst/>
          </a:prstGeom>
          <a:blipFill dpi="0" rotWithShape="1">
            <a:blip r:embed="rId2" cstate="print">
              <a:lum bright="12000"/>
            </a:blip>
            <a:srcRect/>
            <a:stretch>
              <a:fillRect/>
            </a:stretch>
          </a:blipFill>
          <a:ln w="9525" algn="ctr">
            <a:solidFill>
              <a:srgbClr val="3991BD"/>
            </a:solidFill>
            <a:miter lim="800000"/>
            <a:headEnd/>
            <a:tailEnd/>
          </a:ln>
          <a:effectLst>
            <a:outerShdw dist="35921" dir="2700000" algn="ctr" rotWithShape="0">
              <a:srgbClr val="CCECFF"/>
            </a:outerShdw>
          </a:effectLst>
        </p:spPr>
        <p:txBody>
          <a:bodyPr wrap="none" anchor="ctr"/>
          <a:lstStyle/>
          <a:p>
            <a:pPr algn="ctr" defTabSz="968375">
              <a:lnSpc>
                <a:spcPct val="100000"/>
              </a:lnSpc>
            </a:pPr>
            <a:r>
              <a:rPr lang="ko-KR" altLang="en-US" sz="11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쉬운 </a:t>
            </a:r>
            <a:r>
              <a:rPr lang="ko-KR" altLang="en-US" sz="11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그리드</a:t>
            </a:r>
            <a:r>
              <a:rPr lang="ko-KR" altLang="en-US" sz="11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개발</a:t>
            </a:r>
            <a:endParaRPr lang="en-US" altLang="ko-KR" sz="11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" name="Rectangle 93"/>
          <p:cNvSpPr>
            <a:spLocks noChangeArrowheads="1"/>
          </p:cNvSpPr>
          <p:nvPr/>
        </p:nvSpPr>
        <p:spPr bwMode="auto">
          <a:xfrm>
            <a:off x="5102805" y="2118817"/>
            <a:ext cx="4307292" cy="3669161"/>
          </a:xfrm>
          <a:prstGeom prst="rect">
            <a:avLst/>
          </a:prstGeom>
          <a:solidFill>
            <a:schemeClr val="bg1"/>
          </a:solidFill>
          <a:ln w="9525" algn="ctr">
            <a:solidFill>
              <a:srgbClr val="588D9A"/>
            </a:solidFill>
            <a:miter lim="800000"/>
            <a:headEnd/>
            <a:tailEnd/>
          </a:ln>
          <a:effectLst>
            <a:outerShdw dist="35921" dir="2700000" algn="ctr" rotWithShape="0">
              <a:srgbClr val="CCECFF"/>
            </a:outerShdw>
          </a:effectLst>
        </p:spPr>
        <p:txBody>
          <a:bodyPr lIns="53976" tIns="35985" rIns="0" bIns="45702"/>
          <a:lstStyle/>
          <a:p>
            <a:pPr algn="ctr">
              <a:defRPr/>
            </a:pPr>
            <a:endParaRPr lang="ko-KR" altLang="en-US" sz="1100" b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8" name="Rectangle 93"/>
          <p:cNvSpPr>
            <a:spLocks noChangeArrowheads="1"/>
          </p:cNvSpPr>
          <p:nvPr/>
        </p:nvSpPr>
        <p:spPr bwMode="auto">
          <a:xfrm>
            <a:off x="508790" y="2128344"/>
            <a:ext cx="4304070" cy="3669161"/>
          </a:xfrm>
          <a:prstGeom prst="rect">
            <a:avLst/>
          </a:prstGeom>
          <a:solidFill>
            <a:schemeClr val="bg1"/>
          </a:solidFill>
          <a:ln w="9525" algn="ctr">
            <a:solidFill>
              <a:srgbClr val="588D9A"/>
            </a:solidFill>
            <a:miter lim="800000"/>
            <a:headEnd/>
            <a:tailEnd/>
          </a:ln>
          <a:effectLst>
            <a:outerShdw dist="35921" dir="2700000" algn="ctr" rotWithShape="0">
              <a:srgbClr val="CCECFF"/>
            </a:outerShdw>
          </a:effectLst>
        </p:spPr>
        <p:txBody>
          <a:bodyPr lIns="53976" tIns="35985" rIns="0" bIns="45702"/>
          <a:lstStyle/>
          <a:p>
            <a:pPr algn="ctr">
              <a:defRPr/>
            </a:pPr>
            <a:endParaRPr lang="ko-KR" altLang="en-US" sz="1100" b="0"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6758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76536" y="2348880"/>
            <a:ext cx="3672408" cy="2448272"/>
          </a:xfrm>
          <a:prstGeom prst="rect">
            <a:avLst/>
          </a:prstGeom>
          <a:noFill/>
          <a:ln w="9525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</p:pic>
      <p:pic>
        <p:nvPicPr>
          <p:cNvPr id="67589" name="Picture 5" descr="http://cfile9.uf.tistory.com/image/233DCD395433498526975C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378074" y="2348880"/>
            <a:ext cx="3895406" cy="1473151"/>
          </a:xfrm>
          <a:prstGeom prst="rect">
            <a:avLst/>
          </a:prstGeom>
          <a:noFill/>
        </p:spPr>
      </p:pic>
      <p:sp>
        <p:nvSpPr>
          <p:cNvPr id="10" name="AutoShape 214"/>
          <p:cNvSpPr>
            <a:spLocks noChangeArrowheads="1"/>
          </p:cNvSpPr>
          <p:nvPr/>
        </p:nvSpPr>
        <p:spPr bwMode="auto">
          <a:xfrm>
            <a:off x="5450082" y="3998952"/>
            <a:ext cx="864096" cy="78597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8575" algn="ctr">
            <a:solidFill>
              <a:srgbClr val="9EBFD6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b="1" smtClean="0">
                <a:latin typeface="+mn-ea"/>
              </a:rPr>
              <a:t>정렬</a:t>
            </a:r>
            <a:endParaRPr lang="ko-KR" altLang="en-US" sz="1200" b="1" dirty="0" smtClean="0">
              <a:latin typeface="+mn-ea"/>
            </a:endParaRPr>
          </a:p>
        </p:txBody>
      </p:sp>
      <p:sp>
        <p:nvSpPr>
          <p:cNvPr id="11" name="AutoShape 214"/>
          <p:cNvSpPr>
            <a:spLocks noChangeArrowheads="1"/>
          </p:cNvSpPr>
          <p:nvPr/>
        </p:nvSpPr>
        <p:spPr bwMode="auto">
          <a:xfrm>
            <a:off x="6386186" y="3998952"/>
            <a:ext cx="864096" cy="78597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8575" algn="ctr">
            <a:solidFill>
              <a:srgbClr val="9EBFD6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b="1" smtClean="0">
                <a:latin typeface="+mn-ea"/>
              </a:rPr>
              <a:t>검색</a:t>
            </a:r>
            <a:endParaRPr lang="ko-KR" altLang="en-US" sz="1200" b="1" dirty="0" smtClean="0">
              <a:latin typeface="+mn-ea"/>
            </a:endParaRPr>
          </a:p>
        </p:txBody>
      </p:sp>
      <p:sp>
        <p:nvSpPr>
          <p:cNvPr id="12" name="AutoShape 214"/>
          <p:cNvSpPr>
            <a:spLocks noChangeArrowheads="1"/>
          </p:cNvSpPr>
          <p:nvPr/>
        </p:nvSpPr>
        <p:spPr bwMode="auto">
          <a:xfrm>
            <a:off x="7394298" y="3998952"/>
            <a:ext cx="864096" cy="78597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8575" algn="ctr">
            <a:solidFill>
              <a:srgbClr val="9EBFD6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b="1" smtClean="0">
                <a:latin typeface="+mn-ea"/>
              </a:rPr>
              <a:t>편집</a:t>
            </a:r>
            <a:endParaRPr lang="ko-KR" altLang="en-US" sz="1200" b="1" dirty="0" smtClean="0">
              <a:latin typeface="+mn-ea"/>
            </a:endParaRPr>
          </a:p>
        </p:txBody>
      </p:sp>
      <p:sp>
        <p:nvSpPr>
          <p:cNvPr id="13" name="AutoShape 214"/>
          <p:cNvSpPr>
            <a:spLocks noChangeArrowheads="1"/>
          </p:cNvSpPr>
          <p:nvPr/>
        </p:nvSpPr>
        <p:spPr bwMode="auto">
          <a:xfrm>
            <a:off x="8330402" y="3998952"/>
            <a:ext cx="864096" cy="78597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8575" algn="ctr">
            <a:solidFill>
              <a:srgbClr val="9EBFD6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b="1" dirty="0" err="1" smtClean="0">
                <a:latin typeface="+mn-ea"/>
              </a:rPr>
              <a:t>페이징</a:t>
            </a:r>
            <a:endParaRPr lang="ko-KR" altLang="en-US" sz="1200" b="1" dirty="0" smtClean="0">
              <a:latin typeface="+mn-ea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5313040" y="2414776"/>
            <a:ext cx="576064" cy="216024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1" name="직선 화살표 연결선 20"/>
          <p:cNvCxnSpPr>
            <a:stCxn id="19" idx="2"/>
            <a:endCxn id="10" idx="0"/>
          </p:cNvCxnSpPr>
          <p:nvPr/>
        </p:nvCxnSpPr>
        <p:spPr>
          <a:xfrm>
            <a:off x="5601072" y="2630800"/>
            <a:ext cx="281058" cy="1368152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7590" name="Picture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427105" y="5229201"/>
            <a:ext cx="1850418" cy="2160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" name="직사각형 23"/>
          <p:cNvSpPr/>
          <p:nvPr/>
        </p:nvSpPr>
        <p:spPr>
          <a:xfrm>
            <a:off x="7329264" y="5157192"/>
            <a:ext cx="2016224" cy="360040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5" name="직선 화살표 연결선 24"/>
          <p:cNvCxnSpPr>
            <a:stCxn id="24" idx="0"/>
            <a:endCxn id="12" idx="2"/>
          </p:cNvCxnSpPr>
          <p:nvPr/>
        </p:nvCxnSpPr>
        <p:spPr>
          <a:xfrm flipH="1" flipV="1">
            <a:off x="7826346" y="4784928"/>
            <a:ext cx="511030" cy="372264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직사각형 27"/>
          <p:cNvSpPr/>
          <p:nvPr/>
        </p:nvSpPr>
        <p:spPr>
          <a:xfrm>
            <a:off x="6609184" y="3573016"/>
            <a:ext cx="2664296" cy="288032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9" name="직선 화살표 연결선 28"/>
          <p:cNvCxnSpPr>
            <a:stCxn id="28" idx="2"/>
            <a:endCxn id="13" idx="0"/>
          </p:cNvCxnSpPr>
          <p:nvPr/>
        </p:nvCxnSpPr>
        <p:spPr>
          <a:xfrm>
            <a:off x="7941332" y="3861048"/>
            <a:ext cx="821118" cy="137904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7591" name="Picture 7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313040" y="5157192"/>
            <a:ext cx="1705904" cy="360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4" name="직사각형 33"/>
          <p:cNvSpPr/>
          <p:nvPr/>
        </p:nvSpPr>
        <p:spPr>
          <a:xfrm>
            <a:off x="5241032" y="5013176"/>
            <a:ext cx="1944216" cy="504056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/>
          <p:cNvSpPr/>
          <p:nvPr/>
        </p:nvSpPr>
        <p:spPr>
          <a:xfrm>
            <a:off x="5332918" y="3635085"/>
            <a:ext cx="279648" cy="135632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6" name="직선 화살표 연결선 35"/>
          <p:cNvCxnSpPr>
            <a:endCxn id="11" idx="2"/>
          </p:cNvCxnSpPr>
          <p:nvPr/>
        </p:nvCxnSpPr>
        <p:spPr>
          <a:xfrm flipV="1">
            <a:off x="6177136" y="4784928"/>
            <a:ext cx="641098" cy="22824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/>
          <p:cNvCxnSpPr>
            <a:stCxn id="35" idx="2"/>
            <a:endCxn id="11" idx="0"/>
          </p:cNvCxnSpPr>
          <p:nvPr/>
        </p:nvCxnSpPr>
        <p:spPr>
          <a:xfrm>
            <a:off x="5472742" y="3770717"/>
            <a:ext cx="1345492" cy="22823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108"/>
          <p:cNvSpPr>
            <a:spLocks noChangeArrowheads="1"/>
          </p:cNvSpPr>
          <p:nvPr/>
        </p:nvSpPr>
        <p:spPr bwMode="auto">
          <a:xfrm>
            <a:off x="776536" y="5013176"/>
            <a:ext cx="3600400" cy="648072"/>
          </a:xfrm>
          <a:prstGeom prst="rect">
            <a:avLst/>
          </a:prstGeom>
          <a:solidFill>
            <a:srgbClr val="F0F8FA">
              <a:alpha val="50000"/>
            </a:srgbClr>
          </a:solidFill>
          <a:ln w="9525">
            <a:solidFill>
              <a:schemeClr val="tx2">
                <a:lumMod val="20000"/>
                <a:lumOff val="8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88900" indent="-88900">
              <a:buFont typeface="Arial" pitchFamily="34" charset="0"/>
              <a:buChar char="•"/>
            </a:pPr>
            <a:r>
              <a:rPr kumimoji="1" lang="ko-KR" altLang="en-US" sz="1100" dirty="0" smtClean="0">
                <a:solidFill>
                  <a:srgbClr val="000000"/>
                </a:solidFill>
                <a:latin typeface="맑은 고딕" pitchFamily="50" charset="-127"/>
              </a:rPr>
              <a:t>복잡하게 </a:t>
            </a:r>
            <a:r>
              <a:rPr kumimoji="1" lang="en-US" altLang="ko-KR" sz="1100" dirty="0" smtClean="0">
                <a:solidFill>
                  <a:srgbClr val="000000"/>
                </a:solidFill>
                <a:latin typeface="맑은 고딕" pitchFamily="50" charset="-127"/>
              </a:rPr>
              <a:t>HTML</a:t>
            </a:r>
            <a:r>
              <a:rPr kumimoji="1" lang="ko-KR" altLang="en-US" sz="1100" dirty="0" smtClean="0">
                <a:solidFill>
                  <a:srgbClr val="000000"/>
                </a:solidFill>
                <a:latin typeface="맑은 고딕" pitchFamily="50" charset="-127"/>
              </a:rPr>
              <a:t>의 테이블 구조가 필요없음</a:t>
            </a:r>
            <a:endParaRPr kumimoji="1" lang="en-US" altLang="ko-KR" sz="1100" dirty="0" smtClean="0">
              <a:solidFill>
                <a:srgbClr val="000000"/>
              </a:solidFill>
              <a:latin typeface="맑은 고딕" pitchFamily="50" charset="-127"/>
            </a:endParaRPr>
          </a:p>
          <a:p>
            <a:pPr marL="88900" indent="-88900">
              <a:buFont typeface="Arial" pitchFamily="34" charset="0"/>
              <a:buChar char="•"/>
            </a:pPr>
            <a:r>
              <a:rPr kumimoji="1" lang="ko-KR" altLang="en-US" sz="1100" dirty="0" smtClean="0">
                <a:solidFill>
                  <a:srgbClr val="000000"/>
                </a:solidFill>
                <a:latin typeface="맑은 고딕" pitchFamily="50" charset="-127"/>
              </a:rPr>
              <a:t>단순하게 </a:t>
            </a:r>
            <a:r>
              <a:rPr kumimoji="1" lang="ko-KR" altLang="en-US" sz="1100" dirty="0" err="1" smtClean="0">
                <a:solidFill>
                  <a:srgbClr val="000000"/>
                </a:solidFill>
                <a:latin typeface="맑은 고딕" pitchFamily="50" charset="-127"/>
              </a:rPr>
              <a:t>컬럼명과</a:t>
            </a:r>
            <a:r>
              <a:rPr kumimoji="1" lang="ko-KR" altLang="en-US" sz="1100" dirty="0" smtClean="0">
                <a:solidFill>
                  <a:srgbClr val="000000"/>
                </a:solidFill>
                <a:latin typeface="맑은 고딕" pitchFamily="50" charset="-127"/>
              </a:rPr>
              <a:t> 속성을 지정하면 </a:t>
            </a:r>
            <a:r>
              <a:rPr kumimoji="1" lang="ko-KR" altLang="en-US" sz="1100" dirty="0" err="1" smtClean="0">
                <a:solidFill>
                  <a:srgbClr val="000000"/>
                </a:solidFill>
                <a:latin typeface="맑은 고딕" pitchFamily="50" charset="-127"/>
              </a:rPr>
              <a:t>그리드가</a:t>
            </a:r>
            <a:r>
              <a:rPr kumimoji="1" lang="ko-KR" altLang="en-US" sz="1100" dirty="0" smtClean="0">
                <a:solidFill>
                  <a:srgbClr val="000000"/>
                </a:solidFill>
                <a:latin typeface="맑은 고딕" pitchFamily="50" charset="-127"/>
              </a:rPr>
              <a:t> 구성됨</a:t>
            </a:r>
          </a:p>
        </p:txBody>
      </p:sp>
      <p:sp>
        <p:nvSpPr>
          <p:cNvPr id="30" name="슬라이드 번호 개체 틀 5"/>
          <p:cNvSpPr txBox="1">
            <a:spLocks/>
          </p:cNvSpPr>
          <p:nvPr/>
        </p:nvSpPr>
        <p:spPr>
          <a:xfrm>
            <a:off x="3797300" y="6492899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b="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dirty="0" smtClean="0"/>
              <a:t>- 15</a:t>
            </a:r>
            <a:r>
              <a:rPr lang="ko-KR" altLang="en-US" dirty="0" smtClean="0"/>
              <a:t> </a:t>
            </a:r>
            <a:r>
              <a:rPr lang="en-US" altLang="ko-KR" dirty="0" smtClean="0"/>
              <a:t>-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다국어처리</a:t>
            </a:r>
            <a:r>
              <a:rPr lang="en-US" altLang="ko-KR" dirty="0" smtClean="0"/>
              <a:t>(1/2)</a:t>
            </a:r>
            <a:endParaRPr lang="ko-KR" altLang="en-US" dirty="0"/>
          </a:p>
        </p:txBody>
      </p:sp>
      <p:sp>
        <p:nvSpPr>
          <p:cNvPr id="225" name="텍스트 개체 틀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 smtClean="0"/>
              <a:t>5</a:t>
            </a:r>
            <a:endParaRPr lang="ko-KR" altLang="en-US" dirty="0"/>
          </a:p>
        </p:txBody>
      </p:sp>
      <p:sp>
        <p:nvSpPr>
          <p:cNvPr id="224" name="Rectangle 108"/>
          <p:cNvSpPr>
            <a:spLocks noChangeArrowheads="1"/>
          </p:cNvSpPr>
          <p:nvPr/>
        </p:nvSpPr>
        <p:spPr bwMode="auto">
          <a:xfrm>
            <a:off x="344488" y="980728"/>
            <a:ext cx="9217025" cy="648072"/>
          </a:xfrm>
          <a:prstGeom prst="rect">
            <a:avLst/>
          </a:prstGeom>
          <a:solidFill>
            <a:srgbClr val="F0F8FA">
              <a:alpha val="50000"/>
            </a:srgbClr>
          </a:solidFill>
          <a:ln w="9525">
            <a:solidFill>
              <a:schemeClr val="tx2">
                <a:lumMod val="20000"/>
                <a:lumOff val="8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atinLnBrk="0"/>
            <a:r>
              <a:rPr kumimoji="1" lang="ko-KR" altLang="en-US" sz="1400" dirty="0" smtClean="0">
                <a:solidFill>
                  <a:srgbClr val="000000"/>
                </a:solidFill>
                <a:latin typeface="맑은 고딕" pitchFamily="50" charset="-127"/>
              </a:rPr>
              <a:t>다국어 처리는 </a:t>
            </a:r>
            <a:r>
              <a:rPr kumimoji="1" lang="en-US" altLang="ko-KR" sz="1400" dirty="0" smtClean="0">
                <a:solidFill>
                  <a:srgbClr val="000000"/>
                </a:solidFill>
                <a:latin typeface="맑은 고딕" pitchFamily="50" charset="-127"/>
              </a:rPr>
              <a:t>Java Spring Framework</a:t>
            </a:r>
            <a:r>
              <a:rPr kumimoji="1" lang="ko-KR" altLang="en-US" sz="1400" dirty="0" smtClean="0">
                <a:solidFill>
                  <a:srgbClr val="000000"/>
                </a:solidFill>
                <a:latin typeface="맑은 고딕" pitchFamily="50" charset="-127"/>
              </a:rPr>
              <a:t>을 통해서 처리합니다</a:t>
            </a:r>
            <a:r>
              <a:rPr kumimoji="1" lang="en-US" altLang="ko-KR" sz="1400" dirty="0" smtClean="0">
                <a:solidFill>
                  <a:srgbClr val="000000"/>
                </a:solidFill>
                <a:latin typeface="맑은 고딕" pitchFamily="50" charset="-127"/>
              </a:rPr>
              <a:t>. </a:t>
            </a:r>
            <a:r>
              <a:rPr kumimoji="1" lang="ko-KR" altLang="en-US" sz="1400" dirty="0" smtClean="0">
                <a:solidFill>
                  <a:srgbClr val="000000"/>
                </a:solidFill>
                <a:latin typeface="맑은 고딕" pitchFamily="50" charset="-127"/>
              </a:rPr>
              <a:t>사용자화면에서 다국어 편집내용을 입력하고 저장하면 다국어 </a:t>
            </a:r>
            <a:r>
              <a:rPr kumimoji="1" lang="en-US" altLang="ko-KR" sz="1400" dirty="0" smtClean="0">
                <a:solidFill>
                  <a:srgbClr val="000000"/>
                </a:solidFill>
                <a:latin typeface="맑은 고딕" pitchFamily="50" charset="-127"/>
              </a:rPr>
              <a:t>Properties </a:t>
            </a:r>
            <a:r>
              <a:rPr kumimoji="1" lang="ko-KR" altLang="en-US" sz="1400" dirty="0" smtClean="0">
                <a:solidFill>
                  <a:srgbClr val="000000"/>
                </a:solidFill>
                <a:latin typeface="맑은 고딕" pitchFamily="50" charset="-127"/>
              </a:rPr>
              <a:t>파일로 저장되고</a:t>
            </a:r>
            <a:r>
              <a:rPr kumimoji="1" lang="en-US" altLang="ko-KR" sz="1400" dirty="0" smtClean="0">
                <a:solidFill>
                  <a:srgbClr val="000000"/>
                </a:solidFill>
                <a:latin typeface="맑은 고딕" pitchFamily="50" charset="-127"/>
              </a:rPr>
              <a:t>, </a:t>
            </a:r>
            <a:r>
              <a:rPr kumimoji="1" lang="ko-KR" altLang="en-US" sz="1400" dirty="0" smtClean="0">
                <a:solidFill>
                  <a:srgbClr val="000000"/>
                </a:solidFill>
                <a:latin typeface="맑은 고딕" pitchFamily="50" charset="-127"/>
              </a:rPr>
              <a:t>사용자화면에 다국어 서비스 됩니다</a:t>
            </a:r>
            <a:r>
              <a:rPr kumimoji="1" lang="en-US" altLang="ko-KR" sz="1400" dirty="0" smtClean="0">
                <a:solidFill>
                  <a:srgbClr val="000000"/>
                </a:solidFill>
                <a:latin typeface="맑은 고딕" pitchFamily="50" charset="-127"/>
              </a:rPr>
              <a:t>.</a:t>
            </a:r>
            <a:endParaRPr kumimoji="1" lang="ko-KR" altLang="en-US" sz="1400" dirty="0" smtClean="0">
              <a:solidFill>
                <a:srgbClr val="000000"/>
              </a:solidFill>
              <a:latin typeface="맑은 고딕" pitchFamily="50" charset="-127"/>
            </a:endParaRPr>
          </a:p>
        </p:txBody>
      </p:sp>
      <p:sp>
        <p:nvSpPr>
          <p:cNvPr id="104" name="Rectangle 93"/>
          <p:cNvSpPr>
            <a:spLocks noChangeArrowheads="1"/>
          </p:cNvSpPr>
          <p:nvPr/>
        </p:nvSpPr>
        <p:spPr bwMode="auto">
          <a:xfrm>
            <a:off x="344488" y="1698079"/>
            <a:ext cx="9217025" cy="4467771"/>
          </a:xfrm>
          <a:prstGeom prst="rect">
            <a:avLst/>
          </a:prstGeom>
          <a:noFill/>
          <a:ln w="9525" algn="ctr">
            <a:solidFill>
              <a:srgbClr val="588D9A"/>
            </a:solidFill>
            <a:miter lim="800000"/>
            <a:headEnd/>
            <a:tailEnd/>
          </a:ln>
          <a:effectLst>
            <a:outerShdw dist="35921" dir="2700000" algn="ctr" rotWithShape="0">
              <a:srgbClr val="CCECFF"/>
            </a:outerShdw>
          </a:effectLst>
        </p:spPr>
        <p:txBody>
          <a:bodyPr lIns="53976" tIns="35985" rIns="0" bIns="45702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b="0" kern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5" name="Rectangle 128"/>
          <p:cNvSpPr>
            <a:spLocks noChangeArrowheads="1"/>
          </p:cNvSpPr>
          <p:nvPr/>
        </p:nvSpPr>
        <p:spPr bwMode="auto">
          <a:xfrm>
            <a:off x="5102805" y="1855260"/>
            <a:ext cx="4304070" cy="268321"/>
          </a:xfrm>
          <a:prstGeom prst="rect">
            <a:avLst/>
          </a:prstGeom>
          <a:blipFill dpi="0" rotWithShape="1">
            <a:blip r:embed="rId2" cstate="print">
              <a:lum bright="12000"/>
            </a:blip>
            <a:srcRect/>
            <a:stretch>
              <a:fillRect/>
            </a:stretch>
          </a:blipFill>
          <a:ln w="9525" algn="ctr">
            <a:solidFill>
              <a:srgbClr val="3991BD"/>
            </a:solidFill>
            <a:miter lim="800000"/>
            <a:headEnd/>
            <a:tailEnd/>
          </a:ln>
          <a:effectLst>
            <a:outerShdw dist="35921" dir="2700000" algn="ctr" rotWithShape="0">
              <a:srgbClr val="CCECFF"/>
            </a:outerShdw>
          </a:effectLst>
        </p:spPr>
        <p:txBody>
          <a:bodyPr wrap="none" anchor="ctr"/>
          <a:lstStyle/>
          <a:p>
            <a:pPr algn="ctr" defTabSz="839788">
              <a:lnSpc>
                <a:spcPct val="90000"/>
              </a:lnSpc>
              <a:defRPr/>
            </a:pPr>
            <a:r>
              <a:rPr lang="ko-KR" altLang="en-US" sz="1100" dirty="0">
                <a:latin typeface="맑은 고딕" pitchFamily="50" charset="-127"/>
                <a:ea typeface="맑은 고딕" pitchFamily="50" charset="-127"/>
              </a:rPr>
              <a:t>사용자 화면에 다국어 적용 </a:t>
            </a:r>
          </a:p>
        </p:txBody>
      </p:sp>
      <p:sp>
        <p:nvSpPr>
          <p:cNvPr id="106" name="Rectangle 128"/>
          <p:cNvSpPr>
            <a:spLocks noChangeArrowheads="1"/>
          </p:cNvSpPr>
          <p:nvPr/>
        </p:nvSpPr>
        <p:spPr bwMode="auto">
          <a:xfrm>
            <a:off x="508790" y="1855260"/>
            <a:ext cx="4304070" cy="268321"/>
          </a:xfrm>
          <a:prstGeom prst="rect">
            <a:avLst/>
          </a:prstGeom>
          <a:blipFill dpi="0" rotWithShape="1">
            <a:blip r:embed="rId2" cstate="print">
              <a:lum bright="12000"/>
            </a:blip>
            <a:srcRect/>
            <a:stretch>
              <a:fillRect/>
            </a:stretch>
          </a:blipFill>
          <a:ln w="9525" algn="ctr">
            <a:solidFill>
              <a:srgbClr val="3991BD"/>
            </a:solidFill>
            <a:miter lim="800000"/>
            <a:headEnd/>
            <a:tailEnd/>
          </a:ln>
          <a:effectLst>
            <a:outerShdw dist="35921" dir="2700000" algn="ctr" rotWithShape="0">
              <a:srgbClr val="CCECFF"/>
            </a:outerShdw>
          </a:effectLst>
        </p:spPr>
        <p:txBody>
          <a:bodyPr wrap="none" anchor="ctr"/>
          <a:lstStyle/>
          <a:p>
            <a:pPr algn="ctr" defTabSz="839788">
              <a:lnSpc>
                <a:spcPct val="90000"/>
              </a:lnSpc>
              <a:defRPr/>
            </a:pPr>
            <a:r>
              <a:rPr lang="ko-KR" altLang="en-US" sz="1100" dirty="0">
                <a:latin typeface="맑은 고딕" pitchFamily="50" charset="-127"/>
                <a:ea typeface="맑은 고딕" pitchFamily="50" charset="-127"/>
              </a:rPr>
              <a:t>다국어 </a:t>
            </a:r>
            <a:r>
              <a:rPr lang="en-US" altLang="ko-KR" sz="1100" dirty="0">
                <a:latin typeface="맑은 고딕" pitchFamily="50" charset="-127"/>
                <a:ea typeface="맑은 고딕" pitchFamily="50" charset="-127"/>
              </a:rPr>
              <a:t>Label/Message</a:t>
            </a:r>
            <a:r>
              <a:rPr lang="ko-KR" altLang="en-US" sz="1100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100" dirty="0">
                <a:latin typeface="맑은 고딕" pitchFamily="50" charset="-127"/>
                <a:ea typeface="맑은 고딕" pitchFamily="50" charset="-127"/>
              </a:rPr>
              <a:t>properties File </a:t>
            </a:r>
            <a:r>
              <a:rPr lang="ko-KR" altLang="en-US" sz="1100" dirty="0">
                <a:latin typeface="맑은 고딕" pitchFamily="50" charset="-127"/>
                <a:ea typeface="맑은 고딕" pitchFamily="50" charset="-127"/>
              </a:rPr>
              <a:t>생성</a:t>
            </a:r>
          </a:p>
        </p:txBody>
      </p:sp>
      <p:sp>
        <p:nvSpPr>
          <p:cNvPr id="107" name="Rectangle 93"/>
          <p:cNvSpPr>
            <a:spLocks noChangeArrowheads="1"/>
          </p:cNvSpPr>
          <p:nvPr/>
        </p:nvSpPr>
        <p:spPr bwMode="auto">
          <a:xfrm>
            <a:off x="5102805" y="2118817"/>
            <a:ext cx="4307292" cy="3669161"/>
          </a:xfrm>
          <a:prstGeom prst="rect">
            <a:avLst/>
          </a:prstGeom>
          <a:solidFill>
            <a:schemeClr val="bg1"/>
          </a:solidFill>
          <a:ln w="9525" algn="ctr">
            <a:solidFill>
              <a:srgbClr val="588D9A"/>
            </a:solidFill>
            <a:miter lim="800000"/>
            <a:headEnd/>
            <a:tailEnd/>
          </a:ln>
          <a:effectLst>
            <a:outerShdw dist="35921" dir="2700000" algn="ctr" rotWithShape="0">
              <a:srgbClr val="CCECFF"/>
            </a:outerShdw>
          </a:effectLst>
        </p:spPr>
        <p:txBody>
          <a:bodyPr lIns="53976" tIns="35985" rIns="0" bIns="45702"/>
          <a:lstStyle/>
          <a:p>
            <a:pPr algn="ctr">
              <a:defRPr/>
            </a:pPr>
            <a:endParaRPr lang="ko-KR" altLang="en-US" sz="1100" b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8" name="Rectangle 93"/>
          <p:cNvSpPr>
            <a:spLocks noChangeArrowheads="1"/>
          </p:cNvSpPr>
          <p:nvPr/>
        </p:nvSpPr>
        <p:spPr bwMode="auto">
          <a:xfrm>
            <a:off x="508790" y="2128344"/>
            <a:ext cx="4304070" cy="3669161"/>
          </a:xfrm>
          <a:prstGeom prst="rect">
            <a:avLst/>
          </a:prstGeom>
          <a:solidFill>
            <a:schemeClr val="bg1"/>
          </a:solidFill>
          <a:ln w="9525" algn="ctr">
            <a:solidFill>
              <a:srgbClr val="588D9A"/>
            </a:solidFill>
            <a:miter lim="800000"/>
            <a:headEnd/>
            <a:tailEnd/>
          </a:ln>
          <a:effectLst>
            <a:outerShdw dist="35921" dir="2700000" algn="ctr" rotWithShape="0">
              <a:srgbClr val="CCECFF"/>
            </a:outerShdw>
          </a:effectLst>
        </p:spPr>
        <p:txBody>
          <a:bodyPr lIns="53976" tIns="35985" rIns="0" bIns="45702"/>
          <a:lstStyle/>
          <a:p>
            <a:pPr algn="ctr">
              <a:defRPr/>
            </a:pPr>
            <a:endParaRPr lang="ko-KR" altLang="en-US" sz="1100" b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9" name="Text Box 269"/>
          <p:cNvSpPr txBox="1">
            <a:spLocks noChangeArrowheads="1"/>
          </p:cNvSpPr>
          <p:nvPr/>
        </p:nvSpPr>
        <p:spPr bwMode="auto">
          <a:xfrm>
            <a:off x="2058384" y="2222018"/>
            <a:ext cx="1232266" cy="2143387"/>
          </a:xfrm>
          <a:prstGeom prst="rect">
            <a:avLst/>
          </a:prstGeom>
          <a:solidFill>
            <a:schemeClr val="bg1"/>
          </a:solidFill>
          <a:ln w="9525" algn="ctr">
            <a:solidFill>
              <a:srgbClr val="588D9A"/>
            </a:solidFill>
            <a:miter lim="800000"/>
            <a:headEnd/>
            <a:tailEnd/>
          </a:ln>
          <a:effectLst>
            <a:outerShdw dist="35921" dir="2700000" algn="ctr" rotWithShape="0">
              <a:srgbClr val="CCECFF"/>
            </a:outerShdw>
          </a:effectLst>
        </p:spPr>
        <p:txBody>
          <a:bodyPr lIns="53976" tIns="35985" rIns="0" bIns="45702"/>
          <a:lstStyle/>
          <a:p>
            <a:pPr marL="104775" indent="-104775" algn="ctr" defTabSz="1076325">
              <a:buClr>
                <a:srgbClr val="808080"/>
              </a:buClr>
              <a:buSzPct val="90000"/>
              <a:defRPr/>
            </a:pPr>
            <a:endParaRPr lang="ko-KR" altLang="en-US" sz="1000" b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10" name="AutoShape 216"/>
          <p:cNvCxnSpPr>
            <a:cxnSpLocks noChangeShapeType="1"/>
          </p:cNvCxnSpPr>
          <p:nvPr/>
        </p:nvCxnSpPr>
        <p:spPr bwMode="auto">
          <a:xfrm flipV="1">
            <a:off x="2657604" y="3122240"/>
            <a:ext cx="0" cy="431853"/>
          </a:xfrm>
          <a:prstGeom prst="straightConnector1">
            <a:avLst/>
          </a:prstGeom>
          <a:noFill/>
          <a:ln w="19050">
            <a:solidFill>
              <a:srgbClr val="808080"/>
            </a:solidFill>
            <a:round/>
            <a:headEnd type="triangle" w="med" len="sm"/>
            <a:tailEnd type="none" w="med" len="sm"/>
          </a:ln>
        </p:spPr>
      </p:cxnSp>
      <p:grpSp>
        <p:nvGrpSpPr>
          <p:cNvPr id="111" name="그룹 173"/>
          <p:cNvGrpSpPr>
            <a:grpSpLocks/>
          </p:cNvGrpSpPr>
          <p:nvPr/>
        </p:nvGrpSpPr>
        <p:grpSpPr bwMode="auto">
          <a:xfrm>
            <a:off x="2174362" y="3558856"/>
            <a:ext cx="1005142" cy="663656"/>
            <a:chOff x="2190752" y="4051299"/>
            <a:chExt cx="990585" cy="663585"/>
          </a:xfrm>
        </p:grpSpPr>
        <p:sp>
          <p:nvSpPr>
            <p:cNvPr id="112" name="AutoShape 37"/>
            <p:cNvSpPr>
              <a:spLocks noChangeArrowheads="1"/>
            </p:cNvSpPr>
            <p:nvPr/>
          </p:nvSpPr>
          <p:spPr bwMode="auto">
            <a:xfrm>
              <a:off x="2190752" y="4051299"/>
              <a:ext cx="990585" cy="234957"/>
            </a:xfrm>
            <a:prstGeom prst="roundRect">
              <a:avLst>
                <a:gd name="adj" fmla="val 16667"/>
              </a:avLst>
            </a:prstGeom>
            <a:solidFill>
              <a:srgbClr val="CCFF66"/>
            </a:solidFill>
            <a:ln w="9525" algn="ctr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latinLnBrk="0"/>
              <a:r>
                <a:rPr lang="en-US" altLang="ko-KR" sz="1000" b="0" dirty="0" err="1">
                  <a:latin typeface="맑은 고딕" pitchFamily="50" charset="-127"/>
                  <a:ea typeface="맑은 고딕" pitchFamily="50" charset="-127"/>
                </a:rPr>
                <a:t>message_en</a:t>
              </a:r>
              <a:endParaRPr lang="en-US" altLang="ko-KR" sz="1000" b="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13" name="AutoShape 37"/>
            <p:cNvSpPr>
              <a:spLocks noChangeArrowheads="1"/>
            </p:cNvSpPr>
            <p:nvPr/>
          </p:nvSpPr>
          <p:spPr bwMode="auto">
            <a:xfrm>
              <a:off x="2190752" y="4264026"/>
              <a:ext cx="990585" cy="234957"/>
            </a:xfrm>
            <a:prstGeom prst="roundRect">
              <a:avLst>
                <a:gd name="adj" fmla="val 16667"/>
              </a:avLst>
            </a:prstGeom>
            <a:solidFill>
              <a:srgbClr val="CCFF66"/>
            </a:solidFill>
            <a:ln w="9525" algn="ctr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latinLnBrk="0"/>
              <a:r>
                <a:rPr lang="en-US" altLang="ko-KR" sz="1000" b="0">
                  <a:latin typeface="맑은 고딕" pitchFamily="50" charset="-127"/>
                  <a:ea typeface="맑은 고딕" pitchFamily="50" charset="-127"/>
                </a:rPr>
                <a:t>message_ko</a:t>
              </a:r>
            </a:p>
          </p:txBody>
        </p:sp>
        <p:sp>
          <p:nvSpPr>
            <p:cNvPr id="114" name="AutoShape 37"/>
            <p:cNvSpPr>
              <a:spLocks noChangeArrowheads="1"/>
            </p:cNvSpPr>
            <p:nvPr/>
          </p:nvSpPr>
          <p:spPr bwMode="auto">
            <a:xfrm>
              <a:off x="2190752" y="4479926"/>
              <a:ext cx="990585" cy="234958"/>
            </a:xfrm>
            <a:prstGeom prst="roundRect">
              <a:avLst>
                <a:gd name="adj" fmla="val 16667"/>
              </a:avLst>
            </a:prstGeom>
            <a:solidFill>
              <a:srgbClr val="CCFF66"/>
            </a:solidFill>
            <a:ln w="9525" algn="ctr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latinLnBrk="0"/>
              <a:r>
                <a:rPr lang="en-US" altLang="ko-KR" sz="1000" b="0">
                  <a:latin typeface="맑은 고딕" pitchFamily="50" charset="-127"/>
                  <a:ea typeface="맑은 고딕" pitchFamily="50" charset="-127"/>
                </a:rPr>
                <a:t>message_ch</a:t>
              </a:r>
            </a:p>
          </p:txBody>
        </p:sp>
      </p:grpSp>
      <p:sp>
        <p:nvSpPr>
          <p:cNvPr id="115" name="AutoShape 79"/>
          <p:cNvSpPr>
            <a:spLocks noChangeArrowheads="1"/>
          </p:cNvSpPr>
          <p:nvPr/>
        </p:nvSpPr>
        <p:spPr bwMode="auto">
          <a:xfrm>
            <a:off x="2238794" y="2607827"/>
            <a:ext cx="844062" cy="511237"/>
          </a:xfrm>
          <a:prstGeom prst="roundRect">
            <a:avLst>
              <a:gd name="adj" fmla="val 16667"/>
            </a:avLst>
          </a:prstGeom>
          <a:solidFill>
            <a:srgbClr val="CDE9EB"/>
          </a:solidFill>
          <a:ln w="9525" algn="ctr">
            <a:solidFill>
              <a:schemeClr val="hlink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 latinLnBrk="0">
              <a:defRPr/>
            </a:pPr>
            <a:r>
              <a:rPr lang="en-US" altLang="ko-KR" sz="1000" b="0">
                <a:latin typeface="맑은 고딕" pitchFamily="50" charset="-127"/>
                <a:ea typeface="맑은 고딕" pitchFamily="50" charset="-127"/>
              </a:rPr>
              <a:t>properties</a:t>
            </a:r>
          </a:p>
          <a:p>
            <a:pPr algn="ctr" latinLnBrk="0">
              <a:defRPr/>
            </a:pPr>
            <a:r>
              <a:rPr lang="en-US" altLang="ko-KR" sz="1000" b="0">
                <a:latin typeface="맑은 고딕" pitchFamily="50" charset="-127"/>
                <a:ea typeface="맑은 고딕" pitchFamily="50" charset="-127"/>
              </a:rPr>
              <a:t>Generator</a:t>
            </a:r>
            <a:endParaRPr lang="ko-KR" altLang="en-US" sz="1000" b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0" name="Text Box 236"/>
          <p:cNvSpPr txBox="1">
            <a:spLocks noChangeArrowheads="1"/>
          </p:cNvSpPr>
          <p:nvPr/>
        </p:nvSpPr>
        <p:spPr bwMode="auto">
          <a:xfrm>
            <a:off x="2061606" y="2247421"/>
            <a:ext cx="523512" cy="246092"/>
          </a:xfrm>
          <a:prstGeom prst="rect">
            <a:avLst/>
          </a:prstGeom>
          <a:noFill/>
          <a:ln w="19050" algn="ctr">
            <a:noFill/>
            <a:miter lim="800000"/>
            <a:headEnd type="none" w="med" len="sm"/>
            <a:tailEnd type="none" w="med" len="sm"/>
          </a:ln>
        </p:spPr>
        <p:txBody>
          <a:bodyPr wrap="non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Sever</a:t>
            </a:r>
          </a:p>
        </p:txBody>
      </p:sp>
      <p:cxnSp>
        <p:nvCxnSpPr>
          <p:cNvPr id="121" name="AutoShape 237"/>
          <p:cNvCxnSpPr>
            <a:cxnSpLocks noChangeShapeType="1"/>
          </p:cNvCxnSpPr>
          <p:nvPr/>
        </p:nvCxnSpPr>
        <p:spPr bwMode="auto">
          <a:xfrm>
            <a:off x="1425339" y="2793588"/>
            <a:ext cx="639489" cy="0"/>
          </a:xfrm>
          <a:prstGeom prst="straightConnector1">
            <a:avLst/>
          </a:prstGeom>
          <a:noFill/>
          <a:ln w="19050">
            <a:solidFill>
              <a:srgbClr val="808080"/>
            </a:solidFill>
            <a:round/>
            <a:headEnd type="none" w="med" len="sm"/>
            <a:tailEnd type="triangle" w="med" len="sm"/>
          </a:ln>
        </p:spPr>
      </p:cxnSp>
      <p:grpSp>
        <p:nvGrpSpPr>
          <p:cNvPr id="122" name="Group 202"/>
          <p:cNvGrpSpPr>
            <a:grpSpLocks/>
          </p:cNvGrpSpPr>
          <p:nvPr/>
        </p:nvGrpSpPr>
        <p:grpSpPr bwMode="auto">
          <a:xfrm>
            <a:off x="565169" y="2222018"/>
            <a:ext cx="913326" cy="1101860"/>
            <a:chOff x="3279" y="1679"/>
            <a:chExt cx="567" cy="694"/>
          </a:xfrm>
        </p:grpSpPr>
        <p:sp>
          <p:nvSpPr>
            <p:cNvPr id="123" name="Rectangle 11" descr="밝은 상향 대각선"/>
            <p:cNvSpPr>
              <a:spLocks noChangeArrowheads="1"/>
            </p:cNvSpPr>
            <p:nvPr/>
          </p:nvSpPr>
          <p:spPr bwMode="auto">
            <a:xfrm>
              <a:off x="3279" y="1693"/>
              <a:ext cx="567" cy="680"/>
            </a:xfrm>
            <a:prstGeom prst="rect">
              <a:avLst/>
            </a:prstGeom>
            <a:pattFill prst="ltUpDiag">
              <a:fgClr>
                <a:srgbClr val="DDDDDD"/>
              </a:fgClr>
              <a:bgClr>
                <a:schemeClr val="bg1"/>
              </a:bgClr>
            </a:pattFill>
            <a:ln w="12700" algn="ctr">
              <a:pattFill prst="pct5">
                <a:fgClr>
                  <a:srgbClr val="6C7072"/>
                </a:fgClr>
                <a:bgClr>
                  <a:srgbClr val="A0AFBC"/>
                </a:bgClr>
              </a:patt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ko-KR" altLang="en-US" sz="1000" b="0">
                <a:latin typeface="맑은 고딕" pitchFamily="50" charset="-127"/>
                <a:ea typeface="맑은 고딕" pitchFamily="50" charset="-127"/>
              </a:endParaRPr>
            </a:p>
          </p:txBody>
        </p:sp>
        <p:grpSp>
          <p:nvGrpSpPr>
            <p:cNvPr id="124" name="Group 25"/>
            <p:cNvGrpSpPr>
              <a:grpSpLocks noChangeAspect="1"/>
            </p:cNvGrpSpPr>
            <p:nvPr/>
          </p:nvGrpSpPr>
          <p:grpSpPr bwMode="auto">
            <a:xfrm>
              <a:off x="3342" y="1924"/>
              <a:ext cx="453" cy="371"/>
              <a:chOff x="643" y="1684"/>
              <a:chExt cx="619" cy="524"/>
            </a:xfrm>
          </p:grpSpPr>
          <p:pic>
            <p:nvPicPr>
              <p:cNvPr id="126" name="Picture 26" descr="워크스테이션2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748" y="1684"/>
                <a:ext cx="514" cy="5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27" name="Picture 27" descr="사용자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>
                <a:off x="643" y="1900"/>
                <a:ext cx="280" cy="30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sp>
          <p:nvSpPr>
            <p:cNvPr id="125" name="Rectangle 97" descr="o1"/>
            <p:cNvSpPr>
              <a:spLocks noChangeArrowheads="1"/>
            </p:cNvSpPr>
            <p:nvPr/>
          </p:nvSpPr>
          <p:spPr bwMode="auto">
            <a:xfrm>
              <a:off x="3279" y="1679"/>
              <a:ext cx="567" cy="179"/>
            </a:xfrm>
            <a:prstGeom prst="rect">
              <a:avLst/>
            </a:prstGeom>
            <a:blipFill dpi="0" rotWithShape="0">
              <a:blip r:embed="rId5" cstate="print">
                <a:lum bright="-6000"/>
              </a:blip>
              <a:srcRect/>
              <a:stretch>
                <a:fillRect/>
              </a:stretch>
            </a:blipFill>
            <a:ln w="6350" algn="ctr">
              <a:solidFill>
                <a:srgbClr val="C0C0C0"/>
              </a:solidFill>
              <a:miter lim="800000"/>
              <a:headEnd/>
              <a:tailEnd/>
            </a:ln>
            <a:effectLst>
              <a:outerShdw dist="17961" dir="2700000" algn="ctr" rotWithShape="0">
                <a:srgbClr val="C0C0C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algn="ctr" latinLnBrk="0">
                <a:lnSpc>
                  <a:spcPct val="110000"/>
                </a:lnSpc>
                <a:defRPr/>
              </a:pPr>
              <a:r>
                <a:rPr lang="ko-KR" altLang="en-US" sz="1000" b="0">
                  <a:latin typeface="맑은 고딕" pitchFamily="50" charset="-127"/>
                  <a:ea typeface="맑은 고딕" pitchFamily="50" charset="-127"/>
                </a:rPr>
                <a:t>시스템 관리자</a:t>
              </a:r>
            </a:p>
          </p:txBody>
        </p:sp>
      </p:grpSp>
      <p:grpSp>
        <p:nvGrpSpPr>
          <p:cNvPr id="128" name="Group 220"/>
          <p:cNvGrpSpPr>
            <a:grpSpLocks/>
          </p:cNvGrpSpPr>
          <p:nvPr/>
        </p:nvGrpSpPr>
        <p:grpSpPr bwMode="auto">
          <a:xfrm>
            <a:off x="1613802" y="2625292"/>
            <a:ext cx="286723" cy="306424"/>
            <a:chOff x="2053" y="1743"/>
            <a:chExt cx="178" cy="193"/>
          </a:xfrm>
        </p:grpSpPr>
        <p:pic>
          <p:nvPicPr>
            <p:cNvPr id="129" name="Picture 221" descr="젤리원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2053" y="1758"/>
              <a:ext cx="178" cy="17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30" name="Text Box 222"/>
            <p:cNvSpPr txBox="1">
              <a:spLocks noChangeArrowheads="1"/>
            </p:cNvSpPr>
            <p:nvPr/>
          </p:nvSpPr>
          <p:spPr bwMode="auto">
            <a:xfrm>
              <a:off x="2118" y="1743"/>
              <a:ext cx="44" cy="18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lIns="0" tIns="45715" rIns="0" bIns="45715">
              <a:spAutoFit/>
            </a:bodyPr>
            <a:lstStyle/>
            <a:p>
              <a:pPr algn="ctr" latinLnBrk="0">
                <a:lnSpc>
                  <a:spcPct val="130000"/>
                </a:lnSpc>
              </a:pPr>
              <a:r>
                <a:rPr lang="en-US" altLang="ko-KR" sz="1000" b="0" i="1">
                  <a:latin typeface="맑은 고딕" pitchFamily="50" charset="-127"/>
                  <a:ea typeface="맑은 고딕" pitchFamily="50" charset="-127"/>
                </a:rPr>
                <a:t>1</a:t>
              </a:r>
            </a:p>
          </p:txBody>
        </p:sp>
      </p:grpSp>
      <p:grpSp>
        <p:nvGrpSpPr>
          <p:cNvPr id="131" name="Group 241"/>
          <p:cNvGrpSpPr>
            <a:grpSpLocks/>
          </p:cNvGrpSpPr>
          <p:nvPr/>
        </p:nvGrpSpPr>
        <p:grpSpPr bwMode="auto">
          <a:xfrm>
            <a:off x="2493302" y="3169871"/>
            <a:ext cx="286723" cy="306425"/>
            <a:chOff x="2053" y="1743"/>
            <a:chExt cx="178" cy="193"/>
          </a:xfrm>
        </p:grpSpPr>
        <p:pic>
          <p:nvPicPr>
            <p:cNvPr id="132" name="Picture 242" descr="젤리원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2053" y="1758"/>
              <a:ext cx="178" cy="17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33" name="Text Box 243"/>
            <p:cNvSpPr txBox="1">
              <a:spLocks noChangeArrowheads="1"/>
            </p:cNvSpPr>
            <p:nvPr/>
          </p:nvSpPr>
          <p:spPr bwMode="auto">
            <a:xfrm>
              <a:off x="2118" y="1743"/>
              <a:ext cx="44" cy="17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lIns="0" tIns="45715" rIns="0" bIns="45715">
              <a:spAutoFit/>
            </a:bodyPr>
            <a:lstStyle/>
            <a:p>
              <a:pPr algn="ctr" latinLnBrk="0">
                <a:lnSpc>
                  <a:spcPct val="130000"/>
                </a:lnSpc>
              </a:pPr>
              <a:r>
                <a:rPr lang="en-US" altLang="ko-KR" sz="1000" b="0" i="1" dirty="0" smtClean="0">
                  <a:latin typeface="맑은 고딕" pitchFamily="50" charset="-127"/>
                  <a:ea typeface="맑은 고딕" pitchFamily="50" charset="-127"/>
                </a:rPr>
                <a:t>3</a:t>
              </a:r>
              <a:endParaRPr lang="en-US" altLang="ko-KR" sz="1000" b="0" i="1" dirty="0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cxnSp>
        <p:nvCxnSpPr>
          <p:cNvPr id="134" name="AutoShape 237"/>
          <p:cNvCxnSpPr>
            <a:cxnSpLocks noChangeShapeType="1"/>
          </p:cNvCxnSpPr>
          <p:nvPr/>
        </p:nvCxnSpPr>
        <p:spPr bwMode="auto">
          <a:xfrm flipH="1">
            <a:off x="3126348" y="3009050"/>
            <a:ext cx="876278" cy="1588"/>
          </a:xfrm>
          <a:prstGeom prst="straightConnector1">
            <a:avLst/>
          </a:prstGeom>
          <a:noFill/>
          <a:ln w="19050">
            <a:solidFill>
              <a:srgbClr val="808080"/>
            </a:solidFill>
            <a:round/>
            <a:headEnd type="triangle" w="med" len="sm"/>
            <a:tailEnd type="none" w="med" len="sm"/>
          </a:ln>
        </p:spPr>
      </p:cxnSp>
      <p:grpSp>
        <p:nvGrpSpPr>
          <p:cNvPr id="139" name="Group 238"/>
          <p:cNvGrpSpPr>
            <a:grpSpLocks/>
          </p:cNvGrpSpPr>
          <p:nvPr/>
        </p:nvGrpSpPr>
        <p:grpSpPr bwMode="auto">
          <a:xfrm>
            <a:off x="3464617" y="2840754"/>
            <a:ext cx="286723" cy="306425"/>
            <a:chOff x="2053" y="1743"/>
            <a:chExt cx="178" cy="193"/>
          </a:xfrm>
        </p:grpSpPr>
        <p:pic>
          <p:nvPicPr>
            <p:cNvPr id="140" name="Picture 239" descr="젤리원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2053" y="1758"/>
              <a:ext cx="178" cy="17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41" name="Text Box 240"/>
            <p:cNvSpPr txBox="1">
              <a:spLocks noChangeArrowheads="1"/>
            </p:cNvSpPr>
            <p:nvPr/>
          </p:nvSpPr>
          <p:spPr bwMode="auto">
            <a:xfrm>
              <a:off x="2118" y="1743"/>
              <a:ext cx="44" cy="17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lIns="0" tIns="45715" rIns="0" bIns="45715">
              <a:spAutoFit/>
            </a:bodyPr>
            <a:lstStyle/>
            <a:p>
              <a:pPr algn="ctr" latinLnBrk="0">
                <a:lnSpc>
                  <a:spcPct val="130000"/>
                </a:lnSpc>
              </a:pPr>
              <a:r>
                <a:rPr lang="en-US" altLang="ko-KR" sz="1000" b="0" i="1" dirty="0" smtClean="0">
                  <a:latin typeface="맑은 고딕" pitchFamily="50" charset="-127"/>
                  <a:ea typeface="맑은 고딕" pitchFamily="50" charset="-127"/>
                </a:rPr>
                <a:t>4</a:t>
              </a:r>
              <a:endParaRPr lang="en-US" altLang="ko-KR" sz="1000" b="0" i="1" dirty="0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142" name="Text Box 269"/>
          <p:cNvSpPr txBox="1">
            <a:spLocks noChangeArrowheads="1"/>
          </p:cNvSpPr>
          <p:nvPr/>
        </p:nvSpPr>
        <p:spPr bwMode="auto">
          <a:xfrm>
            <a:off x="6480044" y="2222018"/>
            <a:ext cx="1232265" cy="1857602"/>
          </a:xfrm>
          <a:prstGeom prst="rect">
            <a:avLst/>
          </a:prstGeom>
          <a:solidFill>
            <a:schemeClr val="bg1"/>
          </a:solidFill>
          <a:ln w="9525" algn="ctr">
            <a:solidFill>
              <a:srgbClr val="588D9A"/>
            </a:solidFill>
            <a:miter lim="800000"/>
            <a:headEnd/>
            <a:tailEnd/>
          </a:ln>
          <a:effectLst>
            <a:outerShdw dist="35921" dir="2700000" algn="ctr" rotWithShape="0">
              <a:srgbClr val="CCECFF"/>
            </a:outerShdw>
          </a:effectLst>
        </p:spPr>
        <p:txBody>
          <a:bodyPr lIns="53976" tIns="35985" rIns="0" bIns="45702"/>
          <a:lstStyle/>
          <a:p>
            <a:pPr marL="104775" indent="-104775" algn="ctr" defTabSz="1076325">
              <a:buClr>
                <a:srgbClr val="808080"/>
              </a:buClr>
              <a:buSzPct val="90000"/>
              <a:defRPr/>
            </a:pPr>
            <a:endParaRPr lang="ko-KR" altLang="en-US" sz="1000" b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3" name="Text Box 236"/>
          <p:cNvSpPr txBox="1">
            <a:spLocks noChangeArrowheads="1"/>
          </p:cNvSpPr>
          <p:nvPr/>
        </p:nvSpPr>
        <p:spPr bwMode="auto">
          <a:xfrm>
            <a:off x="6480044" y="2250597"/>
            <a:ext cx="349544" cy="246092"/>
          </a:xfrm>
          <a:prstGeom prst="rect">
            <a:avLst/>
          </a:prstGeom>
          <a:noFill/>
          <a:ln w="19050" algn="ctr">
            <a:noFill/>
            <a:miter lim="800000"/>
            <a:headEnd type="none" w="med" len="sm"/>
            <a:tailEnd type="none" w="med" len="sm"/>
          </a:ln>
        </p:spPr>
        <p:txBody>
          <a:bodyPr wrap="non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PC</a:t>
            </a:r>
          </a:p>
        </p:txBody>
      </p:sp>
      <p:cxnSp>
        <p:nvCxnSpPr>
          <p:cNvPr id="144" name="AutoShape 125"/>
          <p:cNvCxnSpPr>
            <a:cxnSpLocks noChangeShapeType="1"/>
          </p:cNvCxnSpPr>
          <p:nvPr/>
        </p:nvCxnSpPr>
        <p:spPr bwMode="auto">
          <a:xfrm>
            <a:off x="5929149" y="2680861"/>
            <a:ext cx="731305" cy="0"/>
          </a:xfrm>
          <a:prstGeom prst="straightConnector1">
            <a:avLst/>
          </a:prstGeom>
          <a:noFill/>
          <a:ln w="19050">
            <a:solidFill>
              <a:srgbClr val="808080"/>
            </a:solidFill>
            <a:round/>
            <a:headEnd type="none" w="med" len="sm"/>
            <a:tailEnd type="triangle" w="med" len="sm"/>
          </a:ln>
        </p:spPr>
      </p:cxnSp>
      <p:sp>
        <p:nvSpPr>
          <p:cNvPr id="145" name="Text Box 269"/>
          <p:cNvSpPr txBox="1">
            <a:spLocks noChangeArrowheads="1"/>
          </p:cNvSpPr>
          <p:nvPr/>
        </p:nvSpPr>
        <p:spPr bwMode="auto">
          <a:xfrm>
            <a:off x="8074741" y="2222018"/>
            <a:ext cx="1232265" cy="1833786"/>
          </a:xfrm>
          <a:prstGeom prst="rect">
            <a:avLst/>
          </a:prstGeom>
          <a:solidFill>
            <a:schemeClr val="bg1"/>
          </a:solidFill>
          <a:ln w="9525" algn="ctr">
            <a:solidFill>
              <a:srgbClr val="588D9A"/>
            </a:solidFill>
            <a:miter lim="800000"/>
            <a:headEnd/>
            <a:tailEnd/>
          </a:ln>
          <a:effectLst>
            <a:outerShdw dist="35921" dir="2700000" algn="ctr" rotWithShape="0">
              <a:srgbClr val="CCECFF"/>
            </a:outerShdw>
          </a:effectLst>
        </p:spPr>
        <p:txBody>
          <a:bodyPr lIns="53976" tIns="35985" rIns="0" bIns="45702"/>
          <a:lstStyle/>
          <a:p>
            <a:pPr marL="104775" indent="-104775" algn="ctr" defTabSz="1076325">
              <a:buClr>
                <a:srgbClr val="808080"/>
              </a:buClr>
              <a:buSzPct val="90000"/>
              <a:defRPr/>
            </a:pPr>
            <a:endParaRPr lang="ko-KR" altLang="en-US" sz="1000" b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6" name="Text Box 236"/>
          <p:cNvSpPr txBox="1">
            <a:spLocks noChangeArrowheads="1"/>
          </p:cNvSpPr>
          <p:nvPr/>
        </p:nvSpPr>
        <p:spPr bwMode="auto">
          <a:xfrm>
            <a:off x="8077962" y="2247421"/>
            <a:ext cx="523511" cy="246092"/>
          </a:xfrm>
          <a:prstGeom prst="rect">
            <a:avLst/>
          </a:prstGeom>
          <a:noFill/>
          <a:ln w="19050" algn="ctr">
            <a:noFill/>
            <a:miter lim="800000"/>
            <a:headEnd type="none" w="med" len="sm"/>
            <a:tailEnd type="none" w="med" len="sm"/>
          </a:ln>
        </p:spPr>
        <p:txBody>
          <a:bodyPr wrap="non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Sever</a:t>
            </a:r>
          </a:p>
        </p:txBody>
      </p:sp>
      <p:cxnSp>
        <p:nvCxnSpPr>
          <p:cNvPr id="147" name="AutoShape 216"/>
          <p:cNvCxnSpPr>
            <a:cxnSpLocks noChangeShapeType="1"/>
            <a:stCxn id="195" idx="2"/>
            <a:endCxn id="157" idx="0"/>
          </p:cNvCxnSpPr>
          <p:nvPr/>
        </p:nvCxnSpPr>
        <p:spPr bwMode="auto">
          <a:xfrm rot="5400000">
            <a:off x="8494218" y="3405621"/>
            <a:ext cx="423915" cy="3222"/>
          </a:xfrm>
          <a:prstGeom prst="straightConnector1">
            <a:avLst/>
          </a:prstGeom>
          <a:noFill/>
          <a:ln w="19050">
            <a:solidFill>
              <a:srgbClr val="808080"/>
            </a:solidFill>
            <a:round/>
            <a:headEnd type="none" w="med" len="sm"/>
            <a:tailEnd type="triangle" w="med" len="sm"/>
          </a:ln>
        </p:spPr>
      </p:cxnSp>
      <p:grpSp>
        <p:nvGrpSpPr>
          <p:cNvPr id="148" name="그룹 211"/>
          <p:cNvGrpSpPr>
            <a:grpSpLocks/>
          </p:cNvGrpSpPr>
          <p:nvPr/>
        </p:nvGrpSpPr>
        <p:grpSpPr bwMode="auto">
          <a:xfrm>
            <a:off x="5175292" y="2222018"/>
            <a:ext cx="913326" cy="1101860"/>
            <a:chOff x="5238752" y="3213100"/>
            <a:chExt cx="900112" cy="1101725"/>
          </a:xfrm>
        </p:grpSpPr>
        <p:sp>
          <p:nvSpPr>
            <p:cNvPr id="149" name="Rectangle 11" descr="밝은 상향 대각선"/>
            <p:cNvSpPr>
              <a:spLocks noChangeArrowheads="1"/>
            </p:cNvSpPr>
            <p:nvPr/>
          </p:nvSpPr>
          <p:spPr bwMode="auto">
            <a:xfrm>
              <a:off x="5238752" y="3235325"/>
              <a:ext cx="900112" cy="1079500"/>
            </a:xfrm>
            <a:prstGeom prst="rect">
              <a:avLst/>
            </a:prstGeom>
            <a:pattFill prst="ltUpDiag">
              <a:fgClr>
                <a:srgbClr val="DDDDDD"/>
              </a:fgClr>
              <a:bgClr>
                <a:schemeClr val="bg1"/>
              </a:bgClr>
            </a:pattFill>
            <a:ln w="12700" algn="ctr">
              <a:pattFill prst="pct5">
                <a:fgClr>
                  <a:srgbClr val="6C7072"/>
                </a:fgClr>
                <a:bgClr>
                  <a:srgbClr val="A0AFBC"/>
                </a:bgClr>
              </a:patt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ko-KR" altLang="en-US" sz="1000" b="0">
                <a:latin typeface="맑은 고딕" pitchFamily="50" charset="-127"/>
                <a:ea typeface="맑은 고딕" pitchFamily="50" charset="-127"/>
              </a:endParaRPr>
            </a:p>
          </p:txBody>
        </p:sp>
        <p:grpSp>
          <p:nvGrpSpPr>
            <p:cNvPr id="150" name="Group 25"/>
            <p:cNvGrpSpPr>
              <a:grpSpLocks noChangeAspect="1"/>
            </p:cNvGrpSpPr>
            <p:nvPr/>
          </p:nvGrpSpPr>
          <p:grpSpPr bwMode="auto">
            <a:xfrm>
              <a:off x="5338764" y="3602038"/>
              <a:ext cx="719138" cy="588962"/>
              <a:chOff x="643" y="1684"/>
              <a:chExt cx="619" cy="524"/>
            </a:xfrm>
          </p:grpSpPr>
          <p:pic>
            <p:nvPicPr>
              <p:cNvPr id="152" name="Picture 26" descr="워크스테이션2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748" y="1684"/>
                <a:ext cx="514" cy="5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53" name="Picture 27" descr="사용자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>
                <a:off x="643" y="1900"/>
                <a:ext cx="280" cy="30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sp>
          <p:nvSpPr>
            <p:cNvPr id="151" name="Rectangle 97" descr="o1"/>
            <p:cNvSpPr>
              <a:spLocks noChangeArrowheads="1"/>
            </p:cNvSpPr>
            <p:nvPr/>
          </p:nvSpPr>
          <p:spPr bwMode="auto">
            <a:xfrm>
              <a:off x="5238752" y="3213100"/>
              <a:ext cx="900112" cy="284162"/>
            </a:xfrm>
            <a:prstGeom prst="rect">
              <a:avLst/>
            </a:prstGeom>
            <a:blipFill dpi="0" rotWithShape="0">
              <a:blip r:embed="rId5" cstate="print">
                <a:lum bright="-6000"/>
              </a:blip>
              <a:srcRect/>
              <a:stretch>
                <a:fillRect/>
              </a:stretch>
            </a:blipFill>
            <a:ln w="6350" algn="ctr">
              <a:solidFill>
                <a:srgbClr val="C0C0C0"/>
              </a:solidFill>
              <a:miter lim="800000"/>
              <a:headEnd/>
              <a:tailEnd/>
            </a:ln>
            <a:effectLst>
              <a:outerShdw dist="17961" dir="2700000" algn="ctr" rotWithShape="0">
                <a:srgbClr val="C0C0C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algn="ctr" latinLnBrk="0">
                <a:lnSpc>
                  <a:spcPct val="110000"/>
                </a:lnSpc>
                <a:defRPr/>
              </a:pPr>
              <a:r>
                <a:rPr lang="ko-KR" altLang="en-US" sz="1000" b="0">
                  <a:latin typeface="맑은 고딕" pitchFamily="50" charset="-127"/>
                  <a:ea typeface="맑은 고딕" pitchFamily="50" charset="-127"/>
                </a:rPr>
                <a:t>사용자 화면</a:t>
              </a:r>
            </a:p>
          </p:txBody>
        </p:sp>
      </p:grpSp>
      <p:cxnSp>
        <p:nvCxnSpPr>
          <p:cNvPr id="154" name="AutoShape 125"/>
          <p:cNvCxnSpPr>
            <a:cxnSpLocks noChangeShapeType="1"/>
          </p:cNvCxnSpPr>
          <p:nvPr/>
        </p:nvCxnSpPr>
        <p:spPr bwMode="auto">
          <a:xfrm>
            <a:off x="7349879" y="2680861"/>
            <a:ext cx="731305" cy="0"/>
          </a:xfrm>
          <a:prstGeom prst="straightConnector1">
            <a:avLst/>
          </a:prstGeom>
          <a:noFill/>
          <a:ln w="19050">
            <a:solidFill>
              <a:srgbClr val="808080"/>
            </a:solidFill>
            <a:round/>
            <a:headEnd type="none" w="med" len="sm"/>
            <a:tailEnd type="triangle" w="med" len="sm"/>
          </a:ln>
        </p:spPr>
      </p:cxnSp>
      <p:cxnSp>
        <p:nvCxnSpPr>
          <p:cNvPr id="155" name="AutoShape 125"/>
          <p:cNvCxnSpPr>
            <a:cxnSpLocks noChangeShapeType="1"/>
          </p:cNvCxnSpPr>
          <p:nvPr/>
        </p:nvCxnSpPr>
        <p:spPr bwMode="auto">
          <a:xfrm>
            <a:off x="6083786" y="3019040"/>
            <a:ext cx="731305" cy="0"/>
          </a:xfrm>
          <a:prstGeom prst="straightConnector1">
            <a:avLst/>
          </a:prstGeom>
          <a:noFill/>
          <a:ln w="19050">
            <a:solidFill>
              <a:srgbClr val="808080"/>
            </a:solidFill>
            <a:round/>
            <a:headEnd type="triangle" w="med" len="sm"/>
            <a:tailEnd type="none" w="med" len="sm"/>
          </a:ln>
        </p:spPr>
      </p:cxnSp>
      <p:sp>
        <p:nvSpPr>
          <p:cNvPr id="156" name="AutoShape 79"/>
          <p:cNvSpPr>
            <a:spLocks noChangeArrowheads="1"/>
          </p:cNvSpPr>
          <p:nvPr/>
        </p:nvSpPr>
        <p:spPr bwMode="auto">
          <a:xfrm>
            <a:off x="6671729" y="2536381"/>
            <a:ext cx="844062" cy="625551"/>
          </a:xfrm>
          <a:prstGeom prst="roundRect">
            <a:avLst>
              <a:gd name="adj" fmla="val 16667"/>
            </a:avLst>
          </a:prstGeom>
          <a:solidFill>
            <a:srgbClr val="CDE9EB"/>
          </a:solidFill>
          <a:ln w="9525" algn="ctr">
            <a:solidFill>
              <a:schemeClr val="hlink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 latinLnBrk="0">
              <a:defRPr/>
            </a:pPr>
            <a:r>
              <a:rPr lang="en-US" altLang="ko-KR" sz="1000" b="0">
                <a:latin typeface="맑은 고딕" pitchFamily="50" charset="-127"/>
                <a:ea typeface="맑은 고딕" pitchFamily="50" charset="-127"/>
              </a:rPr>
              <a:t>Internet</a:t>
            </a:r>
          </a:p>
          <a:p>
            <a:pPr algn="ctr" latinLnBrk="0">
              <a:defRPr/>
            </a:pPr>
            <a:r>
              <a:rPr lang="en-US" altLang="ko-KR" sz="1000" b="0">
                <a:latin typeface="맑은 고딕" pitchFamily="50" charset="-127"/>
                <a:ea typeface="맑은 고딕" pitchFamily="50" charset="-127"/>
              </a:rPr>
              <a:t>Browser</a:t>
            </a:r>
            <a:endParaRPr lang="ko-KR" altLang="en-US" sz="1000" b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7" name="AutoShape 37"/>
          <p:cNvSpPr>
            <a:spLocks noChangeArrowheads="1"/>
          </p:cNvSpPr>
          <p:nvPr/>
        </p:nvSpPr>
        <p:spPr bwMode="auto">
          <a:xfrm>
            <a:off x="8248708" y="3619189"/>
            <a:ext cx="913326" cy="360406"/>
          </a:xfrm>
          <a:prstGeom prst="roundRect">
            <a:avLst>
              <a:gd name="adj" fmla="val 16667"/>
            </a:avLst>
          </a:prstGeom>
          <a:solidFill>
            <a:srgbClr val="EAEAEA"/>
          </a:solidFill>
          <a:ln w="9525" algn="ctr">
            <a:solidFill>
              <a:schemeClr val="bg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 latinLnBrk="0">
              <a:defRPr/>
            </a:pPr>
            <a:r>
              <a:rPr lang="en-US" altLang="ko-KR" sz="1000" b="0" dirty="0" err="1" smtClean="0">
                <a:latin typeface="맑은 고딕" pitchFamily="50" charset="-127"/>
                <a:ea typeface="맑은 고딕" pitchFamily="50" charset="-127"/>
              </a:rPr>
              <a:t>Jsp</a:t>
            </a:r>
            <a:r>
              <a:rPr lang="en-US" altLang="ko-KR" sz="1000" b="0" dirty="0" smtClean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en-US" altLang="ko-KR" sz="1000" b="0" dirty="0" err="1" smtClean="0">
                <a:latin typeface="맑은 고딕" pitchFamily="50" charset="-127"/>
                <a:ea typeface="맑은 고딕" pitchFamily="50" charset="-127"/>
              </a:rPr>
              <a:t>vm</a:t>
            </a:r>
            <a:endParaRPr lang="en-US" altLang="ko-KR" sz="1000" b="0" dirty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58" name="꺾인 연결선 243"/>
          <p:cNvCxnSpPr>
            <a:cxnSpLocks noChangeShapeType="1"/>
            <a:stCxn id="157" idx="1"/>
            <a:endCxn id="156" idx="2"/>
          </p:cNvCxnSpPr>
          <p:nvPr/>
        </p:nvCxnSpPr>
        <p:spPr bwMode="auto">
          <a:xfrm rot="10800000">
            <a:off x="7093760" y="3161933"/>
            <a:ext cx="1154948" cy="638253"/>
          </a:xfrm>
          <a:prstGeom prst="bentConnector2">
            <a:avLst/>
          </a:prstGeom>
          <a:noFill/>
          <a:ln w="19050">
            <a:solidFill>
              <a:srgbClr val="808080"/>
            </a:solidFill>
            <a:round/>
            <a:headEnd type="none" w="med" len="sm"/>
            <a:tailEnd type="triangle" w="med" len="med"/>
          </a:ln>
        </p:spPr>
      </p:cxnSp>
      <p:grpSp>
        <p:nvGrpSpPr>
          <p:cNvPr id="159" name="Group 138"/>
          <p:cNvGrpSpPr>
            <a:grpSpLocks/>
          </p:cNvGrpSpPr>
          <p:nvPr/>
        </p:nvGrpSpPr>
        <p:grpSpPr bwMode="auto">
          <a:xfrm>
            <a:off x="6219094" y="2507803"/>
            <a:ext cx="286723" cy="306424"/>
            <a:chOff x="2053" y="1743"/>
            <a:chExt cx="178" cy="193"/>
          </a:xfrm>
        </p:grpSpPr>
        <p:pic>
          <p:nvPicPr>
            <p:cNvPr id="160" name="Picture 130" descr="젤리원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2053" y="1758"/>
              <a:ext cx="178" cy="17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61" name="Text Box 131"/>
            <p:cNvSpPr txBox="1">
              <a:spLocks noChangeArrowheads="1"/>
            </p:cNvSpPr>
            <p:nvPr/>
          </p:nvSpPr>
          <p:spPr bwMode="auto">
            <a:xfrm>
              <a:off x="2118" y="1743"/>
              <a:ext cx="44" cy="18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lIns="0" tIns="45715" rIns="0" bIns="45715">
              <a:spAutoFit/>
            </a:bodyPr>
            <a:lstStyle/>
            <a:p>
              <a:pPr algn="ctr" latinLnBrk="0">
                <a:lnSpc>
                  <a:spcPct val="130000"/>
                </a:lnSpc>
              </a:pPr>
              <a:r>
                <a:rPr lang="en-US" altLang="ko-KR" sz="1000" b="0" i="1">
                  <a:latin typeface="맑은 고딕" pitchFamily="50" charset="-127"/>
                  <a:ea typeface="맑은 고딕" pitchFamily="50" charset="-127"/>
                </a:rPr>
                <a:t>1</a:t>
              </a:r>
            </a:p>
          </p:txBody>
        </p:sp>
      </p:grpSp>
      <p:grpSp>
        <p:nvGrpSpPr>
          <p:cNvPr id="162" name="Group 188"/>
          <p:cNvGrpSpPr>
            <a:grpSpLocks/>
          </p:cNvGrpSpPr>
          <p:nvPr/>
        </p:nvGrpSpPr>
        <p:grpSpPr bwMode="auto">
          <a:xfrm>
            <a:off x="7680093" y="2517329"/>
            <a:ext cx="286723" cy="306424"/>
            <a:chOff x="2053" y="1743"/>
            <a:chExt cx="178" cy="193"/>
          </a:xfrm>
        </p:grpSpPr>
        <p:pic>
          <p:nvPicPr>
            <p:cNvPr id="163" name="Picture 189" descr="젤리원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2053" y="1758"/>
              <a:ext cx="178" cy="17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64" name="Text Box 190"/>
            <p:cNvSpPr txBox="1">
              <a:spLocks noChangeArrowheads="1"/>
            </p:cNvSpPr>
            <p:nvPr/>
          </p:nvSpPr>
          <p:spPr bwMode="auto">
            <a:xfrm>
              <a:off x="2118" y="1743"/>
              <a:ext cx="44" cy="18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lIns="0" tIns="45715" rIns="0" bIns="45715">
              <a:spAutoFit/>
            </a:bodyPr>
            <a:lstStyle/>
            <a:p>
              <a:pPr algn="ctr" latinLnBrk="0">
                <a:lnSpc>
                  <a:spcPct val="130000"/>
                </a:lnSpc>
              </a:pPr>
              <a:r>
                <a:rPr lang="en-US" altLang="ko-KR" sz="1000" b="0" i="1">
                  <a:latin typeface="맑은 고딕" pitchFamily="50" charset="-127"/>
                  <a:ea typeface="맑은 고딕" pitchFamily="50" charset="-127"/>
                </a:rPr>
                <a:t>2</a:t>
              </a:r>
            </a:p>
          </p:txBody>
        </p:sp>
      </p:grpSp>
      <p:grpSp>
        <p:nvGrpSpPr>
          <p:cNvPr id="165" name="Group 191"/>
          <p:cNvGrpSpPr>
            <a:grpSpLocks/>
          </p:cNvGrpSpPr>
          <p:nvPr/>
        </p:nvGrpSpPr>
        <p:grpSpPr bwMode="auto">
          <a:xfrm>
            <a:off x="8548317" y="3225441"/>
            <a:ext cx="286723" cy="306424"/>
            <a:chOff x="2053" y="2019"/>
            <a:chExt cx="178" cy="193"/>
          </a:xfrm>
        </p:grpSpPr>
        <p:pic>
          <p:nvPicPr>
            <p:cNvPr id="166" name="Picture 192" descr="젤리원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2053" y="2034"/>
              <a:ext cx="178" cy="17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67" name="Text Box 193"/>
            <p:cNvSpPr txBox="1">
              <a:spLocks noChangeArrowheads="1"/>
            </p:cNvSpPr>
            <p:nvPr/>
          </p:nvSpPr>
          <p:spPr bwMode="auto">
            <a:xfrm>
              <a:off x="2118" y="2019"/>
              <a:ext cx="44" cy="18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lIns="0" tIns="45715" rIns="0" bIns="45715">
              <a:spAutoFit/>
            </a:bodyPr>
            <a:lstStyle/>
            <a:p>
              <a:pPr algn="ctr" latinLnBrk="0">
                <a:lnSpc>
                  <a:spcPct val="130000"/>
                </a:lnSpc>
              </a:pPr>
              <a:r>
                <a:rPr lang="en-US" altLang="ko-KR" sz="1000" b="0" i="1">
                  <a:latin typeface="맑은 고딕" pitchFamily="50" charset="-127"/>
                  <a:ea typeface="맑은 고딕" pitchFamily="50" charset="-127"/>
                </a:rPr>
                <a:t>3</a:t>
              </a:r>
            </a:p>
          </p:txBody>
        </p:sp>
      </p:grpSp>
      <p:grpSp>
        <p:nvGrpSpPr>
          <p:cNvPr id="168" name="Group 185"/>
          <p:cNvGrpSpPr>
            <a:grpSpLocks/>
          </p:cNvGrpSpPr>
          <p:nvPr/>
        </p:nvGrpSpPr>
        <p:grpSpPr bwMode="auto">
          <a:xfrm>
            <a:off x="6950399" y="3368333"/>
            <a:ext cx="286723" cy="306424"/>
            <a:chOff x="2053" y="2019"/>
            <a:chExt cx="178" cy="193"/>
          </a:xfrm>
        </p:grpSpPr>
        <p:pic>
          <p:nvPicPr>
            <p:cNvPr id="169" name="Picture 134" descr="젤리원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2053" y="2034"/>
              <a:ext cx="178" cy="17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70" name="Text Box 135"/>
            <p:cNvSpPr txBox="1">
              <a:spLocks noChangeArrowheads="1"/>
            </p:cNvSpPr>
            <p:nvPr/>
          </p:nvSpPr>
          <p:spPr bwMode="auto">
            <a:xfrm>
              <a:off x="2118" y="2019"/>
              <a:ext cx="44" cy="18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lIns="0" tIns="45715" rIns="0" bIns="45715">
              <a:spAutoFit/>
            </a:bodyPr>
            <a:lstStyle/>
            <a:p>
              <a:pPr algn="ctr" latinLnBrk="0">
                <a:lnSpc>
                  <a:spcPct val="130000"/>
                </a:lnSpc>
              </a:pPr>
              <a:r>
                <a:rPr lang="en-US" altLang="ko-KR" sz="1000" b="0" i="1">
                  <a:latin typeface="맑은 고딕" pitchFamily="50" charset="-127"/>
                  <a:ea typeface="맑은 고딕" pitchFamily="50" charset="-127"/>
                </a:rPr>
                <a:t>4</a:t>
              </a:r>
            </a:p>
          </p:txBody>
        </p:sp>
      </p:grpSp>
      <p:grpSp>
        <p:nvGrpSpPr>
          <p:cNvPr id="171" name="Group 244"/>
          <p:cNvGrpSpPr>
            <a:grpSpLocks/>
          </p:cNvGrpSpPr>
          <p:nvPr/>
        </p:nvGrpSpPr>
        <p:grpSpPr bwMode="auto">
          <a:xfrm>
            <a:off x="6228758" y="2842806"/>
            <a:ext cx="286723" cy="306425"/>
            <a:chOff x="2053" y="1743"/>
            <a:chExt cx="178" cy="193"/>
          </a:xfrm>
        </p:grpSpPr>
        <p:pic>
          <p:nvPicPr>
            <p:cNvPr id="172" name="Picture 245" descr="젤리원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2053" y="1758"/>
              <a:ext cx="178" cy="17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73" name="Text Box 246"/>
            <p:cNvSpPr txBox="1">
              <a:spLocks noChangeArrowheads="1"/>
            </p:cNvSpPr>
            <p:nvPr/>
          </p:nvSpPr>
          <p:spPr bwMode="auto">
            <a:xfrm>
              <a:off x="2118" y="1743"/>
              <a:ext cx="44" cy="18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lIns="0" tIns="45715" rIns="0" bIns="45715">
              <a:spAutoFit/>
            </a:bodyPr>
            <a:lstStyle/>
            <a:p>
              <a:pPr algn="ctr" latinLnBrk="0">
                <a:lnSpc>
                  <a:spcPct val="130000"/>
                </a:lnSpc>
              </a:pPr>
              <a:r>
                <a:rPr lang="en-US" altLang="ko-KR" sz="1000" b="0" i="1">
                  <a:latin typeface="맑은 고딕" pitchFamily="50" charset="-127"/>
                  <a:ea typeface="맑은 고딕" pitchFamily="50" charset="-127"/>
                </a:rPr>
                <a:t>5</a:t>
              </a:r>
            </a:p>
          </p:txBody>
        </p:sp>
      </p:grpSp>
      <p:sp>
        <p:nvSpPr>
          <p:cNvPr id="174" name="Rectangle 9"/>
          <p:cNvSpPr>
            <a:spLocks noChangeArrowheads="1"/>
          </p:cNvSpPr>
          <p:nvPr/>
        </p:nvSpPr>
        <p:spPr bwMode="auto">
          <a:xfrm>
            <a:off x="5246167" y="4174882"/>
            <a:ext cx="4017347" cy="269908"/>
          </a:xfrm>
          <a:prstGeom prst="rect">
            <a:avLst/>
          </a:prstGeom>
          <a:solidFill>
            <a:schemeClr val="bg1"/>
          </a:solidFill>
          <a:ln w="3175" algn="ctr">
            <a:solidFill>
              <a:srgbClr val="7EA4C0"/>
            </a:solidFill>
            <a:miter lim="800000"/>
            <a:headEnd/>
            <a:tailEnd/>
          </a:ln>
          <a:effectLst>
            <a:outerShdw dist="35921" dir="2700000" algn="ctr" rotWithShape="0">
              <a:srgbClr val="EAEAEA"/>
            </a:outerShdw>
          </a:effectLst>
        </p:spPr>
        <p:txBody>
          <a:bodyPr lIns="180000" tIns="0" rIns="36000" bIns="0" anchor="ctr"/>
          <a:lstStyle/>
          <a:p>
            <a:pPr marL="265113" algn="ctr">
              <a:defRPr/>
            </a:pPr>
            <a:r>
              <a:rPr lang="ko-KR" altLang="en-US" sz="1000" b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 사용자가 </a:t>
            </a:r>
            <a:r>
              <a:rPr lang="en-US" altLang="ko-KR" sz="1000" b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Change Language </a:t>
            </a:r>
            <a:r>
              <a:rPr lang="ko-KR" altLang="en-US" sz="1000" b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요청</a:t>
            </a:r>
          </a:p>
        </p:txBody>
      </p:sp>
      <p:sp>
        <p:nvSpPr>
          <p:cNvPr id="175" name="Rectangle 10"/>
          <p:cNvSpPr>
            <a:spLocks noChangeArrowheads="1"/>
          </p:cNvSpPr>
          <p:nvPr/>
        </p:nvSpPr>
        <p:spPr bwMode="auto">
          <a:xfrm>
            <a:off x="5233281" y="4176469"/>
            <a:ext cx="449414" cy="269908"/>
          </a:xfrm>
          <a:prstGeom prst="rect">
            <a:avLst/>
          </a:prstGeom>
          <a:solidFill>
            <a:srgbClr val="9DB7CF"/>
          </a:solidFill>
          <a:ln w="3175" algn="ctr">
            <a:solidFill>
              <a:srgbClr val="6F99B9"/>
            </a:solidFill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algn="ctr"/>
            <a:r>
              <a:rPr lang="en-US" altLang="ko-KR" sz="1000" b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1</a:t>
            </a:r>
          </a:p>
        </p:txBody>
      </p:sp>
      <p:sp>
        <p:nvSpPr>
          <p:cNvPr id="176" name="Rectangle 11"/>
          <p:cNvSpPr>
            <a:spLocks noChangeArrowheads="1"/>
          </p:cNvSpPr>
          <p:nvPr/>
        </p:nvSpPr>
        <p:spPr bwMode="auto">
          <a:xfrm>
            <a:off x="5246167" y="4490832"/>
            <a:ext cx="4017347" cy="269908"/>
          </a:xfrm>
          <a:prstGeom prst="rect">
            <a:avLst/>
          </a:prstGeom>
          <a:solidFill>
            <a:schemeClr val="bg1"/>
          </a:solidFill>
          <a:ln w="3175" algn="ctr">
            <a:solidFill>
              <a:srgbClr val="7EA4C0"/>
            </a:solidFill>
            <a:miter lim="800000"/>
            <a:headEnd/>
            <a:tailEnd/>
          </a:ln>
          <a:effectLst>
            <a:outerShdw dist="35921" dir="2700000" algn="ctr" rotWithShape="0">
              <a:srgbClr val="EAEAEA"/>
            </a:outerShdw>
          </a:effectLst>
        </p:spPr>
        <p:txBody>
          <a:bodyPr lIns="180000" tIns="0" rIns="36000" bIns="0" anchor="ctr"/>
          <a:lstStyle/>
          <a:p>
            <a:pPr marL="265113" algn="ctr">
              <a:defRPr/>
            </a:pPr>
            <a:r>
              <a:rPr lang="en-US" altLang="ko-KR" sz="1000" b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 Server</a:t>
            </a:r>
            <a:r>
              <a:rPr lang="ko-KR" altLang="en-US" sz="1000" b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에 사용자가 선택한 다국어 요청</a:t>
            </a:r>
          </a:p>
        </p:txBody>
      </p:sp>
      <p:sp>
        <p:nvSpPr>
          <p:cNvPr id="177" name="Rectangle 12"/>
          <p:cNvSpPr>
            <a:spLocks noChangeArrowheads="1"/>
          </p:cNvSpPr>
          <p:nvPr/>
        </p:nvSpPr>
        <p:spPr bwMode="auto">
          <a:xfrm>
            <a:off x="5233281" y="4492420"/>
            <a:ext cx="449414" cy="269908"/>
          </a:xfrm>
          <a:prstGeom prst="rect">
            <a:avLst/>
          </a:prstGeom>
          <a:solidFill>
            <a:srgbClr val="9DB7CF"/>
          </a:solidFill>
          <a:ln w="3175" algn="ctr">
            <a:solidFill>
              <a:srgbClr val="6F99B9"/>
            </a:solidFill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algn="ctr"/>
            <a:r>
              <a:rPr lang="en-US" altLang="ko-KR" sz="1000" b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2</a:t>
            </a:r>
          </a:p>
        </p:txBody>
      </p:sp>
      <p:sp>
        <p:nvSpPr>
          <p:cNvPr id="178" name="Rectangle 13"/>
          <p:cNvSpPr>
            <a:spLocks noChangeArrowheads="1"/>
          </p:cNvSpPr>
          <p:nvPr/>
        </p:nvSpPr>
        <p:spPr bwMode="auto">
          <a:xfrm>
            <a:off x="5246167" y="4806784"/>
            <a:ext cx="4017347" cy="269908"/>
          </a:xfrm>
          <a:prstGeom prst="rect">
            <a:avLst/>
          </a:prstGeom>
          <a:solidFill>
            <a:schemeClr val="bg1"/>
          </a:solidFill>
          <a:ln w="3175" algn="ctr">
            <a:solidFill>
              <a:srgbClr val="7EA4C0"/>
            </a:solidFill>
            <a:miter lim="800000"/>
            <a:headEnd/>
            <a:tailEnd/>
          </a:ln>
          <a:effectLst>
            <a:outerShdw dist="35921" dir="2700000" algn="ctr" rotWithShape="0">
              <a:srgbClr val="EAEAEA"/>
            </a:outerShdw>
          </a:effectLst>
        </p:spPr>
        <p:txBody>
          <a:bodyPr lIns="180000" tIns="0" rIns="36000" bIns="0" anchor="ctr"/>
          <a:lstStyle/>
          <a:p>
            <a:pPr marL="265113" algn="ctr">
              <a:defRPr/>
            </a:pPr>
            <a:r>
              <a:rPr lang="ko-KR" altLang="en-US" sz="1000" b="0" dirty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 해당 다국어 </a:t>
            </a:r>
            <a:r>
              <a:rPr lang="en-US" altLang="ko-KR" sz="1000" b="0" dirty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properties </a:t>
            </a:r>
            <a:r>
              <a:rPr lang="ko-KR" altLang="en-US" sz="1000" b="0" dirty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파일로 변환되어 </a:t>
            </a:r>
            <a:r>
              <a:rPr lang="en-US" altLang="ko-KR" sz="1000" b="0" dirty="0" err="1" smtClean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jsp</a:t>
            </a:r>
            <a:r>
              <a:rPr lang="ko-KR" altLang="en-US" sz="1000" b="0" dirty="0" smtClean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에 </a:t>
            </a:r>
            <a:r>
              <a:rPr lang="ko-KR" altLang="en-US" sz="1000" b="0" dirty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반영</a:t>
            </a:r>
          </a:p>
        </p:txBody>
      </p:sp>
      <p:sp>
        <p:nvSpPr>
          <p:cNvPr id="179" name="Rectangle 14"/>
          <p:cNvSpPr>
            <a:spLocks noChangeArrowheads="1"/>
          </p:cNvSpPr>
          <p:nvPr/>
        </p:nvSpPr>
        <p:spPr bwMode="auto">
          <a:xfrm>
            <a:off x="5233281" y="4808371"/>
            <a:ext cx="449414" cy="269908"/>
          </a:xfrm>
          <a:prstGeom prst="rect">
            <a:avLst/>
          </a:prstGeom>
          <a:solidFill>
            <a:srgbClr val="9DB7CF"/>
          </a:solidFill>
          <a:ln w="3175" algn="ctr">
            <a:solidFill>
              <a:srgbClr val="6F99B9"/>
            </a:solidFill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algn="ctr"/>
            <a:r>
              <a:rPr lang="en-US" altLang="ko-KR" sz="1000" b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3</a:t>
            </a:r>
          </a:p>
        </p:txBody>
      </p:sp>
      <p:sp>
        <p:nvSpPr>
          <p:cNvPr id="180" name="Rectangle 13"/>
          <p:cNvSpPr>
            <a:spLocks noChangeArrowheads="1"/>
          </p:cNvSpPr>
          <p:nvPr/>
        </p:nvSpPr>
        <p:spPr bwMode="auto">
          <a:xfrm>
            <a:off x="5246167" y="5122735"/>
            <a:ext cx="4017347" cy="269908"/>
          </a:xfrm>
          <a:prstGeom prst="rect">
            <a:avLst/>
          </a:prstGeom>
          <a:solidFill>
            <a:schemeClr val="bg1"/>
          </a:solidFill>
          <a:ln w="3175" algn="ctr">
            <a:solidFill>
              <a:srgbClr val="7EA4C0"/>
            </a:solidFill>
            <a:miter lim="800000"/>
            <a:headEnd/>
            <a:tailEnd/>
          </a:ln>
          <a:effectLst>
            <a:outerShdw dist="35921" dir="2700000" algn="ctr" rotWithShape="0">
              <a:srgbClr val="EAEAEA"/>
            </a:outerShdw>
          </a:effectLst>
        </p:spPr>
        <p:txBody>
          <a:bodyPr lIns="180000" tIns="0" rIns="36000" bIns="0" anchor="ctr"/>
          <a:lstStyle/>
          <a:p>
            <a:pPr marL="265113" algn="ctr">
              <a:defRPr/>
            </a:pPr>
            <a:r>
              <a:rPr lang="en-US" altLang="ko-KR" sz="1000" b="0" dirty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000" b="0" dirty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사용자가 선택한 다국어로 변환된 코드로 </a:t>
            </a:r>
            <a:r>
              <a:rPr lang="en-US" altLang="ko-KR" sz="1000" b="0" dirty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PC</a:t>
            </a:r>
            <a:r>
              <a:rPr lang="ko-KR" altLang="en-US" sz="1000" b="0" dirty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에 전달</a:t>
            </a:r>
          </a:p>
        </p:txBody>
      </p:sp>
      <p:sp>
        <p:nvSpPr>
          <p:cNvPr id="181" name="Rectangle 14"/>
          <p:cNvSpPr>
            <a:spLocks noChangeArrowheads="1"/>
          </p:cNvSpPr>
          <p:nvPr/>
        </p:nvSpPr>
        <p:spPr bwMode="auto">
          <a:xfrm>
            <a:off x="5233281" y="5124323"/>
            <a:ext cx="449414" cy="269908"/>
          </a:xfrm>
          <a:prstGeom prst="rect">
            <a:avLst/>
          </a:prstGeom>
          <a:solidFill>
            <a:srgbClr val="9DB7CF"/>
          </a:solidFill>
          <a:ln w="3175" algn="ctr">
            <a:solidFill>
              <a:srgbClr val="6F99B9"/>
            </a:solidFill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algn="ctr"/>
            <a:r>
              <a:rPr lang="en-US" altLang="ko-KR" sz="1000" b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4</a:t>
            </a:r>
          </a:p>
        </p:txBody>
      </p:sp>
      <p:sp>
        <p:nvSpPr>
          <p:cNvPr id="182" name="Rectangle 13"/>
          <p:cNvSpPr>
            <a:spLocks noChangeArrowheads="1"/>
          </p:cNvSpPr>
          <p:nvPr/>
        </p:nvSpPr>
        <p:spPr bwMode="auto">
          <a:xfrm>
            <a:off x="5246167" y="5438686"/>
            <a:ext cx="4017347" cy="269908"/>
          </a:xfrm>
          <a:prstGeom prst="rect">
            <a:avLst/>
          </a:prstGeom>
          <a:solidFill>
            <a:schemeClr val="bg1"/>
          </a:solidFill>
          <a:ln w="3175" algn="ctr">
            <a:solidFill>
              <a:srgbClr val="7EA4C0"/>
            </a:solidFill>
            <a:miter lim="800000"/>
            <a:headEnd/>
            <a:tailEnd/>
          </a:ln>
          <a:effectLst>
            <a:outerShdw dist="35921" dir="2700000" algn="ctr" rotWithShape="0">
              <a:srgbClr val="EAEAEA"/>
            </a:outerShdw>
          </a:effectLst>
        </p:spPr>
        <p:txBody>
          <a:bodyPr lIns="180000" tIns="0" rIns="36000" bIns="0" anchor="ctr"/>
          <a:lstStyle/>
          <a:p>
            <a:pPr marL="265113" algn="ctr">
              <a:defRPr/>
            </a:pPr>
            <a:r>
              <a:rPr lang="ko-KR" altLang="en-US" sz="1000" b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 사용자 </a:t>
            </a:r>
            <a:r>
              <a:rPr lang="en-US" altLang="ko-KR" sz="1000" b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Internet Browser </a:t>
            </a:r>
            <a:r>
              <a:rPr lang="ko-KR" altLang="en-US" sz="1000" b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에 선택한 다국어로 </a:t>
            </a:r>
            <a:r>
              <a:rPr lang="en-US" altLang="ko-KR" sz="1000" b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Display</a:t>
            </a:r>
            <a:endParaRPr lang="ko-KR" altLang="en-US" sz="1000" b="0">
              <a:solidFill>
                <a:srgbClr val="333333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83" name="Rectangle 14"/>
          <p:cNvSpPr>
            <a:spLocks noChangeArrowheads="1"/>
          </p:cNvSpPr>
          <p:nvPr/>
        </p:nvSpPr>
        <p:spPr bwMode="auto">
          <a:xfrm>
            <a:off x="5233281" y="5440273"/>
            <a:ext cx="449414" cy="269908"/>
          </a:xfrm>
          <a:prstGeom prst="rect">
            <a:avLst/>
          </a:prstGeom>
          <a:solidFill>
            <a:srgbClr val="9DB7CF"/>
          </a:solidFill>
          <a:ln w="3175" algn="ctr">
            <a:solidFill>
              <a:srgbClr val="6F99B9"/>
            </a:solidFill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algn="ctr"/>
            <a:r>
              <a:rPr lang="en-US" altLang="ko-KR" sz="1000" b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5</a:t>
            </a:r>
          </a:p>
        </p:txBody>
      </p:sp>
      <p:sp>
        <p:nvSpPr>
          <p:cNvPr id="184" name="Rectangle 9"/>
          <p:cNvSpPr>
            <a:spLocks noChangeArrowheads="1"/>
          </p:cNvSpPr>
          <p:nvPr/>
        </p:nvSpPr>
        <p:spPr bwMode="auto">
          <a:xfrm>
            <a:off x="681147" y="4494008"/>
            <a:ext cx="4017347" cy="269908"/>
          </a:xfrm>
          <a:prstGeom prst="rect">
            <a:avLst/>
          </a:prstGeom>
          <a:solidFill>
            <a:schemeClr val="bg1"/>
          </a:solidFill>
          <a:ln w="3175" algn="ctr">
            <a:solidFill>
              <a:srgbClr val="7EA4C0"/>
            </a:solidFill>
            <a:miter lim="800000"/>
            <a:headEnd/>
            <a:tailEnd/>
          </a:ln>
          <a:effectLst>
            <a:outerShdw dist="35921" dir="2700000" algn="ctr" rotWithShape="0">
              <a:srgbClr val="EAEAEA"/>
            </a:outerShdw>
          </a:effectLst>
        </p:spPr>
        <p:txBody>
          <a:bodyPr lIns="180000" tIns="0" rIns="36000" bIns="0" anchor="ctr"/>
          <a:lstStyle/>
          <a:p>
            <a:pPr marL="265113" algn="ctr">
              <a:defRPr/>
            </a:pPr>
            <a:r>
              <a:rPr lang="ko-KR" altLang="en-US" sz="1000" b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 다국어 관리화면에서 다국어 </a:t>
            </a:r>
            <a:r>
              <a:rPr lang="en-US" altLang="ko-KR" sz="1000" b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properties</a:t>
            </a:r>
            <a:r>
              <a:rPr lang="ko-KR" altLang="en-US" sz="1000" b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 생성 요청</a:t>
            </a:r>
          </a:p>
        </p:txBody>
      </p:sp>
      <p:sp>
        <p:nvSpPr>
          <p:cNvPr id="185" name="Rectangle 10"/>
          <p:cNvSpPr>
            <a:spLocks noChangeArrowheads="1"/>
          </p:cNvSpPr>
          <p:nvPr/>
        </p:nvSpPr>
        <p:spPr bwMode="auto">
          <a:xfrm>
            <a:off x="668260" y="4495596"/>
            <a:ext cx="449414" cy="269908"/>
          </a:xfrm>
          <a:prstGeom prst="rect">
            <a:avLst/>
          </a:prstGeom>
          <a:solidFill>
            <a:srgbClr val="9DB7CF"/>
          </a:solidFill>
          <a:ln w="3175" algn="ctr">
            <a:solidFill>
              <a:srgbClr val="6F99B9"/>
            </a:solidFill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algn="ctr"/>
            <a:r>
              <a:rPr lang="en-US" altLang="ko-KR" sz="1000" b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1</a:t>
            </a:r>
          </a:p>
        </p:txBody>
      </p:sp>
      <p:sp>
        <p:nvSpPr>
          <p:cNvPr id="186" name="Rectangle 11"/>
          <p:cNvSpPr>
            <a:spLocks noChangeArrowheads="1"/>
          </p:cNvSpPr>
          <p:nvPr/>
        </p:nvSpPr>
        <p:spPr bwMode="auto">
          <a:xfrm>
            <a:off x="681147" y="4809959"/>
            <a:ext cx="4017347" cy="269908"/>
          </a:xfrm>
          <a:prstGeom prst="rect">
            <a:avLst/>
          </a:prstGeom>
          <a:solidFill>
            <a:schemeClr val="bg1"/>
          </a:solidFill>
          <a:ln w="3175" algn="ctr">
            <a:solidFill>
              <a:srgbClr val="7EA4C0"/>
            </a:solidFill>
            <a:miter lim="800000"/>
            <a:headEnd/>
            <a:tailEnd/>
          </a:ln>
          <a:effectLst>
            <a:outerShdw dist="35921" dir="2700000" algn="ctr" rotWithShape="0">
              <a:srgbClr val="EAEAEA"/>
            </a:outerShdw>
          </a:effectLst>
        </p:spPr>
        <p:txBody>
          <a:bodyPr lIns="180000" tIns="0" rIns="36000" bIns="0" anchor="ctr"/>
          <a:lstStyle/>
          <a:p>
            <a:pPr marL="265113" algn="ctr">
              <a:defRPr/>
            </a:pPr>
            <a:r>
              <a:rPr lang="ko-KR" altLang="en-US" sz="1000" b="0" dirty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 다국어 </a:t>
            </a:r>
            <a:r>
              <a:rPr lang="en-US" altLang="ko-KR" sz="1000" b="0" dirty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Label/Message</a:t>
            </a:r>
            <a:r>
              <a:rPr lang="ko-KR" altLang="en-US" sz="1000" b="0" dirty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000" b="0" dirty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Data</a:t>
            </a:r>
            <a:r>
              <a:rPr lang="ko-KR" altLang="en-US" sz="1000" b="0" dirty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000" b="0" dirty="0" smtClean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Read</a:t>
            </a:r>
            <a:endParaRPr lang="ko-KR" altLang="en-US" sz="1000" b="0" dirty="0">
              <a:solidFill>
                <a:srgbClr val="333333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87" name="Rectangle 12"/>
          <p:cNvSpPr>
            <a:spLocks noChangeArrowheads="1"/>
          </p:cNvSpPr>
          <p:nvPr/>
        </p:nvSpPr>
        <p:spPr bwMode="auto">
          <a:xfrm>
            <a:off x="668260" y="4811546"/>
            <a:ext cx="449414" cy="269908"/>
          </a:xfrm>
          <a:prstGeom prst="rect">
            <a:avLst/>
          </a:prstGeom>
          <a:solidFill>
            <a:srgbClr val="9DB7CF"/>
          </a:solidFill>
          <a:ln w="3175" algn="ctr">
            <a:solidFill>
              <a:srgbClr val="6F99B9"/>
            </a:solidFill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algn="ctr"/>
            <a:r>
              <a:rPr lang="en-US" altLang="ko-KR" sz="1000" b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2</a:t>
            </a:r>
          </a:p>
        </p:txBody>
      </p:sp>
      <p:sp>
        <p:nvSpPr>
          <p:cNvPr id="188" name="Rectangle 13"/>
          <p:cNvSpPr>
            <a:spLocks noChangeArrowheads="1"/>
          </p:cNvSpPr>
          <p:nvPr/>
        </p:nvSpPr>
        <p:spPr bwMode="auto">
          <a:xfrm>
            <a:off x="681147" y="5125910"/>
            <a:ext cx="4017347" cy="269908"/>
          </a:xfrm>
          <a:prstGeom prst="rect">
            <a:avLst/>
          </a:prstGeom>
          <a:solidFill>
            <a:schemeClr val="bg1"/>
          </a:solidFill>
          <a:ln w="3175" algn="ctr">
            <a:solidFill>
              <a:srgbClr val="7EA4C0"/>
            </a:solidFill>
            <a:miter lim="800000"/>
            <a:headEnd/>
            <a:tailEnd/>
          </a:ln>
          <a:effectLst>
            <a:outerShdw dist="35921" dir="2700000" algn="ctr" rotWithShape="0">
              <a:srgbClr val="EAEAEA"/>
            </a:outerShdw>
          </a:effectLst>
        </p:spPr>
        <p:txBody>
          <a:bodyPr lIns="180000" tIns="0" rIns="36000" bIns="0" anchor="ctr"/>
          <a:lstStyle/>
          <a:p>
            <a:pPr marL="265113" algn="ctr">
              <a:defRPr/>
            </a:pPr>
            <a:r>
              <a:rPr lang="ko-KR" altLang="en-US" sz="1000" b="0" dirty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000" b="0" dirty="0" smtClean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Language/Message Data</a:t>
            </a:r>
            <a:r>
              <a:rPr lang="ko-KR" altLang="en-US" sz="1000" b="0" dirty="0" smtClean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를 다국어 편집</a:t>
            </a:r>
            <a:r>
              <a:rPr lang="en-US" altLang="ko-KR" sz="1000" b="0" dirty="0" smtClean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endParaRPr lang="ko-KR" altLang="en-US" sz="1000" b="0" dirty="0">
              <a:solidFill>
                <a:srgbClr val="333333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89" name="Rectangle 14"/>
          <p:cNvSpPr>
            <a:spLocks noChangeArrowheads="1"/>
          </p:cNvSpPr>
          <p:nvPr/>
        </p:nvSpPr>
        <p:spPr bwMode="auto">
          <a:xfrm>
            <a:off x="668260" y="5127498"/>
            <a:ext cx="449414" cy="269908"/>
          </a:xfrm>
          <a:prstGeom prst="rect">
            <a:avLst/>
          </a:prstGeom>
          <a:solidFill>
            <a:srgbClr val="9DB7CF"/>
          </a:solidFill>
          <a:ln w="3175" algn="ctr">
            <a:solidFill>
              <a:srgbClr val="6F99B9"/>
            </a:solidFill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algn="ctr"/>
            <a:r>
              <a:rPr lang="en-US" altLang="ko-KR" sz="1000" b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3</a:t>
            </a:r>
          </a:p>
        </p:txBody>
      </p:sp>
      <p:sp>
        <p:nvSpPr>
          <p:cNvPr id="190" name="Rectangle 13"/>
          <p:cNvSpPr>
            <a:spLocks noChangeArrowheads="1"/>
          </p:cNvSpPr>
          <p:nvPr/>
        </p:nvSpPr>
        <p:spPr bwMode="auto">
          <a:xfrm>
            <a:off x="681147" y="5441862"/>
            <a:ext cx="4017347" cy="269908"/>
          </a:xfrm>
          <a:prstGeom prst="rect">
            <a:avLst/>
          </a:prstGeom>
          <a:solidFill>
            <a:schemeClr val="bg1"/>
          </a:solidFill>
          <a:ln w="3175" algn="ctr">
            <a:solidFill>
              <a:srgbClr val="7EA4C0"/>
            </a:solidFill>
            <a:miter lim="800000"/>
            <a:headEnd/>
            <a:tailEnd/>
          </a:ln>
          <a:effectLst>
            <a:outerShdw dist="35921" dir="2700000" algn="ctr" rotWithShape="0">
              <a:srgbClr val="EAEAEA"/>
            </a:outerShdw>
          </a:effectLst>
        </p:spPr>
        <p:txBody>
          <a:bodyPr lIns="180000" tIns="0" rIns="36000" bIns="0" anchor="ctr"/>
          <a:lstStyle/>
          <a:p>
            <a:pPr marL="265113" algn="ctr">
              <a:defRPr/>
            </a:pPr>
            <a:r>
              <a:rPr lang="en-US" altLang="ko-KR" sz="1000" b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 Generator</a:t>
            </a:r>
            <a:r>
              <a:rPr lang="ko-KR" altLang="en-US" sz="1000" b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를 통해 </a:t>
            </a:r>
            <a:r>
              <a:rPr lang="en-US" altLang="ko-KR" sz="1000" b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Server</a:t>
            </a:r>
            <a:r>
              <a:rPr lang="ko-KR" altLang="en-US" sz="1000" b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에 다국어 </a:t>
            </a:r>
            <a:r>
              <a:rPr lang="en-US" altLang="ko-KR" sz="1000" b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properies File </a:t>
            </a:r>
            <a:r>
              <a:rPr lang="ko-KR" altLang="en-US" sz="1000" b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생성</a:t>
            </a:r>
          </a:p>
        </p:txBody>
      </p:sp>
      <p:cxnSp>
        <p:nvCxnSpPr>
          <p:cNvPr id="116" name="AutoShape 229"/>
          <p:cNvCxnSpPr>
            <a:cxnSpLocks noChangeShapeType="1"/>
          </p:cNvCxnSpPr>
          <p:nvPr/>
        </p:nvCxnSpPr>
        <p:spPr bwMode="auto">
          <a:xfrm flipH="1" flipV="1">
            <a:off x="3126658" y="2722877"/>
            <a:ext cx="803482" cy="389"/>
          </a:xfrm>
          <a:prstGeom prst="straightConnector1">
            <a:avLst/>
          </a:prstGeom>
          <a:noFill/>
          <a:ln w="19050">
            <a:solidFill>
              <a:srgbClr val="808080"/>
            </a:solidFill>
            <a:round/>
            <a:headEnd type="none" w="med" len="sm"/>
            <a:tailEnd type="triangle" w="med" len="sm"/>
          </a:ln>
        </p:spPr>
      </p:cxnSp>
      <p:sp>
        <p:nvSpPr>
          <p:cNvPr id="191" name="Rectangle 14"/>
          <p:cNvSpPr>
            <a:spLocks noChangeArrowheads="1"/>
          </p:cNvSpPr>
          <p:nvPr/>
        </p:nvSpPr>
        <p:spPr bwMode="auto">
          <a:xfrm>
            <a:off x="668260" y="5443449"/>
            <a:ext cx="449414" cy="269908"/>
          </a:xfrm>
          <a:prstGeom prst="rect">
            <a:avLst/>
          </a:prstGeom>
          <a:solidFill>
            <a:srgbClr val="9DB7CF"/>
          </a:solidFill>
          <a:ln w="3175" algn="ctr">
            <a:solidFill>
              <a:srgbClr val="6F99B9"/>
            </a:solidFill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algn="ctr"/>
            <a:r>
              <a:rPr lang="en-US" altLang="ko-KR" sz="1000" b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4</a:t>
            </a:r>
          </a:p>
        </p:txBody>
      </p:sp>
      <p:grpSp>
        <p:nvGrpSpPr>
          <p:cNvPr id="192" name="그룹 173"/>
          <p:cNvGrpSpPr>
            <a:grpSpLocks/>
          </p:cNvGrpSpPr>
          <p:nvPr/>
        </p:nvGrpSpPr>
        <p:grpSpPr bwMode="auto">
          <a:xfrm>
            <a:off x="8205215" y="2531618"/>
            <a:ext cx="1005142" cy="663656"/>
            <a:chOff x="2190752" y="4051299"/>
            <a:chExt cx="990585" cy="663585"/>
          </a:xfrm>
        </p:grpSpPr>
        <p:sp>
          <p:nvSpPr>
            <p:cNvPr id="193" name="AutoShape 37"/>
            <p:cNvSpPr>
              <a:spLocks noChangeArrowheads="1"/>
            </p:cNvSpPr>
            <p:nvPr/>
          </p:nvSpPr>
          <p:spPr bwMode="auto">
            <a:xfrm>
              <a:off x="2190752" y="4051299"/>
              <a:ext cx="990585" cy="234957"/>
            </a:xfrm>
            <a:prstGeom prst="roundRect">
              <a:avLst>
                <a:gd name="adj" fmla="val 16667"/>
              </a:avLst>
            </a:prstGeom>
            <a:solidFill>
              <a:srgbClr val="CCFF66"/>
            </a:solidFill>
            <a:ln w="9525" algn="ctr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latinLnBrk="0"/>
              <a:r>
                <a:rPr lang="en-US" altLang="ko-KR" sz="1000" b="0">
                  <a:latin typeface="맑은 고딕" pitchFamily="50" charset="-127"/>
                  <a:ea typeface="맑은 고딕" pitchFamily="50" charset="-127"/>
                </a:rPr>
                <a:t>message_en</a:t>
              </a:r>
            </a:p>
          </p:txBody>
        </p:sp>
        <p:sp>
          <p:nvSpPr>
            <p:cNvPr id="194" name="AutoShape 37"/>
            <p:cNvSpPr>
              <a:spLocks noChangeArrowheads="1"/>
            </p:cNvSpPr>
            <p:nvPr/>
          </p:nvSpPr>
          <p:spPr bwMode="auto">
            <a:xfrm>
              <a:off x="2190752" y="4264026"/>
              <a:ext cx="990585" cy="234957"/>
            </a:xfrm>
            <a:prstGeom prst="roundRect">
              <a:avLst>
                <a:gd name="adj" fmla="val 16667"/>
              </a:avLst>
            </a:prstGeom>
            <a:solidFill>
              <a:srgbClr val="CCFF66"/>
            </a:solidFill>
            <a:ln w="9525" algn="ctr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latinLnBrk="0"/>
              <a:r>
                <a:rPr lang="en-US" altLang="ko-KR" sz="1000" b="0">
                  <a:latin typeface="맑은 고딕" pitchFamily="50" charset="-127"/>
                  <a:ea typeface="맑은 고딕" pitchFamily="50" charset="-127"/>
                </a:rPr>
                <a:t>message_ko</a:t>
              </a:r>
            </a:p>
          </p:txBody>
        </p:sp>
        <p:sp>
          <p:nvSpPr>
            <p:cNvPr id="195" name="AutoShape 37"/>
            <p:cNvSpPr>
              <a:spLocks noChangeArrowheads="1"/>
            </p:cNvSpPr>
            <p:nvPr/>
          </p:nvSpPr>
          <p:spPr bwMode="auto">
            <a:xfrm>
              <a:off x="2190752" y="4479926"/>
              <a:ext cx="990585" cy="234958"/>
            </a:xfrm>
            <a:prstGeom prst="roundRect">
              <a:avLst>
                <a:gd name="adj" fmla="val 16667"/>
              </a:avLst>
            </a:prstGeom>
            <a:solidFill>
              <a:srgbClr val="CCFF66"/>
            </a:solidFill>
            <a:ln w="9525" algn="ctr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latinLnBrk="0"/>
              <a:r>
                <a:rPr lang="en-US" altLang="ko-KR" sz="1000" b="0" dirty="0" err="1" smtClean="0">
                  <a:latin typeface="맑은 고딕" pitchFamily="50" charset="-127"/>
                  <a:ea typeface="맑은 고딕" pitchFamily="50" charset="-127"/>
                </a:rPr>
                <a:t>message_ch</a:t>
              </a:r>
              <a:endParaRPr lang="en-US" altLang="ko-KR" sz="1000" b="0" dirty="0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pic>
        <p:nvPicPr>
          <p:cNvPr id="197" name="Picture 3" descr="D:\Downloads\xml문서.jpg"/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36" r="9236"/>
          <a:stretch/>
        </p:blipFill>
        <p:spPr bwMode="auto">
          <a:xfrm>
            <a:off x="3952868" y="2428868"/>
            <a:ext cx="642942" cy="72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7" name="Group 230"/>
          <p:cNvGrpSpPr>
            <a:grpSpLocks/>
          </p:cNvGrpSpPr>
          <p:nvPr/>
        </p:nvGrpSpPr>
        <p:grpSpPr bwMode="auto">
          <a:xfrm>
            <a:off x="3454953" y="2545443"/>
            <a:ext cx="286723" cy="306425"/>
            <a:chOff x="2053" y="1743"/>
            <a:chExt cx="178" cy="193"/>
          </a:xfrm>
        </p:grpSpPr>
        <p:pic>
          <p:nvPicPr>
            <p:cNvPr id="118" name="Picture 231" descr="젤리원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2053" y="1758"/>
              <a:ext cx="178" cy="17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19" name="Text Box 232"/>
            <p:cNvSpPr txBox="1">
              <a:spLocks noChangeArrowheads="1"/>
            </p:cNvSpPr>
            <p:nvPr/>
          </p:nvSpPr>
          <p:spPr bwMode="auto">
            <a:xfrm>
              <a:off x="2118" y="1743"/>
              <a:ext cx="44" cy="18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lIns="0" tIns="45715" rIns="0" bIns="45715">
              <a:spAutoFit/>
            </a:bodyPr>
            <a:lstStyle/>
            <a:p>
              <a:pPr algn="ctr" latinLnBrk="0">
                <a:lnSpc>
                  <a:spcPct val="130000"/>
                </a:lnSpc>
              </a:pPr>
              <a:r>
                <a:rPr lang="en-US" altLang="ko-KR" sz="1000" b="0" i="1" dirty="0">
                  <a:latin typeface="맑은 고딕" pitchFamily="50" charset="-127"/>
                  <a:ea typeface="맑은 고딕" pitchFamily="50" charset="-127"/>
                </a:rPr>
                <a:t>2</a:t>
              </a:r>
            </a:p>
          </p:txBody>
        </p:sp>
      </p:grpSp>
      <p:sp>
        <p:nvSpPr>
          <p:cNvPr id="95" name="Rectangle 559"/>
          <p:cNvSpPr>
            <a:spLocks noChangeArrowheads="1"/>
          </p:cNvSpPr>
          <p:nvPr/>
        </p:nvSpPr>
        <p:spPr bwMode="auto">
          <a:xfrm>
            <a:off x="3995731" y="2389125"/>
            <a:ext cx="571504" cy="33978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lang="en-US" altLang="ko-KR" sz="900" b="1" dirty="0" smtClean="0">
                <a:gradFill>
                  <a:gsLst>
                    <a:gs pos="5000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0"/>
                </a:gradFill>
                <a:latin typeface="맑은 고딕" pitchFamily="50" charset="-127"/>
                <a:ea typeface="맑은 고딕" pitchFamily="50" charset="-127"/>
              </a:rPr>
              <a:t>Properties File</a:t>
            </a:r>
            <a:endParaRPr lang="ko-KR" altLang="en-US" sz="900" b="1" dirty="0">
              <a:gradFill>
                <a:gsLst>
                  <a:gs pos="50000">
                    <a:schemeClr val="tx1">
                      <a:lumMod val="85000"/>
                      <a:lumOff val="15000"/>
                    </a:schemeClr>
                  </a:gs>
                  <a:gs pos="100000">
                    <a:schemeClr val="tx1">
                      <a:lumMod val="85000"/>
                      <a:lumOff val="15000"/>
                    </a:schemeClr>
                  </a:gs>
                </a:gsLst>
                <a:lin ang="5400000" scaled="0"/>
              </a:gra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6" name="슬라이드 번호 개체 틀 5"/>
          <p:cNvSpPr txBox="1">
            <a:spLocks/>
          </p:cNvSpPr>
          <p:nvPr/>
        </p:nvSpPr>
        <p:spPr>
          <a:xfrm>
            <a:off x="3797300" y="6492899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b="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dirty="0" smtClean="0"/>
              <a:t>- 16</a:t>
            </a:r>
            <a:r>
              <a:rPr lang="ko-KR" altLang="en-US" dirty="0" smtClean="0"/>
              <a:t> </a:t>
            </a:r>
            <a:r>
              <a:rPr lang="en-US" altLang="ko-KR" dirty="0" smtClean="0"/>
              <a:t>-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93"/>
          <p:cNvSpPr>
            <a:spLocks noChangeArrowheads="1"/>
          </p:cNvSpPr>
          <p:nvPr/>
        </p:nvSpPr>
        <p:spPr bwMode="auto">
          <a:xfrm>
            <a:off x="508790" y="2128344"/>
            <a:ext cx="2729698" cy="3881951"/>
          </a:xfrm>
          <a:prstGeom prst="rect">
            <a:avLst/>
          </a:prstGeom>
          <a:solidFill>
            <a:schemeClr val="bg1"/>
          </a:solidFill>
          <a:ln w="9525" algn="ctr">
            <a:solidFill>
              <a:srgbClr val="588D9A"/>
            </a:solidFill>
            <a:miter lim="800000"/>
            <a:headEnd/>
            <a:tailEnd/>
          </a:ln>
          <a:effectLst>
            <a:outerShdw dist="35921" dir="2700000" algn="ctr" rotWithShape="0">
              <a:srgbClr val="CCECFF"/>
            </a:outerShdw>
          </a:effectLst>
        </p:spPr>
        <p:txBody>
          <a:bodyPr lIns="53976" tIns="35985" rIns="0" bIns="45702"/>
          <a:lstStyle/>
          <a:p>
            <a:pPr algn="ctr">
              <a:defRPr/>
            </a:pPr>
            <a:endParaRPr lang="ko-KR" altLang="en-US" sz="1100" b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2" name="Rectangle 93"/>
          <p:cNvSpPr>
            <a:spLocks noChangeArrowheads="1"/>
          </p:cNvSpPr>
          <p:nvPr/>
        </p:nvSpPr>
        <p:spPr bwMode="auto">
          <a:xfrm>
            <a:off x="595282" y="2285992"/>
            <a:ext cx="2500330" cy="3500462"/>
          </a:xfrm>
          <a:prstGeom prst="rect">
            <a:avLst/>
          </a:prstGeom>
          <a:solidFill>
            <a:schemeClr val="bg1"/>
          </a:solidFill>
          <a:ln w="9525" algn="ctr">
            <a:solidFill>
              <a:srgbClr val="588D9A"/>
            </a:solidFill>
            <a:miter lim="800000"/>
            <a:headEnd/>
            <a:tailEnd/>
          </a:ln>
          <a:effectLst>
            <a:outerShdw dist="35921" dir="2700000" algn="ctr" rotWithShape="0">
              <a:srgbClr val="CCECFF"/>
            </a:outerShdw>
          </a:effectLst>
        </p:spPr>
        <p:txBody>
          <a:bodyPr lIns="53976" tIns="35985" rIns="0" bIns="45702"/>
          <a:lstStyle/>
          <a:p>
            <a:pPr algn="ctr">
              <a:defRPr/>
            </a:pPr>
            <a:endParaRPr lang="ko-KR" altLang="en-US" sz="1100" b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" name="Rectangle 93"/>
          <p:cNvSpPr>
            <a:spLocks noChangeArrowheads="1"/>
          </p:cNvSpPr>
          <p:nvPr/>
        </p:nvSpPr>
        <p:spPr bwMode="auto">
          <a:xfrm>
            <a:off x="7552708" y="2118817"/>
            <a:ext cx="1900886" cy="3881951"/>
          </a:xfrm>
          <a:prstGeom prst="rect">
            <a:avLst/>
          </a:prstGeom>
          <a:solidFill>
            <a:schemeClr val="bg1"/>
          </a:solidFill>
          <a:ln w="9525" algn="ctr">
            <a:solidFill>
              <a:srgbClr val="588D9A"/>
            </a:solidFill>
            <a:miter lim="800000"/>
            <a:headEnd/>
            <a:tailEnd/>
          </a:ln>
          <a:effectLst>
            <a:outerShdw dist="35921" dir="2700000" algn="ctr" rotWithShape="0">
              <a:srgbClr val="CCECFF"/>
            </a:outerShdw>
          </a:effectLst>
        </p:spPr>
        <p:txBody>
          <a:bodyPr lIns="53976" tIns="35985" rIns="0" bIns="45702"/>
          <a:lstStyle/>
          <a:p>
            <a:pPr algn="ctr">
              <a:defRPr/>
            </a:pPr>
            <a:endParaRPr lang="ko-KR" altLang="en-US" sz="1100" b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0" name="Text Box 269"/>
          <p:cNvSpPr txBox="1">
            <a:spLocks noChangeArrowheads="1"/>
          </p:cNvSpPr>
          <p:nvPr/>
        </p:nvSpPr>
        <p:spPr bwMode="auto">
          <a:xfrm>
            <a:off x="7596206" y="3929066"/>
            <a:ext cx="1785950" cy="1857602"/>
          </a:xfrm>
          <a:prstGeom prst="rect">
            <a:avLst/>
          </a:prstGeom>
          <a:solidFill>
            <a:schemeClr val="bg1"/>
          </a:solidFill>
          <a:ln w="9525" algn="ctr">
            <a:solidFill>
              <a:srgbClr val="588D9A"/>
            </a:solidFill>
            <a:miter lim="800000"/>
            <a:headEnd/>
            <a:tailEnd/>
          </a:ln>
          <a:effectLst>
            <a:outerShdw dist="35921" dir="2700000" algn="ctr" rotWithShape="0">
              <a:srgbClr val="CCECFF"/>
            </a:outerShdw>
          </a:effectLst>
        </p:spPr>
        <p:txBody>
          <a:bodyPr lIns="53976" tIns="35985" rIns="0" bIns="45702"/>
          <a:lstStyle/>
          <a:p>
            <a:pPr marL="104775" indent="-104775" algn="ctr" defTabSz="1076325">
              <a:buClr>
                <a:srgbClr val="808080"/>
              </a:buClr>
              <a:buSzPct val="90000"/>
              <a:defRPr/>
            </a:pPr>
            <a:endParaRPr lang="ko-KR" altLang="en-US" sz="1000" b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7" name="Rectangle 93"/>
          <p:cNvSpPr>
            <a:spLocks noChangeArrowheads="1"/>
          </p:cNvSpPr>
          <p:nvPr/>
        </p:nvSpPr>
        <p:spPr bwMode="auto">
          <a:xfrm>
            <a:off x="3363780" y="2143116"/>
            <a:ext cx="4071966" cy="3854630"/>
          </a:xfrm>
          <a:prstGeom prst="rect">
            <a:avLst/>
          </a:prstGeom>
          <a:solidFill>
            <a:schemeClr val="bg1"/>
          </a:solidFill>
          <a:ln w="9525" algn="ctr">
            <a:solidFill>
              <a:srgbClr val="588D9A"/>
            </a:solidFill>
            <a:miter lim="800000"/>
            <a:headEnd/>
            <a:tailEnd/>
          </a:ln>
          <a:effectLst>
            <a:outerShdw dist="35921" dir="2700000" algn="ctr" rotWithShape="0">
              <a:srgbClr val="CCECFF"/>
            </a:outerShdw>
          </a:effectLst>
        </p:spPr>
        <p:txBody>
          <a:bodyPr lIns="53976" tIns="35985" rIns="0" bIns="45702"/>
          <a:lstStyle/>
          <a:p>
            <a:pPr algn="ctr">
              <a:defRPr/>
            </a:pPr>
            <a:endParaRPr lang="ko-KR" altLang="en-US" sz="1100" b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1" name="Text Box 269"/>
          <p:cNvSpPr txBox="1">
            <a:spLocks noChangeArrowheads="1"/>
          </p:cNvSpPr>
          <p:nvPr/>
        </p:nvSpPr>
        <p:spPr bwMode="auto">
          <a:xfrm>
            <a:off x="3452802" y="3929066"/>
            <a:ext cx="3929090" cy="1857602"/>
          </a:xfrm>
          <a:prstGeom prst="rect">
            <a:avLst/>
          </a:prstGeom>
          <a:solidFill>
            <a:schemeClr val="bg1"/>
          </a:solidFill>
          <a:ln w="9525" algn="ctr">
            <a:solidFill>
              <a:srgbClr val="588D9A"/>
            </a:solidFill>
            <a:miter lim="800000"/>
            <a:headEnd/>
            <a:tailEnd/>
          </a:ln>
          <a:effectLst>
            <a:outerShdw dist="35921" dir="2700000" algn="ctr" rotWithShape="0">
              <a:srgbClr val="CCECFF"/>
            </a:outerShdw>
          </a:effectLst>
        </p:spPr>
        <p:txBody>
          <a:bodyPr lIns="53976" tIns="35985" rIns="0" bIns="45702"/>
          <a:lstStyle/>
          <a:p>
            <a:pPr marL="104775" indent="-104775" algn="ctr" defTabSz="1076325">
              <a:buClr>
                <a:srgbClr val="808080"/>
              </a:buClr>
              <a:buSzPct val="90000"/>
              <a:defRPr/>
            </a:pPr>
            <a:endParaRPr lang="ko-KR" altLang="en-US" sz="1000" b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다국어처리</a:t>
            </a:r>
            <a:r>
              <a:rPr lang="en-US" altLang="ko-KR" dirty="0" smtClean="0"/>
              <a:t>(2/2) </a:t>
            </a:r>
            <a:endParaRPr lang="ko-KR" altLang="en-US" dirty="0"/>
          </a:p>
        </p:txBody>
      </p:sp>
      <p:sp>
        <p:nvSpPr>
          <p:cNvPr id="225" name="텍스트 개체 틀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 smtClean="0"/>
              <a:t>5</a:t>
            </a:r>
            <a:endParaRPr lang="ko-KR" altLang="en-US" dirty="0"/>
          </a:p>
        </p:txBody>
      </p:sp>
      <p:sp>
        <p:nvSpPr>
          <p:cNvPr id="224" name="Rectangle 108"/>
          <p:cNvSpPr>
            <a:spLocks noChangeArrowheads="1"/>
          </p:cNvSpPr>
          <p:nvPr/>
        </p:nvSpPr>
        <p:spPr bwMode="auto">
          <a:xfrm>
            <a:off x="344488" y="980728"/>
            <a:ext cx="9217025" cy="648072"/>
          </a:xfrm>
          <a:prstGeom prst="rect">
            <a:avLst/>
          </a:prstGeom>
          <a:solidFill>
            <a:srgbClr val="F0F8FA">
              <a:alpha val="50000"/>
            </a:srgbClr>
          </a:solidFill>
          <a:ln w="9525">
            <a:solidFill>
              <a:schemeClr val="tx2">
                <a:lumMod val="20000"/>
                <a:lumOff val="8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atinLnBrk="0"/>
            <a:r>
              <a:rPr kumimoji="1" lang="ko-KR" altLang="en-US" sz="1400" dirty="0" smtClean="0">
                <a:solidFill>
                  <a:srgbClr val="000000"/>
                </a:solidFill>
                <a:latin typeface="+mn-ea"/>
              </a:rPr>
              <a:t>다국어 </a:t>
            </a:r>
            <a:r>
              <a:rPr kumimoji="1" lang="en-US" altLang="ko-KR" sz="1400" dirty="0" smtClean="0">
                <a:solidFill>
                  <a:srgbClr val="000000"/>
                </a:solidFill>
                <a:latin typeface="+mn-ea"/>
              </a:rPr>
              <a:t>Properties </a:t>
            </a:r>
            <a:r>
              <a:rPr kumimoji="1" lang="ko-KR" altLang="en-US" sz="1400" dirty="0" smtClean="0">
                <a:solidFill>
                  <a:srgbClr val="000000"/>
                </a:solidFill>
                <a:latin typeface="+mn-ea"/>
              </a:rPr>
              <a:t>파일을 설정하면 개발자는 자신의 언어</a:t>
            </a:r>
            <a:r>
              <a:rPr kumimoji="1" lang="en-US" altLang="ko-KR" sz="1400" dirty="0" smtClean="0">
                <a:solidFill>
                  <a:srgbClr val="000000"/>
                </a:solidFill>
                <a:latin typeface="+mn-ea"/>
              </a:rPr>
              <a:t>(</a:t>
            </a:r>
            <a:r>
              <a:rPr kumimoji="1" lang="ko-KR" altLang="en-US" sz="1400" dirty="0" smtClean="0">
                <a:solidFill>
                  <a:srgbClr val="000000"/>
                </a:solidFill>
                <a:latin typeface="+mn-ea"/>
              </a:rPr>
              <a:t>한국</a:t>
            </a:r>
            <a:r>
              <a:rPr kumimoji="1" lang="en-US" altLang="ko-KR" sz="1400" dirty="0" smtClean="0">
                <a:solidFill>
                  <a:srgbClr val="000000"/>
                </a:solidFill>
                <a:latin typeface="+mn-ea"/>
              </a:rPr>
              <a:t>,</a:t>
            </a:r>
            <a:r>
              <a:rPr kumimoji="1" lang="ko-KR" altLang="en-US" sz="1400" dirty="0" smtClean="0">
                <a:solidFill>
                  <a:srgbClr val="000000"/>
                </a:solidFill>
                <a:latin typeface="+mn-ea"/>
              </a:rPr>
              <a:t>일본</a:t>
            </a:r>
            <a:r>
              <a:rPr kumimoji="1" lang="en-US" altLang="ko-KR" sz="1400" dirty="0" smtClean="0">
                <a:solidFill>
                  <a:srgbClr val="000000"/>
                </a:solidFill>
                <a:latin typeface="+mn-ea"/>
              </a:rPr>
              <a:t>,</a:t>
            </a:r>
            <a:r>
              <a:rPr kumimoji="1" lang="ko-KR" altLang="en-US" sz="1400" dirty="0" smtClean="0">
                <a:solidFill>
                  <a:srgbClr val="000000"/>
                </a:solidFill>
                <a:latin typeface="+mn-ea"/>
              </a:rPr>
              <a:t>중국</a:t>
            </a:r>
            <a:r>
              <a:rPr kumimoji="1" lang="en-US" altLang="ko-KR" sz="1400" dirty="0" smtClean="0">
                <a:solidFill>
                  <a:srgbClr val="000000"/>
                </a:solidFill>
                <a:latin typeface="+mn-ea"/>
              </a:rPr>
              <a:t>)</a:t>
            </a:r>
            <a:r>
              <a:rPr kumimoji="1" lang="ko-KR" altLang="en-US" sz="1400" dirty="0" smtClean="0">
                <a:solidFill>
                  <a:srgbClr val="000000"/>
                </a:solidFill>
                <a:latin typeface="+mn-ea"/>
              </a:rPr>
              <a:t>로 </a:t>
            </a:r>
            <a:r>
              <a:rPr kumimoji="1" lang="en-US" altLang="ko-KR" sz="1400" dirty="0" smtClean="0">
                <a:solidFill>
                  <a:srgbClr val="000000"/>
                </a:solidFill>
                <a:latin typeface="+mn-ea"/>
              </a:rPr>
              <a:t>Label </a:t>
            </a:r>
            <a:r>
              <a:rPr kumimoji="1" lang="ko-KR" altLang="en-US" sz="1400" dirty="0" smtClean="0">
                <a:solidFill>
                  <a:srgbClr val="000000"/>
                </a:solidFill>
                <a:latin typeface="+mn-ea"/>
              </a:rPr>
              <a:t>및 </a:t>
            </a:r>
            <a:r>
              <a:rPr kumimoji="1" lang="en-US" altLang="ko-KR" sz="1400" dirty="0" smtClean="0">
                <a:solidFill>
                  <a:srgbClr val="000000"/>
                </a:solidFill>
                <a:latin typeface="+mn-ea"/>
              </a:rPr>
              <a:t>Message</a:t>
            </a:r>
            <a:r>
              <a:rPr kumimoji="1" lang="ko-KR" altLang="en-US" sz="1400" dirty="0" smtClean="0">
                <a:solidFill>
                  <a:srgbClr val="000000"/>
                </a:solidFill>
                <a:latin typeface="+mn-ea"/>
              </a:rPr>
              <a:t>를 개발하더라도 사용자에게는 사용자가 설정한 언어로 화면을 서비스합니다</a:t>
            </a:r>
            <a:r>
              <a:rPr kumimoji="1" lang="en-US" altLang="ko-KR" sz="1400" dirty="0" smtClean="0">
                <a:solidFill>
                  <a:srgbClr val="000000"/>
                </a:solidFill>
                <a:latin typeface="+mn-ea"/>
              </a:rPr>
              <a:t>.</a:t>
            </a:r>
            <a:r>
              <a:rPr kumimoji="1" lang="ko-KR" altLang="en-US" sz="1400" dirty="0" smtClean="0">
                <a:solidFill>
                  <a:srgbClr val="000000"/>
                </a:solidFill>
                <a:latin typeface="+mn-ea"/>
              </a:rPr>
              <a:t> </a:t>
            </a:r>
          </a:p>
        </p:txBody>
      </p:sp>
      <p:sp>
        <p:nvSpPr>
          <p:cNvPr id="14" name="Rectangle 93"/>
          <p:cNvSpPr>
            <a:spLocks noChangeArrowheads="1"/>
          </p:cNvSpPr>
          <p:nvPr/>
        </p:nvSpPr>
        <p:spPr bwMode="auto">
          <a:xfrm>
            <a:off x="344488" y="1698079"/>
            <a:ext cx="9217025" cy="4467771"/>
          </a:xfrm>
          <a:prstGeom prst="rect">
            <a:avLst/>
          </a:prstGeom>
          <a:noFill/>
          <a:ln w="9525" algn="ctr">
            <a:solidFill>
              <a:srgbClr val="588D9A"/>
            </a:solidFill>
            <a:miter lim="800000"/>
            <a:headEnd/>
            <a:tailEnd/>
          </a:ln>
          <a:effectLst>
            <a:outerShdw dist="35921" dir="2700000" algn="ctr" rotWithShape="0">
              <a:srgbClr val="CCECFF"/>
            </a:outerShdw>
          </a:effectLst>
        </p:spPr>
        <p:txBody>
          <a:bodyPr lIns="53976" tIns="35985" rIns="0" bIns="45702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b="0" kern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" name="Rectangle 128"/>
          <p:cNvSpPr>
            <a:spLocks noChangeArrowheads="1"/>
          </p:cNvSpPr>
          <p:nvPr/>
        </p:nvSpPr>
        <p:spPr bwMode="auto">
          <a:xfrm>
            <a:off x="7551144" y="1855260"/>
            <a:ext cx="1911242" cy="268321"/>
          </a:xfrm>
          <a:prstGeom prst="rect">
            <a:avLst/>
          </a:prstGeom>
          <a:blipFill dpi="0" rotWithShape="1">
            <a:blip r:embed="rId2" cstate="print">
              <a:lum bright="12000"/>
            </a:blip>
            <a:srcRect/>
            <a:stretch>
              <a:fillRect/>
            </a:stretch>
          </a:blipFill>
          <a:ln w="9525" algn="ctr">
            <a:solidFill>
              <a:srgbClr val="3991BD"/>
            </a:solidFill>
            <a:miter lim="800000"/>
            <a:headEnd/>
            <a:tailEnd/>
          </a:ln>
          <a:effectLst>
            <a:outerShdw dist="35921" dir="2700000" algn="ctr" rotWithShape="0">
              <a:srgbClr val="CCECFF"/>
            </a:outerShdw>
          </a:effectLst>
        </p:spPr>
        <p:txBody>
          <a:bodyPr wrap="none" anchor="ctr"/>
          <a:lstStyle/>
          <a:p>
            <a:pPr algn="ctr" defTabSz="968375">
              <a:lnSpc>
                <a:spcPct val="100000"/>
              </a:lnSpc>
            </a:pPr>
            <a:r>
              <a:rPr lang="ko-KR" altLang="en-US" sz="11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사용자 화면</a:t>
            </a:r>
            <a:endParaRPr lang="en-US" altLang="ko-KR" sz="11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" name="Rectangle 128"/>
          <p:cNvSpPr>
            <a:spLocks noChangeArrowheads="1"/>
          </p:cNvSpPr>
          <p:nvPr/>
        </p:nvSpPr>
        <p:spPr bwMode="auto">
          <a:xfrm>
            <a:off x="508790" y="1855260"/>
            <a:ext cx="2729698" cy="268321"/>
          </a:xfrm>
          <a:prstGeom prst="rect">
            <a:avLst/>
          </a:prstGeom>
          <a:blipFill dpi="0" rotWithShape="1">
            <a:blip r:embed="rId2" cstate="print">
              <a:lum bright="12000"/>
            </a:blip>
            <a:srcRect/>
            <a:stretch>
              <a:fillRect/>
            </a:stretch>
          </a:blipFill>
          <a:ln w="9525" algn="ctr">
            <a:solidFill>
              <a:srgbClr val="3991BD"/>
            </a:solidFill>
            <a:miter lim="800000"/>
            <a:headEnd/>
            <a:tailEnd/>
          </a:ln>
          <a:effectLst>
            <a:outerShdw dist="35921" dir="2700000" algn="ctr" rotWithShape="0">
              <a:srgbClr val="CCECFF"/>
            </a:outerShdw>
          </a:effectLst>
        </p:spPr>
        <p:txBody>
          <a:bodyPr wrap="none" anchor="ctr"/>
          <a:lstStyle/>
          <a:p>
            <a:pPr algn="ctr" defTabSz="968375">
              <a:lnSpc>
                <a:spcPct val="100000"/>
              </a:lnSpc>
            </a:pPr>
            <a:r>
              <a:rPr lang="ko-KR" altLang="en-US" sz="11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다국어 </a:t>
            </a:r>
            <a:r>
              <a:rPr lang="en-US" altLang="ko-KR" sz="11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Properties </a:t>
            </a:r>
            <a:r>
              <a:rPr lang="ko-KR" altLang="en-US" sz="11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파일</a:t>
            </a:r>
            <a:endParaRPr lang="en-US" altLang="ko-KR" sz="11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1" name="Rectangle 108"/>
          <p:cNvSpPr>
            <a:spLocks noChangeArrowheads="1"/>
          </p:cNvSpPr>
          <p:nvPr/>
        </p:nvSpPr>
        <p:spPr bwMode="auto">
          <a:xfrm>
            <a:off x="641553" y="2605299"/>
            <a:ext cx="2428892" cy="3000397"/>
          </a:xfrm>
          <a:prstGeom prst="rect">
            <a:avLst/>
          </a:prstGeom>
          <a:solidFill>
            <a:srgbClr val="F0F8FA">
              <a:alpha val="50000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88900" indent="-88900">
              <a:buFont typeface="Arial" pitchFamily="34" charset="0"/>
              <a:buChar char="•"/>
            </a:pPr>
            <a:r>
              <a:rPr kumimoji="1" lang="en-US" altLang="ko-KR" sz="1050" dirty="0" smtClean="0">
                <a:solidFill>
                  <a:srgbClr val="000000"/>
                </a:solidFill>
                <a:latin typeface="+mn-ea"/>
              </a:rPr>
              <a:t>message-</a:t>
            </a:r>
            <a:r>
              <a:rPr kumimoji="1" lang="en-US" altLang="ko-KR" sz="1050" dirty="0" err="1" smtClean="0">
                <a:solidFill>
                  <a:srgbClr val="000000"/>
                </a:solidFill>
                <a:latin typeface="+mn-ea"/>
              </a:rPr>
              <a:t>common_ko.properties</a:t>
            </a:r>
            <a:r>
              <a:rPr kumimoji="1" lang="ko-KR" altLang="en-US" sz="1050" dirty="0" smtClean="0">
                <a:solidFill>
                  <a:srgbClr val="000000"/>
                </a:solidFill>
                <a:latin typeface="+mn-ea"/>
              </a:rPr>
              <a:t> </a:t>
            </a:r>
            <a:endParaRPr kumimoji="1" lang="en-US" altLang="ko-KR" sz="1050" dirty="0" smtClean="0">
              <a:solidFill>
                <a:srgbClr val="000000"/>
              </a:solidFill>
              <a:latin typeface="+mn-ea"/>
            </a:endParaRPr>
          </a:p>
          <a:p>
            <a:pPr marL="88900" indent="-88900"/>
            <a:r>
              <a:rPr kumimoji="1" lang="ko-KR" altLang="en-US" sz="1050" dirty="0" smtClean="0">
                <a:solidFill>
                  <a:srgbClr val="000000"/>
                </a:solidFill>
                <a:latin typeface="+mn-ea"/>
              </a:rPr>
              <a:t>  저장</a:t>
            </a:r>
            <a:r>
              <a:rPr kumimoji="1" lang="en-US" altLang="ko-KR" sz="1050" dirty="0" smtClean="0">
                <a:solidFill>
                  <a:srgbClr val="000000"/>
                </a:solidFill>
                <a:latin typeface="+mn-ea"/>
              </a:rPr>
              <a:t>=</a:t>
            </a:r>
            <a:r>
              <a:rPr kumimoji="1" lang="ko-KR" altLang="en-US" sz="1050" dirty="0" smtClean="0">
                <a:solidFill>
                  <a:srgbClr val="000000"/>
                </a:solidFill>
                <a:latin typeface="+mn-ea"/>
              </a:rPr>
              <a:t>저장</a:t>
            </a:r>
            <a:endParaRPr kumimoji="1" lang="en-US" altLang="ko-KR" sz="1050" dirty="0" smtClean="0">
              <a:solidFill>
                <a:srgbClr val="000000"/>
              </a:solidFill>
              <a:latin typeface="+mn-ea"/>
            </a:endParaRPr>
          </a:p>
          <a:p>
            <a:pPr marL="88900" indent="-88900"/>
            <a:r>
              <a:rPr kumimoji="1" lang="ko-KR" altLang="en-US" sz="1050" dirty="0" smtClean="0">
                <a:solidFill>
                  <a:srgbClr val="000000"/>
                </a:solidFill>
                <a:latin typeface="+mn-ea"/>
              </a:rPr>
              <a:t>  신규</a:t>
            </a:r>
            <a:r>
              <a:rPr kumimoji="1" lang="en-US" altLang="ko-KR" sz="1050" dirty="0" smtClean="0">
                <a:solidFill>
                  <a:srgbClr val="000000"/>
                </a:solidFill>
                <a:latin typeface="+mn-ea"/>
              </a:rPr>
              <a:t>=</a:t>
            </a:r>
            <a:r>
              <a:rPr kumimoji="1" lang="ko-KR" altLang="en-US" sz="1050" dirty="0" smtClean="0">
                <a:solidFill>
                  <a:srgbClr val="000000"/>
                </a:solidFill>
                <a:latin typeface="+mn-ea"/>
              </a:rPr>
              <a:t>신규</a:t>
            </a:r>
            <a:endParaRPr kumimoji="1" lang="en-US" altLang="ko-KR" sz="1050" dirty="0" smtClean="0">
              <a:solidFill>
                <a:srgbClr val="000000"/>
              </a:solidFill>
              <a:latin typeface="+mn-ea"/>
            </a:endParaRPr>
          </a:p>
          <a:p>
            <a:pPr marL="88900" indent="-88900"/>
            <a:r>
              <a:rPr kumimoji="1" lang="ko-KR" altLang="en-US" sz="1050" dirty="0" smtClean="0">
                <a:solidFill>
                  <a:srgbClr val="000000"/>
                </a:solidFill>
                <a:latin typeface="+mn-ea"/>
              </a:rPr>
              <a:t>  삭제</a:t>
            </a:r>
            <a:r>
              <a:rPr kumimoji="1" lang="en-US" altLang="ko-KR" sz="1050" dirty="0" smtClean="0">
                <a:solidFill>
                  <a:srgbClr val="000000"/>
                </a:solidFill>
                <a:latin typeface="+mn-ea"/>
              </a:rPr>
              <a:t>=</a:t>
            </a:r>
            <a:r>
              <a:rPr kumimoji="1" lang="ko-KR" altLang="en-US" sz="1050" dirty="0" smtClean="0">
                <a:solidFill>
                  <a:srgbClr val="000000"/>
                </a:solidFill>
                <a:latin typeface="+mn-ea"/>
              </a:rPr>
              <a:t>삭제</a:t>
            </a:r>
            <a:endParaRPr kumimoji="1" lang="en-US" altLang="ko-KR" sz="1050" dirty="0" smtClean="0">
              <a:solidFill>
                <a:srgbClr val="000000"/>
              </a:solidFill>
              <a:latin typeface="+mn-ea"/>
            </a:endParaRPr>
          </a:p>
          <a:p>
            <a:pPr marL="88900" indent="-88900"/>
            <a:endParaRPr kumimoji="1" lang="en-US" altLang="ko-KR" sz="1050" dirty="0" smtClean="0">
              <a:solidFill>
                <a:srgbClr val="000000"/>
              </a:solidFill>
              <a:latin typeface="+mn-ea"/>
            </a:endParaRPr>
          </a:p>
          <a:p>
            <a:pPr marL="88900" indent="-88900">
              <a:buFont typeface="Arial" pitchFamily="34" charset="0"/>
              <a:buChar char="•"/>
            </a:pPr>
            <a:r>
              <a:rPr kumimoji="1" lang="en-US" altLang="ko-KR" sz="1050" dirty="0" smtClean="0">
                <a:solidFill>
                  <a:srgbClr val="000000"/>
                </a:solidFill>
                <a:latin typeface="+mn-ea"/>
              </a:rPr>
              <a:t>message-</a:t>
            </a:r>
            <a:r>
              <a:rPr kumimoji="1" lang="en-US" altLang="ko-KR" sz="1050" dirty="0" err="1" smtClean="0">
                <a:solidFill>
                  <a:srgbClr val="000000"/>
                </a:solidFill>
                <a:latin typeface="+mn-ea"/>
              </a:rPr>
              <a:t>common_ja.properties</a:t>
            </a:r>
            <a:r>
              <a:rPr kumimoji="1" lang="ko-KR" altLang="en-US" sz="1050" dirty="0" smtClean="0">
                <a:solidFill>
                  <a:srgbClr val="000000"/>
                </a:solidFill>
                <a:latin typeface="+mn-ea"/>
              </a:rPr>
              <a:t> </a:t>
            </a:r>
            <a:endParaRPr kumimoji="1" lang="en-US" altLang="ko-KR" sz="1050" dirty="0" smtClean="0">
              <a:solidFill>
                <a:srgbClr val="000000"/>
              </a:solidFill>
              <a:latin typeface="+mn-ea"/>
            </a:endParaRPr>
          </a:p>
          <a:p>
            <a:pPr marL="88900" indent="-88900"/>
            <a:r>
              <a:rPr kumimoji="1" lang="ko-KR" altLang="en-US" sz="1050" dirty="0" smtClean="0">
                <a:solidFill>
                  <a:srgbClr val="000000"/>
                </a:solidFill>
                <a:latin typeface="+mn-ea"/>
              </a:rPr>
              <a:t>  저장</a:t>
            </a:r>
            <a:r>
              <a:rPr kumimoji="1" lang="en-US" altLang="ko-KR" sz="1050" dirty="0" smtClean="0">
                <a:solidFill>
                  <a:srgbClr val="000000"/>
                </a:solidFill>
                <a:latin typeface="+mn-ea"/>
              </a:rPr>
              <a:t>=</a:t>
            </a:r>
            <a:r>
              <a:rPr kumimoji="1" lang="ko-KR" altLang="en-US" sz="1050" dirty="0" smtClean="0">
                <a:solidFill>
                  <a:srgbClr val="000000"/>
                </a:solidFill>
                <a:latin typeface="+mn-ea"/>
              </a:rPr>
              <a:t>保存</a:t>
            </a:r>
            <a:endParaRPr kumimoji="1" lang="en-US" altLang="ko-KR" sz="1050" dirty="0" smtClean="0">
              <a:solidFill>
                <a:srgbClr val="000000"/>
              </a:solidFill>
              <a:latin typeface="+mn-ea"/>
            </a:endParaRPr>
          </a:p>
          <a:p>
            <a:pPr marL="88900" indent="-88900"/>
            <a:r>
              <a:rPr kumimoji="1" lang="ko-KR" altLang="en-US" sz="1050" dirty="0" smtClean="0">
                <a:solidFill>
                  <a:srgbClr val="000000"/>
                </a:solidFill>
                <a:latin typeface="+mn-ea"/>
              </a:rPr>
              <a:t>  신규</a:t>
            </a:r>
            <a:r>
              <a:rPr kumimoji="1" lang="en-US" altLang="ko-KR" sz="1050" dirty="0" smtClean="0">
                <a:solidFill>
                  <a:srgbClr val="000000"/>
                </a:solidFill>
                <a:latin typeface="+mn-ea"/>
              </a:rPr>
              <a:t>=</a:t>
            </a:r>
            <a:r>
              <a:rPr kumimoji="1" lang="ko-KR" altLang="en-US" sz="1050" dirty="0" smtClean="0">
                <a:solidFill>
                  <a:srgbClr val="000000"/>
                </a:solidFill>
                <a:latin typeface="+mn-ea"/>
              </a:rPr>
              <a:t>新規</a:t>
            </a:r>
            <a:endParaRPr kumimoji="1" lang="en-US" altLang="ko-KR" sz="1050" dirty="0" smtClean="0">
              <a:solidFill>
                <a:srgbClr val="000000"/>
              </a:solidFill>
              <a:latin typeface="+mn-ea"/>
            </a:endParaRPr>
          </a:p>
          <a:p>
            <a:pPr marL="88900" indent="-88900"/>
            <a:r>
              <a:rPr kumimoji="1" lang="ko-KR" altLang="en-US" sz="1050" dirty="0" smtClean="0">
                <a:solidFill>
                  <a:srgbClr val="000000"/>
                </a:solidFill>
                <a:latin typeface="+mn-ea"/>
              </a:rPr>
              <a:t>  삭제</a:t>
            </a:r>
            <a:r>
              <a:rPr kumimoji="1" lang="en-US" altLang="ko-KR" sz="1050" dirty="0" smtClean="0">
                <a:solidFill>
                  <a:srgbClr val="000000"/>
                </a:solidFill>
                <a:latin typeface="+mn-ea"/>
              </a:rPr>
              <a:t>=</a:t>
            </a:r>
            <a:r>
              <a:rPr kumimoji="1" lang="ko-KR" altLang="en-US" sz="1050" dirty="0" smtClean="0">
                <a:solidFill>
                  <a:srgbClr val="000000"/>
                </a:solidFill>
                <a:latin typeface="+mn-ea"/>
              </a:rPr>
              <a:t>削除</a:t>
            </a:r>
            <a:endParaRPr kumimoji="1" lang="en-US" altLang="ko-KR" sz="1050" dirty="0" smtClean="0">
              <a:solidFill>
                <a:srgbClr val="000000"/>
              </a:solidFill>
              <a:latin typeface="+mn-ea"/>
            </a:endParaRPr>
          </a:p>
          <a:p>
            <a:pPr marL="88900" indent="-88900">
              <a:buFont typeface="Arial" pitchFamily="34" charset="0"/>
              <a:buChar char="•"/>
            </a:pPr>
            <a:endParaRPr kumimoji="1" lang="en-US" altLang="ko-KR" sz="1050" dirty="0" smtClean="0">
              <a:solidFill>
                <a:srgbClr val="000000"/>
              </a:solidFill>
              <a:latin typeface="+mn-ea"/>
            </a:endParaRPr>
          </a:p>
          <a:p>
            <a:pPr marL="88900" indent="-88900">
              <a:buFont typeface="Arial" pitchFamily="34" charset="0"/>
              <a:buChar char="•"/>
            </a:pPr>
            <a:r>
              <a:rPr kumimoji="1" lang="en-US" altLang="ko-KR" sz="1050" dirty="0" smtClean="0">
                <a:solidFill>
                  <a:srgbClr val="000000"/>
                </a:solidFill>
                <a:latin typeface="+mn-ea"/>
              </a:rPr>
              <a:t>message-</a:t>
            </a:r>
            <a:r>
              <a:rPr kumimoji="1" lang="en-US" altLang="ko-KR" sz="1050" dirty="0" err="1" smtClean="0">
                <a:solidFill>
                  <a:srgbClr val="000000"/>
                </a:solidFill>
                <a:latin typeface="+mn-ea"/>
              </a:rPr>
              <a:t>common_zh.properties</a:t>
            </a:r>
            <a:r>
              <a:rPr kumimoji="1" lang="ko-KR" altLang="en-US" sz="1050" dirty="0" smtClean="0">
                <a:solidFill>
                  <a:srgbClr val="000000"/>
                </a:solidFill>
                <a:latin typeface="+mn-ea"/>
              </a:rPr>
              <a:t> </a:t>
            </a:r>
            <a:endParaRPr kumimoji="1" lang="en-US" altLang="ko-KR" sz="1050" dirty="0" smtClean="0">
              <a:solidFill>
                <a:srgbClr val="000000"/>
              </a:solidFill>
              <a:latin typeface="+mn-ea"/>
            </a:endParaRPr>
          </a:p>
          <a:p>
            <a:pPr marL="88900" indent="-88900"/>
            <a:r>
              <a:rPr kumimoji="1" lang="ko-KR" altLang="en-US" sz="1050" dirty="0" smtClean="0">
                <a:solidFill>
                  <a:srgbClr val="000000"/>
                </a:solidFill>
                <a:latin typeface="+mn-ea"/>
              </a:rPr>
              <a:t>  저장</a:t>
            </a:r>
            <a:r>
              <a:rPr kumimoji="1" lang="en-US" altLang="ko-KR" sz="1050" dirty="0" smtClean="0">
                <a:solidFill>
                  <a:srgbClr val="000000"/>
                </a:solidFill>
                <a:latin typeface="+mn-ea"/>
              </a:rPr>
              <a:t>=</a:t>
            </a:r>
            <a:r>
              <a:rPr kumimoji="1" lang="ko-KR" altLang="en-US" sz="1050" dirty="0" smtClean="0">
                <a:solidFill>
                  <a:srgbClr val="000000"/>
                </a:solidFill>
                <a:latin typeface="+mn-ea"/>
              </a:rPr>
              <a:t>保护</a:t>
            </a:r>
            <a:endParaRPr kumimoji="1" lang="en-US" altLang="ko-KR" sz="1050" dirty="0" smtClean="0">
              <a:solidFill>
                <a:srgbClr val="000000"/>
              </a:solidFill>
              <a:latin typeface="+mn-ea"/>
            </a:endParaRPr>
          </a:p>
          <a:p>
            <a:pPr marL="88900" indent="-88900"/>
            <a:r>
              <a:rPr kumimoji="1" lang="ko-KR" altLang="en-US" sz="1050" dirty="0" smtClean="0">
                <a:solidFill>
                  <a:srgbClr val="000000"/>
                </a:solidFill>
                <a:latin typeface="+mn-ea"/>
              </a:rPr>
              <a:t>  신규</a:t>
            </a:r>
            <a:r>
              <a:rPr kumimoji="1" lang="en-US" altLang="ko-KR" sz="1050" dirty="0" smtClean="0">
                <a:solidFill>
                  <a:srgbClr val="000000"/>
                </a:solidFill>
                <a:latin typeface="+mn-ea"/>
              </a:rPr>
              <a:t>=</a:t>
            </a:r>
            <a:r>
              <a:rPr kumimoji="1" lang="ko-KR" altLang="en-US" sz="1050" dirty="0" smtClean="0">
                <a:solidFill>
                  <a:srgbClr val="000000"/>
                </a:solidFill>
                <a:latin typeface="+mn-ea"/>
              </a:rPr>
              <a:t>新規</a:t>
            </a:r>
            <a:endParaRPr kumimoji="1" lang="en-US" altLang="ko-KR" sz="1050" dirty="0" smtClean="0">
              <a:solidFill>
                <a:srgbClr val="000000"/>
              </a:solidFill>
              <a:latin typeface="+mn-ea"/>
            </a:endParaRPr>
          </a:p>
          <a:p>
            <a:pPr marL="88900" indent="-88900"/>
            <a:r>
              <a:rPr kumimoji="1" lang="ko-KR" altLang="en-US" sz="1050" dirty="0" smtClean="0">
                <a:solidFill>
                  <a:srgbClr val="000000"/>
                </a:solidFill>
                <a:latin typeface="+mn-ea"/>
              </a:rPr>
              <a:t>  삭제</a:t>
            </a:r>
            <a:r>
              <a:rPr kumimoji="1" lang="en-US" altLang="ko-KR" sz="1050" dirty="0" smtClean="0">
                <a:solidFill>
                  <a:srgbClr val="000000"/>
                </a:solidFill>
                <a:latin typeface="+mn-ea"/>
              </a:rPr>
              <a:t>=</a:t>
            </a:r>
            <a:r>
              <a:rPr kumimoji="1" lang="ko-KR" altLang="en-US" sz="1050" dirty="0" smtClean="0">
                <a:solidFill>
                  <a:srgbClr val="000000"/>
                </a:solidFill>
                <a:latin typeface="+mn-ea"/>
              </a:rPr>
              <a:t>削除</a:t>
            </a:r>
            <a:endParaRPr kumimoji="1" lang="en-US" altLang="ko-KR" sz="1050" dirty="0" smtClean="0">
              <a:solidFill>
                <a:srgbClr val="000000"/>
              </a:solidFill>
              <a:latin typeface="+mn-ea"/>
            </a:endParaRPr>
          </a:p>
          <a:p>
            <a:pPr marL="88900" indent="-88900"/>
            <a:endParaRPr kumimoji="1" lang="en-US" altLang="ko-KR" sz="1050" dirty="0" smtClean="0">
              <a:solidFill>
                <a:srgbClr val="000000"/>
              </a:solidFill>
              <a:latin typeface="+mn-ea"/>
            </a:endParaRPr>
          </a:p>
          <a:p>
            <a:pPr marL="88900" indent="-88900">
              <a:buFont typeface="Arial" pitchFamily="34" charset="0"/>
              <a:buChar char="•"/>
            </a:pPr>
            <a:r>
              <a:rPr kumimoji="1" lang="en-US" altLang="ko-KR" sz="1050" dirty="0" smtClean="0">
                <a:solidFill>
                  <a:srgbClr val="000000"/>
                </a:solidFill>
                <a:latin typeface="+mn-ea"/>
              </a:rPr>
              <a:t>message-</a:t>
            </a:r>
            <a:r>
              <a:rPr kumimoji="1" lang="en-US" altLang="ko-KR" sz="1050" dirty="0" err="1" smtClean="0">
                <a:solidFill>
                  <a:srgbClr val="000000"/>
                </a:solidFill>
                <a:latin typeface="+mn-ea"/>
              </a:rPr>
              <a:t>common_en.properties</a:t>
            </a:r>
            <a:r>
              <a:rPr kumimoji="1" lang="ko-KR" altLang="en-US" sz="1050" dirty="0" smtClean="0">
                <a:solidFill>
                  <a:srgbClr val="000000"/>
                </a:solidFill>
                <a:latin typeface="+mn-ea"/>
              </a:rPr>
              <a:t> </a:t>
            </a:r>
            <a:endParaRPr kumimoji="1" lang="en-US" altLang="ko-KR" sz="1050" dirty="0" smtClean="0">
              <a:solidFill>
                <a:srgbClr val="000000"/>
              </a:solidFill>
              <a:latin typeface="+mn-ea"/>
            </a:endParaRPr>
          </a:p>
          <a:p>
            <a:pPr marL="88900" indent="-88900"/>
            <a:r>
              <a:rPr kumimoji="1" lang="ko-KR" altLang="en-US" sz="1050" dirty="0" smtClean="0">
                <a:solidFill>
                  <a:srgbClr val="000000"/>
                </a:solidFill>
                <a:latin typeface="+mn-ea"/>
              </a:rPr>
              <a:t>  저장</a:t>
            </a:r>
            <a:r>
              <a:rPr kumimoji="1" lang="en-US" altLang="ko-KR" sz="1050" dirty="0" smtClean="0">
                <a:solidFill>
                  <a:srgbClr val="000000"/>
                </a:solidFill>
                <a:latin typeface="+mn-ea"/>
              </a:rPr>
              <a:t>=SAVE</a:t>
            </a:r>
          </a:p>
          <a:p>
            <a:pPr marL="88900" indent="-88900"/>
            <a:r>
              <a:rPr kumimoji="1" lang="ko-KR" altLang="en-US" sz="1050" dirty="0" smtClean="0">
                <a:solidFill>
                  <a:srgbClr val="000000"/>
                </a:solidFill>
                <a:latin typeface="+mn-ea"/>
              </a:rPr>
              <a:t>  신규</a:t>
            </a:r>
            <a:r>
              <a:rPr kumimoji="1" lang="en-US" altLang="ko-KR" sz="1050" dirty="0" smtClean="0">
                <a:solidFill>
                  <a:srgbClr val="000000"/>
                </a:solidFill>
                <a:latin typeface="+mn-ea"/>
              </a:rPr>
              <a:t>=NEW</a:t>
            </a:r>
          </a:p>
          <a:p>
            <a:pPr marL="88900" indent="-88900"/>
            <a:r>
              <a:rPr kumimoji="1" lang="ko-KR" altLang="en-US" sz="1050" dirty="0" smtClean="0">
                <a:solidFill>
                  <a:srgbClr val="000000"/>
                </a:solidFill>
                <a:latin typeface="+mn-ea"/>
              </a:rPr>
              <a:t>  삭제</a:t>
            </a:r>
            <a:r>
              <a:rPr kumimoji="1" lang="en-US" altLang="ko-KR" sz="1050" dirty="0" smtClean="0">
                <a:solidFill>
                  <a:srgbClr val="000000"/>
                </a:solidFill>
                <a:latin typeface="+mn-ea"/>
              </a:rPr>
              <a:t>=DELETE</a:t>
            </a:r>
            <a:endParaRPr kumimoji="1" lang="ko-KR" altLang="en-US" sz="1050" dirty="0" smtClean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40" name="Rectangle 128"/>
          <p:cNvSpPr>
            <a:spLocks noChangeArrowheads="1"/>
          </p:cNvSpPr>
          <p:nvPr/>
        </p:nvSpPr>
        <p:spPr bwMode="auto">
          <a:xfrm>
            <a:off x="3366310" y="1857364"/>
            <a:ext cx="4069436" cy="268321"/>
          </a:xfrm>
          <a:prstGeom prst="rect">
            <a:avLst/>
          </a:prstGeom>
          <a:blipFill dpi="0" rotWithShape="1">
            <a:blip r:embed="rId2" cstate="print">
              <a:lum bright="12000"/>
            </a:blip>
            <a:srcRect/>
            <a:stretch>
              <a:fillRect/>
            </a:stretch>
          </a:blipFill>
          <a:ln w="9525" algn="ctr">
            <a:solidFill>
              <a:srgbClr val="3991BD"/>
            </a:solidFill>
            <a:miter lim="800000"/>
            <a:headEnd/>
            <a:tailEnd/>
          </a:ln>
          <a:effectLst>
            <a:outerShdw dist="35921" dir="2700000" algn="ctr" rotWithShape="0">
              <a:srgbClr val="CCECFF"/>
            </a:outerShdw>
          </a:effectLst>
        </p:spPr>
        <p:txBody>
          <a:bodyPr wrap="none" anchor="ctr"/>
          <a:lstStyle/>
          <a:p>
            <a:pPr algn="ctr" defTabSz="968375">
              <a:lnSpc>
                <a:spcPct val="100000"/>
              </a:lnSpc>
            </a:pPr>
            <a:r>
              <a:rPr lang="ko-KR" altLang="en-US" sz="11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화면 구현 </a:t>
            </a:r>
            <a:r>
              <a:rPr lang="en-US" altLang="ko-KR" sz="11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Source </a:t>
            </a:r>
            <a:r>
              <a:rPr lang="ko-KR" altLang="en-US" sz="11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파일 </a:t>
            </a:r>
            <a:r>
              <a:rPr lang="en-US" altLang="ko-KR" sz="11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11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개발자</a:t>
            </a:r>
            <a:r>
              <a:rPr lang="en-US" altLang="ko-KR" sz="11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endParaRPr lang="en-US" altLang="ko-KR" sz="11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Rectangle 10"/>
          <p:cNvSpPr>
            <a:spLocks noChangeArrowheads="1"/>
          </p:cNvSpPr>
          <p:nvPr/>
        </p:nvSpPr>
        <p:spPr bwMode="auto">
          <a:xfrm>
            <a:off x="3738554" y="2214555"/>
            <a:ext cx="1428760" cy="142876"/>
          </a:xfrm>
          <a:prstGeom prst="rect">
            <a:avLst/>
          </a:prstGeom>
          <a:solidFill>
            <a:srgbClr val="9DB7CF"/>
          </a:solidFill>
          <a:ln w="3175" algn="ctr">
            <a:solidFill>
              <a:srgbClr val="6F99B9"/>
            </a:solidFill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algn="ctr"/>
            <a:r>
              <a:rPr lang="ko-KR" altLang="en-US" sz="100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개발도구 </a:t>
            </a:r>
            <a:r>
              <a:rPr lang="en-US" altLang="ko-KR" sz="100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- Eclipse</a:t>
            </a:r>
            <a:endParaRPr lang="en-US" altLang="ko-KR" sz="1000" b="0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36" name="그룹 35"/>
          <p:cNvGrpSpPr/>
          <p:nvPr/>
        </p:nvGrpSpPr>
        <p:grpSpPr>
          <a:xfrm>
            <a:off x="3809992" y="2395509"/>
            <a:ext cx="2714644" cy="1533555"/>
            <a:chOff x="3809992" y="2395510"/>
            <a:chExt cx="3000396" cy="2324713"/>
          </a:xfrm>
        </p:grpSpPr>
        <p:pic>
          <p:nvPicPr>
            <p:cNvPr id="3" name="Picture 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3809992" y="2395510"/>
              <a:ext cx="2928958" cy="18193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21" name="직사각형 20"/>
            <p:cNvSpPr/>
            <p:nvPr/>
          </p:nvSpPr>
          <p:spPr>
            <a:xfrm>
              <a:off x="4238620" y="3214686"/>
              <a:ext cx="2571768" cy="216024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2" name="직선 화살표 연결선 21"/>
            <p:cNvCxnSpPr>
              <a:stCxn id="21" idx="2"/>
              <a:endCxn id="41" idx="0"/>
            </p:cNvCxnSpPr>
            <p:nvPr/>
          </p:nvCxnSpPr>
          <p:spPr>
            <a:xfrm rot="16200000" flipH="1">
              <a:off x="4910768" y="4044448"/>
              <a:ext cx="1289512" cy="62038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Rectangle 108"/>
          <p:cNvSpPr>
            <a:spLocks noChangeArrowheads="1"/>
          </p:cNvSpPr>
          <p:nvPr/>
        </p:nvSpPr>
        <p:spPr bwMode="auto">
          <a:xfrm>
            <a:off x="3804700" y="4080488"/>
            <a:ext cx="3505754" cy="500066"/>
          </a:xfrm>
          <a:prstGeom prst="rect">
            <a:avLst/>
          </a:prstGeom>
          <a:solidFill>
            <a:srgbClr val="F0F8FA">
              <a:alpha val="50000"/>
            </a:srgbClr>
          </a:solidFill>
          <a:ln w="9525">
            <a:solidFill>
              <a:schemeClr val="tx2">
                <a:lumMod val="20000"/>
                <a:lumOff val="8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358775"/>
            <a:r>
              <a:rPr lang="en-US" altLang="ko-KR" sz="900" dirty="0" smtClean="0">
                <a:latin typeface="+mn-ea"/>
              </a:rPr>
              <a:t>&lt;input type="button" value="$!</a:t>
            </a:r>
            <a:r>
              <a:rPr lang="en-US" altLang="ko-KR" sz="900" dirty="0" err="1" smtClean="0">
                <a:latin typeface="+mn-ea"/>
              </a:rPr>
              <a:t>lang.getText</a:t>
            </a:r>
            <a:r>
              <a:rPr lang="en-US" altLang="ko-KR" sz="900" dirty="0" smtClean="0">
                <a:latin typeface="+mn-ea"/>
              </a:rPr>
              <a:t>('</a:t>
            </a:r>
            <a:r>
              <a:rPr lang="ko-KR" altLang="en-US" sz="900" dirty="0" smtClean="0">
                <a:latin typeface="+mn-ea"/>
              </a:rPr>
              <a:t>저장</a:t>
            </a:r>
            <a:r>
              <a:rPr lang="en-US" altLang="ko-KR" sz="900" dirty="0" smtClean="0">
                <a:latin typeface="+mn-ea"/>
              </a:rPr>
              <a:t>')” /&gt;</a:t>
            </a:r>
          </a:p>
          <a:p>
            <a:pPr marL="358775"/>
            <a:r>
              <a:rPr lang="en-US" altLang="ko-KR" sz="900" dirty="0" smtClean="0">
                <a:latin typeface="+mn-ea"/>
              </a:rPr>
              <a:t>&lt;input type="button" value="$!</a:t>
            </a:r>
            <a:r>
              <a:rPr lang="en-US" altLang="ko-KR" sz="900" dirty="0" err="1" smtClean="0">
                <a:latin typeface="+mn-ea"/>
              </a:rPr>
              <a:t>lang.getText</a:t>
            </a:r>
            <a:r>
              <a:rPr lang="en-US" altLang="ko-KR" sz="900" dirty="0" smtClean="0">
                <a:latin typeface="+mn-ea"/>
              </a:rPr>
              <a:t>(‘</a:t>
            </a:r>
            <a:r>
              <a:rPr lang="ko-KR" altLang="en-US" sz="900" dirty="0" smtClean="0">
                <a:latin typeface="+mn-ea"/>
              </a:rPr>
              <a:t>신규</a:t>
            </a:r>
            <a:r>
              <a:rPr lang="en-US" altLang="ko-KR" sz="900" dirty="0" smtClean="0">
                <a:latin typeface="+mn-ea"/>
              </a:rPr>
              <a:t>')” /&gt;</a:t>
            </a:r>
          </a:p>
          <a:p>
            <a:pPr marL="358775"/>
            <a:r>
              <a:rPr lang="en-US" altLang="ko-KR" sz="900" dirty="0" smtClean="0">
                <a:latin typeface="+mn-ea"/>
              </a:rPr>
              <a:t>&lt;input type="button" value="$!</a:t>
            </a:r>
            <a:r>
              <a:rPr lang="en-US" altLang="ko-KR" sz="900" dirty="0" err="1" smtClean="0">
                <a:latin typeface="+mn-ea"/>
              </a:rPr>
              <a:t>lang.getText</a:t>
            </a:r>
            <a:r>
              <a:rPr lang="en-US" altLang="ko-KR" sz="900" dirty="0" smtClean="0">
                <a:latin typeface="+mn-ea"/>
              </a:rPr>
              <a:t>(‘</a:t>
            </a:r>
            <a:r>
              <a:rPr lang="ko-KR" altLang="en-US" sz="900" dirty="0" err="1" smtClean="0">
                <a:latin typeface="+mn-ea"/>
              </a:rPr>
              <a:t>식제</a:t>
            </a:r>
            <a:r>
              <a:rPr lang="en-US" altLang="ko-KR" sz="900" dirty="0" smtClean="0">
                <a:latin typeface="+mn-ea"/>
              </a:rPr>
              <a:t>')” /&gt;</a:t>
            </a:r>
            <a:r>
              <a:rPr kumimoji="1" lang="ko-KR" altLang="en-US" sz="900" dirty="0" smtClean="0">
                <a:solidFill>
                  <a:srgbClr val="000000"/>
                </a:solidFill>
                <a:latin typeface="+mn-ea"/>
              </a:rPr>
              <a:t>  </a:t>
            </a:r>
          </a:p>
        </p:txBody>
      </p:sp>
      <p:sp>
        <p:nvSpPr>
          <p:cNvPr id="25" name="Rectangle 559"/>
          <p:cNvSpPr>
            <a:spLocks noChangeArrowheads="1"/>
          </p:cNvSpPr>
          <p:nvPr/>
        </p:nvSpPr>
        <p:spPr bwMode="auto">
          <a:xfrm>
            <a:off x="3524240" y="4084221"/>
            <a:ext cx="560921" cy="49633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lang="ko-KR" altLang="en-US" sz="900" b="1" dirty="0" smtClean="0">
                <a:gradFill>
                  <a:gsLst>
                    <a:gs pos="5000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0"/>
                </a:gradFill>
                <a:latin typeface="맑은 고딕" pitchFamily="50" charset="-127"/>
                <a:ea typeface="맑은 고딕" pitchFamily="50" charset="-127"/>
              </a:rPr>
              <a:t>한국</a:t>
            </a:r>
            <a:endParaRPr lang="en-US" altLang="ko-KR" sz="900" b="1" dirty="0" smtClean="0">
              <a:gradFill>
                <a:gsLst>
                  <a:gs pos="50000">
                    <a:schemeClr val="tx1">
                      <a:lumMod val="85000"/>
                      <a:lumOff val="15000"/>
                    </a:schemeClr>
                  </a:gs>
                  <a:gs pos="100000">
                    <a:schemeClr val="tx1">
                      <a:lumMod val="85000"/>
                      <a:lumOff val="15000"/>
                    </a:schemeClr>
                  </a:gs>
                </a:gsLst>
                <a:lin ang="5400000" scaled="0"/>
              </a:gradFill>
              <a:latin typeface="맑은 고딕" pitchFamily="50" charset="-127"/>
              <a:ea typeface="맑은 고딕" pitchFamily="50" charset="-127"/>
            </a:endParaRPr>
          </a:p>
          <a:p>
            <a:pPr algn="ctr" latinLnBrk="0"/>
            <a:r>
              <a:rPr lang="ko-KR" altLang="en-US" sz="900" b="1" dirty="0" smtClean="0">
                <a:gradFill>
                  <a:gsLst>
                    <a:gs pos="5000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0"/>
                </a:gradFill>
                <a:latin typeface="맑은 고딕" pitchFamily="50" charset="-127"/>
                <a:ea typeface="맑은 고딕" pitchFamily="50" charset="-127"/>
              </a:rPr>
              <a:t>개발자</a:t>
            </a:r>
            <a:endParaRPr lang="en-US" altLang="ko-KR" sz="900" b="1" dirty="0" smtClean="0">
              <a:gradFill>
                <a:gsLst>
                  <a:gs pos="50000">
                    <a:schemeClr val="tx1">
                      <a:lumMod val="85000"/>
                      <a:lumOff val="15000"/>
                    </a:schemeClr>
                  </a:gs>
                  <a:gs pos="100000">
                    <a:schemeClr val="tx1">
                      <a:lumMod val="85000"/>
                      <a:lumOff val="15000"/>
                    </a:schemeClr>
                  </a:gs>
                </a:gsLst>
                <a:lin ang="5400000" scaled="0"/>
              </a:gra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28" name="그룹 27"/>
          <p:cNvGrpSpPr/>
          <p:nvPr/>
        </p:nvGrpSpPr>
        <p:grpSpPr>
          <a:xfrm>
            <a:off x="3524240" y="4651992"/>
            <a:ext cx="3786214" cy="500066"/>
            <a:chOff x="3452802" y="4286256"/>
            <a:chExt cx="3857652" cy="500066"/>
          </a:xfrm>
        </p:grpSpPr>
        <p:sp>
          <p:nvSpPr>
            <p:cNvPr id="29" name="Rectangle 108"/>
            <p:cNvSpPr>
              <a:spLocks noChangeArrowheads="1"/>
            </p:cNvSpPr>
            <p:nvPr/>
          </p:nvSpPr>
          <p:spPr bwMode="auto">
            <a:xfrm>
              <a:off x="3738554" y="4286256"/>
              <a:ext cx="3571900" cy="500066"/>
            </a:xfrm>
            <a:prstGeom prst="rect">
              <a:avLst/>
            </a:prstGeom>
            <a:solidFill>
              <a:srgbClr val="F0F8FA">
                <a:alpha val="50000"/>
              </a:srgbClr>
            </a:solidFill>
            <a:ln w="9525">
              <a:solidFill>
                <a:schemeClr val="tx2">
                  <a:lumMod val="20000"/>
                  <a:lumOff val="80000"/>
                </a:schemeClr>
              </a:solidFill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358775"/>
              <a:r>
                <a:rPr lang="en-US" altLang="ko-KR" sz="900" dirty="0" smtClean="0">
                  <a:latin typeface="+mn-ea"/>
                </a:rPr>
                <a:t>&lt;input type="button" value="$!</a:t>
              </a:r>
              <a:r>
                <a:rPr lang="en-US" altLang="ko-KR" sz="900" dirty="0" err="1" smtClean="0">
                  <a:latin typeface="+mn-ea"/>
                </a:rPr>
                <a:t>lang.getText</a:t>
              </a:r>
              <a:r>
                <a:rPr lang="en-US" altLang="ko-KR" sz="900" dirty="0" smtClean="0">
                  <a:latin typeface="+mn-ea"/>
                </a:rPr>
                <a:t>(‘</a:t>
              </a:r>
              <a:r>
                <a:rPr kumimoji="1" lang="ko-KR" altLang="en-US" sz="900" dirty="0" smtClean="0">
                  <a:solidFill>
                    <a:srgbClr val="000000"/>
                  </a:solidFill>
                  <a:latin typeface="맑은 고딕" pitchFamily="50" charset="-127"/>
                </a:rPr>
                <a:t>保存</a:t>
              </a:r>
              <a:r>
                <a:rPr kumimoji="1" lang="en-US" altLang="ko-KR" sz="900" dirty="0" smtClean="0">
                  <a:solidFill>
                    <a:srgbClr val="000000"/>
                  </a:solidFill>
                  <a:latin typeface="맑은 고딕" pitchFamily="50" charset="-127"/>
                </a:rPr>
                <a:t>’</a:t>
              </a:r>
              <a:r>
                <a:rPr lang="en-US" altLang="ko-KR" sz="900" dirty="0" smtClean="0">
                  <a:latin typeface="+mn-ea"/>
                </a:rPr>
                <a:t>)” /&gt;</a:t>
              </a:r>
            </a:p>
            <a:p>
              <a:pPr marL="358775"/>
              <a:r>
                <a:rPr lang="en-US" altLang="ko-KR" sz="900" dirty="0" smtClean="0">
                  <a:latin typeface="+mn-ea"/>
                </a:rPr>
                <a:t>&lt;input type="button" value="$!</a:t>
              </a:r>
              <a:r>
                <a:rPr lang="en-US" altLang="ko-KR" sz="900" dirty="0" err="1" smtClean="0">
                  <a:latin typeface="+mn-ea"/>
                </a:rPr>
                <a:t>lang.getText</a:t>
              </a:r>
              <a:r>
                <a:rPr lang="en-US" altLang="ko-KR" sz="900" dirty="0" smtClean="0">
                  <a:latin typeface="+mn-ea"/>
                </a:rPr>
                <a:t>(‘</a:t>
              </a:r>
              <a:r>
                <a:rPr kumimoji="1" lang="ko-KR" altLang="en-US" sz="900" dirty="0" smtClean="0">
                  <a:solidFill>
                    <a:srgbClr val="000000"/>
                  </a:solidFill>
                  <a:latin typeface="맑은 고딕" pitchFamily="50" charset="-127"/>
                </a:rPr>
                <a:t>新規</a:t>
              </a:r>
              <a:r>
                <a:rPr kumimoji="1" lang="en-US" altLang="ko-KR" sz="900" dirty="0" smtClean="0">
                  <a:solidFill>
                    <a:srgbClr val="000000"/>
                  </a:solidFill>
                  <a:latin typeface="맑은 고딕" pitchFamily="50" charset="-127"/>
                </a:rPr>
                <a:t>’)</a:t>
              </a:r>
              <a:r>
                <a:rPr lang="en-US" altLang="ko-KR" sz="900" dirty="0" smtClean="0">
                  <a:latin typeface="+mn-ea"/>
                </a:rPr>
                <a:t>” /&gt;</a:t>
              </a:r>
            </a:p>
            <a:p>
              <a:pPr marL="358775"/>
              <a:r>
                <a:rPr lang="en-US" altLang="ko-KR" sz="900" dirty="0" smtClean="0">
                  <a:latin typeface="+mn-ea"/>
                </a:rPr>
                <a:t>&lt;input type="button" value="$!</a:t>
              </a:r>
              <a:r>
                <a:rPr lang="en-US" altLang="ko-KR" sz="900" dirty="0" err="1" smtClean="0">
                  <a:latin typeface="+mn-ea"/>
                </a:rPr>
                <a:t>lang.getText</a:t>
              </a:r>
              <a:r>
                <a:rPr lang="en-US" altLang="ko-KR" sz="900" dirty="0" smtClean="0">
                  <a:latin typeface="+mn-ea"/>
                </a:rPr>
                <a:t>(‘</a:t>
              </a:r>
              <a:r>
                <a:rPr lang="ko-KR" altLang="en-US" sz="900" dirty="0" smtClean="0">
                  <a:latin typeface="+mn-ea"/>
                </a:rPr>
                <a:t>削除</a:t>
              </a:r>
              <a:r>
                <a:rPr lang="en-US" altLang="ko-KR" sz="900" dirty="0" smtClean="0">
                  <a:latin typeface="+mn-ea"/>
                </a:rPr>
                <a:t>')” /&gt;</a:t>
              </a:r>
              <a:r>
                <a:rPr kumimoji="1" lang="ko-KR" altLang="en-US" sz="900" dirty="0" smtClean="0">
                  <a:solidFill>
                    <a:srgbClr val="000000"/>
                  </a:solidFill>
                  <a:latin typeface="+mn-ea"/>
                </a:rPr>
                <a:t>  </a:t>
              </a:r>
            </a:p>
          </p:txBody>
        </p:sp>
        <p:sp>
          <p:nvSpPr>
            <p:cNvPr id="32" name="Rectangle 559"/>
            <p:cNvSpPr>
              <a:spLocks noChangeArrowheads="1"/>
            </p:cNvSpPr>
            <p:nvPr/>
          </p:nvSpPr>
          <p:spPr bwMode="auto">
            <a:xfrm>
              <a:off x="3452802" y="4289989"/>
              <a:ext cx="571504" cy="496333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ko-KR" altLang="en-US" sz="900" b="1" dirty="0" smtClean="0">
                  <a:gradFill>
                    <a:gsLst>
                      <a:gs pos="5000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0"/>
                  </a:gradFill>
                  <a:latin typeface="맑은 고딕" pitchFamily="50" charset="-127"/>
                  <a:ea typeface="맑은 고딕" pitchFamily="50" charset="-127"/>
                </a:rPr>
                <a:t>일본</a:t>
              </a:r>
              <a:endParaRPr lang="en-US" altLang="ko-KR" sz="900" b="1" dirty="0" smtClean="0">
                <a:gradFill>
                  <a:gsLst>
                    <a:gs pos="5000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0"/>
                </a:gradFill>
                <a:latin typeface="맑은 고딕" pitchFamily="50" charset="-127"/>
                <a:ea typeface="맑은 고딕" pitchFamily="50" charset="-127"/>
              </a:endParaRPr>
            </a:p>
            <a:p>
              <a:pPr algn="ctr" latinLnBrk="0"/>
              <a:r>
                <a:rPr lang="ko-KR" altLang="en-US" sz="900" b="1" dirty="0" smtClean="0">
                  <a:gradFill>
                    <a:gsLst>
                      <a:gs pos="5000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0"/>
                  </a:gradFill>
                  <a:latin typeface="맑은 고딕" pitchFamily="50" charset="-127"/>
                  <a:ea typeface="맑은 고딕" pitchFamily="50" charset="-127"/>
                </a:rPr>
                <a:t>개발자</a:t>
              </a:r>
              <a:endParaRPr lang="en-US" altLang="ko-KR" sz="900" b="1" dirty="0" smtClean="0">
                <a:gradFill>
                  <a:gsLst>
                    <a:gs pos="5000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0"/>
                </a:gra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33" name="그룹 32"/>
          <p:cNvGrpSpPr/>
          <p:nvPr/>
        </p:nvGrpSpPr>
        <p:grpSpPr>
          <a:xfrm>
            <a:off x="3524240" y="5214950"/>
            <a:ext cx="3786214" cy="500066"/>
            <a:chOff x="3452802" y="4286256"/>
            <a:chExt cx="3857652" cy="500066"/>
          </a:xfrm>
        </p:grpSpPr>
        <p:sp>
          <p:nvSpPr>
            <p:cNvPr id="34" name="Rectangle 108"/>
            <p:cNvSpPr>
              <a:spLocks noChangeArrowheads="1"/>
            </p:cNvSpPr>
            <p:nvPr/>
          </p:nvSpPr>
          <p:spPr bwMode="auto">
            <a:xfrm>
              <a:off x="3738554" y="4286256"/>
              <a:ext cx="3571900" cy="500066"/>
            </a:xfrm>
            <a:prstGeom prst="rect">
              <a:avLst/>
            </a:prstGeom>
            <a:solidFill>
              <a:srgbClr val="F0F8FA">
                <a:alpha val="50000"/>
              </a:srgbClr>
            </a:solidFill>
            <a:ln w="9525">
              <a:solidFill>
                <a:schemeClr val="tx2">
                  <a:lumMod val="20000"/>
                  <a:lumOff val="80000"/>
                </a:schemeClr>
              </a:solidFill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358775"/>
              <a:r>
                <a:rPr lang="en-US" altLang="ko-KR" sz="900" dirty="0" smtClean="0">
                  <a:latin typeface="+mn-ea"/>
                </a:rPr>
                <a:t>&lt;input type="button" value="$!</a:t>
              </a:r>
              <a:r>
                <a:rPr lang="en-US" altLang="ko-KR" sz="900" dirty="0" err="1" smtClean="0">
                  <a:latin typeface="+mn-ea"/>
                </a:rPr>
                <a:t>lang.getText</a:t>
              </a:r>
              <a:r>
                <a:rPr lang="en-US" altLang="ko-KR" sz="900" dirty="0" smtClean="0">
                  <a:latin typeface="+mn-ea"/>
                </a:rPr>
                <a:t>('</a:t>
              </a:r>
              <a:r>
                <a:rPr lang="ko-KR" altLang="en-US" sz="900" dirty="0" smtClean="0">
                  <a:latin typeface="+mn-ea"/>
                </a:rPr>
                <a:t>保护</a:t>
              </a:r>
              <a:r>
                <a:rPr lang="en-US" altLang="ko-KR" sz="900" dirty="0" smtClean="0">
                  <a:latin typeface="+mn-ea"/>
                </a:rPr>
                <a:t>')” /&gt;</a:t>
              </a:r>
            </a:p>
            <a:p>
              <a:pPr marL="358775"/>
              <a:r>
                <a:rPr lang="en-US" altLang="ko-KR" sz="900" dirty="0" smtClean="0">
                  <a:latin typeface="+mn-ea"/>
                </a:rPr>
                <a:t>&lt;input type="button" value="$!</a:t>
              </a:r>
              <a:r>
                <a:rPr lang="en-US" altLang="ko-KR" sz="900" dirty="0" err="1" smtClean="0">
                  <a:latin typeface="+mn-ea"/>
                </a:rPr>
                <a:t>lang.getText</a:t>
              </a:r>
              <a:r>
                <a:rPr lang="en-US" altLang="ko-KR" sz="900" dirty="0" smtClean="0">
                  <a:latin typeface="+mn-ea"/>
                </a:rPr>
                <a:t>(‘</a:t>
              </a:r>
              <a:r>
                <a:rPr lang="ko-KR" altLang="en-US" sz="900" dirty="0" smtClean="0">
                  <a:latin typeface="+mn-ea"/>
                </a:rPr>
                <a:t>新規</a:t>
              </a:r>
              <a:r>
                <a:rPr lang="en-US" altLang="ko-KR" sz="900" dirty="0" smtClean="0">
                  <a:latin typeface="+mn-ea"/>
                </a:rPr>
                <a:t>')” /&gt;</a:t>
              </a:r>
            </a:p>
            <a:p>
              <a:pPr marL="358775"/>
              <a:r>
                <a:rPr lang="en-US" altLang="ko-KR" sz="900" dirty="0" smtClean="0">
                  <a:latin typeface="+mn-ea"/>
                </a:rPr>
                <a:t>&lt;input type="button" value="$!</a:t>
              </a:r>
              <a:r>
                <a:rPr lang="en-US" altLang="ko-KR" sz="900" dirty="0" err="1" smtClean="0">
                  <a:latin typeface="+mn-ea"/>
                </a:rPr>
                <a:t>lang.getText</a:t>
              </a:r>
              <a:r>
                <a:rPr lang="en-US" altLang="ko-KR" sz="900" dirty="0" smtClean="0">
                  <a:latin typeface="+mn-ea"/>
                </a:rPr>
                <a:t>(‘</a:t>
              </a:r>
              <a:r>
                <a:rPr kumimoji="1" lang="ko-KR" altLang="en-US" sz="900" dirty="0" smtClean="0">
                  <a:solidFill>
                    <a:srgbClr val="000000"/>
                  </a:solidFill>
                  <a:latin typeface="맑은 고딕" pitchFamily="50" charset="-127"/>
                </a:rPr>
                <a:t>削除</a:t>
              </a:r>
              <a:r>
                <a:rPr lang="en-US" altLang="ko-KR" sz="900" dirty="0" smtClean="0">
                  <a:latin typeface="+mn-ea"/>
                </a:rPr>
                <a:t>')” /&gt;</a:t>
              </a:r>
              <a:r>
                <a:rPr kumimoji="1" lang="ko-KR" altLang="en-US" sz="900" dirty="0" smtClean="0">
                  <a:solidFill>
                    <a:srgbClr val="000000"/>
                  </a:solidFill>
                  <a:latin typeface="+mn-ea"/>
                </a:rPr>
                <a:t>  </a:t>
              </a:r>
            </a:p>
          </p:txBody>
        </p:sp>
        <p:sp>
          <p:nvSpPr>
            <p:cNvPr id="35" name="Rectangle 559"/>
            <p:cNvSpPr>
              <a:spLocks noChangeArrowheads="1"/>
            </p:cNvSpPr>
            <p:nvPr/>
          </p:nvSpPr>
          <p:spPr bwMode="auto">
            <a:xfrm>
              <a:off x="3452802" y="4289989"/>
              <a:ext cx="571504" cy="496333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ko-KR" altLang="en-US" sz="900" b="1" dirty="0" smtClean="0">
                  <a:gradFill>
                    <a:gsLst>
                      <a:gs pos="5000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0"/>
                  </a:gradFill>
                  <a:latin typeface="맑은 고딕" pitchFamily="50" charset="-127"/>
                  <a:ea typeface="맑은 고딕" pitchFamily="50" charset="-127"/>
                </a:rPr>
                <a:t>중국</a:t>
              </a:r>
              <a:endParaRPr lang="en-US" altLang="ko-KR" sz="900" b="1" dirty="0" smtClean="0">
                <a:gradFill>
                  <a:gsLst>
                    <a:gs pos="5000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0"/>
                </a:gradFill>
                <a:latin typeface="맑은 고딕" pitchFamily="50" charset="-127"/>
                <a:ea typeface="맑은 고딕" pitchFamily="50" charset="-127"/>
              </a:endParaRPr>
            </a:p>
            <a:p>
              <a:pPr algn="ctr" latinLnBrk="0"/>
              <a:r>
                <a:rPr lang="ko-KR" altLang="en-US" sz="900" b="1" dirty="0" smtClean="0">
                  <a:gradFill>
                    <a:gsLst>
                      <a:gs pos="5000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0"/>
                  </a:gradFill>
                  <a:latin typeface="맑은 고딕" pitchFamily="50" charset="-127"/>
                  <a:ea typeface="맑은 고딕" pitchFamily="50" charset="-127"/>
                </a:rPr>
                <a:t>개발자</a:t>
              </a:r>
              <a:endParaRPr lang="en-US" altLang="ko-KR" sz="900" b="1" dirty="0" smtClean="0">
                <a:gradFill>
                  <a:gsLst>
                    <a:gs pos="5000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0"/>
                </a:gra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pic>
        <p:nvPicPr>
          <p:cNvPr id="43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667644" y="2524481"/>
            <a:ext cx="1643074" cy="914210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</p:spPr>
      </p:pic>
      <p:grpSp>
        <p:nvGrpSpPr>
          <p:cNvPr id="49" name="그룹 48"/>
          <p:cNvGrpSpPr/>
          <p:nvPr/>
        </p:nvGrpSpPr>
        <p:grpSpPr>
          <a:xfrm>
            <a:off x="7667644" y="4214817"/>
            <a:ext cx="1714512" cy="1357323"/>
            <a:chOff x="7596206" y="4214817"/>
            <a:chExt cx="1785950" cy="1357323"/>
          </a:xfrm>
        </p:grpSpPr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8096272" y="4577751"/>
              <a:ext cx="1285883" cy="2923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027" name="Picture 3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8096273" y="4214818"/>
              <a:ext cx="1285883" cy="3012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028" name="Picture 4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8096272" y="4912279"/>
              <a:ext cx="1285883" cy="31330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029" name="Picture 5"/>
            <p:cNvPicPr>
              <a:picLocks noChangeAspect="1"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8096273" y="5317519"/>
              <a:ext cx="1285883" cy="2546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45" name="Rectangle 559"/>
            <p:cNvSpPr>
              <a:spLocks noChangeArrowheads="1"/>
            </p:cNvSpPr>
            <p:nvPr/>
          </p:nvSpPr>
          <p:spPr bwMode="auto">
            <a:xfrm>
              <a:off x="7596207" y="4214817"/>
              <a:ext cx="428628" cy="285753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ko-KR" altLang="en-US" sz="800" b="1" dirty="0" smtClean="0">
                  <a:gradFill>
                    <a:gsLst>
                      <a:gs pos="5000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0"/>
                  </a:gradFill>
                  <a:latin typeface="맑은 고딕" pitchFamily="50" charset="-127"/>
                  <a:ea typeface="맑은 고딕" pitchFamily="50" charset="-127"/>
                </a:rPr>
                <a:t>한국</a:t>
              </a:r>
              <a:endParaRPr lang="en-US" altLang="ko-KR" sz="800" b="1" dirty="0" smtClean="0">
                <a:gradFill>
                  <a:gsLst>
                    <a:gs pos="5000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0"/>
                </a:gradFill>
                <a:latin typeface="맑은 고딕" pitchFamily="50" charset="-127"/>
                <a:ea typeface="맑은 고딕" pitchFamily="50" charset="-127"/>
              </a:endParaRPr>
            </a:p>
            <a:p>
              <a:pPr algn="ctr" latinLnBrk="0"/>
              <a:r>
                <a:rPr lang="ko-KR" altLang="en-US" sz="800" b="1" dirty="0" smtClean="0">
                  <a:gradFill>
                    <a:gsLst>
                      <a:gs pos="5000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0"/>
                  </a:gradFill>
                  <a:latin typeface="맑은 고딕" pitchFamily="50" charset="-127"/>
                  <a:ea typeface="맑은 고딕" pitchFamily="50" charset="-127"/>
                </a:rPr>
                <a:t>사용자</a:t>
              </a:r>
              <a:endParaRPr lang="en-US" altLang="ko-KR" sz="800" b="1" dirty="0" smtClean="0">
                <a:gradFill>
                  <a:gsLst>
                    <a:gs pos="5000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0"/>
                </a:gra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46" name="Rectangle 559"/>
            <p:cNvSpPr>
              <a:spLocks noChangeArrowheads="1"/>
            </p:cNvSpPr>
            <p:nvPr/>
          </p:nvSpPr>
          <p:spPr bwMode="auto">
            <a:xfrm>
              <a:off x="7596206" y="4572008"/>
              <a:ext cx="428628" cy="285753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ko-KR" altLang="en-US" sz="800" b="1" dirty="0" smtClean="0">
                  <a:gradFill>
                    <a:gsLst>
                      <a:gs pos="5000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0"/>
                  </a:gradFill>
                  <a:latin typeface="맑은 고딕" pitchFamily="50" charset="-127"/>
                  <a:ea typeface="맑은 고딕" pitchFamily="50" charset="-127"/>
                </a:rPr>
                <a:t>일본</a:t>
              </a:r>
              <a:endParaRPr lang="en-US" altLang="ko-KR" sz="800" b="1" dirty="0" smtClean="0">
                <a:gradFill>
                  <a:gsLst>
                    <a:gs pos="5000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0"/>
                </a:gradFill>
                <a:latin typeface="맑은 고딕" pitchFamily="50" charset="-127"/>
                <a:ea typeface="맑은 고딕" pitchFamily="50" charset="-127"/>
              </a:endParaRPr>
            </a:p>
            <a:p>
              <a:pPr algn="ctr" latinLnBrk="0"/>
              <a:r>
                <a:rPr lang="ko-KR" altLang="en-US" sz="800" b="1" dirty="0" smtClean="0">
                  <a:gradFill>
                    <a:gsLst>
                      <a:gs pos="5000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0"/>
                  </a:gradFill>
                  <a:latin typeface="맑은 고딕" pitchFamily="50" charset="-127"/>
                  <a:ea typeface="맑은 고딕" pitchFamily="50" charset="-127"/>
                </a:rPr>
                <a:t>사용자</a:t>
              </a:r>
              <a:endParaRPr lang="en-US" altLang="ko-KR" sz="800" b="1" dirty="0" smtClean="0">
                <a:gradFill>
                  <a:gsLst>
                    <a:gs pos="5000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0"/>
                </a:gra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47" name="Rectangle 559"/>
            <p:cNvSpPr>
              <a:spLocks noChangeArrowheads="1"/>
            </p:cNvSpPr>
            <p:nvPr/>
          </p:nvSpPr>
          <p:spPr bwMode="auto">
            <a:xfrm>
              <a:off x="7596206" y="4929197"/>
              <a:ext cx="428628" cy="285753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ko-KR" altLang="en-US" sz="800" b="1" smtClean="0">
                  <a:gradFill>
                    <a:gsLst>
                      <a:gs pos="5000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0"/>
                  </a:gradFill>
                  <a:latin typeface="맑은 고딕" pitchFamily="50" charset="-127"/>
                  <a:ea typeface="맑은 고딕" pitchFamily="50" charset="-127"/>
                </a:rPr>
                <a:t>중국</a:t>
              </a:r>
              <a:endParaRPr lang="en-US" altLang="ko-KR" sz="800" b="1" dirty="0" smtClean="0">
                <a:gradFill>
                  <a:gsLst>
                    <a:gs pos="5000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0"/>
                </a:gradFill>
                <a:latin typeface="맑은 고딕" pitchFamily="50" charset="-127"/>
                <a:ea typeface="맑은 고딕" pitchFamily="50" charset="-127"/>
              </a:endParaRPr>
            </a:p>
            <a:p>
              <a:pPr algn="ctr" latinLnBrk="0"/>
              <a:r>
                <a:rPr lang="ko-KR" altLang="en-US" sz="800" b="1" dirty="0" smtClean="0">
                  <a:gradFill>
                    <a:gsLst>
                      <a:gs pos="5000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0"/>
                  </a:gradFill>
                  <a:latin typeface="맑은 고딕" pitchFamily="50" charset="-127"/>
                  <a:ea typeface="맑은 고딕" pitchFamily="50" charset="-127"/>
                </a:rPr>
                <a:t>사용자</a:t>
              </a:r>
              <a:endParaRPr lang="en-US" altLang="ko-KR" sz="800" b="1" dirty="0" smtClean="0">
                <a:gradFill>
                  <a:gsLst>
                    <a:gs pos="5000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0"/>
                </a:gra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48" name="Rectangle 559"/>
            <p:cNvSpPr>
              <a:spLocks noChangeArrowheads="1"/>
            </p:cNvSpPr>
            <p:nvPr/>
          </p:nvSpPr>
          <p:spPr bwMode="auto">
            <a:xfrm>
              <a:off x="7596206" y="5286387"/>
              <a:ext cx="428628" cy="285753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ko-KR" altLang="en-US" sz="800" b="1" dirty="0" smtClean="0">
                  <a:gradFill>
                    <a:gsLst>
                      <a:gs pos="5000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0"/>
                  </a:gradFill>
                  <a:latin typeface="맑은 고딕" pitchFamily="50" charset="-127"/>
                  <a:ea typeface="맑은 고딕" pitchFamily="50" charset="-127"/>
                </a:rPr>
                <a:t>미국</a:t>
              </a:r>
              <a:endParaRPr lang="en-US" altLang="ko-KR" sz="800" b="1" dirty="0" smtClean="0">
                <a:gradFill>
                  <a:gsLst>
                    <a:gs pos="5000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0"/>
                </a:gradFill>
                <a:latin typeface="맑은 고딕" pitchFamily="50" charset="-127"/>
                <a:ea typeface="맑은 고딕" pitchFamily="50" charset="-127"/>
              </a:endParaRPr>
            </a:p>
            <a:p>
              <a:pPr algn="ctr" latinLnBrk="0"/>
              <a:r>
                <a:rPr lang="ko-KR" altLang="en-US" sz="800" b="1" dirty="0" smtClean="0">
                  <a:gradFill>
                    <a:gsLst>
                      <a:gs pos="5000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0"/>
                  </a:gradFill>
                  <a:latin typeface="맑은 고딕" pitchFamily="50" charset="-127"/>
                  <a:ea typeface="맑은 고딕" pitchFamily="50" charset="-127"/>
                </a:rPr>
                <a:t>사용자</a:t>
              </a:r>
              <a:endParaRPr lang="en-US" altLang="ko-KR" sz="800" b="1" dirty="0" smtClean="0">
                <a:gradFill>
                  <a:gsLst>
                    <a:gs pos="5000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0"/>
                </a:gra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51" name="직사각형 50"/>
          <p:cNvSpPr/>
          <p:nvPr/>
        </p:nvSpPr>
        <p:spPr>
          <a:xfrm>
            <a:off x="8705658" y="2714620"/>
            <a:ext cx="683764" cy="142876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2" name="직선 화살표 연결선 51"/>
          <p:cNvCxnSpPr>
            <a:endCxn id="50" idx="0"/>
          </p:cNvCxnSpPr>
          <p:nvPr/>
        </p:nvCxnSpPr>
        <p:spPr>
          <a:xfrm rot="5400000">
            <a:off x="8221289" y="3125389"/>
            <a:ext cx="1071570" cy="53578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화살표 연결선 55"/>
          <p:cNvCxnSpPr>
            <a:stCxn id="38" idx="3"/>
            <a:endCxn id="45" idx="1"/>
          </p:cNvCxnSpPr>
          <p:nvPr/>
        </p:nvCxnSpPr>
        <p:spPr>
          <a:xfrm>
            <a:off x="7310454" y="4330521"/>
            <a:ext cx="357191" cy="27173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화살표 연결선 58"/>
          <p:cNvCxnSpPr>
            <a:stCxn id="38" idx="3"/>
            <a:endCxn id="46" idx="1"/>
          </p:cNvCxnSpPr>
          <p:nvPr/>
        </p:nvCxnSpPr>
        <p:spPr>
          <a:xfrm>
            <a:off x="7310454" y="4330521"/>
            <a:ext cx="357190" cy="384364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화살표 연결선 61"/>
          <p:cNvCxnSpPr>
            <a:stCxn id="38" idx="3"/>
            <a:endCxn id="47" idx="1"/>
          </p:cNvCxnSpPr>
          <p:nvPr/>
        </p:nvCxnSpPr>
        <p:spPr>
          <a:xfrm>
            <a:off x="7310454" y="4330521"/>
            <a:ext cx="357190" cy="741553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화살표 연결선 64"/>
          <p:cNvCxnSpPr>
            <a:stCxn id="38" idx="3"/>
            <a:endCxn id="48" idx="1"/>
          </p:cNvCxnSpPr>
          <p:nvPr/>
        </p:nvCxnSpPr>
        <p:spPr>
          <a:xfrm>
            <a:off x="7310454" y="4330521"/>
            <a:ext cx="357190" cy="1098743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화살표 연결선 67"/>
          <p:cNvCxnSpPr>
            <a:stCxn id="29" idx="3"/>
            <a:endCxn id="45" idx="1"/>
          </p:cNvCxnSpPr>
          <p:nvPr/>
        </p:nvCxnSpPr>
        <p:spPr>
          <a:xfrm flipV="1">
            <a:off x="7310454" y="4357694"/>
            <a:ext cx="357191" cy="544331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화살표 연결선 70"/>
          <p:cNvCxnSpPr>
            <a:stCxn id="29" idx="3"/>
            <a:endCxn id="46" idx="1"/>
          </p:cNvCxnSpPr>
          <p:nvPr/>
        </p:nvCxnSpPr>
        <p:spPr>
          <a:xfrm flipV="1">
            <a:off x="7310454" y="4714885"/>
            <a:ext cx="357190" cy="18714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화살표 연결선 73"/>
          <p:cNvCxnSpPr>
            <a:stCxn id="29" idx="3"/>
            <a:endCxn id="47" idx="1"/>
          </p:cNvCxnSpPr>
          <p:nvPr/>
        </p:nvCxnSpPr>
        <p:spPr>
          <a:xfrm>
            <a:off x="7310454" y="4902025"/>
            <a:ext cx="357190" cy="170049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화살표 연결선 76"/>
          <p:cNvCxnSpPr>
            <a:stCxn id="29" idx="3"/>
            <a:endCxn id="48" idx="1"/>
          </p:cNvCxnSpPr>
          <p:nvPr/>
        </p:nvCxnSpPr>
        <p:spPr>
          <a:xfrm>
            <a:off x="7310454" y="4902025"/>
            <a:ext cx="357190" cy="527239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직선 화살표 연결선 79"/>
          <p:cNvCxnSpPr>
            <a:stCxn id="34" idx="3"/>
            <a:endCxn id="45" idx="1"/>
          </p:cNvCxnSpPr>
          <p:nvPr/>
        </p:nvCxnSpPr>
        <p:spPr>
          <a:xfrm flipV="1">
            <a:off x="7310454" y="4357694"/>
            <a:ext cx="357191" cy="1107289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화살표 연결선 82"/>
          <p:cNvCxnSpPr>
            <a:stCxn id="34" idx="3"/>
            <a:endCxn id="46" idx="1"/>
          </p:cNvCxnSpPr>
          <p:nvPr/>
        </p:nvCxnSpPr>
        <p:spPr>
          <a:xfrm flipV="1">
            <a:off x="7310454" y="4714885"/>
            <a:ext cx="357190" cy="75009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직선 화살표 연결선 85"/>
          <p:cNvCxnSpPr>
            <a:stCxn id="34" idx="3"/>
          </p:cNvCxnSpPr>
          <p:nvPr/>
        </p:nvCxnSpPr>
        <p:spPr>
          <a:xfrm flipV="1">
            <a:off x="7310454" y="5000637"/>
            <a:ext cx="357191" cy="464346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화살표 연결선 88"/>
          <p:cNvCxnSpPr>
            <a:stCxn id="34" idx="3"/>
            <a:endCxn id="48" idx="1"/>
          </p:cNvCxnSpPr>
          <p:nvPr/>
        </p:nvCxnSpPr>
        <p:spPr>
          <a:xfrm flipV="1">
            <a:off x="7310454" y="5429264"/>
            <a:ext cx="357190" cy="35719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직선 화살표 연결선 92"/>
          <p:cNvCxnSpPr>
            <a:stCxn id="92" idx="3"/>
            <a:endCxn id="41" idx="1"/>
          </p:cNvCxnSpPr>
          <p:nvPr/>
        </p:nvCxnSpPr>
        <p:spPr>
          <a:xfrm>
            <a:off x="3095612" y="4036223"/>
            <a:ext cx="357190" cy="821644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슬라이드 번호 개체 틀 5"/>
          <p:cNvSpPr txBox="1">
            <a:spLocks/>
          </p:cNvSpPr>
          <p:nvPr/>
        </p:nvSpPr>
        <p:spPr>
          <a:xfrm>
            <a:off x="3797300" y="6492899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b="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dirty="0" smtClean="0"/>
              <a:t>- 17</a:t>
            </a:r>
            <a:r>
              <a:rPr lang="ko-KR" altLang="en-US" dirty="0" smtClean="0"/>
              <a:t> </a:t>
            </a:r>
            <a:r>
              <a:rPr lang="en-US" altLang="ko-KR" dirty="0" smtClean="0"/>
              <a:t>-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tangle 93"/>
          <p:cNvSpPr>
            <a:spLocks noChangeArrowheads="1"/>
          </p:cNvSpPr>
          <p:nvPr/>
        </p:nvSpPr>
        <p:spPr bwMode="auto">
          <a:xfrm>
            <a:off x="488504" y="4077072"/>
            <a:ext cx="3240360" cy="1944216"/>
          </a:xfrm>
          <a:prstGeom prst="rect">
            <a:avLst/>
          </a:prstGeom>
          <a:solidFill>
            <a:schemeClr val="bg1"/>
          </a:solidFill>
          <a:ln w="9525" algn="ctr">
            <a:solidFill>
              <a:srgbClr val="588D9A"/>
            </a:solidFill>
            <a:miter lim="800000"/>
            <a:headEnd/>
            <a:tailEnd/>
          </a:ln>
          <a:effectLst>
            <a:outerShdw dist="35921" dir="2700000" algn="ctr" rotWithShape="0">
              <a:srgbClr val="CCECFF"/>
            </a:outerShdw>
          </a:effectLst>
        </p:spPr>
        <p:txBody>
          <a:bodyPr lIns="53976" tIns="35985" rIns="0" bIns="45702"/>
          <a:lstStyle/>
          <a:p>
            <a:pPr algn="ctr">
              <a:defRPr/>
            </a:pPr>
            <a:endParaRPr lang="ko-KR" altLang="en-US" sz="1100" b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웹서비스</a:t>
            </a:r>
            <a:r>
              <a:rPr lang="ko-KR" altLang="en-US" dirty="0" smtClean="0"/>
              <a:t> 연계관리</a:t>
            </a:r>
            <a:endParaRPr lang="ko-KR" altLang="en-US" dirty="0"/>
          </a:p>
        </p:txBody>
      </p:sp>
      <p:sp>
        <p:nvSpPr>
          <p:cNvPr id="225" name="텍스트 개체 틀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 smtClean="0"/>
              <a:t>6</a:t>
            </a:r>
            <a:endParaRPr lang="ko-KR" altLang="en-US" dirty="0"/>
          </a:p>
        </p:txBody>
      </p:sp>
      <p:sp>
        <p:nvSpPr>
          <p:cNvPr id="224" name="Rectangle 108"/>
          <p:cNvSpPr>
            <a:spLocks noChangeArrowheads="1"/>
          </p:cNvSpPr>
          <p:nvPr/>
        </p:nvSpPr>
        <p:spPr bwMode="auto">
          <a:xfrm>
            <a:off x="344488" y="980728"/>
            <a:ext cx="9217025" cy="648072"/>
          </a:xfrm>
          <a:prstGeom prst="rect">
            <a:avLst/>
          </a:prstGeom>
          <a:solidFill>
            <a:srgbClr val="F0F8FA">
              <a:alpha val="50000"/>
            </a:srgbClr>
          </a:solidFill>
          <a:ln w="9525">
            <a:solidFill>
              <a:schemeClr val="tx2">
                <a:lumMod val="20000"/>
                <a:lumOff val="8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atinLnBrk="0"/>
            <a:r>
              <a:rPr kumimoji="1" lang="ko-KR" altLang="en-US" sz="1400" dirty="0" err="1" smtClean="0">
                <a:solidFill>
                  <a:srgbClr val="000000"/>
                </a:solidFill>
                <a:latin typeface="맑은 고딕" pitchFamily="50" charset="-127"/>
              </a:rPr>
              <a:t>웹서비스</a:t>
            </a:r>
            <a:r>
              <a:rPr kumimoji="1" lang="ko-KR" altLang="en-US" sz="1400" dirty="0" smtClean="0">
                <a:solidFill>
                  <a:srgbClr val="000000"/>
                </a:solidFill>
                <a:latin typeface="맑은 고딕" pitchFamily="50" charset="-127"/>
              </a:rPr>
              <a:t> 방식의 연계관리는 연계파트너 관리에 설정되며</a:t>
            </a:r>
            <a:r>
              <a:rPr kumimoji="1" lang="en-US" altLang="ko-KR" sz="1400" dirty="0" smtClean="0">
                <a:solidFill>
                  <a:srgbClr val="000000"/>
                </a:solidFill>
                <a:latin typeface="맑은 고딕" pitchFamily="50" charset="-127"/>
              </a:rPr>
              <a:t>, </a:t>
            </a:r>
            <a:r>
              <a:rPr kumimoji="1" lang="ko-KR" altLang="en-US" sz="1400" dirty="0" smtClean="0">
                <a:solidFill>
                  <a:srgbClr val="000000"/>
                </a:solidFill>
                <a:latin typeface="맑은 고딕" pitchFamily="50" charset="-127"/>
              </a:rPr>
              <a:t>고객사간 </a:t>
            </a:r>
            <a:r>
              <a:rPr kumimoji="1" lang="ko-KR" altLang="en-US" sz="1400" dirty="0" err="1" smtClean="0">
                <a:solidFill>
                  <a:srgbClr val="000000"/>
                </a:solidFill>
                <a:latin typeface="맑은 고딕" pitchFamily="50" charset="-127"/>
              </a:rPr>
              <a:t>웹서비스</a:t>
            </a:r>
            <a:r>
              <a:rPr kumimoji="1" lang="ko-KR" altLang="en-US" sz="1400" dirty="0" smtClean="0">
                <a:solidFill>
                  <a:srgbClr val="000000"/>
                </a:solidFill>
                <a:latin typeface="맑은 고딕" pitchFamily="50" charset="-127"/>
              </a:rPr>
              <a:t> 연계는 송수신현황을 통해 모니터링 할 수 있으며</a:t>
            </a:r>
            <a:r>
              <a:rPr kumimoji="1" lang="en-US" altLang="ko-KR" sz="1400" dirty="0" smtClean="0">
                <a:solidFill>
                  <a:srgbClr val="000000"/>
                </a:solidFill>
                <a:latin typeface="맑은 고딕" pitchFamily="50" charset="-127"/>
              </a:rPr>
              <a:t>, </a:t>
            </a:r>
            <a:r>
              <a:rPr kumimoji="1" lang="ko-KR" altLang="en-US" sz="1400" dirty="0" smtClean="0">
                <a:solidFill>
                  <a:srgbClr val="000000"/>
                </a:solidFill>
                <a:latin typeface="맑은 고딕" pitchFamily="50" charset="-127"/>
              </a:rPr>
              <a:t>송수신문서상세를 통해 </a:t>
            </a:r>
            <a:r>
              <a:rPr kumimoji="1" lang="en-US" altLang="ko-KR" sz="1400" dirty="0" smtClean="0">
                <a:solidFill>
                  <a:srgbClr val="000000"/>
                </a:solidFill>
                <a:latin typeface="맑은 고딕" pitchFamily="50" charset="-127"/>
              </a:rPr>
              <a:t>XML</a:t>
            </a:r>
            <a:r>
              <a:rPr kumimoji="1" lang="ko-KR" altLang="en-US" sz="1400" dirty="0" smtClean="0">
                <a:solidFill>
                  <a:srgbClr val="000000"/>
                </a:solidFill>
                <a:latin typeface="맑은 고딕" pitchFamily="50" charset="-127"/>
              </a:rPr>
              <a:t>문서를 확인 할 수 있습니다</a:t>
            </a:r>
            <a:r>
              <a:rPr kumimoji="1" lang="en-US" altLang="ko-KR" sz="1400" dirty="0" smtClean="0">
                <a:solidFill>
                  <a:srgbClr val="000000"/>
                </a:solidFill>
                <a:latin typeface="맑은 고딕" pitchFamily="50" charset="-127"/>
              </a:rPr>
              <a:t>.</a:t>
            </a:r>
            <a:endParaRPr kumimoji="1" lang="ko-KR" altLang="en-US" sz="1400" dirty="0" smtClean="0">
              <a:solidFill>
                <a:srgbClr val="000000"/>
              </a:solidFill>
              <a:latin typeface="맑은 고딕" pitchFamily="50" charset="-127"/>
            </a:endParaRPr>
          </a:p>
        </p:txBody>
      </p:sp>
      <p:pic>
        <p:nvPicPr>
          <p:cNvPr id="66561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28864" y="2276872"/>
            <a:ext cx="2481448" cy="1368723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</p:spPr>
      </p:pic>
      <p:pic>
        <p:nvPicPr>
          <p:cNvPr id="6656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36976" y="4629075"/>
            <a:ext cx="2736304" cy="1392213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</p:spPr>
      </p:pic>
      <p:pic>
        <p:nvPicPr>
          <p:cNvPr id="66564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905328" y="4892910"/>
            <a:ext cx="1512169" cy="12130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직사각형 10"/>
          <p:cNvSpPr/>
          <p:nvPr/>
        </p:nvSpPr>
        <p:spPr>
          <a:xfrm>
            <a:off x="488504" y="1844824"/>
            <a:ext cx="1728192" cy="345470"/>
          </a:xfrm>
          <a:prstGeom prst="rect">
            <a:avLst/>
          </a:prstGeom>
          <a:solidFill>
            <a:srgbClr val="4F81BD"/>
          </a:solidFill>
          <a:ln w="25400" cap="flat" cmpd="sng" algn="ctr">
            <a:solidFill>
              <a:sysClr val="window" lastClr="FFFFFF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latinLnBrk="0">
              <a:defRPr/>
            </a:pPr>
            <a:r>
              <a:rPr lang="ko-KR" altLang="en-US" sz="1200" b="1" kern="0" dirty="0" smtClean="0">
                <a:solidFill>
                  <a:sysClr val="window" lastClr="FFFFFF"/>
                </a:solidFill>
                <a:latin typeface="+mn-ea"/>
              </a:rPr>
              <a:t>연계파트너 관리</a:t>
            </a:r>
            <a:endParaRPr lang="ko-KR" altLang="en-US" sz="1200" b="1" kern="0" dirty="0">
              <a:solidFill>
                <a:sysClr val="window" lastClr="FFFFFF"/>
              </a:solidFill>
              <a:latin typeface="+mn-ea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3728864" y="1844824"/>
            <a:ext cx="1728192" cy="345470"/>
          </a:xfrm>
          <a:prstGeom prst="rect">
            <a:avLst/>
          </a:prstGeom>
          <a:solidFill>
            <a:srgbClr val="4F81BD"/>
          </a:solidFill>
          <a:ln w="25400" cap="flat" cmpd="sng" algn="ctr">
            <a:solidFill>
              <a:sysClr val="window" lastClr="FFFFFF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+mn-ea"/>
                <a:cs typeface="+mn-cs"/>
              </a:rPr>
              <a:t>송수신 현황</a:t>
            </a:r>
            <a:endParaRPr kumimoji="0" lang="ko-KR" altLang="en-US" sz="1200" b="1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4736976" y="4221088"/>
            <a:ext cx="1728192" cy="345470"/>
          </a:xfrm>
          <a:prstGeom prst="rect">
            <a:avLst/>
          </a:prstGeom>
          <a:solidFill>
            <a:srgbClr val="4F81BD"/>
          </a:solidFill>
          <a:ln w="25400" cap="flat" cmpd="sng" algn="ctr">
            <a:solidFill>
              <a:sysClr val="window" lastClr="FFFFFF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latinLnBrk="0">
              <a:defRPr/>
            </a:pPr>
            <a:r>
              <a:rPr lang="ko-KR" altLang="en-US" sz="1200" b="1" kern="0" dirty="0" smtClean="0">
                <a:solidFill>
                  <a:sysClr val="window" lastClr="FFFFFF"/>
                </a:solidFill>
                <a:latin typeface="+mn-ea"/>
              </a:rPr>
              <a:t>송수신 문서 상세</a:t>
            </a:r>
            <a:endParaRPr lang="ko-KR" altLang="en-US" sz="1200" b="1" kern="0" dirty="0">
              <a:solidFill>
                <a:sysClr val="window" lastClr="FFFFFF"/>
              </a:solidFill>
              <a:latin typeface="+mn-ea"/>
            </a:endParaRPr>
          </a:p>
        </p:txBody>
      </p:sp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7905328" y="4653136"/>
            <a:ext cx="1080120" cy="204947"/>
          </a:xfrm>
          <a:prstGeom prst="rect">
            <a:avLst/>
          </a:prstGeom>
          <a:solidFill>
            <a:srgbClr val="9DB7CF"/>
          </a:solidFill>
          <a:ln w="3175" algn="ctr">
            <a:solidFill>
              <a:srgbClr val="6F99B9"/>
            </a:solidFill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algn="ctr"/>
            <a:r>
              <a:rPr lang="en-US" altLang="ko-KR" sz="1000" b="1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XML </a:t>
            </a:r>
            <a:r>
              <a:rPr lang="ko-KR" altLang="en-US" sz="1000" b="1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원본보기</a:t>
            </a:r>
            <a:endParaRPr lang="en-US" altLang="ko-KR" sz="10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" name="Rectangle 10"/>
          <p:cNvSpPr>
            <a:spLocks noChangeArrowheads="1"/>
          </p:cNvSpPr>
          <p:nvPr/>
        </p:nvSpPr>
        <p:spPr bwMode="auto">
          <a:xfrm>
            <a:off x="7905328" y="3933056"/>
            <a:ext cx="1512168" cy="288032"/>
          </a:xfrm>
          <a:prstGeom prst="rect">
            <a:avLst/>
          </a:prstGeom>
          <a:solidFill>
            <a:srgbClr val="9DB7CF"/>
          </a:solidFill>
          <a:ln w="3175" algn="ctr">
            <a:solidFill>
              <a:srgbClr val="6F99B9"/>
            </a:solidFill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algn="ctr"/>
            <a:r>
              <a:rPr lang="ko-KR" altLang="en-US" sz="1000" b="1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오류 발생시 재처리</a:t>
            </a:r>
            <a:endParaRPr lang="en-US" altLang="ko-KR" sz="10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6321152" y="5733256"/>
            <a:ext cx="432048" cy="216024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8" name="직선 화살표 연결선 17"/>
          <p:cNvCxnSpPr>
            <a:stCxn id="17" idx="3"/>
            <a:endCxn id="66564" idx="1"/>
          </p:cNvCxnSpPr>
          <p:nvPr/>
        </p:nvCxnSpPr>
        <p:spPr>
          <a:xfrm flipV="1">
            <a:off x="6753200" y="5499440"/>
            <a:ext cx="1152128" cy="34182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/>
          <p:cNvSpPr/>
          <p:nvPr/>
        </p:nvSpPr>
        <p:spPr>
          <a:xfrm>
            <a:off x="7041232" y="4748894"/>
            <a:ext cx="432048" cy="216024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3" name="직선 화살표 연결선 22"/>
          <p:cNvCxnSpPr>
            <a:stCxn id="22" idx="3"/>
            <a:endCxn id="16" idx="1"/>
          </p:cNvCxnSpPr>
          <p:nvPr/>
        </p:nvCxnSpPr>
        <p:spPr>
          <a:xfrm flipV="1">
            <a:off x="7473280" y="4077072"/>
            <a:ext cx="432048" cy="779834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AutoShape 439"/>
          <p:cNvSpPr>
            <a:spLocks noChangeArrowheads="1"/>
          </p:cNvSpPr>
          <p:nvPr/>
        </p:nvSpPr>
        <p:spPr bwMode="auto">
          <a:xfrm>
            <a:off x="3152800" y="2348880"/>
            <a:ext cx="576065" cy="936104"/>
          </a:xfrm>
          <a:prstGeom prst="rightArrow">
            <a:avLst>
              <a:gd name="adj1" fmla="val 61624"/>
              <a:gd name="adj2" fmla="val 61587"/>
            </a:avLst>
          </a:prstGeom>
          <a:solidFill>
            <a:schemeClr val="accent4">
              <a:lumMod val="60000"/>
              <a:lumOff val="40000"/>
            </a:schemeClr>
          </a:solidFill>
          <a:ln w="3175" algn="ctr">
            <a:solidFill>
              <a:schemeClr val="accent4">
                <a:lumMod val="60000"/>
                <a:lumOff val="40000"/>
              </a:schemeClr>
            </a:solidFill>
            <a:miter lim="800000"/>
            <a:headEnd type="none" w="sm" len="sm"/>
            <a:tailEnd type="none" w="sm" len="med"/>
          </a:ln>
        </p:spPr>
        <p:txBody>
          <a:bodyPr wrap="none" anchor="ctr"/>
          <a:lstStyle/>
          <a:p>
            <a:pPr algn="ctr" defTabSz="1514475" fontAlgn="base" latinLnBrk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>
                <a:srgbClr val="3683D0"/>
              </a:buClr>
              <a:buSzPct val="90000"/>
              <a:buFont typeface="Wingdings 2" pitchFamily="18" charset="2"/>
              <a:buNone/>
            </a:pPr>
            <a:endParaRPr kumimoji="1" lang="ko-KR" altLang="ko-KR" sz="900" b="1" dirty="0">
              <a:solidFill>
                <a:prstClr val="black"/>
              </a:solidFill>
              <a:latin typeface="+mn-ea"/>
              <a:cs typeface="Arial Unicode MS" pitchFamily="50" charset="-127"/>
            </a:endParaRPr>
          </a:p>
        </p:txBody>
      </p:sp>
      <p:sp>
        <p:nvSpPr>
          <p:cNvPr id="27" name="AutoShape 439"/>
          <p:cNvSpPr>
            <a:spLocks noChangeArrowheads="1"/>
          </p:cNvSpPr>
          <p:nvPr/>
        </p:nvSpPr>
        <p:spPr bwMode="auto">
          <a:xfrm rot="5400000">
            <a:off x="5349043" y="3465005"/>
            <a:ext cx="576065" cy="936104"/>
          </a:xfrm>
          <a:prstGeom prst="rightArrow">
            <a:avLst>
              <a:gd name="adj1" fmla="val 61624"/>
              <a:gd name="adj2" fmla="val 61587"/>
            </a:avLst>
          </a:prstGeom>
          <a:solidFill>
            <a:schemeClr val="accent4">
              <a:lumMod val="60000"/>
              <a:lumOff val="40000"/>
            </a:schemeClr>
          </a:solidFill>
          <a:ln w="3175" algn="ctr">
            <a:solidFill>
              <a:schemeClr val="accent4">
                <a:lumMod val="60000"/>
                <a:lumOff val="40000"/>
              </a:schemeClr>
            </a:solidFill>
            <a:miter lim="800000"/>
            <a:headEnd type="none" w="sm" len="sm"/>
            <a:tailEnd type="none" w="sm" len="med"/>
          </a:ln>
        </p:spPr>
        <p:txBody>
          <a:bodyPr wrap="none" anchor="ctr"/>
          <a:lstStyle/>
          <a:p>
            <a:pPr algn="ctr" defTabSz="1514475" fontAlgn="base" latinLnBrk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>
                <a:srgbClr val="3683D0"/>
              </a:buClr>
              <a:buSzPct val="90000"/>
              <a:buFont typeface="Wingdings 2" pitchFamily="18" charset="2"/>
              <a:buNone/>
            </a:pPr>
            <a:endParaRPr kumimoji="1" lang="ko-KR" altLang="ko-KR" sz="900" b="1" dirty="0">
              <a:solidFill>
                <a:prstClr val="black"/>
              </a:solidFill>
              <a:latin typeface="+mn-ea"/>
              <a:cs typeface="Arial Unicode MS" pitchFamily="50" charset="-127"/>
            </a:endParaRPr>
          </a:p>
        </p:txBody>
      </p:sp>
      <p:sp>
        <p:nvSpPr>
          <p:cNvPr id="28" name="Rectangle 93"/>
          <p:cNvSpPr>
            <a:spLocks noChangeArrowheads="1"/>
          </p:cNvSpPr>
          <p:nvPr/>
        </p:nvSpPr>
        <p:spPr bwMode="auto">
          <a:xfrm>
            <a:off x="344488" y="1698079"/>
            <a:ext cx="9217025" cy="4467771"/>
          </a:xfrm>
          <a:prstGeom prst="rect">
            <a:avLst/>
          </a:prstGeom>
          <a:noFill/>
          <a:ln w="9525" algn="ctr">
            <a:solidFill>
              <a:srgbClr val="588D9A"/>
            </a:solidFill>
            <a:miter lim="800000"/>
            <a:headEnd/>
            <a:tailEnd/>
          </a:ln>
          <a:effectLst>
            <a:outerShdw dist="35921" dir="2700000" algn="ctr" rotWithShape="0">
              <a:srgbClr val="CCECFF"/>
            </a:outerShdw>
          </a:effectLst>
        </p:spPr>
        <p:txBody>
          <a:bodyPr lIns="53976" tIns="35985" rIns="0" bIns="45702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b="0" kern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66567" name="Picture 7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121352" y="5120809"/>
            <a:ext cx="1008112" cy="9361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2" name="그룹 31"/>
          <p:cNvGrpSpPr/>
          <p:nvPr/>
        </p:nvGrpSpPr>
        <p:grpSpPr>
          <a:xfrm>
            <a:off x="560512" y="4149080"/>
            <a:ext cx="3024336" cy="1800199"/>
            <a:chOff x="344488" y="1988294"/>
            <a:chExt cx="5761037" cy="4321026"/>
          </a:xfrm>
        </p:grpSpPr>
        <p:sp>
          <p:nvSpPr>
            <p:cNvPr id="33" name="Rectangle 54"/>
            <p:cNvSpPr>
              <a:spLocks noChangeArrowheads="1"/>
            </p:cNvSpPr>
            <p:nvPr/>
          </p:nvSpPr>
          <p:spPr bwMode="auto">
            <a:xfrm>
              <a:off x="2576736" y="2254203"/>
              <a:ext cx="2532221" cy="4055117"/>
            </a:xfrm>
            <a:prstGeom prst="rect">
              <a:avLst/>
            </a:prstGeom>
            <a:gradFill rotWithShape="1">
              <a:gsLst>
                <a:gs pos="0">
                  <a:srgbClr val="CCECFF"/>
                </a:gs>
                <a:gs pos="100000">
                  <a:srgbClr val="99CCFF"/>
                </a:gs>
              </a:gsLst>
              <a:lin ang="0" scaled="1"/>
            </a:gradFill>
            <a:ln w="12700" algn="ctr">
              <a:solidFill>
                <a:schemeClr val="bg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square" anchor="ctr">
              <a:noAutofit/>
            </a:bodyPr>
            <a:lstStyle/>
            <a:p>
              <a:endParaRPr lang="ko-KR" altLang="en-US" sz="800">
                <a:latin typeface="+mn-ea"/>
              </a:endParaRPr>
            </a:p>
          </p:txBody>
        </p:sp>
        <p:grpSp>
          <p:nvGrpSpPr>
            <p:cNvPr id="34" name="그룹 67"/>
            <p:cNvGrpSpPr/>
            <p:nvPr/>
          </p:nvGrpSpPr>
          <p:grpSpPr>
            <a:xfrm>
              <a:off x="2843831" y="5365847"/>
              <a:ext cx="2129231" cy="810519"/>
              <a:chOff x="4160594" y="4927313"/>
              <a:chExt cx="3384694" cy="1238537"/>
            </a:xfrm>
          </p:grpSpPr>
          <p:sp>
            <p:nvSpPr>
              <p:cNvPr id="81" name="모서리가 둥근 직사각형 80"/>
              <p:cNvSpPr/>
              <p:nvPr/>
            </p:nvSpPr>
            <p:spPr bwMode="auto">
              <a:xfrm>
                <a:off x="4880676" y="4941168"/>
                <a:ext cx="2664612" cy="1224682"/>
              </a:xfrm>
              <a:prstGeom prst="roundRect">
                <a:avLst>
                  <a:gd name="adj" fmla="val 1122"/>
                </a:avLst>
              </a:prstGeom>
              <a:solidFill>
                <a:srgbClr val="DAEDEF">
                  <a:lumMod val="20000"/>
                  <a:lumOff val="80000"/>
                </a:srgbClr>
              </a:solidFill>
              <a:ln w="12700" cap="flat" cmpd="sng" algn="ctr">
                <a:solidFill>
                  <a:schemeClr val="bg2">
                    <a:lumMod val="25000"/>
                  </a:schemeClr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82" name="AutoShape 16"/>
              <p:cNvSpPr>
                <a:spLocks noChangeArrowheads="1"/>
              </p:cNvSpPr>
              <p:nvPr/>
            </p:nvSpPr>
            <p:spPr bwMode="auto">
              <a:xfrm>
                <a:off x="4160594" y="4927313"/>
                <a:ext cx="720081" cy="1224682"/>
              </a:xfrm>
              <a:prstGeom prst="roundRect">
                <a:avLst>
                  <a:gd name="adj" fmla="val 6199"/>
                </a:avLst>
              </a:prstGeom>
              <a:solidFill>
                <a:srgbClr val="DDDDDD"/>
              </a:solidFill>
              <a:ln w="9525">
                <a:solidFill>
                  <a:schemeClr val="bg2"/>
                </a:solidFill>
                <a:round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lIns="0" tIns="0" rIns="0" bIns="0" anchor="ctr"/>
              <a:lstStyle/>
              <a:p>
                <a:pPr algn="ctr" latinLnBrk="0"/>
                <a:r>
                  <a:rPr lang="en-US" altLang="ko-KR" sz="500" b="1" dirty="0" smtClean="0">
                    <a:solidFill>
                      <a:schemeClr val="tx1"/>
                    </a:solidFill>
                    <a:latin typeface="+mn-ea"/>
                  </a:rPr>
                  <a:t>I/F</a:t>
                </a:r>
              </a:p>
              <a:p>
                <a:pPr algn="ctr" latinLnBrk="0"/>
                <a:r>
                  <a:rPr lang="ko-KR" altLang="en-US" sz="500" b="1" dirty="0" smtClean="0">
                    <a:solidFill>
                      <a:schemeClr val="tx1"/>
                    </a:solidFill>
                    <a:latin typeface="+mn-ea"/>
                  </a:rPr>
                  <a:t>영역</a:t>
                </a:r>
                <a:endParaRPr lang="ko-KR" altLang="en-US" sz="5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</p:grpSp>
        <p:sp>
          <p:nvSpPr>
            <p:cNvPr id="35" name="모서리가 둥근 직사각형 34"/>
            <p:cNvSpPr/>
            <p:nvPr/>
          </p:nvSpPr>
          <p:spPr bwMode="auto">
            <a:xfrm>
              <a:off x="3342313" y="2786022"/>
              <a:ext cx="1630748" cy="2440391"/>
            </a:xfrm>
            <a:prstGeom prst="roundRect">
              <a:avLst>
                <a:gd name="adj" fmla="val 1122"/>
              </a:avLst>
            </a:prstGeom>
            <a:solidFill>
              <a:srgbClr val="DAEDEF">
                <a:lumMod val="20000"/>
                <a:lumOff val="80000"/>
              </a:srgbClr>
            </a:solidFill>
            <a:ln w="12700" cap="flat" cmpd="sng" algn="ctr">
              <a:solidFill>
                <a:schemeClr val="bg2">
                  <a:lumMod val="25000"/>
                </a:scheme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36" name="모서리가 둥근 직사각형 35"/>
            <p:cNvSpPr/>
            <p:nvPr/>
          </p:nvSpPr>
          <p:spPr bwMode="auto">
            <a:xfrm>
              <a:off x="344488" y="2564358"/>
              <a:ext cx="1630748" cy="2448271"/>
            </a:xfrm>
            <a:prstGeom prst="roundRect">
              <a:avLst>
                <a:gd name="adj" fmla="val 1122"/>
              </a:avLst>
            </a:prstGeom>
            <a:solidFill>
              <a:srgbClr val="DAEDEF">
                <a:lumMod val="20000"/>
                <a:lumOff val="80000"/>
              </a:srgbClr>
            </a:solidFill>
            <a:ln w="12700" cap="flat" cmpd="sng" algn="ctr">
              <a:solidFill>
                <a:schemeClr val="bg2">
                  <a:lumMod val="25000"/>
                </a:scheme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37" name="Text Box 27"/>
            <p:cNvSpPr txBox="1">
              <a:spLocks noChangeArrowheads="1"/>
            </p:cNvSpPr>
            <p:nvPr/>
          </p:nvSpPr>
          <p:spPr bwMode="auto">
            <a:xfrm>
              <a:off x="2576736" y="1988294"/>
              <a:ext cx="2520280" cy="531819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12700">
              <a:solidFill>
                <a:schemeClr val="bg2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anchor="ctr"/>
            <a:lstStyle>
              <a:defPPr>
                <a:defRPr lang="ko-KR"/>
              </a:defPPr>
              <a:lvl1pPr algn="ctr" latinLnBrk="0">
                <a:defRPr sz="1400" b="1"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</a:lstStyle>
            <a:p>
              <a:r>
                <a:rPr lang="ko-KR" altLang="en-US" sz="700" dirty="0" smtClean="0">
                  <a:solidFill>
                    <a:schemeClr val="bg1"/>
                  </a:solidFill>
                  <a:latin typeface="+mn-ea"/>
                  <a:ea typeface="+mn-ea"/>
                </a:rPr>
                <a:t>글로벌 </a:t>
              </a:r>
              <a:r>
                <a:rPr lang="ko-KR" altLang="en-US" sz="700" dirty="0" err="1" smtClean="0">
                  <a:solidFill>
                    <a:schemeClr val="bg1"/>
                  </a:solidFill>
                  <a:latin typeface="+mn-ea"/>
                  <a:ea typeface="+mn-ea"/>
                </a:rPr>
                <a:t>웹기반</a:t>
              </a:r>
              <a:r>
                <a:rPr lang="ko-KR" altLang="en-US" sz="700" dirty="0" smtClean="0">
                  <a:solidFill>
                    <a:schemeClr val="bg1"/>
                  </a:solidFill>
                  <a:latin typeface="+mn-ea"/>
                  <a:ea typeface="+mn-ea"/>
                </a:rPr>
                <a:t> </a:t>
              </a:r>
              <a:r>
                <a:rPr lang="en-US" altLang="ko-KR" sz="700" dirty="0" smtClean="0">
                  <a:solidFill>
                    <a:schemeClr val="bg1"/>
                  </a:solidFill>
                  <a:latin typeface="+mn-ea"/>
                  <a:ea typeface="+mn-ea"/>
                </a:rPr>
                <a:t>WMS</a:t>
              </a:r>
              <a:r>
                <a:rPr lang="ko-KR" altLang="en-US" sz="700" dirty="0" smtClean="0">
                  <a:solidFill>
                    <a:schemeClr val="bg1"/>
                  </a:solidFill>
                  <a:latin typeface="+mn-ea"/>
                  <a:ea typeface="+mn-ea"/>
                </a:rPr>
                <a:t>시스템</a:t>
              </a:r>
              <a:r>
                <a:rPr lang="en-US" altLang="ko-KR" sz="700" dirty="0" smtClean="0">
                  <a:solidFill>
                    <a:schemeClr val="bg1"/>
                  </a:solidFill>
                  <a:latin typeface="+mn-ea"/>
                  <a:ea typeface="+mn-ea"/>
                </a:rPr>
                <a:t>(JPR)</a:t>
              </a:r>
              <a:endParaRPr lang="ko-KR" altLang="en-US" sz="7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grpSp>
          <p:nvGrpSpPr>
            <p:cNvPr id="38" name="그룹 69"/>
            <p:cNvGrpSpPr>
              <a:grpSpLocks/>
            </p:cNvGrpSpPr>
            <p:nvPr/>
          </p:nvGrpSpPr>
          <p:grpSpPr bwMode="auto">
            <a:xfrm>
              <a:off x="567443" y="4364567"/>
              <a:ext cx="815374" cy="504057"/>
              <a:chOff x="8691797" y="3616325"/>
              <a:chExt cx="857256" cy="381328"/>
            </a:xfrm>
          </p:grpSpPr>
          <p:pic>
            <p:nvPicPr>
              <p:cNvPr id="79" name="Picture 406" descr="파란막대"/>
              <p:cNvPicPr>
                <a:picLocks noChangeAspect="1" noChangeArrowheads="1"/>
              </p:cNvPicPr>
              <p:nvPr/>
            </p:nvPicPr>
            <p:blipFill>
              <a:blip r:embed="rId6" cstate="print">
                <a:lum bright="12000"/>
              </a:blip>
              <a:srcRect/>
              <a:stretch>
                <a:fillRect/>
              </a:stretch>
            </p:blipFill>
            <p:spPr bwMode="gray">
              <a:xfrm>
                <a:off x="8691797" y="3616325"/>
                <a:ext cx="857256" cy="38132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80" name="직사각형 79"/>
              <p:cNvSpPr/>
              <p:nvPr/>
            </p:nvSpPr>
            <p:spPr>
              <a:xfrm>
                <a:off x="8892153" y="3717936"/>
                <a:ext cx="452667" cy="139721"/>
              </a:xfrm>
              <a:prstGeom prst="rect">
                <a:avLst/>
              </a:prstGeom>
            </p:spPr>
            <p:txBody>
              <a:bodyPr wrap="none" lIns="0" tIns="0" rIns="0" bIns="0">
                <a:spAutoFit/>
              </a:bodyPr>
              <a:lstStyle/>
              <a:p>
                <a:pPr algn="ctr">
                  <a:defRPr/>
                </a:pPr>
                <a:r>
                  <a:rPr lang="en-US" altLang="ko-KR" sz="500" spc="-100" dirty="0" err="1" smtClean="0">
                    <a:solidFill>
                      <a:prstClr val="black"/>
                    </a:solidFill>
                    <a:latin typeface="+mn-ea"/>
                  </a:rPr>
                  <a:t>Buiness</a:t>
                </a:r>
                <a:r>
                  <a:rPr lang="en-US" altLang="ko-KR" sz="500" spc="-100" dirty="0" smtClean="0">
                    <a:solidFill>
                      <a:prstClr val="black"/>
                    </a:solidFill>
                    <a:latin typeface="+mn-ea"/>
                  </a:rPr>
                  <a:t> Table</a:t>
                </a:r>
              </a:p>
            </p:txBody>
          </p:sp>
        </p:grpSp>
        <p:grpSp>
          <p:nvGrpSpPr>
            <p:cNvPr id="39" name="그룹 109"/>
            <p:cNvGrpSpPr/>
            <p:nvPr/>
          </p:nvGrpSpPr>
          <p:grpSpPr>
            <a:xfrm>
              <a:off x="441434" y="2653067"/>
              <a:ext cx="1151008" cy="1655305"/>
              <a:chOff x="344488" y="2509597"/>
              <a:chExt cx="1247954" cy="1655305"/>
            </a:xfrm>
          </p:grpSpPr>
          <p:sp>
            <p:nvSpPr>
              <p:cNvPr id="74" name="AutoShape 16"/>
              <p:cNvSpPr>
                <a:spLocks noChangeArrowheads="1"/>
              </p:cNvSpPr>
              <p:nvPr/>
            </p:nvSpPr>
            <p:spPr bwMode="auto">
              <a:xfrm>
                <a:off x="344488" y="2509597"/>
                <a:ext cx="1223061" cy="385239"/>
              </a:xfrm>
              <a:prstGeom prst="roundRect">
                <a:avLst>
                  <a:gd name="adj" fmla="val 6199"/>
                </a:avLst>
              </a:prstGeom>
              <a:solidFill>
                <a:srgbClr val="DDDDDD"/>
              </a:solidFill>
              <a:ln w="9525">
                <a:solidFill>
                  <a:schemeClr val="bg2"/>
                </a:solidFill>
                <a:round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anchor="ctr"/>
              <a:lstStyle/>
              <a:p>
                <a:pPr algn="ctr" latinLnBrk="0"/>
                <a:r>
                  <a:rPr lang="en-US" altLang="ko-KR" sz="500" b="1" dirty="0" smtClean="0">
                    <a:solidFill>
                      <a:schemeClr val="tx1"/>
                    </a:solidFill>
                    <a:latin typeface="+mn-ea"/>
                  </a:rPr>
                  <a:t>Company A</a:t>
                </a:r>
              </a:p>
              <a:p>
                <a:pPr algn="ctr" latinLnBrk="0"/>
                <a:r>
                  <a:rPr lang="en-US" altLang="ko-KR" sz="500" b="1" dirty="0" smtClean="0">
                    <a:latin typeface="+mn-ea"/>
                  </a:rPr>
                  <a:t>WMS/OMS</a:t>
                </a:r>
                <a:endParaRPr lang="ko-KR" altLang="en-US" sz="5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75" name="Text Box 12"/>
              <p:cNvSpPr txBox="1">
                <a:spLocks noChangeArrowheads="1"/>
              </p:cNvSpPr>
              <p:nvPr/>
            </p:nvSpPr>
            <p:spPr bwMode="auto">
              <a:xfrm>
                <a:off x="344488" y="2914226"/>
                <a:ext cx="1247954" cy="125067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50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square" anchor="ctr"/>
              <a:lstStyle/>
              <a:p>
                <a:pPr algn="ctr" latinLnBrk="0">
                  <a:spcBef>
                    <a:spcPts val="600"/>
                  </a:spcBef>
                </a:pPr>
                <a:endParaRPr lang="ko-KR" altLang="en-US" sz="600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76" name="Rectangle 72"/>
              <p:cNvSpPr>
                <a:spLocks noChangeArrowheads="1"/>
              </p:cNvSpPr>
              <p:nvPr/>
            </p:nvSpPr>
            <p:spPr bwMode="gray">
              <a:xfrm>
                <a:off x="480383" y="3097337"/>
                <a:ext cx="964950" cy="210516"/>
              </a:xfrm>
              <a:prstGeom prst="rect">
                <a:avLst/>
              </a:prstGeom>
              <a:solidFill>
                <a:srgbClr val="D7EAF1"/>
              </a:solidFill>
              <a:ln w="6350" algn="ctr">
                <a:noFill/>
                <a:miter lim="800000"/>
                <a:headEnd/>
                <a:tailEnd/>
              </a:ln>
            </p:spPr>
            <p:txBody>
              <a:bodyPr wrap="none" rIns="90000" anchor="ctr"/>
              <a:lstStyle/>
              <a:p>
                <a:pPr algn="ctr"/>
                <a:r>
                  <a:rPr lang="ko-KR" altLang="en-US" sz="500" smtClean="0">
                    <a:latin typeface="+mn-ea"/>
                  </a:rPr>
                  <a:t>입고</a:t>
                </a:r>
                <a:endParaRPr lang="en-US" altLang="ko-KR" sz="500" b="0" dirty="0">
                  <a:latin typeface="+mn-ea"/>
                </a:endParaRPr>
              </a:p>
            </p:txBody>
          </p:sp>
          <p:sp>
            <p:nvSpPr>
              <p:cNvPr id="77" name="Rectangle 72"/>
              <p:cNvSpPr>
                <a:spLocks noChangeArrowheads="1"/>
              </p:cNvSpPr>
              <p:nvPr/>
            </p:nvSpPr>
            <p:spPr bwMode="gray">
              <a:xfrm>
                <a:off x="480383" y="3440280"/>
                <a:ext cx="964950" cy="210516"/>
              </a:xfrm>
              <a:prstGeom prst="rect">
                <a:avLst/>
              </a:prstGeom>
              <a:solidFill>
                <a:srgbClr val="D7EAF1"/>
              </a:solidFill>
              <a:ln w="6350" algn="ctr">
                <a:noFill/>
                <a:miter lim="800000"/>
                <a:headEnd/>
                <a:tailEnd/>
              </a:ln>
            </p:spPr>
            <p:txBody>
              <a:bodyPr wrap="none" rIns="90000" anchor="ctr"/>
              <a:lstStyle/>
              <a:p>
                <a:pPr algn="ctr"/>
                <a:r>
                  <a:rPr lang="ko-KR" altLang="en-US" sz="500" b="0" smtClean="0">
                    <a:latin typeface="+mn-ea"/>
                  </a:rPr>
                  <a:t>출고</a:t>
                </a:r>
                <a:endParaRPr lang="en-US" altLang="ko-KR" sz="500" b="0" dirty="0">
                  <a:latin typeface="+mn-ea"/>
                </a:endParaRPr>
              </a:p>
            </p:txBody>
          </p:sp>
          <p:sp>
            <p:nvSpPr>
              <p:cNvPr id="78" name="Rectangle 72"/>
              <p:cNvSpPr>
                <a:spLocks noChangeArrowheads="1"/>
              </p:cNvSpPr>
              <p:nvPr/>
            </p:nvSpPr>
            <p:spPr bwMode="gray">
              <a:xfrm>
                <a:off x="480383" y="3828060"/>
                <a:ext cx="964950" cy="210516"/>
              </a:xfrm>
              <a:prstGeom prst="rect">
                <a:avLst/>
              </a:prstGeom>
              <a:solidFill>
                <a:srgbClr val="D7EAF1"/>
              </a:solidFill>
              <a:ln w="6350" algn="ctr">
                <a:noFill/>
                <a:miter lim="800000"/>
                <a:headEnd/>
                <a:tailEnd/>
              </a:ln>
            </p:spPr>
            <p:txBody>
              <a:bodyPr wrap="none" rIns="90000" anchor="ctr"/>
              <a:lstStyle/>
              <a:p>
                <a:pPr algn="ctr"/>
                <a:r>
                  <a:rPr lang="ko-KR" altLang="en-US" sz="500" b="0" dirty="0" smtClean="0">
                    <a:latin typeface="+mn-ea"/>
                  </a:rPr>
                  <a:t>재고</a:t>
                </a:r>
                <a:endParaRPr lang="en-US" altLang="ko-KR" sz="500" b="0" dirty="0">
                  <a:latin typeface="+mn-ea"/>
                </a:endParaRPr>
              </a:p>
            </p:txBody>
          </p:sp>
        </p:grpSp>
        <p:grpSp>
          <p:nvGrpSpPr>
            <p:cNvPr id="40" name="그룹 69"/>
            <p:cNvGrpSpPr>
              <a:grpSpLocks/>
            </p:cNvGrpSpPr>
            <p:nvPr/>
          </p:nvGrpSpPr>
          <p:grpSpPr bwMode="auto">
            <a:xfrm>
              <a:off x="3495086" y="5550460"/>
              <a:ext cx="1313909" cy="559418"/>
              <a:chOff x="8691797" y="3616325"/>
              <a:chExt cx="857256" cy="381328"/>
            </a:xfrm>
          </p:grpSpPr>
          <p:pic>
            <p:nvPicPr>
              <p:cNvPr id="72" name="Picture 406" descr="파란막대"/>
              <p:cNvPicPr>
                <a:picLocks noChangeAspect="1" noChangeArrowheads="1"/>
              </p:cNvPicPr>
              <p:nvPr/>
            </p:nvPicPr>
            <p:blipFill>
              <a:blip r:embed="rId6" cstate="print">
                <a:lum bright="12000"/>
              </a:blip>
              <a:srcRect/>
              <a:stretch>
                <a:fillRect/>
              </a:stretch>
            </p:blipFill>
            <p:spPr bwMode="gray">
              <a:xfrm>
                <a:off x="8691797" y="3616325"/>
                <a:ext cx="857256" cy="38132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73" name="직사각형 72"/>
              <p:cNvSpPr/>
              <p:nvPr/>
            </p:nvSpPr>
            <p:spPr>
              <a:xfrm>
                <a:off x="8918382" y="3680460"/>
                <a:ext cx="408418" cy="302145"/>
              </a:xfrm>
              <a:prstGeom prst="rect">
                <a:avLst/>
              </a:prstGeom>
            </p:spPr>
            <p:txBody>
              <a:bodyPr wrap="none" lIns="0" tIns="0" rIns="0" bIns="0">
                <a:spAutoFit/>
              </a:bodyPr>
              <a:lstStyle/>
              <a:p>
                <a:pPr algn="ctr">
                  <a:defRPr/>
                </a:pPr>
                <a:r>
                  <a:rPr lang="en-US" altLang="ko-KR" sz="600" spc="-100" dirty="0" smtClean="0">
                    <a:solidFill>
                      <a:prstClr val="black"/>
                    </a:solidFill>
                    <a:latin typeface="+mn-ea"/>
                  </a:rPr>
                  <a:t>Common</a:t>
                </a:r>
              </a:p>
              <a:p>
                <a:pPr algn="ctr">
                  <a:defRPr/>
                </a:pPr>
                <a:r>
                  <a:rPr lang="en-US" altLang="ko-KR" sz="600" spc="-100" dirty="0" smtClean="0">
                    <a:solidFill>
                      <a:prstClr val="black"/>
                    </a:solidFill>
                    <a:latin typeface="+mn-ea"/>
                  </a:rPr>
                  <a:t>Interface Table</a:t>
                </a:r>
              </a:p>
            </p:txBody>
          </p:sp>
        </p:grpSp>
        <p:sp>
          <p:nvSpPr>
            <p:cNvPr id="41" name="AutoShape 16"/>
            <p:cNvSpPr>
              <a:spLocks noChangeArrowheads="1"/>
            </p:cNvSpPr>
            <p:nvPr/>
          </p:nvSpPr>
          <p:spPr bwMode="auto">
            <a:xfrm>
              <a:off x="3523507" y="2653067"/>
              <a:ext cx="1223061" cy="385239"/>
            </a:xfrm>
            <a:prstGeom prst="roundRect">
              <a:avLst>
                <a:gd name="adj" fmla="val 6199"/>
              </a:avLst>
            </a:prstGeom>
            <a:solidFill>
              <a:srgbClr val="DDDDDD"/>
            </a:solidFill>
            <a:ln w="9525">
              <a:solidFill>
                <a:schemeClr val="bg2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anchor="ctr"/>
            <a:lstStyle/>
            <a:p>
              <a:pPr algn="ctr" latinLnBrk="0"/>
              <a:r>
                <a:rPr lang="en-US" altLang="ko-KR" sz="500" b="1" dirty="0" smtClean="0">
                  <a:solidFill>
                    <a:schemeClr val="tx1"/>
                  </a:solidFill>
                  <a:latin typeface="+mn-ea"/>
                </a:rPr>
                <a:t>Company B</a:t>
              </a:r>
              <a:endParaRPr lang="ko-KR" altLang="en-US" sz="5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42" name="Text Box 12"/>
            <p:cNvSpPr txBox="1">
              <a:spLocks noChangeArrowheads="1"/>
            </p:cNvSpPr>
            <p:nvPr/>
          </p:nvSpPr>
          <p:spPr bwMode="auto">
            <a:xfrm>
              <a:off x="3523508" y="3057696"/>
              <a:ext cx="1247954" cy="125067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anchor="ctr"/>
            <a:lstStyle/>
            <a:p>
              <a:pPr algn="ctr" latinLnBrk="0">
                <a:spcBef>
                  <a:spcPts val="600"/>
                </a:spcBef>
              </a:pPr>
              <a:endParaRPr lang="ko-KR" altLang="en-US" sz="600" dirty="0">
                <a:solidFill>
                  <a:schemeClr val="tx1"/>
                </a:solidFill>
                <a:latin typeface="+mn-ea"/>
              </a:endParaRPr>
            </a:p>
          </p:txBody>
        </p:sp>
        <p:grpSp>
          <p:nvGrpSpPr>
            <p:cNvPr id="43" name="그룹 69"/>
            <p:cNvGrpSpPr>
              <a:grpSpLocks/>
            </p:cNvGrpSpPr>
            <p:nvPr/>
          </p:nvGrpSpPr>
          <p:grpSpPr bwMode="auto">
            <a:xfrm>
              <a:off x="3749992" y="4447964"/>
              <a:ext cx="815373" cy="664774"/>
              <a:chOff x="8691797" y="3616325"/>
              <a:chExt cx="857256" cy="381328"/>
            </a:xfrm>
          </p:grpSpPr>
          <p:pic>
            <p:nvPicPr>
              <p:cNvPr id="70" name="Picture 406" descr="파란막대"/>
              <p:cNvPicPr>
                <a:picLocks noChangeAspect="1" noChangeArrowheads="1"/>
              </p:cNvPicPr>
              <p:nvPr/>
            </p:nvPicPr>
            <p:blipFill>
              <a:blip r:embed="rId6" cstate="print">
                <a:lum bright="12000"/>
              </a:blip>
              <a:srcRect/>
              <a:stretch>
                <a:fillRect/>
              </a:stretch>
            </p:blipFill>
            <p:spPr bwMode="gray">
              <a:xfrm>
                <a:off x="8691797" y="3616325"/>
                <a:ext cx="857256" cy="38132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71" name="직사각형 70"/>
              <p:cNvSpPr/>
              <p:nvPr/>
            </p:nvSpPr>
            <p:spPr>
              <a:xfrm>
                <a:off x="8892145" y="3725868"/>
                <a:ext cx="452668" cy="105941"/>
              </a:xfrm>
              <a:prstGeom prst="rect">
                <a:avLst/>
              </a:prstGeom>
            </p:spPr>
            <p:txBody>
              <a:bodyPr wrap="none" lIns="0" tIns="0" rIns="0" bIns="0">
                <a:spAutoFit/>
              </a:bodyPr>
              <a:lstStyle/>
              <a:p>
                <a:pPr algn="ctr">
                  <a:defRPr/>
                </a:pPr>
                <a:r>
                  <a:rPr lang="en-US" altLang="ko-KR" sz="500" spc="-100" dirty="0" err="1" smtClean="0">
                    <a:solidFill>
                      <a:prstClr val="black"/>
                    </a:solidFill>
                    <a:latin typeface="+mn-ea"/>
                  </a:rPr>
                  <a:t>Buiness</a:t>
                </a:r>
                <a:r>
                  <a:rPr lang="en-US" altLang="ko-KR" sz="500" spc="-100" dirty="0" smtClean="0">
                    <a:solidFill>
                      <a:prstClr val="black"/>
                    </a:solidFill>
                    <a:latin typeface="+mn-ea"/>
                  </a:rPr>
                  <a:t> Table</a:t>
                </a:r>
                <a:endParaRPr lang="en-US" altLang="ko-KR" sz="200" spc="-100" dirty="0">
                  <a:solidFill>
                    <a:prstClr val="black"/>
                  </a:solidFill>
                  <a:latin typeface="+mn-ea"/>
                </a:endParaRPr>
              </a:p>
            </p:txBody>
          </p:sp>
        </p:grpSp>
        <p:sp>
          <p:nvSpPr>
            <p:cNvPr id="44" name="Rectangle 72"/>
            <p:cNvSpPr>
              <a:spLocks noChangeArrowheads="1"/>
            </p:cNvSpPr>
            <p:nvPr/>
          </p:nvSpPr>
          <p:spPr bwMode="gray">
            <a:xfrm>
              <a:off x="3659403" y="3240807"/>
              <a:ext cx="964950" cy="210516"/>
            </a:xfrm>
            <a:prstGeom prst="rect">
              <a:avLst/>
            </a:prstGeom>
            <a:solidFill>
              <a:srgbClr val="D7EAF1"/>
            </a:solidFill>
            <a:ln w="6350" algn="ctr">
              <a:noFill/>
              <a:miter lim="800000"/>
              <a:headEnd/>
              <a:tailEnd/>
            </a:ln>
          </p:spPr>
          <p:txBody>
            <a:bodyPr wrap="none" rIns="90000" anchor="ctr"/>
            <a:lstStyle/>
            <a:p>
              <a:pPr algn="ctr"/>
              <a:r>
                <a:rPr lang="ko-KR" altLang="en-US" sz="500" dirty="0" smtClean="0">
                  <a:latin typeface="+mn-ea"/>
                </a:rPr>
                <a:t>입고</a:t>
              </a:r>
              <a:endParaRPr lang="en-US" altLang="ko-KR" sz="500" b="0" dirty="0">
                <a:latin typeface="+mn-ea"/>
              </a:endParaRPr>
            </a:p>
          </p:txBody>
        </p:sp>
        <p:sp>
          <p:nvSpPr>
            <p:cNvPr id="45" name="Rectangle 72"/>
            <p:cNvSpPr>
              <a:spLocks noChangeArrowheads="1"/>
            </p:cNvSpPr>
            <p:nvPr/>
          </p:nvSpPr>
          <p:spPr bwMode="gray">
            <a:xfrm>
              <a:off x="3659403" y="3583750"/>
              <a:ext cx="964950" cy="210516"/>
            </a:xfrm>
            <a:prstGeom prst="rect">
              <a:avLst/>
            </a:prstGeom>
            <a:solidFill>
              <a:srgbClr val="D7EAF1"/>
            </a:solidFill>
            <a:ln w="6350" algn="ctr">
              <a:noFill/>
              <a:miter lim="800000"/>
              <a:headEnd/>
              <a:tailEnd/>
            </a:ln>
          </p:spPr>
          <p:txBody>
            <a:bodyPr wrap="none" rIns="90000" anchor="ctr"/>
            <a:lstStyle/>
            <a:p>
              <a:pPr algn="ctr"/>
              <a:r>
                <a:rPr lang="ko-KR" altLang="en-US" sz="500" b="0" smtClean="0">
                  <a:latin typeface="+mn-ea"/>
                </a:rPr>
                <a:t>출고</a:t>
              </a:r>
              <a:endParaRPr lang="en-US" altLang="ko-KR" sz="500" b="0" dirty="0">
                <a:latin typeface="+mn-ea"/>
              </a:endParaRPr>
            </a:p>
          </p:txBody>
        </p:sp>
        <p:sp>
          <p:nvSpPr>
            <p:cNvPr id="46" name="Rectangle 72"/>
            <p:cNvSpPr>
              <a:spLocks noChangeArrowheads="1"/>
            </p:cNvSpPr>
            <p:nvPr/>
          </p:nvSpPr>
          <p:spPr bwMode="gray">
            <a:xfrm>
              <a:off x="3659403" y="3971530"/>
              <a:ext cx="964950" cy="210516"/>
            </a:xfrm>
            <a:prstGeom prst="rect">
              <a:avLst/>
            </a:prstGeom>
            <a:solidFill>
              <a:srgbClr val="D7EAF1"/>
            </a:solidFill>
            <a:ln w="6350" algn="ctr">
              <a:noFill/>
              <a:miter lim="800000"/>
              <a:headEnd/>
              <a:tailEnd/>
            </a:ln>
          </p:spPr>
          <p:txBody>
            <a:bodyPr wrap="none" rIns="90000" anchor="ctr"/>
            <a:lstStyle/>
            <a:p>
              <a:pPr algn="ctr"/>
              <a:r>
                <a:rPr lang="ko-KR" altLang="en-US" sz="500" b="0" dirty="0" smtClean="0">
                  <a:latin typeface="+mn-ea"/>
                </a:rPr>
                <a:t>재고</a:t>
              </a:r>
              <a:endParaRPr lang="en-US" altLang="ko-KR" sz="500" b="0" dirty="0">
                <a:latin typeface="+mn-ea"/>
              </a:endParaRPr>
            </a:p>
          </p:txBody>
        </p:sp>
        <p:cxnSp>
          <p:nvCxnSpPr>
            <p:cNvPr id="47" name="Shape 46"/>
            <p:cNvCxnSpPr>
              <a:stCxn id="72" idx="3"/>
              <a:endCxn id="70" idx="2"/>
            </p:cNvCxnSpPr>
            <p:nvPr/>
          </p:nvCxnSpPr>
          <p:spPr>
            <a:xfrm flipH="1" flipV="1">
              <a:off x="4157682" y="5112728"/>
              <a:ext cx="651302" cy="717451"/>
            </a:xfrm>
            <a:prstGeom prst="bentConnector4">
              <a:avLst>
                <a:gd name="adj1" fmla="val -35099"/>
                <a:gd name="adj2" fmla="val 69493"/>
              </a:avLst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8" name="그룹 64"/>
            <p:cNvGrpSpPr/>
            <p:nvPr/>
          </p:nvGrpSpPr>
          <p:grpSpPr>
            <a:xfrm>
              <a:off x="5516644" y="3168107"/>
              <a:ext cx="588881" cy="817337"/>
              <a:chOff x="6216707" y="2601245"/>
              <a:chExt cx="936104" cy="803613"/>
            </a:xfrm>
          </p:grpSpPr>
          <p:sp>
            <p:nvSpPr>
              <p:cNvPr id="67" name="AutoShape 49"/>
              <p:cNvSpPr>
                <a:spLocks noChangeArrowheads="1"/>
              </p:cNvSpPr>
              <p:nvPr/>
            </p:nvSpPr>
            <p:spPr bwMode="auto">
              <a:xfrm>
                <a:off x="6216707" y="2827144"/>
                <a:ext cx="936104" cy="577714"/>
              </a:xfrm>
              <a:prstGeom prst="roundRect">
                <a:avLst>
                  <a:gd name="adj" fmla="val 5019"/>
                </a:avLst>
              </a:prstGeom>
              <a:solidFill>
                <a:schemeClr val="bg1"/>
              </a:solidFill>
              <a:ln w="9525">
                <a:solidFill>
                  <a:schemeClr val="tx2">
                    <a:lumMod val="40000"/>
                    <a:lumOff val="60000"/>
                  </a:schemeClr>
                </a:solidFill>
                <a:round/>
                <a:headEnd type="none" w="sm" len="sm"/>
                <a:tailEnd type="none" w="sm" len="sm"/>
              </a:ln>
            </p:spPr>
            <p:txBody>
              <a:bodyPr lIns="54000" tIns="46800" rIns="54000" bIns="46800" anchor="ctr"/>
              <a:lstStyle/>
              <a:p>
                <a:pPr marL="98425" indent="-98425" latinLnBrk="0">
                  <a:lnSpc>
                    <a:spcPct val="110000"/>
                  </a:lnSpc>
                  <a:spcBef>
                    <a:spcPct val="20000"/>
                  </a:spcBef>
                  <a:buFont typeface="Wingdings" pitchFamily="2" charset="2"/>
                  <a:buChar char="§"/>
                </a:pPr>
                <a:endParaRPr lang="ko-KR" altLang="en-US" sz="400">
                  <a:solidFill>
                    <a:srgbClr val="000000"/>
                  </a:solidFill>
                  <a:latin typeface="+mn-ea"/>
                  <a:cs typeface="Arial" pitchFamily="34" charset="0"/>
                </a:endParaRPr>
              </a:p>
            </p:txBody>
          </p:sp>
          <p:pic>
            <p:nvPicPr>
              <p:cNvPr id="68" name="Picture 57" descr="Untitled-1"/>
              <p:cNvPicPr>
                <a:picLocks noChangeAspect="1" noChangeArrowheads="1"/>
              </p:cNvPicPr>
              <p:nvPr/>
            </p:nvPicPr>
            <p:blipFill>
              <a:blip r:embed="rId7" cstate="print"/>
              <a:srcRect t="8757" r="81834" b="53145"/>
              <a:stretch>
                <a:fillRect/>
              </a:stretch>
            </p:blipFill>
            <p:spPr bwMode="auto">
              <a:xfrm>
                <a:off x="6435464" y="2971357"/>
                <a:ext cx="618737" cy="3684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69" name="Rectangle 72"/>
              <p:cNvSpPr>
                <a:spLocks noChangeArrowheads="1"/>
              </p:cNvSpPr>
              <p:nvPr/>
            </p:nvSpPr>
            <p:spPr bwMode="gray">
              <a:xfrm>
                <a:off x="6216707" y="2601245"/>
                <a:ext cx="936104" cy="228030"/>
              </a:xfrm>
              <a:prstGeom prst="rect">
                <a:avLst/>
              </a:prstGeom>
              <a:solidFill>
                <a:srgbClr val="D7EAF1"/>
              </a:solidFill>
              <a:ln w="9525" algn="ctr">
                <a:solidFill>
                  <a:schemeClr val="tx2">
                    <a:lumMod val="40000"/>
                    <a:lumOff val="60000"/>
                  </a:schemeClr>
                </a:solidFill>
                <a:miter lim="800000"/>
                <a:headEnd/>
                <a:tailEnd/>
              </a:ln>
            </p:spPr>
            <p:txBody>
              <a:bodyPr wrap="none" rIns="90000" anchor="ctr"/>
              <a:lstStyle/>
              <a:p>
                <a:pPr algn="ctr"/>
                <a:r>
                  <a:rPr lang="ko-KR" altLang="en-US" sz="400" dirty="0" smtClean="0">
                    <a:latin typeface="+mn-ea"/>
                  </a:rPr>
                  <a:t>사용자</a:t>
                </a:r>
                <a:r>
                  <a:rPr lang="en-US" altLang="ko-KR" sz="400" dirty="0" smtClean="0">
                    <a:latin typeface="+mn-ea"/>
                  </a:rPr>
                  <a:t>B</a:t>
                </a:r>
                <a:endParaRPr lang="en-US" altLang="ko-KR" sz="400" b="0" dirty="0">
                  <a:latin typeface="+mn-ea"/>
                </a:endParaRPr>
              </a:p>
            </p:txBody>
          </p:sp>
        </p:grpSp>
        <p:cxnSp>
          <p:nvCxnSpPr>
            <p:cNvPr id="49" name="AutoShape 89"/>
            <p:cNvCxnSpPr>
              <a:cxnSpLocks noChangeShapeType="1"/>
              <a:stCxn id="67" idx="1"/>
              <a:endCxn id="42" idx="3"/>
            </p:cNvCxnSpPr>
            <p:nvPr/>
          </p:nvCxnSpPr>
          <p:spPr bwMode="auto">
            <a:xfrm flipH="1" flipV="1">
              <a:off x="4771462" y="3683034"/>
              <a:ext cx="745182" cy="8620"/>
            </a:xfrm>
            <a:prstGeom prst="straightConnector1">
              <a:avLst/>
            </a:prstGeom>
            <a:noFill/>
            <a:ln w="25400">
              <a:solidFill>
                <a:schemeClr val="bg2">
                  <a:lumMod val="75000"/>
                </a:schemeClr>
              </a:solidFill>
              <a:round/>
              <a:headEnd/>
              <a:tailEnd/>
            </a:ln>
            <a:effectLst/>
          </p:spPr>
        </p:cxnSp>
        <p:sp>
          <p:nvSpPr>
            <p:cNvPr id="50" name="Cloud"/>
            <p:cNvSpPr>
              <a:spLocks noChangeAspect="1" noEditPoints="1" noChangeArrowheads="1"/>
            </p:cNvSpPr>
            <p:nvPr/>
          </p:nvSpPr>
          <p:spPr bwMode="auto">
            <a:xfrm>
              <a:off x="4952656" y="3432005"/>
              <a:ext cx="409380" cy="406491"/>
            </a:xfrm>
            <a:custGeom>
              <a:avLst/>
              <a:gdLst>
                <a:gd name="T0" fmla="*/ 67 w 21600"/>
                <a:gd name="T1" fmla="*/ 10800 h 21600"/>
                <a:gd name="T2" fmla="*/ 10800 w 21600"/>
                <a:gd name="T3" fmla="*/ 21577 h 21600"/>
                <a:gd name="T4" fmla="*/ 21582 w 21600"/>
                <a:gd name="T5" fmla="*/ 10800 h 21600"/>
                <a:gd name="T6" fmla="*/ 10800 w 21600"/>
                <a:gd name="T7" fmla="*/ 1235 h 21600"/>
                <a:gd name="T8" fmla="*/ 2977 w 21600"/>
                <a:gd name="T9" fmla="*/ 3262 h 21600"/>
                <a:gd name="T10" fmla="*/ 17087 w 21600"/>
                <a:gd name="T11" fmla="*/ 173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 extrusionOk="0">
                  <a:moveTo>
                    <a:pt x="1949" y="7180"/>
                  </a:moveTo>
                  <a:cubicBezTo>
                    <a:pt x="841" y="7336"/>
                    <a:pt x="0" y="8613"/>
                    <a:pt x="0" y="10137"/>
                  </a:cubicBezTo>
                  <a:cubicBezTo>
                    <a:pt x="-1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5" y="13940"/>
                    <a:pt x="475" y="14690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300"/>
                    <a:pt x="6247" y="20300"/>
                  </a:cubicBezTo>
                  <a:cubicBezTo>
                    <a:pt x="6947" y="20299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7"/>
                    <a:pt x="11036" y="21597"/>
                  </a:cubicBezTo>
                  <a:cubicBezTo>
                    <a:pt x="12523" y="21596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7"/>
                    <a:pt x="15802" y="18947"/>
                  </a:cubicBezTo>
                  <a:cubicBezTo>
                    <a:pt x="17390" y="18946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0"/>
                    <a:pt x="16758" y="0"/>
                  </a:cubicBezTo>
                  <a:cubicBezTo>
                    <a:pt x="16044" y="-1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0"/>
                    <a:pt x="13174" y="0"/>
                  </a:cubicBezTo>
                  <a:cubicBezTo>
                    <a:pt x="12347" y="-1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50"/>
                    <a:pt x="9358" y="650"/>
                  </a:cubicBezTo>
                  <a:cubicBezTo>
                    <a:pt x="8372" y="649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2"/>
                    <a:pt x="5288" y="1972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1" y="6774"/>
                    <a:pt x="1922" y="6981"/>
                    <a:pt x="1942" y="7186"/>
                  </a:cubicBezTo>
                  <a:close/>
                </a:path>
                <a:path w="21600" h="21600" fill="none" extrusionOk="0">
                  <a:moveTo>
                    <a:pt x="1074" y="12702"/>
                  </a:moveTo>
                  <a:cubicBezTo>
                    <a:pt x="1407" y="12969"/>
                    <a:pt x="1786" y="13110"/>
                    <a:pt x="2172" y="13110"/>
                  </a:cubicBezTo>
                  <a:cubicBezTo>
                    <a:pt x="2228" y="13109"/>
                    <a:pt x="2285" y="13107"/>
                    <a:pt x="2341" y="13101"/>
                  </a:cubicBezTo>
                </a:path>
                <a:path w="21600" h="21600" fill="none" extrusionOk="0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 extrusionOk="0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 extrusionOk="0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 extrusionOk="0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 extrusionOk="0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 extrusionOk="0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 extrusionOk="0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 extrusionOk="0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 extrusionOk="0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 extrusionOk="0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gradFill rotWithShape="1">
              <a:gsLst>
                <a:gs pos="0">
                  <a:srgbClr val="6699FF"/>
                </a:gs>
                <a:gs pos="100000">
                  <a:srgbClr val="99CCFF"/>
                </a:gs>
              </a:gsLst>
              <a:lin ang="5400000" scaled="1"/>
            </a:gradFill>
            <a:ln w="9525">
              <a:solidFill>
                <a:schemeClr val="tx2">
                  <a:lumMod val="40000"/>
                  <a:lumOff val="60000"/>
                </a:schemeClr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lstStyle/>
            <a:p>
              <a:pPr algn="ctr">
                <a:spcBef>
                  <a:spcPct val="50000"/>
                </a:spcBef>
              </a:pPr>
              <a:endParaRPr lang="ko-KR" altLang="ko-KR" sz="600">
                <a:solidFill>
                  <a:srgbClr val="FF3300"/>
                </a:solidFill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914738" y="3498873"/>
              <a:ext cx="528875" cy="29550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ko-KR" sz="200" dirty="0" smtClean="0">
                  <a:latin typeface="+mn-ea"/>
                </a:rPr>
                <a:t>Internet</a:t>
              </a:r>
              <a:endParaRPr lang="en-US" altLang="ko-KR" sz="200" dirty="0">
                <a:latin typeface="+mn-ea"/>
              </a:endParaRPr>
            </a:p>
          </p:txBody>
        </p:sp>
        <p:cxnSp>
          <p:nvCxnSpPr>
            <p:cNvPr id="52" name="AutoShape 22"/>
            <p:cNvCxnSpPr>
              <a:cxnSpLocks noChangeShapeType="1"/>
              <a:stCxn id="70" idx="3"/>
              <a:endCxn id="44" idx="3"/>
            </p:cNvCxnSpPr>
            <p:nvPr/>
          </p:nvCxnSpPr>
          <p:spPr bwMode="auto">
            <a:xfrm flipV="1">
              <a:off x="4565374" y="3346065"/>
              <a:ext cx="58978" cy="1434277"/>
            </a:xfrm>
            <a:prstGeom prst="curvedConnector3">
              <a:avLst>
                <a:gd name="adj1" fmla="val 514123"/>
              </a:avLst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Oval 8"/>
            <p:cNvSpPr>
              <a:spLocks noChangeArrowheads="1"/>
            </p:cNvSpPr>
            <p:nvPr/>
          </p:nvSpPr>
          <p:spPr bwMode="auto">
            <a:xfrm>
              <a:off x="2792760" y="5121656"/>
              <a:ext cx="206500" cy="179006"/>
            </a:xfrm>
            <a:prstGeom prst="ellipse">
              <a:avLst/>
            </a:prstGeom>
            <a:solidFill>
              <a:schemeClr val="bg1"/>
            </a:solidFill>
            <a:ln w="9360">
              <a:solidFill>
                <a:srgbClr val="3333CC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/>
            <a:p>
              <a:pPr algn="ctr" eaLnBrk="1" hangingPunct="1">
                <a:lnSpc>
                  <a:spcPct val="100000"/>
                </a:lnSpc>
                <a:buClr>
                  <a:srgbClr val="3333CC"/>
                </a:buClr>
                <a:buFont typeface="굴림" pitchFamily="50" charset="-127"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r>
                <a:rPr lang="en-GB" altLang="ko-KR" sz="600" b="1" dirty="0" smtClean="0">
                  <a:solidFill>
                    <a:srgbClr val="3333CC"/>
                  </a:solidFill>
                  <a:latin typeface="+mn-ea"/>
                </a:rPr>
                <a:t>2</a:t>
              </a:r>
              <a:endParaRPr lang="en-GB" altLang="ko-KR" sz="600" b="1" dirty="0">
                <a:solidFill>
                  <a:srgbClr val="3333CC"/>
                </a:solidFill>
                <a:latin typeface="+mn-ea"/>
              </a:endParaRPr>
            </a:p>
          </p:txBody>
        </p:sp>
        <p:sp>
          <p:nvSpPr>
            <p:cNvPr id="54" name="Oval 8"/>
            <p:cNvSpPr>
              <a:spLocks noChangeArrowheads="1"/>
            </p:cNvSpPr>
            <p:nvPr/>
          </p:nvSpPr>
          <p:spPr bwMode="auto">
            <a:xfrm>
              <a:off x="4808984" y="5588694"/>
              <a:ext cx="206500" cy="179006"/>
            </a:xfrm>
            <a:prstGeom prst="ellipse">
              <a:avLst/>
            </a:prstGeom>
            <a:solidFill>
              <a:schemeClr val="bg1"/>
            </a:solidFill>
            <a:ln w="9360">
              <a:solidFill>
                <a:srgbClr val="3333CC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/>
            <a:p>
              <a:pPr algn="ctr" eaLnBrk="1" hangingPunct="1">
                <a:lnSpc>
                  <a:spcPct val="100000"/>
                </a:lnSpc>
                <a:buClr>
                  <a:srgbClr val="3333CC"/>
                </a:buClr>
                <a:buFont typeface="굴림" pitchFamily="50" charset="-127"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r>
                <a:rPr lang="en-GB" altLang="ko-KR" sz="600" b="1" dirty="0" smtClean="0">
                  <a:solidFill>
                    <a:srgbClr val="3333CC"/>
                  </a:solidFill>
                  <a:latin typeface="+mn-ea"/>
                </a:rPr>
                <a:t>3</a:t>
              </a:r>
              <a:endParaRPr lang="en-GB" altLang="ko-KR" sz="600" b="1" dirty="0">
                <a:solidFill>
                  <a:srgbClr val="3333CC"/>
                </a:solidFill>
                <a:latin typeface="+mn-ea"/>
              </a:endParaRPr>
            </a:p>
          </p:txBody>
        </p:sp>
        <p:sp>
          <p:nvSpPr>
            <p:cNvPr id="55" name="Oval 8"/>
            <p:cNvSpPr>
              <a:spLocks noChangeArrowheads="1"/>
            </p:cNvSpPr>
            <p:nvPr/>
          </p:nvSpPr>
          <p:spPr bwMode="auto">
            <a:xfrm>
              <a:off x="4880992" y="4076526"/>
              <a:ext cx="206500" cy="179006"/>
            </a:xfrm>
            <a:prstGeom prst="ellipse">
              <a:avLst/>
            </a:prstGeom>
            <a:solidFill>
              <a:schemeClr val="bg1"/>
            </a:solidFill>
            <a:ln w="9360">
              <a:solidFill>
                <a:srgbClr val="3333CC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/>
            <a:p>
              <a:pPr algn="ctr" eaLnBrk="1" hangingPunct="1">
                <a:lnSpc>
                  <a:spcPct val="100000"/>
                </a:lnSpc>
                <a:buClr>
                  <a:srgbClr val="3333CC"/>
                </a:buClr>
                <a:buFont typeface="굴림" pitchFamily="50" charset="-127"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r>
                <a:rPr lang="en-GB" altLang="ko-KR" sz="600" b="1" dirty="0" smtClean="0">
                  <a:solidFill>
                    <a:srgbClr val="3333CC"/>
                  </a:solidFill>
                  <a:latin typeface="+mn-ea"/>
                </a:rPr>
                <a:t>4</a:t>
              </a:r>
              <a:endParaRPr lang="en-GB" altLang="ko-KR" sz="600" b="1" dirty="0">
                <a:solidFill>
                  <a:srgbClr val="3333CC"/>
                </a:solidFill>
                <a:latin typeface="+mn-ea"/>
              </a:endParaRPr>
            </a:p>
          </p:txBody>
        </p:sp>
        <p:sp>
          <p:nvSpPr>
            <p:cNvPr id="56" name="모서리가 둥근 직사각형 55"/>
            <p:cNvSpPr/>
            <p:nvPr/>
          </p:nvSpPr>
          <p:spPr bwMode="auto">
            <a:xfrm>
              <a:off x="1712640" y="3357017"/>
              <a:ext cx="576064" cy="719509"/>
            </a:xfrm>
            <a:prstGeom prst="roundRect">
              <a:avLst>
                <a:gd name="adj" fmla="val 0"/>
              </a:avLst>
            </a:prstGeom>
            <a:solidFill>
              <a:schemeClr val="tx1"/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latinLnBrk="0" hangingPunct="0">
                <a:lnSpc>
                  <a:spcPts val="300"/>
                </a:lnSpc>
                <a:spcBef>
                  <a:spcPct val="40000"/>
                </a:spcBef>
                <a:defRPr/>
              </a:pPr>
              <a:r>
                <a:rPr lang="en-US" altLang="ko-KR" sz="600" b="1" kern="0" dirty="0" smtClean="0">
                  <a:solidFill>
                    <a:srgbClr val="FFFFFF"/>
                  </a:solidFill>
                  <a:latin typeface="+mn-ea"/>
                </a:rPr>
                <a:t>Web</a:t>
              </a:r>
            </a:p>
            <a:p>
              <a:pPr algn="ctr" eaLnBrk="0" latinLnBrk="0" hangingPunct="0">
                <a:lnSpc>
                  <a:spcPts val="300"/>
                </a:lnSpc>
                <a:spcBef>
                  <a:spcPct val="40000"/>
                </a:spcBef>
                <a:defRPr/>
              </a:pPr>
              <a:r>
                <a:rPr lang="en-US" altLang="ko-KR" sz="600" b="1" kern="0" dirty="0" smtClean="0">
                  <a:solidFill>
                    <a:srgbClr val="FFFFFF"/>
                  </a:solidFill>
                  <a:latin typeface="+mn-ea"/>
                </a:rPr>
                <a:t>Service</a:t>
              </a:r>
            </a:p>
            <a:p>
              <a:pPr algn="ctr" eaLnBrk="0" latinLnBrk="0" hangingPunct="0">
                <a:lnSpc>
                  <a:spcPts val="300"/>
                </a:lnSpc>
                <a:spcBef>
                  <a:spcPct val="40000"/>
                </a:spcBef>
                <a:defRPr/>
              </a:pPr>
              <a:r>
                <a:rPr lang="en-US" altLang="ko-KR" sz="600" b="1" kern="0" dirty="0" smtClean="0">
                  <a:solidFill>
                    <a:srgbClr val="FFFFFF"/>
                  </a:solidFill>
                  <a:latin typeface="+mn-ea"/>
                </a:rPr>
                <a:t>(https)</a:t>
              </a:r>
              <a:endParaRPr lang="ko-KR" altLang="en-US" sz="600" b="1" kern="0" dirty="0" smtClean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57" name="모서리가 둥근 직사각형 56"/>
            <p:cNvSpPr/>
            <p:nvPr/>
          </p:nvSpPr>
          <p:spPr bwMode="auto">
            <a:xfrm>
              <a:off x="4304928" y="5156646"/>
              <a:ext cx="792088" cy="360040"/>
            </a:xfrm>
            <a:prstGeom prst="roundRect">
              <a:avLst>
                <a:gd name="adj" fmla="val 0"/>
              </a:avLst>
            </a:prstGeom>
            <a:solidFill>
              <a:schemeClr val="tx1"/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0" fontAlgn="auto" latinLnBrk="0" hangingPunct="0">
                <a:lnSpc>
                  <a:spcPts val="900"/>
                </a:lnSpc>
                <a:spcBef>
                  <a:spcPct val="4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3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ea"/>
                </a:rPr>
                <a:t>내부송수신</a:t>
              </a:r>
              <a:endParaRPr kumimoji="0" lang="en-US" altLang="ko-KR" sz="3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ea"/>
              </a:endParaRPr>
            </a:p>
            <a:p>
              <a:pPr marL="0" marR="0" lvl="0" indent="0" algn="ctr" defTabSz="914400" eaLnBrk="0" fontAlgn="auto" latinLnBrk="0" hangingPunct="0">
                <a:lnSpc>
                  <a:spcPts val="900"/>
                </a:lnSpc>
                <a:spcBef>
                  <a:spcPct val="4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3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ea"/>
                </a:rPr>
                <a:t>모듈</a:t>
              </a:r>
            </a:p>
          </p:txBody>
        </p:sp>
        <p:sp>
          <p:nvSpPr>
            <p:cNvPr id="58" name="모서리가 둥근 직사각형 57"/>
            <p:cNvSpPr/>
            <p:nvPr/>
          </p:nvSpPr>
          <p:spPr bwMode="auto">
            <a:xfrm>
              <a:off x="2648744" y="3356446"/>
              <a:ext cx="576064" cy="719509"/>
            </a:xfrm>
            <a:prstGeom prst="roundRect">
              <a:avLst>
                <a:gd name="adj" fmla="val 0"/>
              </a:avLst>
            </a:prstGeom>
            <a:solidFill>
              <a:schemeClr val="tx1"/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0" fontAlgn="auto" latinLnBrk="0" hangingPunct="0">
                <a:lnSpc>
                  <a:spcPts val="300"/>
                </a:lnSpc>
                <a:spcBef>
                  <a:spcPct val="4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600" b="1" kern="0" dirty="0" smtClean="0">
                  <a:solidFill>
                    <a:srgbClr val="FFFFFF"/>
                  </a:solidFill>
                  <a:latin typeface="+mn-ea"/>
                </a:rPr>
                <a:t>Web</a:t>
              </a:r>
            </a:p>
            <a:p>
              <a:pPr marL="0" marR="0" lvl="0" indent="0" algn="ctr" defTabSz="914400" eaLnBrk="0" fontAlgn="auto" latinLnBrk="0" hangingPunct="0">
                <a:lnSpc>
                  <a:spcPts val="300"/>
                </a:lnSpc>
                <a:spcBef>
                  <a:spcPct val="4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6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ea"/>
                </a:rPr>
                <a:t>Service</a:t>
              </a:r>
            </a:p>
            <a:p>
              <a:pPr marL="0" marR="0" lvl="0" indent="0" algn="ctr" defTabSz="914400" eaLnBrk="0" fontAlgn="auto" latinLnBrk="0" hangingPunct="0">
                <a:lnSpc>
                  <a:spcPts val="300"/>
                </a:lnSpc>
                <a:spcBef>
                  <a:spcPct val="4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600" b="1" kern="0" dirty="0" smtClean="0">
                  <a:solidFill>
                    <a:srgbClr val="FFFFFF"/>
                  </a:solidFill>
                  <a:latin typeface="+mn-ea"/>
                </a:rPr>
                <a:t>(https)</a:t>
              </a:r>
              <a:endParaRPr kumimoji="0" lang="ko-KR" altLang="en-US" sz="6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ea"/>
              </a:endParaRPr>
            </a:p>
          </p:txBody>
        </p:sp>
        <p:cxnSp>
          <p:nvCxnSpPr>
            <p:cNvPr id="59" name="AutoShape 22"/>
            <p:cNvCxnSpPr>
              <a:cxnSpLocks noChangeShapeType="1"/>
              <a:stCxn id="80" idx="3"/>
              <a:endCxn id="56" idx="2"/>
            </p:cNvCxnSpPr>
            <p:nvPr/>
          </p:nvCxnSpPr>
          <p:spPr bwMode="auto">
            <a:xfrm flipV="1">
              <a:off x="1188561" y="4076525"/>
              <a:ext cx="812111" cy="514700"/>
            </a:xfrm>
            <a:prstGeom prst="curvedConnector2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0" name="Picture 13"/>
            <p:cNvPicPr>
              <a:picLocks noChangeAspect="1"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1568624" y="4436566"/>
              <a:ext cx="311259" cy="338193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</p:pic>
        <p:cxnSp>
          <p:nvCxnSpPr>
            <p:cNvPr id="61" name="AutoShape 89"/>
            <p:cNvCxnSpPr>
              <a:cxnSpLocks noChangeShapeType="1"/>
              <a:stCxn id="58" idx="1"/>
              <a:endCxn id="56" idx="3"/>
            </p:cNvCxnSpPr>
            <p:nvPr/>
          </p:nvCxnSpPr>
          <p:spPr bwMode="auto">
            <a:xfrm flipH="1">
              <a:off x="2288704" y="3716201"/>
              <a:ext cx="360040" cy="571"/>
            </a:xfrm>
            <a:prstGeom prst="straightConnector1">
              <a:avLst/>
            </a:prstGeom>
            <a:noFill/>
            <a:ln w="25400">
              <a:solidFill>
                <a:schemeClr val="bg2">
                  <a:lumMod val="75000"/>
                </a:schemeClr>
              </a:solidFill>
              <a:round/>
              <a:headEnd/>
              <a:tailEnd/>
            </a:ln>
            <a:effectLst/>
          </p:spPr>
        </p:cxnSp>
        <p:cxnSp>
          <p:nvCxnSpPr>
            <p:cNvPr id="62" name="AutoShape 22"/>
            <p:cNvCxnSpPr>
              <a:cxnSpLocks noChangeShapeType="1"/>
              <a:stCxn id="58" idx="2"/>
              <a:endCxn id="72" idx="1"/>
            </p:cNvCxnSpPr>
            <p:nvPr/>
          </p:nvCxnSpPr>
          <p:spPr bwMode="auto">
            <a:xfrm rot="16200000" flipH="1">
              <a:off x="2338814" y="4673917"/>
              <a:ext cx="1754224" cy="558300"/>
            </a:xfrm>
            <a:prstGeom prst="curvedConnector2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3" name="Picture 13"/>
            <p:cNvPicPr>
              <a:picLocks noChangeAspect="1"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2792760" y="4436566"/>
              <a:ext cx="311259" cy="338193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</p:pic>
        <p:sp>
          <p:nvSpPr>
            <p:cNvPr id="64" name="Oval 8"/>
            <p:cNvSpPr>
              <a:spLocks noChangeArrowheads="1"/>
            </p:cNvSpPr>
            <p:nvPr/>
          </p:nvSpPr>
          <p:spPr bwMode="auto">
            <a:xfrm>
              <a:off x="1866180" y="4364558"/>
              <a:ext cx="206500" cy="179006"/>
            </a:xfrm>
            <a:prstGeom prst="ellipse">
              <a:avLst/>
            </a:prstGeom>
            <a:solidFill>
              <a:schemeClr val="bg1"/>
            </a:solidFill>
            <a:ln w="9360">
              <a:solidFill>
                <a:srgbClr val="3333CC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/>
            <a:p>
              <a:pPr algn="ctr" eaLnBrk="1" hangingPunct="1">
                <a:lnSpc>
                  <a:spcPct val="100000"/>
                </a:lnSpc>
                <a:buClr>
                  <a:srgbClr val="3333CC"/>
                </a:buClr>
                <a:buFont typeface="굴림" pitchFamily="50" charset="-127"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r>
                <a:rPr lang="en-GB" altLang="ko-KR" sz="600" b="1" dirty="0">
                  <a:solidFill>
                    <a:srgbClr val="3333CC"/>
                  </a:solidFill>
                  <a:latin typeface="+mn-ea"/>
                </a:rPr>
                <a:t>1</a:t>
              </a:r>
            </a:p>
          </p:txBody>
        </p:sp>
        <p:sp>
          <p:nvSpPr>
            <p:cNvPr id="65" name="직사각형 64"/>
            <p:cNvSpPr/>
            <p:nvPr/>
          </p:nvSpPr>
          <p:spPr>
            <a:xfrm>
              <a:off x="1400892" y="4647848"/>
              <a:ext cx="693766" cy="45726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altLang="ko-KR" sz="300" dirty="0" smtClean="0">
                  <a:latin typeface="+mn-ea"/>
                </a:rPr>
                <a:t>XML</a:t>
              </a:r>
            </a:p>
            <a:p>
              <a:pPr algn="ctr">
                <a:lnSpc>
                  <a:spcPts val="400"/>
                </a:lnSpc>
              </a:pPr>
              <a:r>
                <a:rPr lang="en-US" altLang="ko-KR" sz="300" dirty="0" smtClean="0">
                  <a:latin typeface="+mn-ea"/>
                </a:rPr>
                <a:t>Document</a:t>
              </a:r>
              <a:endParaRPr lang="en-US" altLang="ko-KR" sz="300" dirty="0">
                <a:latin typeface="+mn-ea"/>
              </a:endParaRPr>
            </a:p>
          </p:txBody>
        </p:sp>
      </p:grpSp>
      <p:sp>
        <p:nvSpPr>
          <p:cNvPr id="83" name="직사각형 82"/>
          <p:cNvSpPr/>
          <p:nvPr/>
        </p:nvSpPr>
        <p:spPr>
          <a:xfrm>
            <a:off x="1744728" y="5262745"/>
            <a:ext cx="364202" cy="19050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ts val="400"/>
              </a:lnSpc>
            </a:pPr>
            <a:r>
              <a:rPr lang="en-US" altLang="ko-KR" sz="300" dirty="0" smtClean="0">
                <a:latin typeface="+mn-ea"/>
              </a:rPr>
              <a:t>XML</a:t>
            </a:r>
          </a:p>
          <a:p>
            <a:pPr algn="ctr">
              <a:lnSpc>
                <a:spcPts val="400"/>
              </a:lnSpc>
            </a:pPr>
            <a:r>
              <a:rPr lang="en-US" altLang="ko-KR" sz="300" dirty="0" smtClean="0">
                <a:latin typeface="+mn-ea"/>
              </a:rPr>
              <a:t>Document</a:t>
            </a:r>
            <a:endParaRPr lang="en-US" altLang="ko-KR" sz="300" dirty="0">
              <a:latin typeface="+mn-ea"/>
            </a:endParaRPr>
          </a:p>
        </p:txBody>
      </p:sp>
      <p:sp>
        <p:nvSpPr>
          <p:cNvPr id="84" name="직사각형 83"/>
          <p:cNvSpPr/>
          <p:nvPr/>
        </p:nvSpPr>
        <p:spPr>
          <a:xfrm>
            <a:off x="1140768" y="3692649"/>
            <a:ext cx="1728192" cy="345470"/>
          </a:xfrm>
          <a:prstGeom prst="rect">
            <a:avLst/>
          </a:prstGeom>
          <a:solidFill>
            <a:srgbClr val="4F81BD"/>
          </a:solidFill>
          <a:ln w="25400" cap="flat" cmpd="sng" algn="ctr">
            <a:solidFill>
              <a:sysClr val="window" lastClr="FFFFFF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R="0" lvl="0" indent="0"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1" kern="0" dirty="0" err="1" smtClean="0">
                <a:solidFill>
                  <a:sysClr val="window" lastClr="FFFFFF"/>
                </a:solidFill>
                <a:latin typeface="+mn-ea"/>
              </a:rPr>
              <a:t>웹서비스</a:t>
            </a:r>
            <a:r>
              <a:rPr lang="ko-KR" altLang="en-US" sz="1200" b="1" kern="0" dirty="0" smtClean="0">
                <a:solidFill>
                  <a:sysClr val="window" lastClr="FFFFFF"/>
                </a:solidFill>
                <a:latin typeface="+mn-ea"/>
              </a:rPr>
              <a:t> 구성</a:t>
            </a:r>
            <a:endParaRPr lang="ko-KR" altLang="en-US" sz="1200" b="1" kern="0" dirty="0">
              <a:solidFill>
                <a:sysClr val="window" lastClr="FFFFFF"/>
              </a:solidFill>
              <a:latin typeface="+mn-ea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475804" y="2204863"/>
            <a:ext cx="2629594" cy="1152699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</p:spPr>
      </p:pic>
      <p:sp>
        <p:nvSpPr>
          <p:cNvPr id="86" name="슬라이드 번호 개체 틀 5"/>
          <p:cNvSpPr txBox="1">
            <a:spLocks/>
          </p:cNvSpPr>
          <p:nvPr/>
        </p:nvSpPr>
        <p:spPr>
          <a:xfrm>
            <a:off x="3797300" y="6492899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b="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mtClean="0"/>
              <a:t>- 18</a:t>
            </a:r>
            <a:r>
              <a:rPr lang="ko-KR" altLang="en-US" smtClean="0"/>
              <a:t> </a:t>
            </a:r>
            <a:r>
              <a:rPr lang="en-US" altLang="ko-KR" dirty="0" smtClean="0"/>
              <a:t>-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나눔고딕">
      <a:majorFont>
        <a:latin typeface="나눔고딕"/>
        <a:ea typeface="나눔고딕"/>
        <a:cs typeface=""/>
      </a:majorFont>
      <a:minorFont>
        <a:latin typeface="나눔고딕"/>
        <a:ea typeface="나눔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3920</TotalTime>
  <Words>2251</Words>
  <Application>Microsoft Office PowerPoint</Application>
  <PresentationFormat>A4 용지(210x297mm)</PresentationFormat>
  <Paragraphs>632</Paragraphs>
  <Slides>18</Slides>
  <Notes>1</Notes>
  <HiddenSlides>0</HiddenSlides>
  <MMClips>0</MMClips>
  <ScaleCrop>false</ScaleCrop>
  <HeadingPairs>
    <vt:vector size="6" baseType="variant">
      <vt:variant>
        <vt:lpstr>테마</vt:lpstr>
      </vt:variant>
      <vt:variant>
        <vt:i4>1</vt:i4>
      </vt:variant>
      <vt:variant>
        <vt:lpstr>포함된 OLE 서버</vt:lpstr>
      </vt:variant>
      <vt:variant>
        <vt:i4>2</vt:i4>
      </vt:variant>
      <vt:variant>
        <vt:lpstr>슬라이드 제목</vt:lpstr>
      </vt:variant>
      <vt:variant>
        <vt:i4>18</vt:i4>
      </vt:variant>
    </vt:vector>
  </HeadingPairs>
  <TitlesOfParts>
    <vt:vector size="21" baseType="lpstr">
      <vt:lpstr>디자인 사용자 지정</vt:lpstr>
      <vt:lpstr>그림</vt:lpstr>
      <vt:lpstr>사진</vt:lpstr>
      <vt:lpstr>PowerPoint 프레젠테이션</vt:lpstr>
      <vt:lpstr>PowerPoint 프레젠테이션</vt:lpstr>
      <vt:lpstr>Framework - 개념</vt:lpstr>
      <vt:lpstr>M2M-JDFW (1)</vt:lpstr>
      <vt:lpstr>M2M-JDFW (2)</vt:lpstr>
      <vt:lpstr>M2M-JDFW (3)</vt:lpstr>
      <vt:lpstr>M2M-JDFW (4)</vt:lpstr>
      <vt:lpstr>M2M-JDFW (5)</vt:lpstr>
      <vt:lpstr>M2M-JDFW (6)</vt:lpstr>
      <vt:lpstr>M2M-JDFW (7)</vt:lpstr>
      <vt:lpstr>WINUS Framework - 구성</vt:lpstr>
      <vt:lpstr>WINUS Framework – Spring AOP</vt:lpstr>
      <vt:lpstr>WINUS Framework – DispatcherServlet</vt:lpstr>
      <vt:lpstr>WINUS Framework – OR Mapping</vt:lpstr>
      <vt:lpstr>jQuery Grid </vt:lpstr>
      <vt:lpstr>다국어처리(1/2)</vt:lpstr>
      <vt:lpstr>다국어처리(2/2) </vt:lpstr>
      <vt:lpstr>웹서비스 연계관리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관리자</dc:creator>
  <cp:lastModifiedBy>m2m</cp:lastModifiedBy>
  <cp:revision>350</cp:revision>
  <cp:lastPrinted>2015-07-07T06:45:35Z</cp:lastPrinted>
  <dcterms:created xsi:type="dcterms:W3CDTF">2012-02-23T06:58:54Z</dcterms:created>
  <dcterms:modified xsi:type="dcterms:W3CDTF">2015-07-08T00:26:07Z</dcterms:modified>
</cp:coreProperties>
</file>