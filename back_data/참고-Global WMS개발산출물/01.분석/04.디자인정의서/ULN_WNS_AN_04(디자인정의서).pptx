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13" r:id="rId2"/>
    <p:sldId id="314" r:id="rId3"/>
    <p:sldId id="316" r:id="rId4"/>
    <p:sldId id="317" r:id="rId5"/>
    <p:sldId id="318" r:id="rId6"/>
    <p:sldId id="319" r:id="rId7"/>
    <p:sldId id="320" r:id="rId8"/>
    <p:sldId id="321" r:id="rId9"/>
    <p:sldId id="322" r:id="rId10"/>
  </p:sldIdLst>
  <p:sldSz cx="9906000" cy="6858000" type="A4"/>
  <p:notesSz cx="6797675" cy="9926638"/>
  <p:embeddedFontLst>
    <p:embeddedFont>
      <p:font typeface="맑은 고딕" pitchFamily="50" charset="-127"/>
      <p:regular r:id="rId13"/>
      <p:bold r:id="rId14"/>
    </p:embeddedFont>
    <p:embeddedFont>
      <p:font typeface="Arial Black" pitchFamily="34" charset="0"/>
      <p:bold r:id="rId15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바탕체" pitchFamily="17" charset="-127"/>
        <a:ea typeface="바탕체" pitchFamily="17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775FE"/>
    <a:srgbClr val="0054E3"/>
    <a:srgbClr val="EEF9F4"/>
    <a:srgbClr val="E8EDF3"/>
    <a:srgbClr val="DDDDDD"/>
    <a:srgbClr val="C0C0C0"/>
    <a:srgbClr val="FF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994" autoAdjust="0"/>
    <p:restoredTop sz="95537" autoAdjust="0"/>
  </p:normalViewPr>
  <p:slideViewPr>
    <p:cSldViewPr snapToGrid="0" showGuides="1">
      <p:cViewPr varScale="1">
        <p:scale>
          <a:sx n="112" d="100"/>
          <a:sy n="112" d="100"/>
        </p:scale>
        <p:origin x="-1308" y="-84"/>
      </p:cViewPr>
      <p:guideLst>
        <p:guide orient="horz" pos="757"/>
        <p:guide orient="horz" pos="352"/>
        <p:guide orient="horz" pos="4073"/>
        <p:guide orient="horz" pos="760"/>
        <p:guide pos="167"/>
        <p:guide pos="610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-3582" y="-90"/>
      </p:cViewPr>
      <p:guideLst>
        <p:guide orient="horz" pos="3126"/>
        <p:guide pos="2141"/>
      </p:guideLst>
    </p:cSldViewPr>
  </p:notes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t" anchorCtr="0" compatLnSpc="1">
            <a:prstTxWarp prst="textNoShape">
              <a:avLst/>
            </a:prstTxWarp>
          </a:bodyPr>
          <a:lstStyle>
            <a:lvl1pPr defTabSz="912813">
              <a:defRPr b="0">
                <a:latin typeface="Arial Blac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t" anchorCtr="0" compatLnSpc="1">
            <a:prstTxWarp prst="textNoShape">
              <a:avLst/>
            </a:prstTxWarp>
          </a:bodyPr>
          <a:lstStyle>
            <a:lvl1pPr algn="r" defTabSz="912813">
              <a:defRPr b="0">
                <a:latin typeface="Arial Blac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b" anchorCtr="0" compatLnSpc="1">
            <a:prstTxWarp prst="textNoShape">
              <a:avLst/>
            </a:prstTxWarp>
          </a:bodyPr>
          <a:lstStyle>
            <a:lvl1pPr defTabSz="912813">
              <a:defRPr b="0">
                <a:latin typeface="Arial Blac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b" anchorCtr="0" compatLnSpc="1">
            <a:prstTxWarp prst="textNoShape">
              <a:avLst/>
            </a:prstTxWarp>
          </a:bodyPr>
          <a:lstStyle>
            <a:lvl1pPr algn="r" defTabSz="912813">
              <a:defRPr b="0">
                <a:latin typeface="Arial Black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CCB0BA98-18CE-4631-8210-31F615AD60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t" anchorCtr="0" compatLnSpc="1">
            <a:prstTxWarp prst="textNoShape">
              <a:avLst/>
            </a:prstTxWarp>
          </a:bodyPr>
          <a:lstStyle>
            <a:lvl1pPr defTabSz="912813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t" anchorCtr="0" compatLnSpc="1">
            <a:prstTxWarp prst="textNoShape">
              <a:avLst/>
            </a:prstTxWarp>
          </a:bodyPr>
          <a:lstStyle>
            <a:lvl1pPr algn="r" defTabSz="912813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09613" y="742950"/>
            <a:ext cx="5380037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4875"/>
            <a:ext cx="4987925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b" anchorCtr="0" compatLnSpc="1">
            <a:prstTxWarp prst="textNoShape">
              <a:avLst/>
            </a:prstTxWarp>
          </a:bodyPr>
          <a:lstStyle>
            <a:lvl1pPr defTabSz="912813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997" tIns="45999" rIns="91997" bIns="45999" numCol="1" anchor="b" anchorCtr="0" compatLnSpc="1">
            <a:prstTxWarp prst="textNoShape">
              <a:avLst/>
            </a:prstTxWarp>
          </a:bodyPr>
          <a:lstStyle>
            <a:lvl1pPr algn="r" defTabSz="912813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B5703BDA-A9BC-4BC5-A1D5-D46E938599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ea typeface="굴림" charset="-127"/>
            </a:endParaRPr>
          </a:p>
        </p:txBody>
      </p:sp>
      <p:sp>
        <p:nvSpPr>
          <p:cNvPr id="17412" name="슬라이드 번호 개체 틀 3"/>
          <p:cNvSpPr txBox="1">
            <a:spLocks noGrp="1"/>
          </p:cNvSpPr>
          <p:nvPr/>
        </p:nvSpPr>
        <p:spPr bwMode="auto">
          <a:xfrm>
            <a:off x="3852863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97" tIns="45999" rIns="91997" bIns="45999" anchor="b"/>
          <a:lstStyle/>
          <a:p>
            <a:pPr algn="r" defTabSz="919163"/>
            <a:fld id="{6045503E-B352-4E88-A3A0-E7F3AF7F2D69}" type="slidenum">
              <a:rPr lang="en-US" altLang="ko-KR" b="0">
                <a:latin typeface="Times New Roman" pitchFamily="18" charset="0"/>
                <a:ea typeface="굴림" charset="-127"/>
              </a:rPr>
              <a:pPr algn="r" defTabSz="919163"/>
              <a:t>1</a:t>
            </a:fld>
            <a:endParaRPr lang="en-US" altLang="ko-KR" b="0">
              <a:latin typeface="Times New Roman" pitchFamily="18" charset="0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138113" y="73025"/>
            <a:ext cx="4813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just">
              <a:defRPr/>
            </a:pPr>
            <a:r>
              <a:rPr lang="ko-KR" altLang="en-US" sz="1100" dirty="0"/>
              <a:t>글로벌 </a:t>
            </a:r>
            <a:r>
              <a:rPr lang="ko-KR" altLang="en-US" sz="1100" dirty="0" err="1"/>
              <a:t>웹기반</a:t>
            </a:r>
            <a:r>
              <a:rPr lang="ko-KR" altLang="en-US" sz="1100" dirty="0"/>
              <a:t> </a:t>
            </a:r>
            <a:r>
              <a:rPr lang="en-US" altLang="ko-KR" sz="1100" dirty="0"/>
              <a:t>WMS </a:t>
            </a:r>
            <a:r>
              <a:rPr lang="ko-KR" altLang="en-US" sz="1100" dirty="0"/>
              <a:t>시스템 개발</a:t>
            </a: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6481763" y="66675"/>
            <a:ext cx="322421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r">
              <a:defRPr/>
            </a:pPr>
            <a:r>
              <a:rPr lang="ko-KR" altLang="en-US" sz="1100" dirty="0" smtClean="0">
                <a:latin typeface="굴림체" pitchFamily="49" charset="-127"/>
              </a:rPr>
              <a:t>디자인정의서</a:t>
            </a:r>
            <a:endParaRPr lang="en-US" altLang="ko-KR" sz="1100" dirty="0">
              <a:latin typeface="굴림" pitchFamily="50" charset="-127"/>
            </a:endParaRPr>
          </a:p>
        </p:txBody>
      </p:sp>
      <p:sp>
        <p:nvSpPr>
          <p:cNvPr id="1414" name="Line 390"/>
          <p:cNvSpPr>
            <a:spLocks noChangeShapeType="1"/>
          </p:cNvSpPr>
          <p:nvPr userDrawn="1"/>
        </p:nvSpPr>
        <p:spPr bwMode="auto">
          <a:xfrm>
            <a:off x="228600" y="382588"/>
            <a:ext cx="9448800" cy="0"/>
          </a:xfrm>
          <a:prstGeom prst="line">
            <a:avLst/>
          </a:prstGeom>
          <a:noFill/>
          <a:ln w="57150" cmpd="thinThick">
            <a:solidFill>
              <a:srgbClr val="00808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ko-KR" altLang="en-US"/>
          </a:p>
        </p:txBody>
      </p:sp>
      <p:sp>
        <p:nvSpPr>
          <p:cNvPr id="1415" name="Line 391"/>
          <p:cNvSpPr>
            <a:spLocks noChangeShapeType="1"/>
          </p:cNvSpPr>
          <p:nvPr userDrawn="1"/>
        </p:nvSpPr>
        <p:spPr bwMode="auto">
          <a:xfrm>
            <a:off x="263525" y="6380686"/>
            <a:ext cx="9448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ko-KR" altLang="en-US" b="0"/>
          </a:p>
        </p:txBody>
      </p:sp>
      <p:sp>
        <p:nvSpPr>
          <p:cNvPr id="1416" name="Text Box 392"/>
          <p:cNvSpPr txBox="1">
            <a:spLocks noChangeArrowheads="1"/>
          </p:cNvSpPr>
          <p:nvPr userDrawn="1"/>
        </p:nvSpPr>
        <p:spPr bwMode="auto">
          <a:xfrm>
            <a:off x="4530725" y="6551613"/>
            <a:ext cx="8540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29" tIns="45715" rIns="91429" bIns="45715">
            <a:spAutoFit/>
          </a:bodyPr>
          <a:lstStyle/>
          <a:p>
            <a:pPr algn="ctr" latinLnBrk="0">
              <a:spcBef>
                <a:spcPct val="50000"/>
              </a:spcBef>
              <a:defRPr/>
            </a:pPr>
            <a:r>
              <a:rPr lang="en-US" altLang="ko-KR" sz="1000" b="0">
                <a:latin typeface="Arial" charset="0"/>
              </a:rPr>
              <a:t>- </a:t>
            </a:r>
            <a:fld id="{5062D855-5B44-4420-BA21-7AF72446715A}" type="slidenum">
              <a:rPr lang="en-US" altLang="ko-KR" sz="1000" b="0">
                <a:latin typeface="Arial" charset="0"/>
              </a:rPr>
              <a:pPr algn="ctr" latinLnBrk="0">
                <a:spcBef>
                  <a:spcPct val="50000"/>
                </a:spcBef>
                <a:defRPr/>
              </a:pPr>
              <a:t>‹#›</a:t>
            </a:fld>
            <a:r>
              <a:rPr lang="en-US" altLang="ko-KR" sz="1000" b="0">
                <a:latin typeface="Arial" charset="0"/>
              </a:rPr>
              <a:t> -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651874" y="6484405"/>
            <a:ext cx="1017588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6" descr="http://uln.logisall.com/img/logo.gif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265113" y="6484405"/>
            <a:ext cx="14351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4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ChangeArrowheads="1"/>
          </p:cNvSpPr>
          <p:nvPr/>
        </p:nvSpPr>
        <p:spPr bwMode="auto">
          <a:xfrm>
            <a:off x="5853113" y="3286125"/>
            <a:ext cx="3348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>
            <a:spAutoFit/>
          </a:bodyPr>
          <a:lstStyle/>
          <a:p>
            <a:pPr algn="r" fontAlgn="b"/>
            <a:r>
              <a:rPr lang="en-US" altLang="ko-KR" sz="2000" dirty="0" smtClean="0">
                <a:solidFill>
                  <a:srgbClr val="000000"/>
                </a:solidFill>
              </a:rPr>
              <a:t>ULN_WNS_AN_04</a:t>
            </a:r>
            <a:endParaRPr lang="ko-KR" altLang="en-US" sz="2000" dirty="0">
              <a:solidFill>
                <a:srgbClr val="000000"/>
              </a:solidFill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8408988" y="3660775"/>
            <a:ext cx="7620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/>
          <a:lstStyle/>
          <a:p>
            <a:pPr algn="r" fontAlgn="b"/>
            <a:r>
              <a:rPr lang="en-US" altLang="ko-KR"/>
              <a:t>Ver 1.0</a:t>
            </a:r>
            <a:endParaRPr lang="en-US" altLang="ko-KR" sz="1800" b="0">
              <a:latin typeface="Times New Roman" pitchFamily="18" charset="0"/>
              <a:ea typeface="굴림" charset="-127"/>
            </a:endParaRPr>
          </a:p>
        </p:txBody>
      </p:sp>
      <p:sp>
        <p:nvSpPr>
          <p:cNvPr id="2052" name="Rectangle 303"/>
          <p:cNvSpPr>
            <a:spLocks noChangeArrowheads="1"/>
          </p:cNvSpPr>
          <p:nvPr/>
        </p:nvSpPr>
        <p:spPr bwMode="auto">
          <a:xfrm>
            <a:off x="5356225" y="1570038"/>
            <a:ext cx="38925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r"/>
            <a:r>
              <a:rPr lang="ko-KR" altLang="en-US" sz="2000"/>
              <a:t>글로벌 웹기반 </a:t>
            </a:r>
            <a:r>
              <a:rPr lang="en-US" altLang="ko-KR" sz="2000"/>
              <a:t>WMS </a:t>
            </a:r>
            <a:r>
              <a:rPr lang="ko-KR" altLang="en-US" sz="2000"/>
              <a:t>시스템 개발</a:t>
            </a:r>
          </a:p>
        </p:txBody>
      </p:sp>
      <p:graphicFrame>
        <p:nvGraphicFramePr>
          <p:cNvPr id="44048" name="Group 16"/>
          <p:cNvGraphicFramePr>
            <a:graphicFrameLocks noGrp="1"/>
          </p:cNvGraphicFramePr>
          <p:nvPr/>
        </p:nvGraphicFramePr>
        <p:xfrm>
          <a:off x="704850" y="1960563"/>
          <a:ext cx="8569325" cy="1108075"/>
        </p:xfrm>
        <a:graphic>
          <a:graphicData uri="http://schemas.openxmlformats.org/drawingml/2006/table">
            <a:tbl>
              <a:tblPr/>
              <a:tblGrid>
                <a:gridCol w="8569325"/>
              </a:tblGrid>
              <a:tr h="11080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바탕체" pitchFamily="17" charset="-127"/>
                          <a:ea typeface="바탕체" pitchFamily="17" charset="-127"/>
                        </a:rPr>
                        <a:t>디자인정의서</a:t>
                      </a:r>
                      <a:endParaRPr kumimoji="1" lang="en-US" altLang="ko-K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굴림" pitchFamily="50" charset="-127"/>
                      </a:endParaRPr>
                    </a:p>
                  </a:txBody>
                  <a:tcPr marL="91429" marR="91429"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5600700" y="4157663"/>
            <a:ext cx="37480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fontAlgn="t"/>
            <a:r>
              <a:rPr lang="ko-KR" altLang="en-US" sz="1800">
                <a:latin typeface="바탕" pitchFamily="18" charset="-127"/>
                <a:ea typeface="바탕" pitchFamily="18" charset="-127"/>
              </a:rPr>
              <a:t>단      계 </a:t>
            </a:r>
            <a:r>
              <a:rPr lang="en-US" altLang="ko-KR" sz="1800"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sz="1800">
                <a:latin typeface="바탕" pitchFamily="18" charset="-127"/>
                <a:ea typeface="바탕" pitchFamily="18" charset="-127"/>
              </a:rPr>
              <a:t>분석</a:t>
            </a:r>
          </a:p>
          <a:p>
            <a:pPr fontAlgn="t"/>
            <a:r>
              <a:rPr lang="ko-KR" altLang="en-US" sz="1800">
                <a:latin typeface="바탕" pitchFamily="18" charset="-127"/>
                <a:ea typeface="바탕" pitchFamily="18" charset="-127"/>
              </a:rPr>
              <a:t>관리부서 </a:t>
            </a:r>
            <a:r>
              <a:rPr lang="en-US" altLang="ko-KR" sz="1800"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sz="1800">
                <a:latin typeface="바탕" pitchFamily="18" charset="-127"/>
                <a:ea typeface="바탕" pitchFamily="18" charset="-127"/>
              </a:rPr>
              <a:t>유로지스넷 </a:t>
            </a:r>
            <a:r>
              <a:rPr lang="en-US" altLang="ko-KR" sz="1800">
                <a:latin typeface="바탕" pitchFamily="18" charset="-127"/>
                <a:ea typeface="바탕" pitchFamily="18" charset="-127"/>
              </a:rPr>
              <a:t>SM</a:t>
            </a:r>
            <a:r>
              <a:rPr lang="ko-KR" altLang="en-US" sz="1800">
                <a:latin typeface="바탕" pitchFamily="18" charset="-127"/>
                <a:ea typeface="바탕" pitchFamily="18" charset="-127"/>
              </a:rPr>
              <a:t>팀</a:t>
            </a:r>
          </a:p>
        </p:txBody>
      </p:sp>
      <p:pic>
        <p:nvPicPr>
          <p:cNvPr id="2057" name="Picture 16" descr="http://uln.logisall.com/img/logo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925" y="549275"/>
            <a:ext cx="2215719" cy="3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03055" y="5983289"/>
            <a:ext cx="1361545" cy="37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2"/>
          <p:cNvSpPr>
            <a:spLocks noChangeArrowheads="1"/>
          </p:cNvSpPr>
          <p:nvPr/>
        </p:nvSpPr>
        <p:spPr bwMode="auto">
          <a:xfrm>
            <a:off x="4506913" y="635000"/>
            <a:ext cx="12969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ctr"/>
            <a:r>
              <a:rPr lang="ko-KR" altLang="en-US" sz="1600" u="sng"/>
              <a:t>개 정 이 력</a:t>
            </a:r>
            <a:endParaRPr lang="ko-KR" altLang="en-US" sz="1100" u="sng"/>
          </a:p>
        </p:txBody>
      </p:sp>
      <p:graphicFrame>
        <p:nvGraphicFramePr>
          <p:cNvPr id="45121" name="Group 65"/>
          <p:cNvGraphicFramePr>
            <a:graphicFrameLocks noGrp="1"/>
          </p:cNvGraphicFramePr>
          <p:nvPr/>
        </p:nvGraphicFramePr>
        <p:xfrm>
          <a:off x="920750" y="1125538"/>
          <a:ext cx="8066088" cy="2450570"/>
        </p:xfrm>
        <a:graphic>
          <a:graphicData uri="http://schemas.openxmlformats.org/drawingml/2006/table">
            <a:tbl>
              <a:tblPr/>
              <a:tblGrid>
                <a:gridCol w="558800"/>
                <a:gridCol w="882650"/>
                <a:gridCol w="5730875"/>
                <a:gridCol w="893763"/>
              </a:tblGrid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변경내용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258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0.5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2015-05-04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허혜란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2015-07-08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시안변경내용 반영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화면.jpg"/>
          <p:cNvPicPr>
            <a:picLocks noChangeAspect="1"/>
          </p:cNvPicPr>
          <p:nvPr/>
        </p:nvPicPr>
        <p:blipFill>
          <a:blip r:embed="rId2" cstate="print"/>
          <a:srcRect b="8349"/>
          <a:stretch>
            <a:fillRect/>
          </a:stretch>
        </p:blipFill>
        <p:spPr>
          <a:xfrm>
            <a:off x="6016542" y="2189603"/>
            <a:ext cx="3081600" cy="1871783"/>
          </a:xfrm>
          <a:prstGeom prst="rect">
            <a:avLst/>
          </a:prstGeom>
          <a:ln w="3175" cmpd="sng">
            <a:solidFill>
              <a:schemeClr val="bg1">
                <a:lumMod val="7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96820" y="2303532"/>
            <a:ext cx="5256584" cy="1097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ko-KR" altLang="en-US" sz="1000" dirty="0" smtClean="0"/>
              <a:t>기본 레이아웃은 헤더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좌측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바디의 </a:t>
            </a:r>
            <a:r>
              <a:rPr lang="en-US" altLang="ko-KR" sz="1000" dirty="0" smtClean="0"/>
              <a:t>3</a:t>
            </a:r>
            <a:r>
              <a:rPr lang="ko-KR" altLang="en-US" sz="1000" dirty="0" smtClean="0"/>
              <a:t>프레임으로 구성되어있습니다</a:t>
            </a:r>
            <a:r>
              <a:rPr lang="en-US" altLang="ko-KR" sz="1000" dirty="0" smtClean="0"/>
              <a:t>.</a:t>
            </a:r>
          </a:p>
          <a:p>
            <a:pPr>
              <a:lnSpc>
                <a:spcPts val="1600"/>
              </a:lnSpc>
            </a:pPr>
            <a:r>
              <a:rPr lang="ko-KR" altLang="en-US" sz="1000" dirty="0" smtClean="0"/>
              <a:t>헤더에는 로고 및 유저정보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언어선택 등의 </a:t>
            </a:r>
            <a:r>
              <a:rPr lang="en-US" altLang="ko-KR" sz="1000" dirty="0" smtClean="0"/>
              <a:t>UTIL </a:t>
            </a:r>
            <a:r>
              <a:rPr lang="ko-KR" altLang="en-US" sz="1000" dirty="0" smtClean="0"/>
              <a:t>메뉴로 구성되어있습니다</a:t>
            </a:r>
            <a:r>
              <a:rPr lang="en-US" altLang="ko-KR" sz="1000" dirty="0" smtClean="0"/>
              <a:t>.</a:t>
            </a:r>
          </a:p>
          <a:p>
            <a:pPr>
              <a:lnSpc>
                <a:spcPts val="1600"/>
              </a:lnSpc>
            </a:pPr>
            <a:r>
              <a:rPr lang="ko-KR" altLang="en-US" sz="1000" dirty="0" smtClean="0"/>
              <a:t>좌측에는 </a:t>
            </a:r>
            <a:r>
              <a:rPr lang="en-US" altLang="ko-KR" sz="1000" dirty="0" smtClean="0"/>
              <a:t>GNB</a:t>
            </a:r>
            <a:r>
              <a:rPr lang="ko-KR" altLang="en-US" sz="1000" dirty="0" smtClean="0"/>
              <a:t>가 배치되어있으며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최대 </a:t>
            </a:r>
            <a:r>
              <a:rPr lang="en-US" altLang="ko-KR" sz="1000" dirty="0" smtClean="0"/>
              <a:t>3Depth </a:t>
            </a:r>
            <a:r>
              <a:rPr lang="ko-KR" altLang="en-US" sz="1000" dirty="0" smtClean="0"/>
              <a:t>메뉴가 표현됩니다</a:t>
            </a:r>
            <a:r>
              <a:rPr lang="en-US" altLang="ko-KR" sz="1000" dirty="0" smtClean="0"/>
              <a:t>.</a:t>
            </a:r>
          </a:p>
          <a:p>
            <a:pPr>
              <a:lnSpc>
                <a:spcPts val="1600"/>
              </a:lnSpc>
            </a:pPr>
            <a:r>
              <a:rPr lang="en-US" altLang="ko-KR" sz="1000" dirty="0" smtClean="0"/>
              <a:t>GNB</a:t>
            </a:r>
            <a:r>
              <a:rPr lang="ko-KR" altLang="en-US" sz="1000" dirty="0" smtClean="0"/>
              <a:t>에는 각 메뉴별 아이콘이 포함되어있어 </a:t>
            </a:r>
            <a:r>
              <a:rPr lang="ko-KR" altLang="en-US" sz="1000" dirty="0" err="1" smtClean="0"/>
              <a:t>가독성을</a:t>
            </a:r>
            <a:r>
              <a:rPr lang="ko-KR" altLang="en-US" sz="1000" dirty="0" smtClean="0"/>
              <a:t> 높였으며</a:t>
            </a:r>
            <a:r>
              <a:rPr lang="en-US" altLang="ko-KR" sz="1000" dirty="0" smtClean="0"/>
              <a:t>,</a:t>
            </a:r>
          </a:p>
          <a:p>
            <a:pPr>
              <a:lnSpc>
                <a:spcPts val="1600"/>
              </a:lnSpc>
            </a:pPr>
            <a:r>
              <a:rPr lang="en-US" altLang="ko-KR" sz="1000" dirty="0" smtClean="0"/>
              <a:t>GNB</a:t>
            </a:r>
            <a:r>
              <a:rPr lang="ko-KR" altLang="en-US" sz="1000" dirty="0" smtClean="0"/>
              <a:t>를 </a:t>
            </a:r>
            <a:r>
              <a:rPr lang="en-US" altLang="ko-KR" sz="1000" dirty="0" smtClean="0"/>
              <a:t>Hide </a:t>
            </a:r>
            <a:r>
              <a:rPr lang="ko-KR" altLang="en-US" sz="1000" dirty="0" smtClean="0"/>
              <a:t>한 상태에서도 하위 메뉴의 선택이 가능하도록 구성되었습니다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696820" y="4130387"/>
            <a:ext cx="612068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ko-KR" altLang="en-US" sz="1000" dirty="0" smtClean="0"/>
              <a:t>전체적인 </a:t>
            </a:r>
            <a:r>
              <a:rPr lang="ko-KR" altLang="en-US" sz="1000" dirty="0" err="1" smtClean="0"/>
              <a:t>컬러톤은</a:t>
            </a:r>
            <a:r>
              <a:rPr lang="ko-KR" altLang="en-US" sz="1000" dirty="0" smtClean="0"/>
              <a:t> 유저의 눈의 피로도를 줄이기 위해 </a:t>
            </a:r>
            <a:r>
              <a:rPr lang="ko-KR" altLang="en-US" sz="1000" dirty="0" err="1" smtClean="0"/>
              <a:t>모노톤으로</a:t>
            </a:r>
            <a:r>
              <a:rPr lang="ko-KR" altLang="en-US" sz="1000" dirty="0" smtClean="0"/>
              <a:t> 제작되었습니다</a:t>
            </a:r>
            <a:r>
              <a:rPr lang="en-US" altLang="ko-KR" sz="1000" dirty="0" smtClean="0"/>
              <a:t>.</a:t>
            </a:r>
          </a:p>
          <a:p>
            <a:pPr>
              <a:lnSpc>
                <a:spcPts val="1600"/>
              </a:lnSpc>
            </a:pPr>
            <a:r>
              <a:rPr lang="ko-KR" altLang="en-US" sz="1000" dirty="0" smtClean="0"/>
              <a:t>헤더 및 테이블 헤더에는 짙은 청색계열을 사용하여 화면 </a:t>
            </a:r>
            <a:r>
              <a:rPr lang="ko-KR" altLang="en-US" sz="1000" dirty="0" err="1" smtClean="0"/>
              <a:t>집중도를</a:t>
            </a:r>
            <a:r>
              <a:rPr lang="ko-KR" altLang="en-US" sz="1000" dirty="0" smtClean="0"/>
              <a:t> 고려하였으며</a:t>
            </a:r>
            <a:r>
              <a:rPr lang="en-US" altLang="ko-KR" sz="1000" dirty="0" smtClean="0"/>
              <a:t>,</a:t>
            </a:r>
          </a:p>
          <a:p>
            <a:pPr>
              <a:lnSpc>
                <a:spcPts val="1600"/>
              </a:lnSpc>
            </a:pPr>
            <a:r>
              <a:rPr lang="en-US" altLang="ko-KR" sz="1000" dirty="0" smtClean="0"/>
              <a:t>GNB </a:t>
            </a:r>
            <a:r>
              <a:rPr lang="ko-KR" altLang="en-US" sz="1000" dirty="0" smtClean="0"/>
              <a:t>선택 시 </a:t>
            </a:r>
            <a:r>
              <a:rPr lang="en-US" altLang="ko-KR" sz="1000" dirty="0" smtClean="0"/>
              <a:t>JPR</a:t>
            </a:r>
            <a:r>
              <a:rPr lang="ko-KR" altLang="en-US" sz="1000" dirty="0" smtClean="0"/>
              <a:t>사의 </a:t>
            </a:r>
            <a:r>
              <a:rPr lang="en-US" altLang="ko-KR" sz="1000" dirty="0" smtClean="0"/>
              <a:t>Key Color</a:t>
            </a:r>
            <a:r>
              <a:rPr lang="ko-KR" altLang="en-US" sz="1000" dirty="0" smtClean="0"/>
              <a:t>인 레드를 사용함으로써 고객사의 </a:t>
            </a:r>
            <a:r>
              <a:rPr lang="en-US" altLang="ko-KR" sz="1000" dirty="0" smtClean="0"/>
              <a:t>Identity</a:t>
            </a:r>
            <a:r>
              <a:rPr lang="ko-KR" altLang="en-US" sz="1000" dirty="0" smtClean="0"/>
              <a:t>를 </a:t>
            </a:r>
            <a:endParaRPr lang="en-US" altLang="ko-KR" sz="1000" dirty="0" smtClean="0"/>
          </a:p>
          <a:p>
            <a:pPr>
              <a:lnSpc>
                <a:spcPts val="1600"/>
              </a:lnSpc>
            </a:pPr>
            <a:r>
              <a:rPr lang="ko-KR" altLang="en-US" sz="1000" dirty="0" smtClean="0"/>
              <a:t>고려하였습니다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696820" y="5740171"/>
            <a:ext cx="5076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ko-KR" altLang="en-US" sz="1000" dirty="0" smtClean="0"/>
              <a:t>기본폰트는 </a:t>
            </a:r>
            <a:r>
              <a:rPr lang="ko-KR" altLang="en-US" sz="1000" dirty="0" err="1" smtClean="0"/>
              <a:t>가독성</a:t>
            </a:r>
            <a:r>
              <a:rPr lang="ko-KR" altLang="en-US" sz="1000" dirty="0" smtClean="0"/>
              <a:t> 및 다국어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일본어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를 고려하여 굴림으로 제작되었습니다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638846" y="468128"/>
            <a:ext cx="2674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solidFill>
                  <a:srgbClr val="FF0000"/>
                </a:solidFill>
                <a:latin typeface="나눔고딕 ExtraBold" pitchFamily="50" charset="-127"/>
                <a:ea typeface="나눔고딕 ExtraBold" pitchFamily="50" charset="-127"/>
              </a:rPr>
              <a:t>WINUS JPR </a:t>
            </a:r>
            <a:endParaRPr lang="ko-KR" altLang="en-US" sz="3600" b="1" dirty="0">
              <a:solidFill>
                <a:srgbClr val="FF0000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8846" y="1044192"/>
            <a:ext cx="3658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latin typeface="나눔고딕 ExtraBold" pitchFamily="50" charset="-127"/>
                <a:ea typeface="나눔고딕 ExtraBold" pitchFamily="50" charset="-127"/>
              </a:rPr>
              <a:t>Design Concept</a:t>
            </a:r>
            <a:endParaRPr lang="ko-KR" altLang="en-US" sz="36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677770" y="5353709"/>
            <a:ext cx="1334244" cy="318810"/>
            <a:chOff x="395536" y="5373216"/>
            <a:chExt cx="1334244" cy="318810"/>
          </a:xfrm>
        </p:grpSpPr>
        <p:sp>
          <p:nvSpPr>
            <p:cNvPr id="11" name="TextBox 10"/>
            <p:cNvSpPr txBox="1"/>
            <p:nvPr/>
          </p:nvSpPr>
          <p:spPr>
            <a:xfrm>
              <a:off x="395536" y="5399638"/>
              <a:ext cx="101341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b="1" dirty="0">
                  <a:latin typeface="나눔고딕" pitchFamily="50" charset="-127"/>
                  <a:ea typeface="나눔고딕" pitchFamily="50" charset="-127"/>
                </a:rPr>
                <a:t>폰트 </a:t>
              </a:r>
              <a:r>
                <a:rPr lang="en-US" altLang="ko-KR" sz="1300" b="1" dirty="0">
                  <a:latin typeface="나눔고딕" pitchFamily="50" charset="-127"/>
                  <a:ea typeface="나눔고딕" pitchFamily="50" charset="-127"/>
                </a:rPr>
                <a:t>(Font)</a:t>
              </a:r>
              <a:endParaRPr lang="ko-KR" altLang="en-US" sz="1300" b="1" dirty="0">
                <a:latin typeface="나눔고딕" pitchFamily="50" charset="-127"/>
                <a:ea typeface="나눔고딕" pitchFamily="50" charset="-127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505644" y="5373216"/>
              <a:ext cx="1224136" cy="0"/>
            </a:xfrm>
            <a:prstGeom prst="line">
              <a:avLst/>
            </a:prstGeom>
            <a:ln w="28575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677770" y="3722439"/>
            <a:ext cx="1334244" cy="318810"/>
            <a:chOff x="547936" y="5525616"/>
            <a:chExt cx="1334244" cy="318810"/>
          </a:xfrm>
        </p:grpSpPr>
        <p:sp>
          <p:nvSpPr>
            <p:cNvPr id="14" name="TextBox 13"/>
            <p:cNvSpPr txBox="1"/>
            <p:nvPr/>
          </p:nvSpPr>
          <p:spPr>
            <a:xfrm>
              <a:off x="547936" y="5552038"/>
              <a:ext cx="108234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b="1" dirty="0" smtClean="0">
                  <a:latin typeface="나눔고딕" pitchFamily="50" charset="-127"/>
                  <a:ea typeface="나눔고딕" pitchFamily="50" charset="-127"/>
                </a:rPr>
                <a:t>컬러 </a:t>
              </a:r>
              <a:r>
                <a:rPr lang="en-US" altLang="ko-KR" sz="1300" b="1" dirty="0" smtClean="0">
                  <a:latin typeface="나눔고딕" pitchFamily="50" charset="-127"/>
                  <a:ea typeface="나눔고딕" pitchFamily="50" charset="-127"/>
                </a:rPr>
                <a:t>(Color)</a:t>
              </a:r>
              <a:endParaRPr lang="ko-KR" altLang="en-US" sz="1300" b="1" dirty="0">
                <a:latin typeface="나눔고딕" pitchFamily="50" charset="-127"/>
                <a:ea typeface="나눔고딕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658044" y="5525616"/>
              <a:ext cx="1224136" cy="0"/>
            </a:xfrm>
            <a:prstGeom prst="line">
              <a:avLst/>
            </a:prstGeom>
            <a:ln w="28575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675103" y="1912714"/>
            <a:ext cx="1492716" cy="318810"/>
            <a:chOff x="547936" y="5525616"/>
            <a:chExt cx="1492716" cy="318810"/>
          </a:xfrm>
        </p:grpSpPr>
        <p:sp>
          <p:nvSpPr>
            <p:cNvPr id="17" name="TextBox 16"/>
            <p:cNvSpPr txBox="1"/>
            <p:nvPr/>
          </p:nvSpPr>
          <p:spPr>
            <a:xfrm>
              <a:off x="547936" y="5552038"/>
              <a:ext cx="149271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b="1" dirty="0" smtClean="0">
                  <a:latin typeface="나눔고딕" pitchFamily="50" charset="-127"/>
                  <a:ea typeface="나눔고딕" pitchFamily="50" charset="-127"/>
                </a:rPr>
                <a:t>레이아웃 </a:t>
              </a:r>
              <a:r>
                <a:rPr lang="en-US" altLang="ko-KR" sz="1300" b="1" dirty="0" smtClean="0">
                  <a:latin typeface="나눔고딕" pitchFamily="50" charset="-127"/>
                  <a:ea typeface="나눔고딕" pitchFamily="50" charset="-127"/>
                </a:rPr>
                <a:t>(Layout)</a:t>
              </a:r>
              <a:endParaRPr lang="ko-KR" altLang="en-US" sz="1300" b="1" dirty="0">
                <a:latin typeface="나눔고딕" pitchFamily="50" charset="-127"/>
                <a:ea typeface="나눔고딕" pitchFamily="50" charset="-127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658044" y="5525616"/>
              <a:ext cx="1224136" cy="0"/>
            </a:xfrm>
            <a:prstGeom prst="line">
              <a:avLst/>
            </a:prstGeom>
            <a:ln w="28575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그림 18" descr="캡쳐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20398" y="4158793"/>
            <a:ext cx="3081600" cy="2061341"/>
          </a:xfrm>
          <a:prstGeom prst="rect">
            <a:avLst/>
          </a:prstGeom>
          <a:ln w="3175" cmpd="sng">
            <a:solidFill>
              <a:schemeClr val="bg1">
                <a:lumMod val="75000"/>
              </a:schemeClr>
            </a:solidFill>
          </a:ln>
        </p:spPr>
      </p:pic>
      <p:pic>
        <p:nvPicPr>
          <p:cNvPr id="20" name="그림 19" descr="화면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0871" y="493264"/>
            <a:ext cx="3082329" cy="1606217"/>
          </a:xfrm>
          <a:prstGeom prst="rect">
            <a:avLst/>
          </a:prstGeom>
          <a:ln w="3175" cmpd="sng"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로그인 화면</a:t>
            </a:r>
            <a:endParaRPr lang="ko-KR" altLang="en-US" sz="1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858" y="1331111"/>
            <a:ext cx="8970284" cy="4195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메인 화면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531304" y="1273966"/>
            <a:ext cx="8843393" cy="4310069"/>
            <a:chOff x="229201" y="500042"/>
            <a:chExt cx="8843393" cy="4310069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9201" y="500042"/>
              <a:ext cx="8843393" cy="4310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사각형 설명선 4"/>
            <p:cNvSpPr/>
            <p:nvPr/>
          </p:nvSpPr>
          <p:spPr>
            <a:xfrm>
              <a:off x="7596336" y="764704"/>
              <a:ext cx="1080120" cy="360040"/>
            </a:xfrm>
            <a:prstGeom prst="wedgeRectCallout">
              <a:avLst>
                <a:gd name="adj1" fmla="val 62320"/>
                <a:gd name="adj2" fmla="val -52872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smtClean="0">
                  <a:solidFill>
                    <a:schemeClr val="tx1"/>
                  </a:solidFill>
                </a:rPr>
                <a:t>언어변경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영역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사각형 설명선 5"/>
            <p:cNvSpPr/>
            <p:nvPr/>
          </p:nvSpPr>
          <p:spPr>
            <a:xfrm>
              <a:off x="1634492" y="1997390"/>
              <a:ext cx="1080120" cy="360040"/>
            </a:xfrm>
            <a:prstGeom prst="wedgeRectCallout">
              <a:avLst>
                <a:gd name="adj1" fmla="val -65875"/>
                <a:gd name="adj2" fmla="val -50454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기본 메뉴상태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1871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컨텐츠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프로그램</a:t>
            </a:r>
            <a:r>
              <a:rPr lang="ko-KR" altLang="en-US" sz="1200" dirty="0" smtClean="0"/>
              <a:t> 화면</a:t>
            </a:r>
            <a:endParaRPr lang="ko-KR" altLang="en-US" sz="12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488142" y="930848"/>
            <a:ext cx="8929717" cy="5182579"/>
            <a:chOff x="96839" y="532437"/>
            <a:chExt cx="8929717" cy="5182579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6839" y="532437"/>
              <a:ext cx="8929717" cy="5182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사각형 설명선 7"/>
            <p:cNvSpPr/>
            <p:nvPr/>
          </p:nvSpPr>
          <p:spPr>
            <a:xfrm>
              <a:off x="1475656" y="1997390"/>
              <a:ext cx="1512168" cy="360040"/>
            </a:xfrm>
            <a:prstGeom prst="wedgeRectCallout">
              <a:avLst>
                <a:gd name="adj1" fmla="val -65875"/>
                <a:gd name="adj2" fmla="val -50454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smtClean="0">
                  <a:solidFill>
                    <a:schemeClr val="tx1"/>
                  </a:solidFill>
                </a:rPr>
                <a:t>메뉴 선택 후 활성화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사각형 설명선 8"/>
            <p:cNvSpPr/>
            <p:nvPr/>
          </p:nvSpPr>
          <p:spPr>
            <a:xfrm>
              <a:off x="1357290" y="3071810"/>
              <a:ext cx="869226" cy="360040"/>
            </a:xfrm>
            <a:prstGeom prst="wedgeRectCallout">
              <a:avLst>
                <a:gd name="adj1" fmla="val -65875"/>
                <a:gd name="adj2" fmla="val -50454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smtClean="0">
                  <a:solidFill>
                    <a:schemeClr val="tx1"/>
                  </a:solidFill>
                </a:rPr>
                <a:t>현재 메뉴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1563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컨텐츠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팝업</a:t>
            </a:r>
            <a:r>
              <a:rPr lang="ko-KR" altLang="en-US" sz="1200" dirty="0" smtClean="0"/>
              <a:t> 화면</a:t>
            </a:r>
            <a:endParaRPr lang="ko-KR" altLang="en-US" sz="120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470228" y="897729"/>
            <a:ext cx="8965544" cy="5214949"/>
            <a:chOff x="81650" y="642943"/>
            <a:chExt cx="8965544" cy="5214949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50" y="642943"/>
              <a:ext cx="8965544" cy="5214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사각형 설명선 10"/>
            <p:cNvSpPr/>
            <p:nvPr/>
          </p:nvSpPr>
          <p:spPr>
            <a:xfrm>
              <a:off x="4771244" y="1569608"/>
              <a:ext cx="792088" cy="360040"/>
            </a:xfrm>
            <a:prstGeom prst="wedgeRectCallout">
              <a:avLst>
                <a:gd name="adj1" fmla="val -74305"/>
                <a:gd name="adj2" fmla="val 340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smtClean="0">
                  <a:solidFill>
                    <a:schemeClr val="tx1"/>
                  </a:solidFill>
                </a:rPr>
                <a:t>팝업화면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80874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컨텐츠영역</a:t>
            </a:r>
            <a:r>
              <a:rPr lang="ko-KR" altLang="en-US" dirty="0" smtClean="0"/>
              <a:t> 확장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메뉴영역을 최소화 하여 아이콘으로 표현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메뉴를 닫았을 경우에도 아이콘으로 </a:t>
            </a:r>
            <a:r>
              <a:rPr lang="ko-KR" altLang="en-US" dirty="0" err="1" smtClean="0"/>
              <a:t>접근성</a:t>
            </a:r>
            <a:r>
              <a:rPr lang="ko-KR" altLang="en-US" dirty="0" smtClean="0"/>
              <a:t> 향상</a:t>
            </a:r>
            <a:endParaRPr lang="ko-KR" altLang="en-US" sz="1200" dirty="0"/>
          </a:p>
        </p:txBody>
      </p:sp>
      <p:grpSp>
        <p:nvGrpSpPr>
          <p:cNvPr id="8" name="그룹 7"/>
          <p:cNvGrpSpPr/>
          <p:nvPr/>
        </p:nvGrpSpPr>
        <p:grpSpPr>
          <a:xfrm>
            <a:off x="626995" y="869956"/>
            <a:ext cx="8652010" cy="5355164"/>
            <a:chOff x="78608" y="642943"/>
            <a:chExt cx="8955886" cy="5715015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8608" y="642943"/>
              <a:ext cx="8955886" cy="5715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사각형 설명선 6"/>
            <p:cNvSpPr/>
            <p:nvPr/>
          </p:nvSpPr>
          <p:spPr>
            <a:xfrm>
              <a:off x="629800" y="1068696"/>
              <a:ext cx="1656184" cy="360040"/>
            </a:xfrm>
            <a:prstGeom prst="wedgeRectCallout">
              <a:avLst>
                <a:gd name="adj1" fmla="val -65366"/>
                <a:gd name="adj2" fmla="val -6916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smtClean="0">
                  <a:solidFill>
                    <a:schemeClr val="tx1"/>
                  </a:solidFill>
                </a:rPr>
                <a:t>메뉴 </a:t>
              </a:r>
              <a:r>
                <a:rPr lang="ko-KR" altLang="en-US" sz="1100" dirty="0" err="1" smtClean="0">
                  <a:solidFill>
                    <a:schemeClr val="tx1"/>
                  </a:solidFill>
                </a:rPr>
                <a:t>클로즈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된 상태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77" y="567289"/>
            <a:ext cx="80874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컨텐츠영역</a:t>
            </a:r>
            <a:r>
              <a:rPr lang="ko-KR" altLang="en-US" dirty="0" smtClean="0"/>
              <a:t> 확장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메뉴영역을 최소화 하여 아이콘으로 표현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메뉴를 닫았을 경우에도 아이콘으로 </a:t>
            </a:r>
            <a:r>
              <a:rPr lang="ko-KR" altLang="en-US" dirty="0" err="1" smtClean="0"/>
              <a:t>접근성</a:t>
            </a:r>
            <a:r>
              <a:rPr lang="ko-KR" altLang="en-US" dirty="0" smtClean="0"/>
              <a:t> 향상</a:t>
            </a:r>
            <a:endParaRPr lang="ko-KR" altLang="en-US" sz="12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601933" y="883912"/>
            <a:ext cx="8702135" cy="5389041"/>
            <a:chOff x="92208" y="571480"/>
            <a:chExt cx="8937604" cy="559002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2"/>
            <a:srcRect t="10372" b="3767"/>
            <a:stretch>
              <a:fillRect/>
            </a:stretch>
          </p:blipFill>
          <p:spPr bwMode="auto">
            <a:xfrm>
              <a:off x="92208" y="571480"/>
              <a:ext cx="8937604" cy="559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사각형 설명선 8"/>
            <p:cNvSpPr/>
            <p:nvPr/>
          </p:nvSpPr>
          <p:spPr>
            <a:xfrm>
              <a:off x="1700800" y="2352870"/>
              <a:ext cx="1728192" cy="576064"/>
            </a:xfrm>
            <a:prstGeom prst="wedgeRectCallout">
              <a:avLst>
                <a:gd name="adj1" fmla="val -65366"/>
                <a:gd name="adj2" fmla="val -6916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 err="1" smtClean="0">
                  <a:solidFill>
                    <a:schemeClr val="tx1"/>
                  </a:solidFill>
                </a:rPr>
                <a:t>클로즈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된 상태에서 하위 메뉴로 이동 가능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/ </a:t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r>
                <a:rPr lang="ko-KR" altLang="en-US" sz="1100" dirty="0" err="1" smtClean="0">
                  <a:solidFill>
                    <a:schemeClr val="tx1"/>
                  </a:solidFill>
                </a:rPr>
                <a:t>접근성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향상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1" name="직사각형 10"/>
          <p:cNvSpPr/>
          <p:nvPr/>
        </p:nvSpPr>
        <p:spPr bwMode="auto">
          <a:xfrm>
            <a:off x="9258300" y="822960"/>
            <a:ext cx="436563" cy="545592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98120" y="861060"/>
            <a:ext cx="436563" cy="545592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2075" tIns="46038" rIns="92075" bIns="46038" numCol="1" rtlCol="0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>
            <a:solidFill>
              <a:schemeClr val="tx1"/>
            </a:solidFill>
            <a:latin typeface="바탕체" pitchFamily="17" charset="-127"/>
            <a:ea typeface="바탕체" pitchFamily="17" charset="-127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체" pitchFamily="17" charset="-127"/>
            <a:ea typeface="바탕체" pitchFamily="17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13713</TotalTime>
  <Words>218</Words>
  <Application>Microsoft PowerPoint</Application>
  <PresentationFormat>A4 용지(210x297mm)</PresentationFormat>
  <Paragraphs>48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바탕체</vt:lpstr>
      <vt:lpstr>Arial</vt:lpstr>
      <vt:lpstr>Times New Roman</vt:lpstr>
      <vt:lpstr>굴림</vt:lpstr>
      <vt:lpstr>바탕</vt:lpstr>
      <vt:lpstr>맑은 고딕</vt:lpstr>
      <vt:lpstr>나눔고딕 ExtraBold</vt:lpstr>
      <vt:lpstr>나눔고딕</vt:lpstr>
      <vt:lpstr>굴림체</vt:lpstr>
      <vt:lpstr>Arial Black</vt:lpstr>
      <vt:lpstr>기본 디자인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Company>LG-EDS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애플리케이션 스타일 가이드</dc:title>
  <dc:creator>김영미</dc:creator>
  <dc:description>애플리케이션의 설계 및 개발을 위한 표준을 정의한다.</dc:description>
  <cp:lastModifiedBy>M2M</cp:lastModifiedBy>
  <cp:revision>1298</cp:revision>
  <cp:lastPrinted>2000-09-20T03:47:45Z</cp:lastPrinted>
  <dcterms:created xsi:type="dcterms:W3CDTF">1999-09-16T11:11:07Z</dcterms:created>
  <dcterms:modified xsi:type="dcterms:W3CDTF">2015-07-07T08:47:35Z</dcterms:modified>
</cp:coreProperties>
</file>