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6" r:id="rId1"/>
  </p:sldMasterIdLst>
  <p:notesMasterIdLst>
    <p:notesMasterId r:id="rId18"/>
  </p:notesMasterIdLst>
  <p:handoutMasterIdLst>
    <p:handoutMasterId r:id="rId19"/>
  </p:handoutMasterIdLst>
  <p:sldIdLst>
    <p:sldId id="263" r:id="rId2"/>
    <p:sldId id="313" r:id="rId3"/>
    <p:sldId id="314" r:id="rId4"/>
    <p:sldId id="315" r:id="rId5"/>
    <p:sldId id="317" r:id="rId6"/>
    <p:sldId id="316" r:id="rId7"/>
    <p:sldId id="310" r:id="rId8"/>
    <p:sldId id="305" r:id="rId9"/>
    <p:sldId id="303" r:id="rId10"/>
    <p:sldId id="306" r:id="rId11"/>
    <p:sldId id="312" r:id="rId12"/>
    <p:sldId id="307" r:id="rId13"/>
    <p:sldId id="308" r:id="rId14"/>
    <p:sldId id="309" r:id="rId15"/>
    <p:sldId id="296" r:id="rId16"/>
    <p:sldId id="295" r:id="rId17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15">
          <p15:clr>
            <a:srgbClr val="A4A3A4"/>
          </p15:clr>
        </p15:guide>
        <p15:guide id="2" orient="horz" pos="618">
          <p15:clr>
            <a:srgbClr val="A4A3A4"/>
          </p15:clr>
        </p15:guide>
        <p15:guide id="3" orient="horz" pos="3884">
          <p15:clr>
            <a:srgbClr val="A4A3A4"/>
          </p15:clr>
        </p15:guide>
        <p15:guide id="4" pos="217">
          <p15:clr>
            <a:srgbClr val="A4A3A4"/>
          </p15:clr>
        </p15:guide>
        <p15:guide id="5" pos="6023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8FA"/>
    <a:srgbClr val="294C8C"/>
    <a:srgbClr val="FFFF99"/>
    <a:srgbClr val="F0F0F0"/>
    <a:srgbClr val="66A324"/>
    <a:srgbClr val="84CA28"/>
    <a:srgbClr val="5685CB"/>
    <a:srgbClr val="1683C6"/>
    <a:srgbClr val="28BAEB"/>
    <a:srgbClr val="268CA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03" autoAdjust="0"/>
    <p:restoredTop sz="97645" autoAdjust="0"/>
  </p:normalViewPr>
  <p:slideViewPr>
    <p:cSldViewPr>
      <p:cViewPr varScale="1">
        <p:scale>
          <a:sx n="67" d="100"/>
          <a:sy n="67" d="100"/>
        </p:scale>
        <p:origin x="-1422" y="-96"/>
      </p:cViewPr>
      <p:guideLst>
        <p:guide orient="horz" pos="2115"/>
        <p:guide orient="horz" pos="618"/>
        <p:guide orient="horz" pos="3884"/>
        <p:guide pos="217"/>
        <p:guide pos="602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7" d="100"/>
          <a:sy n="77" d="100"/>
        </p:scale>
        <p:origin x="-2616" y="-84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708C99-9DF7-4821-955D-9BF6EA14E170}" type="datetimeFigureOut">
              <a:rPr lang="ko-KR" altLang="en-US" smtClean="0"/>
              <a:pPr/>
              <a:t>2015-05-07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479CB2-BCB5-4CE7-9DFD-E3CF27325D7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42205564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404481-C7FE-4B67-9577-DB4691256AF5}" type="datetimeFigureOut">
              <a:rPr lang="ko-KR" altLang="en-US" smtClean="0"/>
              <a:pPr/>
              <a:t>2015-05-07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23DCD4-1A54-42CA-88E1-391F1FDCF6F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389083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23DCD4-1A54-42CA-88E1-391F1FDCF6F6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176366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23DCD4-1A54-42CA-88E1-391F1FDCF6F6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909799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93739" y="0"/>
            <a:ext cx="6627813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697" y="5668035"/>
            <a:ext cx="9925200" cy="1219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3" descr="D:\★2012_제안서템플릿자료\05.샘플02\air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0981" y="339552"/>
            <a:ext cx="3697058" cy="132825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H:\04.제안서(PT)관련\04.PNG이미지\03.PPT_배경그림\그림20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5262" y="5441300"/>
            <a:ext cx="4500266" cy="86802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http://www.cil.co.kr/images/service2_info4_01.jpg"/>
          <p:cNvPicPr>
            <a:picLocks noChangeAspect="1" noChangeArrowheads="1"/>
          </p:cNvPicPr>
          <p:nvPr userDrawn="1"/>
        </p:nvPicPr>
        <p:blipFill>
          <a:blip r:embed="rId6" cstate="print"/>
          <a:srcRect t="75396" r="34399" b="6824"/>
          <a:stretch>
            <a:fillRect/>
          </a:stretch>
        </p:blipFill>
        <p:spPr bwMode="auto">
          <a:xfrm>
            <a:off x="-1697" y="5661248"/>
            <a:ext cx="3936387" cy="1214215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93739" y="0"/>
            <a:ext cx="6627813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5552" y="5668035"/>
            <a:ext cx="9928800" cy="12201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 descr="D:\★2012_제안서템플릿자료\05.샘플02\air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0981" y="339552"/>
            <a:ext cx="3697058" cy="132825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:\Users\hana\Desktop\AEO포탈(PT)\img10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131" y="1052736"/>
            <a:ext cx="9167739" cy="518457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-5138" y="6369296"/>
            <a:ext cx="9916276" cy="50405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381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Picture 16" descr="EMB1502"/>
          <p:cNvPicPr>
            <a:picLocks noChangeAspect="1" noChangeArrowheads="1"/>
          </p:cNvPicPr>
          <p:nvPr userDrawn="1"/>
        </p:nvPicPr>
        <p:blipFill>
          <a:blip r:embed="rId3" cstate="print"/>
          <a:srcRect l="37294"/>
          <a:stretch>
            <a:fillRect/>
          </a:stretch>
        </p:blipFill>
        <p:spPr bwMode="auto">
          <a:xfrm>
            <a:off x="8121080" y="6463405"/>
            <a:ext cx="1440433" cy="27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제목 10"/>
          <p:cNvSpPr>
            <a:spLocks noGrp="1"/>
          </p:cNvSpPr>
          <p:nvPr>
            <p:ph type="title"/>
          </p:nvPr>
        </p:nvSpPr>
        <p:spPr>
          <a:xfrm>
            <a:off x="1099074" y="91279"/>
            <a:ext cx="6143668" cy="576064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1" name="직사각형 10"/>
          <p:cNvSpPr/>
          <p:nvPr userDrawn="1"/>
        </p:nvSpPr>
        <p:spPr>
          <a:xfrm>
            <a:off x="329974" y="0"/>
            <a:ext cx="648072" cy="6926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 b="1" dirty="0">
              <a:solidFill>
                <a:srgbClr val="091D58"/>
              </a:solidFill>
            </a:endParaRPr>
          </a:p>
        </p:txBody>
      </p:sp>
      <p:sp>
        <p:nvSpPr>
          <p:cNvPr id="12" name="텍스트 개체 틀 20"/>
          <p:cNvSpPr>
            <a:spLocks noGrp="1"/>
          </p:cNvSpPr>
          <p:nvPr>
            <p:ph type="body" sz="quarter" idx="11" hasCustomPrompt="1"/>
          </p:nvPr>
        </p:nvSpPr>
        <p:spPr>
          <a:xfrm>
            <a:off x="329527" y="22578"/>
            <a:ext cx="649288" cy="65145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1">
                <a:solidFill>
                  <a:srgbClr val="1D509F"/>
                </a:solidFill>
              </a:defRPr>
            </a:lvl1pPr>
            <a:lvl3pPr marL="914400" indent="0">
              <a:buNone/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altLang="ko-KR" dirty="0" smtClean="0"/>
              <a:t>1</a:t>
            </a:r>
            <a:endParaRPr lang="ko-KR" altLang="en-US" dirty="0" smtClean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797300" y="649289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algn="ctr"/>
            <a:r>
              <a:rPr lang="en-US" altLang="ko-KR" dirty="0" smtClean="0"/>
              <a:t>- </a:t>
            </a:r>
            <a:fld id="{245EAB29-64F1-4E1B-A99D-3BF1ED9F7005}" type="slidenum">
              <a:rPr lang="ko-KR" altLang="en-US" smtClean="0"/>
              <a:pPr algn="ctr"/>
              <a:t>‹#›</a:t>
            </a:fld>
            <a:r>
              <a:rPr lang="ko-KR" altLang="en-US" dirty="0" smtClean="0"/>
              <a:t> </a:t>
            </a:r>
            <a:r>
              <a:rPr lang="en-US" altLang="ko-KR" dirty="0" smtClean="0"/>
              <a:t>-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/>
          <p:cNvSpPr/>
          <p:nvPr userDrawn="1"/>
        </p:nvSpPr>
        <p:spPr>
          <a:xfrm>
            <a:off x="-5138" y="6369296"/>
            <a:ext cx="9916276" cy="50405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381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16" descr="EMB1502"/>
          <p:cNvPicPr>
            <a:picLocks noChangeAspect="1" noChangeArrowheads="1"/>
          </p:cNvPicPr>
          <p:nvPr userDrawn="1"/>
        </p:nvPicPr>
        <p:blipFill>
          <a:blip r:embed="rId2" cstate="print"/>
          <a:srcRect l="37294"/>
          <a:stretch>
            <a:fillRect/>
          </a:stretch>
        </p:blipFill>
        <p:spPr bwMode="auto">
          <a:xfrm>
            <a:off x="8121080" y="6463405"/>
            <a:ext cx="1440433" cy="27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620504676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78" r:id="rId2"/>
    <p:sldLayoutId id="2147483657" r:id="rId3"/>
    <p:sldLayoutId id="2147483703" r:id="rId4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14.&#51116;&#44256;&#49444;&#51221;&#44288;&#47532;.avi" TargetMode="External"/><Relationship Id="rId3" Type="http://schemas.openxmlformats.org/officeDocument/2006/relationships/hyperlink" Target="6.&#52636;&#54616;&#44288;&#47532;.avi" TargetMode="External"/><Relationship Id="rId7" Type="http://schemas.openxmlformats.org/officeDocument/2006/relationships/hyperlink" Target="3.BOM&#44288;&#47532;.avi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hyperlink" Target="4.&#50896;&#49328;&#51648;&#44592;&#51456;&#44288;&#47532;.avi" TargetMode="External"/><Relationship Id="rId11" Type="http://schemas.openxmlformats.org/officeDocument/2006/relationships/hyperlink" Target="2.&#54408;&#47785;&#44288;&#47532;.avi" TargetMode="External"/><Relationship Id="rId5" Type="http://schemas.openxmlformats.org/officeDocument/2006/relationships/hyperlink" Target="15.&#51116;&#47308;&#49688;&#48520;&#48512;&#44288;&#47532;.avi" TargetMode="External"/><Relationship Id="rId10" Type="http://schemas.openxmlformats.org/officeDocument/2006/relationships/hyperlink" Target="1.&#44144;&#47000;&#52376;&#44288;&#47532;.avi" TargetMode="External"/><Relationship Id="rId4" Type="http://schemas.openxmlformats.org/officeDocument/2006/relationships/hyperlink" Target="7.&#44396;&#47588;&#44288;&#47532;.avi" TargetMode="External"/><Relationship Id="rId9" Type="http://schemas.openxmlformats.org/officeDocument/2006/relationships/hyperlink" Target="13.&#44592;&#53440;(&#49569;&#49688;&#49888;,&#48516;&#49437;,&#54028;&#53944;&#45320;&#50672;&#44228;).avi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7" Type="http://schemas.openxmlformats.org/officeDocument/2006/relationships/image" Target="../media/image43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jpeg"/><Relationship Id="rId5" Type="http://schemas.openxmlformats.org/officeDocument/2006/relationships/image" Target="../media/image41.jpeg"/><Relationship Id="rId4" Type="http://schemas.openxmlformats.org/officeDocument/2006/relationships/image" Target="../media/image40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04527" y="1262370"/>
            <a:ext cx="8856986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6600" b="1" dirty="0" smtClean="0">
                <a:ln>
                  <a:solidFill>
                    <a:schemeClr val="tx1">
                      <a:alpha val="41000"/>
                    </a:schemeClr>
                  </a:solidFill>
                </a:ln>
                <a:solidFill>
                  <a:srgbClr val="294C8C"/>
                </a:solidFill>
              </a:rPr>
              <a:t>WINUS-JPR Develop Review</a:t>
            </a:r>
            <a:endParaRPr lang="ko-KR" altLang="en-US" sz="6000" b="1" dirty="0">
              <a:ln>
                <a:solidFill>
                  <a:schemeClr val="tx1">
                    <a:alpha val="4100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152800" y="3985900"/>
            <a:ext cx="32403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800" b="1" smtClean="0">
                <a:ln>
                  <a:solidFill>
                    <a:schemeClr val="tx1">
                      <a:alpha val="41000"/>
                    </a:schemeClr>
                  </a:solidFill>
                </a:ln>
                <a:solidFill>
                  <a:srgbClr val="294C8C"/>
                </a:solidFill>
              </a:rPr>
              <a:t>2015.05.14</a:t>
            </a:r>
            <a:endParaRPr lang="ko-KR" altLang="en-US" sz="2400" b="1" dirty="0">
              <a:ln>
                <a:solidFill>
                  <a:schemeClr val="tx1">
                    <a:alpha val="4100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8" name="Picture 16" descr="EMB1502"/>
          <p:cNvPicPr>
            <a:picLocks noChangeAspect="1" noChangeArrowheads="1"/>
          </p:cNvPicPr>
          <p:nvPr/>
        </p:nvPicPr>
        <p:blipFill>
          <a:blip r:embed="rId2" cstate="print"/>
          <a:srcRect l="37294"/>
          <a:stretch>
            <a:fillRect/>
          </a:stretch>
        </p:blipFill>
        <p:spPr bwMode="auto">
          <a:xfrm>
            <a:off x="344488" y="548680"/>
            <a:ext cx="2240716" cy="432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283954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38"/>
          <p:cNvSpPr txBox="1">
            <a:spLocks/>
          </p:cNvSpPr>
          <p:nvPr/>
        </p:nvSpPr>
        <p:spPr>
          <a:xfrm>
            <a:off x="5939319" y="325142"/>
            <a:ext cx="3561190" cy="61555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algn="r">
              <a:spcBef>
                <a:spcPct val="0"/>
              </a:spcBef>
              <a:defRPr/>
            </a:pPr>
            <a:r>
              <a:rPr lang="en-US" altLang="ko-KR" sz="4000" b="1" dirty="0" smtClean="0">
                <a:ln>
                  <a:solidFill>
                    <a:schemeClr val="tx2"/>
                  </a:solidFill>
                </a:ln>
                <a:solidFill>
                  <a:schemeClr val="bg1"/>
                </a:solidFill>
                <a:latin typeface="Arial" pitchFamily="34" charset="0"/>
                <a:ea typeface="HY견고딕" pitchFamily="18" charset="-127"/>
                <a:cs typeface="Arial" pitchFamily="34" charset="0"/>
              </a:rPr>
              <a:t>CONTENTS</a:t>
            </a:r>
            <a:endParaRPr lang="ko-KR" altLang="en-US" sz="4000" b="1" dirty="0">
              <a:ln>
                <a:solidFill>
                  <a:schemeClr val="tx2"/>
                </a:solidFill>
              </a:ln>
              <a:solidFill>
                <a:schemeClr val="bg1"/>
              </a:solidFill>
              <a:latin typeface="Arial" pitchFamily="34" charset="0"/>
              <a:ea typeface="HY견고딕" pitchFamily="18" charset="-127"/>
              <a:cs typeface="Arial" pitchFamily="34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3438768" y="1525246"/>
            <a:ext cx="3962504" cy="471451"/>
          </a:xfrm>
          <a:prstGeom prst="rect">
            <a:avLst/>
          </a:prstGeom>
          <a:solidFill>
            <a:schemeClr val="bg1"/>
          </a:solidFill>
          <a:ln w="6350">
            <a:solidFill>
              <a:srgbClr val="1D509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3726811" y="1535468"/>
            <a:ext cx="3384376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 smtClean="0">
                <a:ln>
                  <a:solidFill>
                    <a:schemeClr val="tx2">
                      <a:alpha val="54000"/>
                    </a:schemeClr>
                  </a:solidFill>
                </a:ln>
                <a:solidFill>
                  <a:srgbClr val="075497"/>
                </a:solidFill>
                <a:latin typeface="+mn-ea"/>
              </a:rPr>
              <a:t>개발 개요</a:t>
            </a:r>
            <a:endParaRPr lang="en-US" altLang="ko-KR" sz="2800" b="1" dirty="0">
              <a:ln>
                <a:solidFill>
                  <a:schemeClr val="tx2">
                    <a:alpha val="54000"/>
                  </a:schemeClr>
                </a:solidFill>
              </a:ln>
              <a:solidFill>
                <a:srgbClr val="075497"/>
              </a:solidFill>
              <a:latin typeface="+mn-ea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2648744" y="1484784"/>
            <a:ext cx="777473" cy="526165"/>
          </a:xfrm>
          <a:prstGeom prst="roundRect">
            <a:avLst/>
          </a:prstGeom>
          <a:gradFill>
            <a:gsLst>
              <a:gs pos="0">
                <a:srgbClr val="1D509F"/>
              </a:gs>
              <a:gs pos="100000">
                <a:srgbClr val="235EBF"/>
              </a:gs>
            </a:gsLst>
            <a:lin ang="16200000" scaled="1"/>
          </a:gradFill>
          <a:ln w="6350">
            <a:solidFill>
              <a:srgbClr val="1D509F"/>
            </a:solidFill>
          </a:ln>
          <a:effectLst>
            <a:outerShdw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ko-KR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438768" y="2188495"/>
            <a:ext cx="3962504" cy="471451"/>
          </a:xfrm>
          <a:prstGeom prst="rect">
            <a:avLst/>
          </a:prstGeom>
          <a:solidFill>
            <a:schemeClr val="bg1"/>
          </a:solidFill>
          <a:ln w="6350">
            <a:solidFill>
              <a:srgbClr val="1D509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3726811" y="2198717"/>
            <a:ext cx="3384376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 smtClean="0">
                <a:ln>
                  <a:solidFill>
                    <a:schemeClr val="tx2">
                      <a:alpha val="54000"/>
                    </a:schemeClr>
                  </a:solidFill>
                </a:ln>
                <a:solidFill>
                  <a:srgbClr val="075497"/>
                </a:solidFill>
                <a:latin typeface="+mn-ea"/>
              </a:rPr>
              <a:t>추진 조직</a:t>
            </a:r>
            <a:endParaRPr lang="en-US" altLang="ko-KR" sz="2800" b="1" dirty="0">
              <a:ln>
                <a:solidFill>
                  <a:schemeClr val="tx2">
                    <a:alpha val="54000"/>
                  </a:schemeClr>
                </a:solidFill>
              </a:ln>
              <a:solidFill>
                <a:srgbClr val="075497"/>
              </a:solidFill>
              <a:latin typeface="+mn-ea"/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2648744" y="2134267"/>
            <a:ext cx="777473" cy="526165"/>
          </a:xfrm>
          <a:prstGeom prst="roundRect">
            <a:avLst/>
          </a:prstGeom>
          <a:gradFill>
            <a:gsLst>
              <a:gs pos="0">
                <a:srgbClr val="1D509F"/>
              </a:gs>
              <a:gs pos="100000">
                <a:srgbClr val="235EBF"/>
              </a:gs>
            </a:gsLst>
            <a:lin ang="16200000" scaled="1"/>
          </a:gradFill>
          <a:ln w="6350">
            <a:solidFill>
              <a:srgbClr val="1D509F"/>
            </a:solidFill>
          </a:ln>
          <a:effectLst>
            <a:outerShdw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ko-KR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3438768" y="2837979"/>
            <a:ext cx="3962504" cy="471450"/>
          </a:xfrm>
          <a:prstGeom prst="rect">
            <a:avLst/>
          </a:prstGeom>
          <a:solidFill>
            <a:schemeClr val="bg1"/>
          </a:solidFill>
          <a:ln w="6350">
            <a:solidFill>
              <a:srgbClr val="1D509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3726811" y="2848201"/>
            <a:ext cx="33843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 smtClean="0">
                <a:ln>
                  <a:solidFill>
                    <a:schemeClr val="tx2">
                      <a:alpha val="54000"/>
                    </a:schemeClr>
                  </a:solidFill>
                </a:ln>
                <a:solidFill>
                  <a:srgbClr val="075497"/>
                </a:solidFill>
                <a:latin typeface="+mn-ea"/>
              </a:rPr>
              <a:t>추진 경과</a:t>
            </a:r>
            <a:endParaRPr lang="en-US" altLang="ko-KR" sz="2800" b="1" dirty="0">
              <a:ln>
                <a:solidFill>
                  <a:schemeClr val="tx2">
                    <a:alpha val="54000"/>
                  </a:schemeClr>
                </a:solidFill>
              </a:ln>
              <a:solidFill>
                <a:srgbClr val="075497"/>
              </a:solidFill>
              <a:latin typeface="+mn-ea"/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2648744" y="2797516"/>
            <a:ext cx="777473" cy="526164"/>
          </a:xfrm>
          <a:prstGeom prst="roundRect">
            <a:avLst/>
          </a:prstGeom>
          <a:gradFill>
            <a:gsLst>
              <a:gs pos="0">
                <a:srgbClr val="1D509F"/>
              </a:gs>
              <a:gs pos="100000">
                <a:srgbClr val="235EBF"/>
              </a:gs>
            </a:gsLst>
            <a:lin ang="16200000" scaled="1"/>
          </a:gradFill>
          <a:ln w="6350">
            <a:solidFill>
              <a:srgbClr val="1D509F"/>
            </a:solidFill>
          </a:ln>
          <a:effectLst>
            <a:outerShdw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ko-KR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438768" y="3516699"/>
            <a:ext cx="3962504" cy="471451"/>
          </a:xfrm>
          <a:prstGeom prst="rect">
            <a:avLst/>
          </a:prstGeom>
          <a:solidFill>
            <a:schemeClr val="bg1"/>
          </a:solidFill>
          <a:ln w="6350">
            <a:solidFill>
              <a:srgbClr val="1D509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3726811" y="3526921"/>
            <a:ext cx="33843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 smtClean="0">
                <a:ln>
                  <a:solidFill>
                    <a:schemeClr val="tx2">
                      <a:alpha val="54000"/>
                    </a:schemeClr>
                  </a:solidFill>
                </a:ln>
                <a:solidFill>
                  <a:srgbClr val="075497"/>
                </a:solidFill>
                <a:latin typeface="+mn-ea"/>
              </a:rPr>
              <a:t>개발 일정</a:t>
            </a:r>
            <a:endParaRPr lang="en-US" altLang="ko-KR" sz="2800" b="1" dirty="0">
              <a:ln>
                <a:solidFill>
                  <a:schemeClr val="tx2">
                    <a:alpha val="54000"/>
                  </a:schemeClr>
                </a:solidFill>
              </a:ln>
              <a:solidFill>
                <a:srgbClr val="075497"/>
              </a:solidFill>
              <a:latin typeface="+mn-ea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2648744" y="3447001"/>
            <a:ext cx="777473" cy="526165"/>
          </a:xfrm>
          <a:prstGeom prst="roundRect">
            <a:avLst/>
          </a:prstGeom>
          <a:gradFill>
            <a:gsLst>
              <a:gs pos="0">
                <a:srgbClr val="1D509F"/>
              </a:gs>
              <a:gs pos="100000">
                <a:srgbClr val="235EBF"/>
              </a:gs>
            </a:gsLst>
            <a:lin ang="16200000" scaled="1"/>
          </a:gradFill>
          <a:ln w="6350">
            <a:solidFill>
              <a:srgbClr val="1D509F"/>
            </a:solidFill>
          </a:ln>
          <a:effectLst>
            <a:outerShdw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ko-KR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3438768" y="4166179"/>
            <a:ext cx="3962504" cy="471450"/>
          </a:xfrm>
          <a:prstGeom prst="rect">
            <a:avLst/>
          </a:prstGeom>
          <a:solidFill>
            <a:schemeClr val="bg1"/>
          </a:solidFill>
          <a:ln w="6350">
            <a:solidFill>
              <a:srgbClr val="1D509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3726811" y="4176401"/>
            <a:ext cx="33843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 smtClean="0">
                <a:ln>
                  <a:solidFill>
                    <a:schemeClr val="tx2">
                      <a:alpha val="54000"/>
                    </a:schemeClr>
                  </a:solidFill>
                </a:ln>
                <a:solidFill>
                  <a:srgbClr val="075497"/>
                </a:solidFill>
                <a:latin typeface="+mn-ea"/>
              </a:rPr>
              <a:t>개발 기능</a:t>
            </a:r>
            <a:endParaRPr lang="en-US" altLang="ko-KR" sz="2800" b="1" dirty="0">
              <a:ln>
                <a:solidFill>
                  <a:schemeClr val="tx2">
                    <a:alpha val="54000"/>
                  </a:schemeClr>
                </a:solidFill>
              </a:ln>
              <a:solidFill>
                <a:srgbClr val="075497"/>
              </a:solidFill>
              <a:latin typeface="+mn-ea"/>
            </a:endParaRPr>
          </a:p>
        </p:txBody>
      </p:sp>
      <p:sp>
        <p:nvSpPr>
          <p:cNvPr id="37" name="모서리가 둥근 직사각형 36"/>
          <p:cNvSpPr/>
          <p:nvPr/>
        </p:nvSpPr>
        <p:spPr>
          <a:xfrm>
            <a:off x="2648744" y="4125718"/>
            <a:ext cx="777473" cy="526164"/>
          </a:xfrm>
          <a:prstGeom prst="roundRect">
            <a:avLst/>
          </a:prstGeom>
          <a:gradFill>
            <a:gsLst>
              <a:gs pos="0">
                <a:srgbClr val="1D509F"/>
              </a:gs>
              <a:gs pos="100000">
                <a:srgbClr val="235EBF"/>
              </a:gs>
            </a:gsLst>
            <a:lin ang="16200000" scaled="1"/>
          </a:gradFill>
          <a:ln w="6350">
            <a:solidFill>
              <a:srgbClr val="1D509F"/>
            </a:solidFill>
          </a:ln>
          <a:effectLst>
            <a:outerShdw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ko-KR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3438768" y="4815664"/>
            <a:ext cx="3962504" cy="471449"/>
          </a:xfrm>
          <a:prstGeom prst="rect">
            <a:avLst/>
          </a:prstGeom>
          <a:solidFill>
            <a:schemeClr val="bg1"/>
          </a:solidFill>
          <a:ln w="6350">
            <a:solidFill>
              <a:srgbClr val="1D509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3726811" y="4825886"/>
            <a:ext cx="3384376" cy="523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 smtClean="0">
                <a:ln>
                  <a:solidFill>
                    <a:schemeClr val="tx2">
                      <a:alpha val="54000"/>
                    </a:schemeClr>
                  </a:solidFill>
                </a:ln>
                <a:solidFill>
                  <a:srgbClr val="075497"/>
                </a:solidFill>
                <a:latin typeface="+mn-ea"/>
              </a:rPr>
              <a:t>Framework</a:t>
            </a:r>
            <a:endParaRPr lang="en-US" altLang="ko-KR" sz="2800" b="1" dirty="0">
              <a:ln>
                <a:solidFill>
                  <a:schemeClr val="tx2">
                    <a:alpha val="54000"/>
                  </a:schemeClr>
                </a:solidFill>
              </a:ln>
              <a:solidFill>
                <a:srgbClr val="075497"/>
              </a:solidFill>
              <a:latin typeface="+mn-ea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2648744" y="4775204"/>
            <a:ext cx="777473" cy="526165"/>
          </a:xfrm>
          <a:prstGeom prst="roundRect">
            <a:avLst/>
          </a:prstGeom>
          <a:gradFill>
            <a:gsLst>
              <a:gs pos="0">
                <a:srgbClr val="1D509F"/>
              </a:gs>
              <a:gs pos="100000">
                <a:srgbClr val="235EBF"/>
              </a:gs>
            </a:gsLst>
            <a:lin ang="16200000" scaled="1"/>
          </a:gradFill>
          <a:ln w="6350">
            <a:solidFill>
              <a:srgbClr val="1D509F"/>
            </a:solidFill>
          </a:ln>
          <a:effectLst>
            <a:outerShdw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lang="ko-KR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3438768" y="5463576"/>
            <a:ext cx="3962504" cy="471450"/>
          </a:xfrm>
          <a:prstGeom prst="rect">
            <a:avLst/>
          </a:prstGeom>
          <a:solidFill>
            <a:schemeClr val="bg1"/>
          </a:solidFill>
          <a:ln w="6350">
            <a:solidFill>
              <a:srgbClr val="1D509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/>
          <p:cNvSpPr/>
          <p:nvPr/>
        </p:nvSpPr>
        <p:spPr>
          <a:xfrm>
            <a:off x="3726811" y="5473798"/>
            <a:ext cx="3384376" cy="4247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 smtClean="0">
                <a:ln>
                  <a:solidFill>
                    <a:schemeClr val="tx2">
                      <a:alpha val="54000"/>
                    </a:schemeClr>
                  </a:solidFill>
                </a:ln>
                <a:solidFill>
                  <a:srgbClr val="075497"/>
                </a:solidFill>
                <a:latin typeface="+mn-ea"/>
              </a:rPr>
              <a:t>디자인</a:t>
            </a:r>
            <a:endParaRPr lang="en-US" altLang="ko-KR" sz="2800" b="1" dirty="0">
              <a:ln>
                <a:solidFill>
                  <a:schemeClr val="tx2">
                    <a:alpha val="54000"/>
                  </a:schemeClr>
                </a:solidFill>
              </a:ln>
              <a:solidFill>
                <a:srgbClr val="075497"/>
              </a:solidFill>
              <a:latin typeface="+mn-ea"/>
            </a:endParaRPr>
          </a:p>
        </p:txBody>
      </p:sp>
      <p:sp>
        <p:nvSpPr>
          <p:cNvPr id="41" name="모서리가 둥근 직사각형 40"/>
          <p:cNvSpPr/>
          <p:nvPr/>
        </p:nvSpPr>
        <p:spPr>
          <a:xfrm>
            <a:off x="2648744" y="5423115"/>
            <a:ext cx="777473" cy="526165"/>
          </a:xfrm>
          <a:prstGeom prst="roundRect">
            <a:avLst/>
          </a:prstGeom>
          <a:gradFill>
            <a:gsLst>
              <a:gs pos="0">
                <a:srgbClr val="1D509F"/>
              </a:gs>
              <a:gs pos="100000">
                <a:srgbClr val="235EBF"/>
              </a:gs>
            </a:gsLst>
            <a:lin ang="16200000" scaled="1"/>
          </a:gradFill>
          <a:ln w="6350">
            <a:solidFill>
              <a:srgbClr val="1D509F"/>
            </a:solidFill>
          </a:ln>
          <a:effectLst>
            <a:outerShdw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endParaRPr lang="ko-KR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94443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개발 개요</a:t>
            </a:r>
            <a:endParaRPr lang="ko-KR" altLang="en-US" dirty="0"/>
          </a:p>
        </p:txBody>
      </p:sp>
      <p:grpSp>
        <p:nvGrpSpPr>
          <p:cNvPr id="34" name="그룹 33"/>
          <p:cNvGrpSpPr/>
          <p:nvPr/>
        </p:nvGrpSpPr>
        <p:grpSpPr>
          <a:xfrm>
            <a:off x="323820" y="981076"/>
            <a:ext cx="9161569" cy="5184774"/>
            <a:chOff x="323820" y="1340768"/>
            <a:chExt cx="9161569" cy="4825081"/>
          </a:xfrm>
        </p:grpSpPr>
        <p:grpSp>
          <p:nvGrpSpPr>
            <p:cNvPr id="3" name="그룹 205"/>
            <p:cNvGrpSpPr/>
            <p:nvPr/>
          </p:nvGrpSpPr>
          <p:grpSpPr>
            <a:xfrm>
              <a:off x="323820" y="1340768"/>
              <a:ext cx="9161569" cy="720080"/>
              <a:chOff x="323820" y="1484784"/>
              <a:chExt cx="9161569" cy="1124575"/>
            </a:xfrm>
          </p:grpSpPr>
          <p:grpSp>
            <p:nvGrpSpPr>
              <p:cNvPr id="4" name="그룹 168"/>
              <p:cNvGrpSpPr/>
              <p:nvPr/>
            </p:nvGrpSpPr>
            <p:grpSpPr>
              <a:xfrm>
                <a:off x="2674439" y="1484785"/>
                <a:ext cx="6810950" cy="1124574"/>
                <a:chOff x="2589559" y="5417563"/>
                <a:chExt cx="6340303" cy="1092303"/>
              </a:xfrm>
            </p:grpSpPr>
            <p:sp>
              <p:nvSpPr>
                <p:cNvPr id="170" name="모서리가 둥근 직사각형 169"/>
                <p:cNvSpPr/>
                <p:nvPr/>
              </p:nvSpPr>
              <p:spPr>
                <a:xfrm>
                  <a:off x="2589559" y="5417563"/>
                  <a:ext cx="6340303" cy="1092303"/>
                </a:xfrm>
                <a:prstGeom prst="roundRect">
                  <a:avLst>
                    <a:gd name="adj" fmla="val 0"/>
                  </a:avLst>
                </a:prstGeom>
                <a:solidFill>
                  <a:sysClr val="window" lastClr="FFFFFF">
                    <a:lumMod val="9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171" name="모서리가 둥근 직사각형 170"/>
                <p:cNvSpPr/>
                <p:nvPr/>
              </p:nvSpPr>
              <p:spPr>
                <a:xfrm>
                  <a:off x="2681787" y="5442090"/>
                  <a:ext cx="6178513" cy="980311"/>
                </a:xfrm>
                <a:prstGeom prst="roundRect">
                  <a:avLst>
                    <a:gd name="adj" fmla="val 0"/>
                  </a:avLst>
                </a:prstGeom>
                <a:solidFill>
                  <a:sysClr val="window" lastClr="FFFFFF"/>
                </a:solidFill>
                <a:ln w="12700" cap="flat" cmpd="sng" algn="ctr">
                  <a:solidFill>
                    <a:sysClr val="window" lastClr="FFFFFF">
                      <a:lumMod val="75000"/>
                    </a:sys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82550" lvl="0" indent="-82550" latinLnBrk="0">
                    <a:lnSpc>
                      <a:spcPct val="150000"/>
                    </a:lnSpc>
                    <a:buFont typeface="Arial" pitchFamily="34" charset="0"/>
                    <a:buChar char="•"/>
                  </a:pPr>
                  <a:r>
                    <a:rPr lang="ko-KR" altLang="en-US" sz="1200" dirty="0" smtClean="0">
                      <a:solidFill>
                        <a:prstClr val="black"/>
                      </a:solidFill>
                      <a:latin typeface="+mn-ea"/>
                    </a:rPr>
                    <a:t>글로벌 </a:t>
                  </a:r>
                  <a:r>
                    <a:rPr lang="ko-KR" altLang="en-US" sz="1200" dirty="0" err="1" smtClean="0">
                      <a:solidFill>
                        <a:prstClr val="black"/>
                      </a:solidFill>
                      <a:latin typeface="+mn-ea"/>
                    </a:rPr>
                    <a:t>웹기반</a:t>
                  </a:r>
                  <a:r>
                    <a:rPr lang="en-US" altLang="ko-KR" sz="1200" dirty="0" smtClean="0">
                      <a:solidFill>
                        <a:prstClr val="black"/>
                      </a:solidFill>
                      <a:latin typeface="+mn-ea"/>
                    </a:rPr>
                    <a:t>WMS</a:t>
                  </a:r>
                  <a:r>
                    <a:rPr lang="ko-KR" altLang="en-US" sz="1200" dirty="0" smtClean="0">
                      <a:solidFill>
                        <a:prstClr val="black"/>
                      </a:solidFill>
                      <a:latin typeface="+mn-ea"/>
                    </a:rPr>
                    <a:t>시스템 개발</a:t>
                  </a:r>
                </a:p>
              </p:txBody>
            </p:sp>
          </p:grpSp>
          <p:sp>
            <p:nvSpPr>
              <p:cNvPr id="172" name="AutoShape 453"/>
              <p:cNvSpPr>
                <a:spLocks noChangeArrowheads="1"/>
              </p:cNvSpPr>
              <p:nvPr/>
            </p:nvSpPr>
            <p:spPr bwMode="auto">
              <a:xfrm>
                <a:off x="323821" y="1484784"/>
                <a:ext cx="2350619" cy="1055862"/>
              </a:xfrm>
              <a:prstGeom prst="roundRect">
                <a:avLst>
                  <a:gd name="adj" fmla="val 0"/>
                </a:avLst>
              </a:prstGeom>
              <a:solidFill>
                <a:srgbClr val="79B1AF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spcBef>
                    <a:spcPct val="20000"/>
                  </a:spcBef>
                </a:pPr>
                <a:r>
                  <a:rPr lang="ko-KR" altLang="en-US" sz="1400" b="1" dirty="0" smtClean="0">
                    <a:solidFill>
                      <a:srgbClr val="FFFFFF"/>
                    </a:solidFill>
                    <a:latin typeface="+mn-ea"/>
                  </a:rPr>
                  <a:t>개발명칭</a:t>
                </a:r>
                <a:endParaRPr lang="en-US" altLang="ko-KR" sz="14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173" name="Rectangle 454"/>
              <p:cNvSpPr>
                <a:spLocks noChangeArrowheads="1"/>
              </p:cNvSpPr>
              <p:nvPr/>
            </p:nvSpPr>
            <p:spPr bwMode="auto">
              <a:xfrm>
                <a:off x="323820" y="2479011"/>
                <a:ext cx="2350616" cy="120890"/>
              </a:xfrm>
              <a:prstGeom prst="rect">
                <a:avLst/>
              </a:prstGeom>
              <a:gradFill rotWithShape="1">
                <a:gsLst>
                  <a:gs pos="0">
                    <a:srgbClr val="79B1AF"/>
                  </a:gs>
                  <a:gs pos="100000">
                    <a:srgbClr val="79B1AF">
                      <a:lumMod val="75000"/>
                    </a:srgbClr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77152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74" name="Freeform 456"/>
              <p:cNvSpPr>
                <a:spLocks/>
              </p:cNvSpPr>
              <p:nvPr/>
            </p:nvSpPr>
            <p:spPr bwMode="auto">
              <a:xfrm>
                <a:off x="332778" y="2481396"/>
                <a:ext cx="9152609" cy="11850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91"/>
                  </a:cxn>
                  <a:cxn ang="0">
                    <a:pos x="1361" y="91"/>
                  </a:cxn>
                  <a:cxn ang="0">
                    <a:pos x="1361" y="0"/>
                  </a:cxn>
                </a:cxnLst>
                <a:rect l="0" t="0" r="r" b="b"/>
                <a:pathLst>
                  <a:path w="1361" h="91">
                    <a:moveTo>
                      <a:pt x="0" y="0"/>
                    </a:moveTo>
                    <a:lnTo>
                      <a:pt x="0" y="91"/>
                    </a:lnTo>
                    <a:lnTo>
                      <a:pt x="1361" y="91"/>
                    </a:lnTo>
                    <a:lnTo>
                      <a:pt x="1361" y="0"/>
                    </a:lnTo>
                  </a:path>
                </a:pathLst>
              </a:custGeom>
              <a:noFill/>
              <a:ln w="19050">
                <a:solidFill>
                  <a:srgbClr val="79B1AF">
                    <a:lumMod val="50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  <p:grpSp>
          <p:nvGrpSpPr>
            <p:cNvPr id="5" name="그룹 174"/>
            <p:cNvGrpSpPr/>
            <p:nvPr/>
          </p:nvGrpSpPr>
          <p:grpSpPr>
            <a:xfrm>
              <a:off x="2674439" y="2204863"/>
              <a:ext cx="6810950" cy="1124572"/>
              <a:chOff x="2589559" y="5417563"/>
              <a:chExt cx="6340303" cy="1092303"/>
            </a:xfrm>
          </p:grpSpPr>
          <p:sp>
            <p:nvSpPr>
              <p:cNvPr id="176" name="모서리가 둥근 직사각형 175"/>
              <p:cNvSpPr/>
              <p:nvPr/>
            </p:nvSpPr>
            <p:spPr>
              <a:xfrm>
                <a:off x="2589559" y="5417563"/>
                <a:ext cx="6340303" cy="1092303"/>
              </a:xfrm>
              <a:prstGeom prst="roundRect">
                <a:avLst>
                  <a:gd name="adj" fmla="val 0"/>
                </a:avLst>
              </a:prstGeom>
              <a:solidFill>
                <a:sysClr val="window" lastClr="FFFFFF">
                  <a:lumMod val="95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77" name="모서리가 둥근 직사각형 176"/>
              <p:cNvSpPr/>
              <p:nvPr/>
            </p:nvSpPr>
            <p:spPr>
              <a:xfrm>
                <a:off x="2681787" y="5442090"/>
                <a:ext cx="6178513" cy="980311"/>
              </a:xfrm>
              <a:prstGeom prst="roundRect">
                <a:avLst>
                  <a:gd name="adj" fmla="val 0"/>
                </a:avLst>
              </a:prstGeom>
              <a:solidFill>
                <a:sysClr val="window" lastClr="FFFFFF"/>
              </a:solidFill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82550" lvl="0" indent="-82550" latinLnBrk="0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en-US" altLang="ko-KR" sz="1200" dirty="0" smtClean="0">
                    <a:solidFill>
                      <a:prstClr val="black"/>
                    </a:solidFill>
                    <a:latin typeface="+mn-ea"/>
                  </a:rPr>
                  <a:t>1</a:t>
                </a:r>
                <a:r>
                  <a:rPr lang="ko-KR" altLang="en-US" sz="1200" dirty="0" err="1" smtClean="0">
                    <a:solidFill>
                      <a:prstClr val="black"/>
                    </a:solidFill>
                    <a:latin typeface="+mn-ea"/>
                  </a:rPr>
                  <a:t>차개발</a:t>
                </a:r>
                <a:r>
                  <a:rPr lang="ko-KR" altLang="en-US" sz="1200" dirty="0" smtClean="0">
                    <a:solidFill>
                      <a:prstClr val="black"/>
                    </a:solidFill>
                    <a:latin typeface="+mn-ea"/>
                  </a:rPr>
                  <a:t> </a:t>
                </a:r>
                <a:r>
                  <a:rPr lang="en-US" altLang="ko-KR" sz="1200" dirty="0" smtClean="0">
                    <a:solidFill>
                      <a:prstClr val="black"/>
                    </a:solidFill>
                    <a:latin typeface="+mn-ea"/>
                  </a:rPr>
                  <a:t>: 2015.03 ~ 2015.10  (</a:t>
                </a:r>
                <a:r>
                  <a:rPr lang="ko-KR" altLang="en-US" sz="1200" dirty="0" smtClean="0">
                    <a:solidFill>
                      <a:prstClr val="black"/>
                    </a:solidFill>
                    <a:latin typeface="+mn-ea"/>
                  </a:rPr>
                  <a:t>글로벌 </a:t>
                </a:r>
                <a:r>
                  <a:rPr lang="ko-KR" altLang="en-US" sz="1200" dirty="0" err="1" smtClean="0">
                    <a:solidFill>
                      <a:prstClr val="black"/>
                    </a:solidFill>
                    <a:latin typeface="+mn-ea"/>
                  </a:rPr>
                  <a:t>웹기반</a:t>
                </a:r>
                <a:r>
                  <a:rPr lang="ko-KR" altLang="en-US" sz="1200" dirty="0" smtClean="0">
                    <a:solidFill>
                      <a:prstClr val="black"/>
                    </a:solidFill>
                    <a:latin typeface="+mn-ea"/>
                  </a:rPr>
                  <a:t> </a:t>
                </a:r>
                <a:r>
                  <a:rPr lang="en-US" altLang="ko-KR" sz="1200" dirty="0" smtClean="0">
                    <a:solidFill>
                      <a:prstClr val="black"/>
                    </a:solidFill>
                    <a:latin typeface="+mn-ea"/>
                  </a:rPr>
                  <a:t>WMS</a:t>
                </a:r>
                <a:r>
                  <a:rPr lang="ko-KR" altLang="en-US" sz="1200" dirty="0" smtClean="0">
                    <a:solidFill>
                      <a:prstClr val="black"/>
                    </a:solidFill>
                    <a:latin typeface="+mn-ea"/>
                  </a:rPr>
                  <a:t>시스템 개발</a:t>
                </a:r>
                <a:r>
                  <a:rPr lang="en-US" altLang="ko-KR" sz="1200" dirty="0" smtClean="0">
                    <a:solidFill>
                      <a:prstClr val="black"/>
                    </a:solidFill>
                    <a:latin typeface="+mn-ea"/>
                  </a:rPr>
                  <a:t>)</a:t>
                </a:r>
              </a:p>
              <a:p>
                <a:pPr marL="82550" lvl="0" indent="-82550" latinLnBrk="0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en-US" altLang="ko-KR" sz="1200" dirty="0" smtClean="0">
                    <a:solidFill>
                      <a:prstClr val="black"/>
                    </a:solidFill>
                    <a:latin typeface="+mn-ea"/>
                  </a:rPr>
                  <a:t>2</a:t>
                </a:r>
                <a:r>
                  <a:rPr lang="ko-KR" altLang="en-US" sz="1200" dirty="0" err="1" smtClean="0">
                    <a:solidFill>
                      <a:prstClr val="black"/>
                    </a:solidFill>
                    <a:latin typeface="+mn-ea"/>
                  </a:rPr>
                  <a:t>차개발</a:t>
                </a:r>
                <a:r>
                  <a:rPr lang="en-US" altLang="ko-KR" sz="1200" dirty="0" smtClean="0">
                    <a:solidFill>
                      <a:prstClr val="black"/>
                    </a:solidFill>
                    <a:latin typeface="+mn-ea"/>
                  </a:rPr>
                  <a:t>:  2015.11 ~ 2016.03  (</a:t>
                </a:r>
                <a:r>
                  <a:rPr lang="ko-KR" altLang="en-US" sz="1200" dirty="0" smtClean="0">
                    <a:solidFill>
                      <a:prstClr val="black"/>
                    </a:solidFill>
                    <a:latin typeface="+mn-ea"/>
                  </a:rPr>
                  <a:t>일본 </a:t>
                </a:r>
                <a:r>
                  <a:rPr lang="en-US" altLang="ko-KR" sz="1200" dirty="0" smtClean="0">
                    <a:solidFill>
                      <a:prstClr val="black"/>
                    </a:solidFill>
                    <a:latin typeface="+mn-ea"/>
                  </a:rPr>
                  <a:t>JPR </a:t>
                </a:r>
                <a:r>
                  <a:rPr lang="ko-KR" altLang="en-US" sz="1200" dirty="0" smtClean="0">
                    <a:solidFill>
                      <a:prstClr val="black"/>
                    </a:solidFill>
                    <a:latin typeface="+mn-ea"/>
                  </a:rPr>
                  <a:t>제품화 지원</a:t>
                </a:r>
                <a:r>
                  <a:rPr lang="en-US" altLang="ko-KR" sz="1200" dirty="0" smtClean="0">
                    <a:solidFill>
                      <a:prstClr val="black"/>
                    </a:solidFill>
                    <a:latin typeface="+mn-ea"/>
                  </a:rPr>
                  <a:t>)</a:t>
                </a:r>
                <a:endParaRPr lang="ko-KR" altLang="en-US" sz="1200" dirty="0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sp>
          <p:nvSpPr>
            <p:cNvPr id="178" name="AutoShape 453"/>
            <p:cNvSpPr>
              <a:spLocks noChangeArrowheads="1"/>
            </p:cNvSpPr>
            <p:nvPr/>
          </p:nvSpPr>
          <p:spPr bwMode="auto">
            <a:xfrm>
              <a:off x="323821" y="2204863"/>
              <a:ext cx="2350619" cy="1055862"/>
            </a:xfrm>
            <a:prstGeom prst="roundRect">
              <a:avLst>
                <a:gd name="adj" fmla="val 0"/>
              </a:avLst>
            </a:prstGeom>
            <a:solidFill>
              <a:srgbClr val="79B1A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ko-KR" altLang="en-US" sz="1400" b="1" dirty="0" smtClean="0">
                  <a:solidFill>
                    <a:srgbClr val="FFFFFF"/>
                  </a:solidFill>
                  <a:latin typeface="+mn-ea"/>
                </a:rPr>
                <a:t>개발기간</a:t>
              </a:r>
              <a:endParaRPr lang="en-US" altLang="ko-KR" sz="1400" b="1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179" name="Rectangle 454"/>
            <p:cNvSpPr>
              <a:spLocks noChangeArrowheads="1"/>
            </p:cNvSpPr>
            <p:nvPr/>
          </p:nvSpPr>
          <p:spPr bwMode="auto">
            <a:xfrm>
              <a:off x="323820" y="3185000"/>
              <a:ext cx="2350616" cy="118901"/>
            </a:xfrm>
            <a:prstGeom prst="rect">
              <a:avLst/>
            </a:prstGeom>
            <a:gradFill rotWithShape="1">
              <a:gsLst>
                <a:gs pos="0">
                  <a:srgbClr val="79B1AF"/>
                </a:gs>
                <a:gs pos="100000">
                  <a:srgbClr val="79B1AF">
                    <a:lumMod val="75000"/>
                  </a:srgb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77152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ko-K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80" name="Freeform 456"/>
            <p:cNvSpPr>
              <a:spLocks/>
            </p:cNvSpPr>
            <p:nvPr/>
          </p:nvSpPr>
          <p:spPr bwMode="auto">
            <a:xfrm>
              <a:off x="332778" y="3201473"/>
              <a:ext cx="9152609" cy="11850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91"/>
                </a:cxn>
                <a:cxn ang="0">
                  <a:pos x="1361" y="91"/>
                </a:cxn>
                <a:cxn ang="0">
                  <a:pos x="1361" y="0"/>
                </a:cxn>
              </a:cxnLst>
              <a:rect l="0" t="0" r="r" b="b"/>
              <a:pathLst>
                <a:path w="1361" h="91">
                  <a:moveTo>
                    <a:pt x="0" y="0"/>
                  </a:moveTo>
                  <a:lnTo>
                    <a:pt x="0" y="91"/>
                  </a:lnTo>
                  <a:lnTo>
                    <a:pt x="1361" y="91"/>
                  </a:lnTo>
                  <a:lnTo>
                    <a:pt x="1361" y="0"/>
                  </a:lnTo>
                </a:path>
              </a:pathLst>
            </a:custGeom>
            <a:noFill/>
            <a:ln w="19050">
              <a:solidFill>
                <a:srgbClr val="79B1AF">
                  <a:lumMod val="50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grpSp>
          <p:nvGrpSpPr>
            <p:cNvPr id="6" name="그룹 191"/>
            <p:cNvGrpSpPr/>
            <p:nvPr/>
          </p:nvGrpSpPr>
          <p:grpSpPr>
            <a:xfrm>
              <a:off x="323820" y="3429000"/>
              <a:ext cx="9161569" cy="2736849"/>
              <a:chOff x="323820" y="3905401"/>
              <a:chExt cx="9161569" cy="1124572"/>
            </a:xfrm>
          </p:grpSpPr>
          <p:grpSp>
            <p:nvGrpSpPr>
              <p:cNvPr id="7" name="그룹 180"/>
              <p:cNvGrpSpPr/>
              <p:nvPr/>
            </p:nvGrpSpPr>
            <p:grpSpPr>
              <a:xfrm>
                <a:off x="2674439" y="3905401"/>
                <a:ext cx="6810950" cy="1124572"/>
                <a:chOff x="2589559" y="5417563"/>
                <a:chExt cx="6340303" cy="1092303"/>
              </a:xfrm>
            </p:grpSpPr>
            <p:sp>
              <p:nvSpPr>
                <p:cNvPr id="182" name="모서리가 둥근 직사각형 181"/>
                <p:cNvSpPr/>
                <p:nvPr/>
              </p:nvSpPr>
              <p:spPr>
                <a:xfrm>
                  <a:off x="2589559" y="5417563"/>
                  <a:ext cx="6340303" cy="1092303"/>
                </a:xfrm>
                <a:prstGeom prst="roundRect">
                  <a:avLst>
                    <a:gd name="adj" fmla="val 0"/>
                  </a:avLst>
                </a:prstGeom>
                <a:solidFill>
                  <a:sysClr val="window" lastClr="FFFFFF">
                    <a:lumMod val="95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183" name="모서리가 둥근 직사각형 182"/>
                <p:cNvSpPr/>
                <p:nvPr/>
              </p:nvSpPr>
              <p:spPr>
                <a:xfrm>
                  <a:off x="2681787" y="5442090"/>
                  <a:ext cx="6178513" cy="980311"/>
                </a:xfrm>
                <a:prstGeom prst="roundRect">
                  <a:avLst>
                    <a:gd name="adj" fmla="val 0"/>
                  </a:avLst>
                </a:prstGeom>
                <a:solidFill>
                  <a:sysClr val="window" lastClr="FFFFFF"/>
                </a:solidFill>
                <a:ln w="12700" cap="flat" cmpd="sng" algn="ctr">
                  <a:solidFill>
                    <a:sysClr val="window" lastClr="FFFFFF">
                      <a:lumMod val="75000"/>
                    </a:sys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82550" lvl="0" indent="-82550" latinLnBrk="0">
                    <a:lnSpc>
                      <a:spcPct val="150000"/>
                    </a:lnSpc>
                    <a:buFont typeface="Arial" pitchFamily="34" charset="0"/>
                    <a:buChar char="•"/>
                  </a:pPr>
                  <a:endParaRPr lang="ko-KR" altLang="en-US" sz="1200" dirty="0">
                    <a:solidFill>
                      <a:prstClr val="black"/>
                    </a:solidFill>
                    <a:latin typeface="+mn-ea"/>
                  </a:endParaRPr>
                </a:p>
              </p:txBody>
            </p:sp>
          </p:grpSp>
          <p:sp>
            <p:nvSpPr>
              <p:cNvPr id="184" name="AutoShape 453"/>
              <p:cNvSpPr>
                <a:spLocks noChangeArrowheads="1"/>
              </p:cNvSpPr>
              <p:nvPr/>
            </p:nvSpPr>
            <p:spPr bwMode="auto">
              <a:xfrm>
                <a:off x="323821" y="3905401"/>
                <a:ext cx="2350619" cy="1055862"/>
              </a:xfrm>
              <a:prstGeom prst="roundRect">
                <a:avLst>
                  <a:gd name="adj" fmla="val 0"/>
                </a:avLst>
              </a:prstGeom>
              <a:solidFill>
                <a:srgbClr val="79B1AF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spcBef>
                    <a:spcPct val="20000"/>
                  </a:spcBef>
                </a:pPr>
                <a:r>
                  <a:rPr lang="ko-KR" altLang="en-US" sz="1400" b="1" dirty="0" smtClean="0">
                    <a:solidFill>
                      <a:srgbClr val="FFFFFF"/>
                    </a:solidFill>
                    <a:latin typeface="+mn-ea"/>
                  </a:rPr>
                  <a:t>개발범위</a:t>
                </a:r>
                <a:endParaRPr lang="en-US" altLang="ko-KR" sz="14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185" name="Rectangle 454"/>
              <p:cNvSpPr>
                <a:spLocks noChangeArrowheads="1"/>
              </p:cNvSpPr>
              <p:nvPr/>
            </p:nvSpPr>
            <p:spPr bwMode="auto">
              <a:xfrm>
                <a:off x="323820" y="4899626"/>
                <a:ext cx="2350616" cy="120890"/>
              </a:xfrm>
              <a:prstGeom prst="rect">
                <a:avLst/>
              </a:prstGeom>
              <a:gradFill rotWithShape="1">
                <a:gsLst>
                  <a:gs pos="0">
                    <a:srgbClr val="79B1AF"/>
                  </a:gs>
                  <a:gs pos="100000">
                    <a:srgbClr val="79B1AF">
                      <a:lumMod val="75000"/>
                    </a:srgbClr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771525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ko-KR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86" name="Freeform 456"/>
              <p:cNvSpPr>
                <a:spLocks/>
              </p:cNvSpPr>
              <p:nvPr/>
            </p:nvSpPr>
            <p:spPr bwMode="auto">
              <a:xfrm>
                <a:off x="332778" y="4902011"/>
                <a:ext cx="9152609" cy="11850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91"/>
                  </a:cxn>
                  <a:cxn ang="0">
                    <a:pos x="1361" y="91"/>
                  </a:cxn>
                  <a:cxn ang="0">
                    <a:pos x="1361" y="0"/>
                  </a:cxn>
                </a:cxnLst>
                <a:rect l="0" t="0" r="r" b="b"/>
                <a:pathLst>
                  <a:path w="1361" h="91">
                    <a:moveTo>
                      <a:pt x="0" y="0"/>
                    </a:moveTo>
                    <a:lnTo>
                      <a:pt x="0" y="91"/>
                    </a:lnTo>
                    <a:lnTo>
                      <a:pt x="1361" y="91"/>
                    </a:lnTo>
                    <a:lnTo>
                      <a:pt x="1361" y="0"/>
                    </a:lnTo>
                  </a:path>
                </a:pathLst>
              </a:custGeom>
              <a:noFill/>
              <a:ln w="19050">
                <a:solidFill>
                  <a:srgbClr val="79B1AF">
                    <a:lumMod val="50000"/>
                  </a:srgbClr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  <p:sp>
          <p:nvSpPr>
            <p:cNvPr id="196" name="직사각형 127"/>
            <p:cNvSpPr>
              <a:spLocks noChangeArrowheads="1"/>
            </p:cNvSpPr>
            <p:nvPr/>
          </p:nvSpPr>
          <p:spPr bwMode="auto">
            <a:xfrm>
              <a:off x="3008784" y="3731320"/>
              <a:ext cx="2232248" cy="435920"/>
            </a:xfrm>
            <a:prstGeom prst="rect">
              <a:avLst/>
            </a:prstGeom>
            <a:solidFill>
              <a:srgbClr val="D9ECF3"/>
            </a:solidFill>
            <a:ln w="9525" algn="ctr">
              <a:solidFill>
                <a:srgbClr val="A9D5E5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 defTabSz="968375">
                <a:lnSpc>
                  <a:spcPct val="100000"/>
                </a:lnSpc>
              </a:pPr>
              <a:r>
                <a:rPr lang="en-US" altLang="ko-KR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Global WMS Framework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개발</a:t>
              </a:r>
              <a:endParaRPr lang="en-US" altLang="ko-KR" sz="12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8" name="직사각형 127"/>
            <p:cNvSpPr>
              <a:spLocks noChangeArrowheads="1"/>
            </p:cNvSpPr>
            <p:nvPr/>
          </p:nvSpPr>
          <p:spPr bwMode="auto">
            <a:xfrm>
              <a:off x="3008784" y="5300632"/>
              <a:ext cx="2232248" cy="435920"/>
            </a:xfrm>
            <a:prstGeom prst="rect">
              <a:avLst/>
            </a:prstGeom>
            <a:solidFill>
              <a:srgbClr val="D9ECF3"/>
            </a:solidFill>
            <a:ln w="9525" algn="ctr">
              <a:solidFill>
                <a:srgbClr val="A9D5E5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 defTabSz="968375">
                <a:lnSpc>
                  <a:spcPct val="100000"/>
                </a:lnSpc>
              </a:pPr>
              <a:r>
                <a:rPr lang="ko-KR" altLang="en-US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제품화 지원</a:t>
              </a:r>
              <a:endParaRPr lang="en-US" altLang="ko-KR" sz="12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00" name="직사각형 127"/>
            <p:cNvSpPr>
              <a:spLocks noChangeArrowheads="1"/>
            </p:cNvSpPr>
            <p:nvPr/>
          </p:nvSpPr>
          <p:spPr bwMode="auto">
            <a:xfrm>
              <a:off x="3008784" y="4254424"/>
              <a:ext cx="2232248" cy="435920"/>
            </a:xfrm>
            <a:prstGeom prst="rect">
              <a:avLst/>
            </a:prstGeom>
            <a:solidFill>
              <a:srgbClr val="D9ECF3"/>
            </a:solidFill>
            <a:ln w="9525" algn="ctr">
              <a:solidFill>
                <a:srgbClr val="A9D5E5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 defTabSz="968375"/>
              <a:r>
                <a:rPr lang="en-US" altLang="ko-KR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WMS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기능 개발</a:t>
              </a:r>
              <a:endParaRPr lang="en-US" altLang="ko-KR" sz="12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01" name="직사각형 127"/>
            <p:cNvSpPr>
              <a:spLocks noChangeArrowheads="1"/>
            </p:cNvSpPr>
            <p:nvPr/>
          </p:nvSpPr>
          <p:spPr bwMode="auto">
            <a:xfrm>
              <a:off x="3008784" y="4777528"/>
              <a:ext cx="2232248" cy="435920"/>
            </a:xfrm>
            <a:prstGeom prst="rect">
              <a:avLst/>
            </a:prstGeom>
            <a:solidFill>
              <a:srgbClr val="D9ECF3"/>
            </a:solidFill>
            <a:ln w="9525" algn="ctr">
              <a:solidFill>
                <a:srgbClr val="A9D5E5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 defTabSz="968375"/>
              <a:r>
                <a:rPr lang="ko-KR" altLang="en-US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인터페이스 개발</a:t>
              </a:r>
              <a:endParaRPr lang="en-US" altLang="ko-KR" sz="12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02" name="직사각형 127"/>
            <p:cNvSpPr>
              <a:spLocks noChangeArrowheads="1"/>
            </p:cNvSpPr>
            <p:nvPr/>
          </p:nvSpPr>
          <p:spPr bwMode="auto">
            <a:xfrm>
              <a:off x="5457056" y="3731320"/>
              <a:ext cx="3744416" cy="435920"/>
            </a:xfrm>
            <a:prstGeom prst="rect">
              <a:avLst/>
            </a:prstGeom>
            <a:noFill/>
            <a:ln w="9525" algn="ctr">
              <a:solidFill>
                <a:srgbClr val="A9D5E5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 defTabSz="968375">
                <a:lnSpc>
                  <a:spcPct val="100000"/>
                </a:lnSpc>
              </a:pPr>
              <a:r>
                <a:rPr lang="en-US" altLang="ko-KR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Spring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기반의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Java Framework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개발</a:t>
              </a:r>
              <a:endParaRPr lang="en-US" altLang="ko-KR" sz="12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03" name="직사각형 127"/>
            <p:cNvSpPr>
              <a:spLocks noChangeArrowheads="1"/>
            </p:cNvSpPr>
            <p:nvPr/>
          </p:nvSpPr>
          <p:spPr bwMode="auto">
            <a:xfrm>
              <a:off x="5457056" y="5300632"/>
              <a:ext cx="3744416" cy="435920"/>
            </a:xfrm>
            <a:prstGeom prst="rect">
              <a:avLst/>
            </a:prstGeom>
            <a:noFill/>
            <a:ln w="9525" algn="ctr">
              <a:solidFill>
                <a:srgbClr val="A9D5E5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 defTabSz="968375">
                <a:lnSpc>
                  <a:spcPct val="100000"/>
                </a:lnSpc>
              </a:pPr>
              <a:r>
                <a:rPr lang="ko-KR" altLang="en-US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고객테스트 지원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 </a:t>
              </a:r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판매판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기능 추가</a:t>
              </a:r>
              <a:endParaRPr lang="en-US" altLang="ko-KR" sz="12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04" name="직사각형 127"/>
            <p:cNvSpPr>
              <a:spLocks noChangeArrowheads="1"/>
            </p:cNvSpPr>
            <p:nvPr/>
          </p:nvSpPr>
          <p:spPr bwMode="auto">
            <a:xfrm>
              <a:off x="5457056" y="4254424"/>
              <a:ext cx="3744416" cy="435920"/>
            </a:xfrm>
            <a:prstGeom prst="rect">
              <a:avLst/>
            </a:prstGeom>
            <a:noFill/>
            <a:ln w="9525" algn="ctr">
              <a:solidFill>
                <a:srgbClr val="A9D5E5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 defTabSz="968375">
                <a:lnSpc>
                  <a:spcPct val="100000"/>
                </a:lnSpc>
              </a:pPr>
              <a:r>
                <a:rPr lang="ko-KR" altLang="en-US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입고관리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출고관리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재고관리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기준관리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</a:p>
            <a:p>
              <a:pPr algn="ctr" defTabSz="968375">
                <a:lnSpc>
                  <a:spcPct val="100000"/>
                </a:lnSpc>
              </a:pPr>
              <a:r>
                <a:rPr lang="ko-KR" altLang="en-US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정산관리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통계관리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endParaRPr lang="en-US" altLang="ko-KR" sz="12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05" name="직사각형 127"/>
            <p:cNvSpPr>
              <a:spLocks noChangeArrowheads="1"/>
            </p:cNvSpPr>
            <p:nvPr/>
          </p:nvSpPr>
          <p:spPr bwMode="auto">
            <a:xfrm>
              <a:off x="5457056" y="4777528"/>
              <a:ext cx="3744416" cy="435920"/>
            </a:xfrm>
            <a:prstGeom prst="rect">
              <a:avLst/>
            </a:prstGeom>
            <a:noFill/>
            <a:ln w="9525" algn="ctr">
              <a:solidFill>
                <a:srgbClr val="A9D5E5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 defTabSz="968375">
                <a:lnSpc>
                  <a:spcPct val="100000"/>
                </a:lnSpc>
              </a:pPr>
              <a:r>
                <a:rPr lang="en-US" altLang="ko-KR" sz="12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iForks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en-US" altLang="ko-KR" sz="12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Llink</a:t>
              </a:r>
              <a:endParaRPr lang="en-US" altLang="ko-KR" sz="12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08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329527" y="22578"/>
            <a:ext cx="649288" cy="651456"/>
          </a:xfrm>
        </p:spPr>
        <p:txBody>
          <a:bodyPr/>
          <a:lstStyle/>
          <a:p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33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3797300" y="6492899"/>
            <a:ext cx="2311400" cy="276999"/>
          </a:xfrm>
        </p:spPr>
        <p:txBody>
          <a:bodyPr wrap="square">
            <a:spAutoFit/>
          </a:bodyPr>
          <a:lstStyle/>
          <a:p>
            <a:pPr algn="ctr"/>
            <a:r>
              <a:rPr lang="en-US" altLang="ko-KR" dirty="0" smtClean="0">
                <a:latin typeface="+mn-ea"/>
              </a:rPr>
              <a:t>- 1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-</a:t>
            </a:r>
            <a:endParaRPr lang="ko-KR" altLang="en-US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직사각형 47"/>
          <p:cNvSpPr/>
          <p:nvPr/>
        </p:nvSpPr>
        <p:spPr>
          <a:xfrm>
            <a:off x="344488" y="1340769"/>
            <a:ext cx="9217024" cy="482508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344488" y="970868"/>
            <a:ext cx="9217024" cy="369900"/>
          </a:xfrm>
          <a:prstGeom prst="rect">
            <a:avLst/>
          </a:prstGeom>
          <a:solidFill>
            <a:schemeClr val="tx2">
              <a:lumMod val="40000"/>
              <a:lumOff val="60000"/>
              <a:alpha val="5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kumimoji="1" lang="ko-KR" altLang="en-US" sz="12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rPr>
              <a:t>추진조직</a:t>
            </a:r>
            <a:endParaRPr kumimoji="1" lang="ko-KR" altLang="en-US" sz="1200" b="1" dirty="0">
              <a:gradFill>
                <a:gsLst>
                  <a:gs pos="5000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0"/>
              </a:gra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추진 조직</a:t>
            </a:r>
            <a:endParaRPr lang="ko-KR" altLang="en-US" dirty="0"/>
          </a:p>
        </p:txBody>
      </p:sp>
      <p:sp>
        <p:nvSpPr>
          <p:cNvPr id="208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329527" y="22578"/>
            <a:ext cx="649288" cy="651456"/>
          </a:xfrm>
        </p:spPr>
        <p:txBody>
          <a:bodyPr/>
          <a:lstStyle/>
          <a:p>
            <a:r>
              <a:rPr lang="en-US" altLang="ko-KR" dirty="0" smtClean="0"/>
              <a:t>2</a:t>
            </a:r>
            <a:endParaRPr lang="ko-KR" altLang="en-US" dirty="0"/>
          </a:p>
        </p:txBody>
      </p:sp>
      <p:pic>
        <p:nvPicPr>
          <p:cNvPr id="40" name="Picture 16" descr="EMB1502"/>
          <p:cNvPicPr>
            <a:picLocks noChangeAspect="1" noChangeArrowheads="1"/>
          </p:cNvPicPr>
          <p:nvPr/>
        </p:nvPicPr>
        <p:blipFill>
          <a:blip r:embed="rId2" cstate="print"/>
          <a:srcRect l="37294"/>
          <a:stretch>
            <a:fillRect/>
          </a:stretch>
        </p:blipFill>
        <p:spPr bwMode="auto">
          <a:xfrm>
            <a:off x="2049820" y="1588624"/>
            <a:ext cx="1224136" cy="236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7732" y="1588624"/>
            <a:ext cx="759544" cy="239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1" name="그룹 50"/>
          <p:cNvGrpSpPr/>
          <p:nvPr/>
        </p:nvGrpSpPr>
        <p:grpSpPr>
          <a:xfrm>
            <a:off x="571500" y="1916832"/>
            <a:ext cx="8709660" cy="4104456"/>
            <a:chOff x="571500" y="1748104"/>
            <a:chExt cx="8709660" cy="4466978"/>
          </a:xfrm>
        </p:grpSpPr>
        <p:sp>
          <p:nvSpPr>
            <p:cNvPr id="37" name="직사각형 127"/>
            <p:cNvSpPr>
              <a:spLocks noChangeArrowheads="1"/>
            </p:cNvSpPr>
            <p:nvPr/>
          </p:nvSpPr>
          <p:spPr bwMode="auto">
            <a:xfrm>
              <a:off x="1504241" y="1748104"/>
              <a:ext cx="1764000" cy="43592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175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 type="none" w="sm" len="sm"/>
              <a:tailEnd type="none" w="sm" len="med"/>
            </a:ln>
          </p:spPr>
          <p:txBody>
            <a:bodyPr wrap="none" anchor="ctr"/>
            <a:lstStyle/>
            <a:p>
              <a:pPr algn="ctr" defTabSz="1514475" fontAlgn="base" latinLnBrk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683D0"/>
                </a:buClr>
                <a:buSzPct val="90000"/>
              </a:pPr>
              <a:r>
                <a:rPr kumimoji="1" lang="ko-KR" altLang="en-US" sz="1200" b="1" dirty="0" smtClean="0">
                  <a:solidFill>
                    <a:prstClr val="black"/>
                  </a:solidFill>
                  <a:latin typeface="+mn-ea"/>
                  <a:cs typeface="Arial Unicode MS" pitchFamily="50" charset="-127"/>
                </a:rPr>
                <a:t>허진욱 </a:t>
              </a:r>
              <a:r>
                <a:rPr kumimoji="1" lang="ko-KR" altLang="en-US" sz="1200" b="1" dirty="0" smtClean="0">
                  <a:solidFill>
                    <a:prstClr val="black"/>
                  </a:solidFill>
                  <a:latin typeface="+mn-ea"/>
                  <a:cs typeface="Arial Unicode MS" pitchFamily="50" charset="-127"/>
                </a:rPr>
                <a:t>사</a:t>
              </a:r>
              <a:r>
                <a:rPr kumimoji="1" lang="ko-KR" altLang="en-US" sz="1200" b="1" dirty="0" smtClean="0">
                  <a:solidFill>
                    <a:prstClr val="black"/>
                  </a:solidFill>
                  <a:latin typeface="+mn-ea"/>
                  <a:cs typeface="Arial Unicode MS" pitchFamily="50" charset="-127"/>
                </a:rPr>
                <a:t>장</a:t>
              </a:r>
              <a:endParaRPr kumimoji="1" lang="en-US" altLang="ko-KR" sz="1200" b="1" dirty="0">
                <a:solidFill>
                  <a:prstClr val="black"/>
                </a:solidFill>
                <a:latin typeface="+mn-ea"/>
                <a:cs typeface="Arial Unicode MS" pitchFamily="50" charset="-127"/>
              </a:endParaRPr>
            </a:p>
          </p:txBody>
        </p:sp>
        <p:sp>
          <p:nvSpPr>
            <p:cNvPr id="38" name="직사각형 127"/>
            <p:cNvSpPr>
              <a:spLocks noChangeArrowheads="1"/>
            </p:cNvSpPr>
            <p:nvPr/>
          </p:nvSpPr>
          <p:spPr bwMode="auto">
            <a:xfrm>
              <a:off x="5479324" y="1748104"/>
              <a:ext cx="1764000" cy="43592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175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 type="none" w="sm" len="sm"/>
              <a:tailEnd type="none" w="sm" len="med"/>
            </a:ln>
          </p:spPr>
          <p:txBody>
            <a:bodyPr wrap="none" anchor="ctr"/>
            <a:lstStyle/>
            <a:p>
              <a:pPr algn="ctr" defTabSz="1514475" fontAlgn="base" latinLnBrk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683D0"/>
                </a:buClr>
                <a:buSzPct val="90000"/>
              </a:pPr>
              <a:r>
                <a:rPr kumimoji="1" lang="ko-KR" altLang="en-US" sz="1200" b="1" dirty="0" err="1" smtClean="0">
                  <a:solidFill>
                    <a:prstClr val="black"/>
                  </a:solidFill>
                  <a:latin typeface="+mn-ea"/>
                  <a:cs typeface="Arial Unicode MS" pitchFamily="50" charset="-127"/>
                </a:rPr>
                <a:t>이치치</a:t>
              </a:r>
              <a:r>
                <a:rPr kumimoji="1" lang="ko-KR" altLang="en-US" sz="1200" b="1" dirty="0" smtClean="0">
                  <a:solidFill>
                    <a:prstClr val="black"/>
                  </a:solidFill>
                  <a:latin typeface="+mn-ea"/>
                  <a:cs typeface="Arial Unicode MS" pitchFamily="50" charset="-127"/>
                </a:rPr>
                <a:t> 이사</a:t>
              </a:r>
              <a:endParaRPr kumimoji="1" lang="en-US" altLang="ko-KR" sz="1200" b="1" dirty="0" smtClean="0">
                <a:solidFill>
                  <a:prstClr val="black"/>
                </a:solidFill>
                <a:latin typeface="+mn-ea"/>
                <a:cs typeface="Arial Unicode MS" pitchFamily="50" charset="-127"/>
              </a:endParaRPr>
            </a:p>
          </p:txBody>
        </p:sp>
        <p:sp>
          <p:nvSpPr>
            <p:cNvPr id="45" name="직사각형 127"/>
            <p:cNvSpPr>
              <a:spLocks noChangeArrowheads="1"/>
            </p:cNvSpPr>
            <p:nvPr/>
          </p:nvSpPr>
          <p:spPr bwMode="auto">
            <a:xfrm>
              <a:off x="7760426" y="1748104"/>
              <a:ext cx="1520734" cy="43592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175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 type="none" w="sm" len="sm"/>
              <a:tailEnd type="none" w="sm" len="med"/>
            </a:ln>
          </p:spPr>
          <p:txBody>
            <a:bodyPr wrap="none" anchor="ctr"/>
            <a:lstStyle/>
            <a:p>
              <a:pPr algn="ctr" defTabSz="1514475" fontAlgn="base" latinLnBrk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3683D0"/>
                </a:buClr>
                <a:buSzPct val="90000"/>
              </a:pPr>
              <a:r>
                <a:rPr kumimoji="1" lang="ko-KR" altLang="en-US" sz="1200" b="1" dirty="0" err="1" smtClean="0">
                  <a:solidFill>
                    <a:prstClr val="black"/>
                  </a:solidFill>
                  <a:latin typeface="+mn-ea"/>
                  <a:cs typeface="Arial Unicode MS" pitchFamily="50" charset="-127"/>
                </a:rPr>
                <a:t>코바야시 이사</a:t>
              </a:r>
              <a:endParaRPr kumimoji="1" lang="en-US" altLang="ko-KR" sz="1200" b="1" dirty="0" err="1" smtClean="0">
                <a:solidFill>
                  <a:prstClr val="black"/>
                </a:solidFill>
                <a:latin typeface="+mn-ea"/>
                <a:cs typeface="Arial Unicode MS" pitchFamily="50" charset="-127"/>
              </a:endParaRPr>
            </a:p>
          </p:txBody>
        </p:sp>
        <p:cxnSp>
          <p:nvCxnSpPr>
            <p:cNvPr id="46" name="꺾인 연결선 45"/>
            <p:cNvCxnSpPr>
              <a:stCxn id="42" idx="0"/>
              <a:endCxn id="37" idx="2"/>
            </p:cNvCxnSpPr>
            <p:nvPr/>
          </p:nvCxnSpPr>
          <p:spPr bwMode="auto">
            <a:xfrm rot="5400000" flipH="1" flipV="1">
              <a:off x="2135876" y="2433844"/>
              <a:ext cx="500184" cy="545"/>
            </a:xfrm>
            <a:prstGeom prst="bentConnector3">
              <a:avLst>
                <a:gd name="adj1" fmla="val 50000"/>
              </a:avLst>
            </a:prstGeom>
            <a:solidFill>
              <a:srgbClr val="BBE0E3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9" name="꺾인 연결선 48"/>
            <p:cNvCxnSpPr>
              <a:stCxn id="43" idx="0"/>
              <a:endCxn id="38" idx="2"/>
            </p:cNvCxnSpPr>
            <p:nvPr/>
          </p:nvCxnSpPr>
          <p:spPr bwMode="auto">
            <a:xfrm rot="5400000" flipH="1" flipV="1">
              <a:off x="5739679" y="2062564"/>
              <a:ext cx="500184" cy="743105"/>
            </a:xfrm>
            <a:prstGeom prst="bentConnector3">
              <a:avLst>
                <a:gd name="adj1" fmla="val 50000"/>
              </a:avLst>
            </a:prstGeom>
            <a:solidFill>
              <a:srgbClr val="BBE0E3"/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2" name="꺾인 연결선 51"/>
            <p:cNvCxnSpPr>
              <a:stCxn id="44" idx="0"/>
              <a:endCxn id="38" idx="2"/>
            </p:cNvCxnSpPr>
            <p:nvPr/>
          </p:nvCxnSpPr>
          <p:spPr bwMode="auto">
            <a:xfrm rot="16200000" flipV="1">
              <a:off x="6981333" y="1564015"/>
              <a:ext cx="500184" cy="1740201"/>
            </a:xfrm>
            <a:prstGeom prst="bentConnector3">
              <a:avLst>
                <a:gd name="adj1" fmla="val 50000"/>
              </a:avLst>
            </a:prstGeom>
            <a:solidFill>
              <a:srgbClr val="BBE0E3"/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6" name="꺾인 연결선 55"/>
            <p:cNvCxnSpPr>
              <a:stCxn id="55" idx="0"/>
              <a:endCxn id="45" idx="2"/>
            </p:cNvCxnSpPr>
            <p:nvPr/>
          </p:nvCxnSpPr>
          <p:spPr bwMode="auto">
            <a:xfrm rot="16200000" flipV="1">
              <a:off x="8421547" y="2283270"/>
              <a:ext cx="500184" cy="301692"/>
            </a:xfrm>
            <a:prstGeom prst="bentConnector3">
              <a:avLst>
                <a:gd name="adj1" fmla="val 50000"/>
              </a:avLst>
            </a:prstGeom>
            <a:solidFill>
              <a:srgbClr val="BBE0E3"/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2" name="직사각형 127"/>
            <p:cNvSpPr>
              <a:spLocks noChangeArrowheads="1"/>
            </p:cNvSpPr>
            <p:nvPr/>
          </p:nvSpPr>
          <p:spPr bwMode="auto">
            <a:xfrm>
              <a:off x="1504523" y="2684208"/>
              <a:ext cx="1762346" cy="435920"/>
            </a:xfrm>
            <a:prstGeom prst="rect">
              <a:avLst/>
            </a:prstGeom>
            <a:solidFill>
              <a:srgbClr val="D9ECF3"/>
            </a:solidFill>
            <a:ln w="9525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 defTabSz="968375">
                <a:lnSpc>
                  <a:spcPct val="100000"/>
                </a:lnSpc>
              </a:pPr>
              <a:r>
                <a:rPr lang="ko-KR" altLang="en-US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조수근 팀장</a:t>
              </a:r>
              <a:endParaRPr lang="en-US" altLang="ko-KR" sz="12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3" name="직사각형 127"/>
            <p:cNvSpPr>
              <a:spLocks noChangeArrowheads="1"/>
            </p:cNvSpPr>
            <p:nvPr/>
          </p:nvSpPr>
          <p:spPr bwMode="auto">
            <a:xfrm>
              <a:off x="4737046" y="2684208"/>
              <a:ext cx="1762346" cy="435920"/>
            </a:xfrm>
            <a:prstGeom prst="rect">
              <a:avLst/>
            </a:prstGeom>
            <a:solidFill>
              <a:srgbClr val="D9ECF3"/>
            </a:solidFill>
            <a:ln w="9525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 defTabSz="968375">
                <a:lnSpc>
                  <a:spcPct val="100000"/>
                </a:lnSpc>
              </a:pPr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코이즈미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그룹장</a:t>
              </a:r>
              <a:endParaRPr lang="en-US" altLang="ko-KR" sz="12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4" name="직사각형 127"/>
            <p:cNvSpPr>
              <a:spLocks noChangeArrowheads="1"/>
            </p:cNvSpPr>
            <p:nvPr/>
          </p:nvSpPr>
          <p:spPr bwMode="auto">
            <a:xfrm>
              <a:off x="7220352" y="2684208"/>
              <a:ext cx="1762346" cy="435920"/>
            </a:xfrm>
            <a:prstGeom prst="rect">
              <a:avLst/>
            </a:prstGeom>
            <a:solidFill>
              <a:srgbClr val="D9ECF3"/>
            </a:solidFill>
            <a:ln w="9525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 defTabSz="968375">
                <a:lnSpc>
                  <a:spcPct val="100000"/>
                </a:lnSpc>
              </a:pPr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오노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그룹장</a:t>
              </a:r>
              <a:endParaRPr lang="en-US" altLang="ko-KR" sz="12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8742378" y="2684208"/>
              <a:ext cx="160213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3" name="꺾인 연결선 62"/>
            <p:cNvCxnSpPr>
              <a:stCxn id="61" idx="3"/>
              <a:endCxn id="43" idx="2"/>
            </p:cNvCxnSpPr>
            <p:nvPr/>
          </p:nvCxnSpPr>
          <p:spPr bwMode="auto">
            <a:xfrm flipH="1" flipV="1">
              <a:off x="5618219" y="3120128"/>
              <a:ext cx="881173" cy="718144"/>
            </a:xfrm>
            <a:prstGeom prst="bentConnector4">
              <a:avLst>
                <a:gd name="adj1" fmla="val -28860"/>
                <a:gd name="adj2" fmla="val 65175"/>
              </a:avLst>
            </a:prstGeom>
            <a:solidFill>
              <a:srgbClr val="BBE0E3"/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6" name="꺾인 연결선 62"/>
            <p:cNvCxnSpPr>
              <a:stCxn id="62" idx="3"/>
              <a:endCxn id="44" idx="2"/>
            </p:cNvCxnSpPr>
            <p:nvPr/>
          </p:nvCxnSpPr>
          <p:spPr bwMode="auto">
            <a:xfrm flipH="1" flipV="1">
              <a:off x="8101525" y="3120128"/>
              <a:ext cx="881173" cy="718144"/>
            </a:xfrm>
            <a:prstGeom prst="bentConnector4">
              <a:avLst>
                <a:gd name="adj1" fmla="val -28860"/>
                <a:gd name="adj2" fmla="val 65175"/>
              </a:avLst>
            </a:prstGeom>
            <a:solidFill>
              <a:srgbClr val="BBE0E3"/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0" name="직사각형 127"/>
            <p:cNvSpPr>
              <a:spLocks noChangeArrowheads="1"/>
            </p:cNvSpPr>
            <p:nvPr/>
          </p:nvSpPr>
          <p:spPr bwMode="auto">
            <a:xfrm>
              <a:off x="811820" y="3620312"/>
              <a:ext cx="1762346" cy="435920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lnSpc>
                  <a:spcPct val="100000"/>
                </a:lnSpc>
                <a:spcBef>
                  <a:spcPct val="20000"/>
                </a:spcBef>
              </a:pPr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WINUS (</a:t>
              </a:r>
              <a:r>
                <a:rPr lang="ko-KR" altLang="en-US" sz="1200" dirty="0" smtClean="0">
                  <a:latin typeface="맑은 고딕" pitchFamily="50" charset="-127"/>
                  <a:ea typeface="맑은 고딕" pitchFamily="50" charset="-127"/>
                </a:rPr>
                <a:t>황태연</a:t>
              </a:r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)</a:t>
              </a:r>
            </a:p>
          </p:txBody>
        </p:sp>
        <p:sp>
          <p:nvSpPr>
            <p:cNvPr id="61" name="직사각형 127"/>
            <p:cNvSpPr>
              <a:spLocks noChangeArrowheads="1"/>
            </p:cNvSpPr>
            <p:nvPr/>
          </p:nvSpPr>
          <p:spPr bwMode="auto">
            <a:xfrm>
              <a:off x="4737046" y="3620312"/>
              <a:ext cx="1762346" cy="435920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A </a:t>
              </a:r>
              <a:r>
                <a:rPr lang="ko-KR" altLang="en-US" sz="1200" dirty="0" smtClean="0">
                  <a:latin typeface="맑은 고딕" pitchFamily="50" charset="-127"/>
                  <a:ea typeface="맑은 고딕" pitchFamily="50" charset="-127"/>
                </a:rPr>
                <a:t>氏</a:t>
              </a:r>
              <a:endParaRPr lang="en-US" altLang="ko-KR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2" name="직사각형 127"/>
            <p:cNvSpPr>
              <a:spLocks noChangeArrowheads="1"/>
            </p:cNvSpPr>
            <p:nvPr/>
          </p:nvSpPr>
          <p:spPr bwMode="auto">
            <a:xfrm>
              <a:off x="7220352" y="3620312"/>
              <a:ext cx="1762346" cy="435920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lnSpc>
                  <a:spcPct val="100000"/>
                </a:lnSpc>
                <a:spcBef>
                  <a:spcPct val="20000"/>
                </a:spcBef>
              </a:pPr>
              <a:r>
                <a:rPr lang="ko-KR" altLang="en-US" sz="1200" dirty="0" smtClean="0">
                  <a:latin typeface="맑은 고딕" pitchFamily="50" charset="-127"/>
                  <a:ea typeface="맑은 고딕" pitchFamily="50" charset="-127"/>
                </a:rPr>
                <a:t>윤성환</a:t>
              </a:r>
              <a:endParaRPr lang="en-US" altLang="ko-KR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9" name="직사각형 68"/>
            <p:cNvSpPr/>
            <p:nvPr/>
          </p:nvSpPr>
          <p:spPr>
            <a:xfrm>
              <a:off x="571500" y="3487871"/>
              <a:ext cx="8571411" cy="648072"/>
            </a:xfrm>
            <a:prstGeom prst="rect">
              <a:avLst/>
            </a:prstGeom>
            <a:noFill/>
            <a:ln w="190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76" name="직사각형 127"/>
            <p:cNvSpPr>
              <a:spLocks noChangeArrowheads="1"/>
            </p:cNvSpPr>
            <p:nvPr/>
          </p:nvSpPr>
          <p:spPr bwMode="auto">
            <a:xfrm>
              <a:off x="811820" y="4376396"/>
              <a:ext cx="1762346" cy="435920"/>
            </a:xfrm>
            <a:prstGeom prst="rect">
              <a:avLst/>
            </a:prstGeom>
            <a:solidFill>
              <a:srgbClr val="A9D5E5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none" lIns="72000" tIns="0" rIns="0" bIns="0" anchor="ctr"/>
            <a:lstStyle/>
            <a:p>
              <a:pPr algn="ctr" defTabSz="968375"/>
              <a:r>
                <a:rPr lang="en-US" altLang="ko-KR" sz="12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Llink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(EPCIS)(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김진석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  <a:endParaRPr lang="en-US" altLang="ko-KR" sz="12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7" name="직사각형 127"/>
            <p:cNvSpPr>
              <a:spLocks noChangeArrowheads="1"/>
            </p:cNvSpPr>
            <p:nvPr/>
          </p:nvSpPr>
          <p:spPr bwMode="auto">
            <a:xfrm>
              <a:off x="4737046" y="4376396"/>
              <a:ext cx="1762346" cy="435920"/>
            </a:xfrm>
            <a:prstGeom prst="rect">
              <a:avLst/>
            </a:prstGeom>
            <a:solidFill>
              <a:srgbClr val="A9D5E5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none" lIns="72000" tIns="0" rIns="0" bIns="0" anchor="ctr"/>
            <a:lstStyle/>
            <a:p>
              <a:pPr algn="ctr" defTabSz="968375">
                <a:lnSpc>
                  <a:spcPct val="100000"/>
                </a:lnSpc>
              </a:pPr>
              <a:r>
                <a:rPr lang="en-US" altLang="ko-KR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B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氏</a:t>
              </a:r>
              <a:endParaRPr lang="en-US" altLang="ko-KR" sz="12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8" name="직사각형 127"/>
            <p:cNvSpPr>
              <a:spLocks noChangeArrowheads="1"/>
            </p:cNvSpPr>
            <p:nvPr/>
          </p:nvSpPr>
          <p:spPr bwMode="auto">
            <a:xfrm>
              <a:off x="7220352" y="4376396"/>
              <a:ext cx="1762346" cy="435920"/>
            </a:xfrm>
            <a:prstGeom prst="rect">
              <a:avLst/>
            </a:prstGeom>
            <a:solidFill>
              <a:srgbClr val="A9D5E5"/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none" lIns="72000" tIns="0" rIns="0" bIns="0" anchor="ctr"/>
            <a:lstStyle/>
            <a:p>
              <a:pPr algn="ctr" defTabSz="968375"/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무라사키</a:t>
              </a:r>
              <a:endParaRPr lang="en-US" altLang="ko-KR" sz="12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571500" y="4243955"/>
              <a:ext cx="8571411" cy="648072"/>
            </a:xfrm>
            <a:prstGeom prst="rect">
              <a:avLst/>
            </a:prstGeom>
            <a:noFill/>
            <a:ln w="190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81" name="직사각형 127"/>
            <p:cNvSpPr>
              <a:spLocks noChangeArrowheads="1"/>
            </p:cNvSpPr>
            <p:nvPr/>
          </p:nvSpPr>
          <p:spPr bwMode="auto">
            <a:xfrm>
              <a:off x="811820" y="5132480"/>
              <a:ext cx="1762346" cy="4359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none" lIns="72000" tIns="0" rIns="0" bIns="0" anchor="ctr"/>
            <a:lstStyle/>
            <a:p>
              <a:pPr algn="ctr" defTabSz="968375">
                <a:lnSpc>
                  <a:spcPct val="100000"/>
                </a:lnSpc>
              </a:pPr>
              <a:r>
                <a:rPr lang="en-US" altLang="ko-KR" sz="12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iForks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(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이지훈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  <a:endParaRPr lang="en-US" altLang="ko-KR" sz="12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2" name="직사각형 127"/>
            <p:cNvSpPr>
              <a:spLocks noChangeArrowheads="1"/>
            </p:cNvSpPr>
            <p:nvPr/>
          </p:nvSpPr>
          <p:spPr bwMode="auto">
            <a:xfrm>
              <a:off x="4737046" y="5132480"/>
              <a:ext cx="1762346" cy="4359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none" lIns="72000" tIns="0" rIns="0" bIns="0" anchor="ctr"/>
            <a:lstStyle/>
            <a:p>
              <a:pPr algn="ctr" defTabSz="968375"/>
              <a:r>
                <a:rPr lang="en-US" altLang="ko-KR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C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氏</a:t>
              </a:r>
              <a:endParaRPr lang="en-US" altLang="ko-KR" sz="12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3" name="직사각형 127"/>
            <p:cNvSpPr>
              <a:spLocks noChangeArrowheads="1"/>
            </p:cNvSpPr>
            <p:nvPr/>
          </p:nvSpPr>
          <p:spPr bwMode="auto">
            <a:xfrm>
              <a:off x="7220352" y="5132480"/>
              <a:ext cx="1762346" cy="4359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none" lIns="72000" tIns="0" rIns="0" bIns="0" anchor="ctr"/>
            <a:lstStyle/>
            <a:p>
              <a:pPr algn="ctr" defTabSz="968375">
                <a:lnSpc>
                  <a:spcPct val="100000"/>
                </a:lnSpc>
              </a:pPr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오노</a:t>
              </a:r>
              <a:endParaRPr lang="en-US" altLang="ko-KR" sz="12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4" name="직사각형 83"/>
            <p:cNvSpPr/>
            <p:nvPr/>
          </p:nvSpPr>
          <p:spPr>
            <a:xfrm>
              <a:off x="571500" y="5000039"/>
              <a:ext cx="8571411" cy="648072"/>
            </a:xfrm>
            <a:prstGeom prst="rect">
              <a:avLst/>
            </a:prstGeom>
            <a:noFill/>
            <a:ln w="190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ko-KR" alt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85" name="꺾인 연결선 62"/>
            <p:cNvCxnSpPr>
              <a:stCxn id="77" idx="3"/>
              <a:endCxn id="43" idx="2"/>
            </p:cNvCxnSpPr>
            <p:nvPr/>
          </p:nvCxnSpPr>
          <p:spPr bwMode="auto">
            <a:xfrm flipH="1" flipV="1">
              <a:off x="5618219" y="3120128"/>
              <a:ext cx="881173" cy="1474228"/>
            </a:xfrm>
            <a:prstGeom prst="bentConnector4">
              <a:avLst>
                <a:gd name="adj1" fmla="val -28860"/>
                <a:gd name="adj2" fmla="val 83302"/>
              </a:avLst>
            </a:prstGeom>
            <a:solidFill>
              <a:srgbClr val="BBE0E3"/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8" name="꺾인 연결선 62"/>
            <p:cNvCxnSpPr>
              <a:stCxn id="82" idx="3"/>
              <a:endCxn id="43" idx="2"/>
            </p:cNvCxnSpPr>
            <p:nvPr/>
          </p:nvCxnSpPr>
          <p:spPr bwMode="auto">
            <a:xfrm flipH="1" flipV="1">
              <a:off x="5618219" y="3120128"/>
              <a:ext cx="881173" cy="2230312"/>
            </a:xfrm>
            <a:prstGeom prst="bentConnector4">
              <a:avLst>
                <a:gd name="adj1" fmla="val -28860"/>
                <a:gd name="adj2" fmla="val 89138"/>
              </a:avLst>
            </a:prstGeom>
            <a:solidFill>
              <a:srgbClr val="BBE0E3"/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3" name="꺾인 연결선 62"/>
            <p:cNvCxnSpPr>
              <a:stCxn id="78" idx="3"/>
              <a:endCxn id="44" idx="2"/>
            </p:cNvCxnSpPr>
            <p:nvPr/>
          </p:nvCxnSpPr>
          <p:spPr bwMode="auto">
            <a:xfrm flipH="1" flipV="1">
              <a:off x="8101525" y="3120128"/>
              <a:ext cx="881173" cy="1474228"/>
            </a:xfrm>
            <a:prstGeom prst="bentConnector4">
              <a:avLst>
                <a:gd name="adj1" fmla="val -28860"/>
                <a:gd name="adj2" fmla="val 83301"/>
              </a:avLst>
            </a:prstGeom>
            <a:solidFill>
              <a:srgbClr val="BBE0E3"/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6" name="꺾인 연결선 62"/>
            <p:cNvCxnSpPr>
              <a:stCxn id="83" idx="3"/>
              <a:endCxn id="44" idx="2"/>
            </p:cNvCxnSpPr>
            <p:nvPr/>
          </p:nvCxnSpPr>
          <p:spPr bwMode="auto">
            <a:xfrm flipH="1" flipV="1">
              <a:off x="8101525" y="3120128"/>
              <a:ext cx="881173" cy="2230312"/>
            </a:xfrm>
            <a:prstGeom prst="bentConnector4">
              <a:avLst>
                <a:gd name="adj1" fmla="val -28860"/>
                <a:gd name="adj2" fmla="val 89138"/>
              </a:avLst>
            </a:prstGeom>
            <a:solidFill>
              <a:srgbClr val="BBE0E3"/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1" name="직사각형 127"/>
            <p:cNvSpPr>
              <a:spLocks noChangeArrowheads="1"/>
            </p:cNvSpPr>
            <p:nvPr/>
          </p:nvSpPr>
          <p:spPr bwMode="auto">
            <a:xfrm>
              <a:off x="2734379" y="3620312"/>
              <a:ext cx="640853" cy="194421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 defTabSz="968375">
                <a:lnSpc>
                  <a:spcPct val="100000"/>
                </a:lnSpc>
              </a:pPr>
              <a:r>
                <a:rPr lang="ko-KR" altLang="en-US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황</a:t>
              </a:r>
              <a:endParaRPr lang="en-US" altLang="ko-KR" sz="12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ko-KR" altLang="en-US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태</a:t>
              </a:r>
              <a:endParaRPr lang="en-US" altLang="ko-KR" sz="12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ko-KR" altLang="en-US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연</a:t>
              </a:r>
              <a:endParaRPr lang="en-US" altLang="ko-KR" sz="12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endParaRPr lang="en-US" altLang="ko-KR" sz="12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ko-KR" altLang="en-US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파</a:t>
              </a:r>
              <a:endParaRPr lang="en-US" altLang="ko-KR" sz="12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트</a:t>
              </a:r>
              <a:endParaRPr lang="en-US" altLang="ko-KR" sz="12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ko-KR" altLang="en-US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장</a:t>
              </a:r>
              <a:endParaRPr lang="en-US" altLang="ko-KR" sz="12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02" name="꺾인 연결선 101"/>
            <p:cNvCxnSpPr>
              <a:stCxn id="101" idx="0"/>
              <a:endCxn id="42" idx="2"/>
            </p:cNvCxnSpPr>
            <p:nvPr/>
          </p:nvCxnSpPr>
          <p:spPr bwMode="auto">
            <a:xfrm rot="16200000" flipV="1">
              <a:off x="2470159" y="3035665"/>
              <a:ext cx="500184" cy="669110"/>
            </a:xfrm>
            <a:prstGeom prst="bentConnector3">
              <a:avLst>
                <a:gd name="adj1" fmla="val 50000"/>
              </a:avLst>
            </a:prstGeom>
            <a:solidFill>
              <a:srgbClr val="BBE0E3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5" name="직사각형 127"/>
            <p:cNvSpPr>
              <a:spLocks noChangeArrowheads="1"/>
            </p:cNvSpPr>
            <p:nvPr/>
          </p:nvSpPr>
          <p:spPr bwMode="auto">
            <a:xfrm>
              <a:off x="811820" y="5779162"/>
              <a:ext cx="2483306" cy="435920"/>
            </a:xfrm>
            <a:prstGeom prst="rect">
              <a:avLst/>
            </a:prstGeom>
            <a:solidFill>
              <a:srgbClr val="FFFF99"/>
            </a:solidFill>
            <a:ln w="952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 defTabSz="968375">
                <a:lnSpc>
                  <a:spcPct val="100000"/>
                </a:lnSpc>
              </a:pPr>
              <a:r>
                <a:rPr lang="en-US" altLang="ko-KR" sz="12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M2M Global</a:t>
              </a:r>
              <a:endParaRPr lang="en-US" altLang="ko-KR" sz="12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6" name="직사각형 105"/>
            <p:cNvSpPr/>
            <p:nvPr/>
          </p:nvSpPr>
          <p:spPr>
            <a:xfrm>
              <a:off x="2975760" y="5780552"/>
              <a:ext cx="160213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1" name="꺾인 연결선 110"/>
            <p:cNvCxnSpPr>
              <a:stCxn id="106" idx="0"/>
              <a:endCxn id="101" idx="2"/>
            </p:cNvCxnSpPr>
            <p:nvPr/>
          </p:nvCxnSpPr>
          <p:spPr bwMode="auto">
            <a:xfrm rot="16200000" flipV="1">
              <a:off x="2947325" y="5672009"/>
              <a:ext cx="216024" cy="1060"/>
            </a:xfrm>
            <a:prstGeom prst="bentConnector3">
              <a:avLst>
                <a:gd name="adj1" fmla="val 50000"/>
              </a:avLst>
            </a:prstGeom>
            <a:solidFill>
              <a:srgbClr val="BBE0E3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1" name="직사각형 120"/>
            <p:cNvSpPr/>
            <p:nvPr/>
          </p:nvSpPr>
          <p:spPr>
            <a:xfrm>
              <a:off x="3421021" y="3695963"/>
              <a:ext cx="1234633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68375">
                <a:lnSpc>
                  <a:spcPct val="100000"/>
                </a:lnSpc>
              </a:pPr>
              <a:r>
                <a:rPr lang="en-US" altLang="ko-KR" sz="1100" b="1" dirty="0" err="1" smtClean="0">
                  <a:solidFill>
                    <a:schemeClr val="tx2"/>
                  </a:solidFill>
                  <a:latin typeface="맑은 고딕" pitchFamily="50" charset="-127"/>
                  <a:ea typeface="맑은 고딕" pitchFamily="50" charset="-127"/>
                </a:rPr>
                <a:t>Winus</a:t>
              </a:r>
              <a:r>
                <a:rPr lang="en-US" altLang="ko-KR" sz="1100" b="1" dirty="0" smtClean="0">
                  <a:solidFill>
                    <a:schemeClr val="tx2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</a:p>
            <a:p>
              <a:pPr algn="ctr" defTabSz="968375">
                <a:lnSpc>
                  <a:spcPct val="100000"/>
                </a:lnSpc>
              </a:pPr>
              <a:r>
                <a:rPr lang="en-US" altLang="ko-KR" sz="1100" b="1" dirty="0" smtClean="0">
                  <a:solidFill>
                    <a:schemeClr val="tx2"/>
                  </a:solidFill>
                  <a:latin typeface="맑은 고딕" pitchFamily="50" charset="-127"/>
                  <a:ea typeface="맑은 고딕" pitchFamily="50" charset="-127"/>
                </a:rPr>
                <a:t>Working Group</a:t>
              </a:r>
              <a:endPara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2" name="직사각형 121"/>
            <p:cNvSpPr/>
            <p:nvPr/>
          </p:nvSpPr>
          <p:spPr>
            <a:xfrm>
              <a:off x="3440033" y="4416043"/>
              <a:ext cx="1234633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68375">
                <a:lnSpc>
                  <a:spcPct val="100000"/>
                </a:lnSpc>
              </a:pPr>
              <a:r>
                <a:rPr lang="en-US" altLang="ko-KR" sz="1100" b="1" dirty="0" err="1" smtClean="0">
                  <a:solidFill>
                    <a:schemeClr val="tx2"/>
                  </a:solidFill>
                  <a:latin typeface="맑은 고딕" pitchFamily="50" charset="-127"/>
                  <a:ea typeface="맑은 고딕" pitchFamily="50" charset="-127"/>
                </a:rPr>
                <a:t>Llink</a:t>
              </a:r>
              <a:r>
                <a:rPr lang="en-US" altLang="ko-KR" sz="1100" b="1" dirty="0" smtClean="0">
                  <a:solidFill>
                    <a:schemeClr val="tx2"/>
                  </a:solidFill>
                  <a:latin typeface="맑은 고딕" pitchFamily="50" charset="-127"/>
                  <a:ea typeface="맑은 고딕" pitchFamily="50" charset="-127"/>
                </a:rPr>
                <a:t> (EPCIS) </a:t>
              </a:r>
            </a:p>
            <a:p>
              <a:pPr algn="ctr" defTabSz="968375">
                <a:lnSpc>
                  <a:spcPct val="100000"/>
                </a:lnSpc>
              </a:pPr>
              <a:r>
                <a:rPr lang="en-US" altLang="ko-KR" sz="1100" b="1" dirty="0" smtClean="0">
                  <a:solidFill>
                    <a:schemeClr val="tx2"/>
                  </a:solidFill>
                  <a:latin typeface="맑은 고딕" pitchFamily="50" charset="-127"/>
                  <a:ea typeface="맑은 고딕" pitchFamily="50" charset="-127"/>
                </a:rPr>
                <a:t>Working Group</a:t>
              </a:r>
              <a:endPara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3" name="직사각형 122"/>
            <p:cNvSpPr/>
            <p:nvPr/>
          </p:nvSpPr>
          <p:spPr>
            <a:xfrm>
              <a:off x="3440833" y="5134962"/>
              <a:ext cx="1234632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68375">
                <a:lnSpc>
                  <a:spcPct val="100000"/>
                </a:lnSpc>
              </a:pPr>
              <a:r>
                <a:rPr lang="en-US" altLang="ko-KR" sz="1100" b="1" dirty="0" err="1" smtClean="0">
                  <a:solidFill>
                    <a:schemeClr val="tx2"/>
                  </a:solidFill>
                  <a:latin typeface="맑은 고딕" pitchFamily="50" charset="-127"/>
                  <a:ea typeface="맑은 고딕" pitchFamily="50" charset="-127"/>
                </a:rPr>
                <a:t>iForks</a:t>
              </a:r>
              <a:endParaRPr lang="en-US" altLang="ko-KR" sz="1100" b="1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en-US" altLang="ko-KR" sz="1100" b="1" dirty="0" smtClean="0">
                  <a:solidFill>
                    <a:schemeClr val="tx2"/>
                  </a:solidFill>
                  <a:latin typeface="맑은 고딕" pitchFamily="50" charset="-127"/>
                  <a:ea typeface="맑은 고딕" pitchFamily="50" charset="-127"/>
                </a:rPr>
                <a:t>Working Group</a:t>
              </a:r>
              <a:endParaRPr lang="en-US" altLang="ko-KR" sz="11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124" name="그림 1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58730" r="7143" b="92520"/>
          <a:stretch>
            <a:fillRect/>
          </a:stretch>
        </p:blipFill>
        <p:spPr>
          <a:xfrm>
            <a:off x="5817096" y="1532546"/>
            <a:ext cx="3096344" cy="355142"/>
          </a:xfrm>
          <a:prstGeom prst="rect">
            <a:avLst/>
          </a:prstGeom>
        </p:spPr>
      </p:pic>
      <p:sp>
        <p:nvSpPr>
          <p:cNvPr id="4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3797300" y="6492899"/>
            <a:ext cx="2311400" cy="276999"/>
          </a:xfrm>
        </p:spPr>
        <p:txBody>
          <a:bodyPr wrap="square">
            <a:spAutoFit/>
          </a:bodyPr>
          <a:lstStyle/>
          <a:p>
            <a:pPr algn="ctr"/>
            <a:r>
              <a:rPr lang="en-US" altLang="ko-KR" dirty="0" smtClean="0">
                <a:latin typeface="+mn-ea"/>
              </a:rPr>
              <a:t>- 2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-</a:t>
            </a:r>
            <a:endParaRPr lang="ko-KR" altLang="en-US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추진 경과</a:t>
            </a:r>
            <a:endParaRPr lang="ko-KR" altLang="en-US" dirty="0"/>
          </a:p>
        </p:txBody>
      </p:sp>
      <p:sp>
        <p:nvSpPr>
          <p:cNvPr id="208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329527" y="22578"/>
            <a:ext cx="649288" cy="651456"/>
          </a:xfrm>
        </p:spPr>
        <p:txBody>
          <a:bodyPr/>
          <a:lstStyle/>
          <a:p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4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3797300" y="6492899"/>
            <a:ext cx="2311400" cy="276999"/>
          </a:xfrm>
        </p:spPr>
        <p:txBody>
          <a:bodyPr wrap="square">
            <a:spAutoFit/>
          </a:bodyPr>
          <a:lstStyle/>
          <a:p>
            <a:pPr algn="ctr"/>
            <a:r>
              <a:rPr lang="en-US" altLang="ko-KR" dirty="0" smtClean="0">
                <a:latin typeface="+mn-ea"/>
              </a:rPr>
              <a:t>- 3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-</a:t>
            </a:r>
            <a:endParaRPr lang="ko-KR" altLang="en-US" dirty="0">
              <a:latin typeface="+mn-ea"/>
            </a:endParaRPr>
          </a:p>
        </p:txBody>
      </p:sp>
      <p:graphicFrame>
        <p:nvGraphicFramePr>
          <p:cNvPr id="51" name="표 50"/>
          <p:cNvGraphicFramePr>
            <a:graphicFrameLocks noGrp="1"/>
          </p:cNvGraphicFramePr>
          <p:nvPr/>
        </p:nvGraphicFramePr>
        <p:xfrm>
          <a:off x="344487" y="1484784"/>
          <a:ext cx="9217025" cy="4681067"/>
        </p:xfrm>
        <a:graphic>
          <a:graphicData uri="http://schemas.openxmlformats.org/drawingml/2006/table">
            <a:tbl>
              <a:tblPr/>
              <a:tblGrid>
                <a:gridCol w="1510780"/>
                <a:gridCol w="5547989"/>
                <a:gridCol w="2158256"/>
              </a:tblGrid>
              <a:tr h="618386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b="1" kern="100" dirty="0">
                          <a:latin typeface="맑은 고딕"/>
                          <a:ea typeface="맑은 고딕"/>
                          <a:cs typeface="Times New Roman"/>
                        </a:rPr>
                        <a:t>구 분</a:t>
                      </a:r>
                      <a:endParaRPr lang="ko-KR" sz="12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23651" marR="23651" marT="32747" marB="32747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3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b="1" kern="100" dirty="0">
                          <a:latin typeface="맑은 고딕"/>
                          <a:ea typeface="맑은 고딕"/>
                          <a:cs typeface="Times New Roman"/>
                        </a:rPr>
                        <a:t>개발내용</a:t>
                      </a:r>
                      <a:r>
                        <a:rPr lang="en-US" sz="1200" b="1" kern="100" dirty="0">
                          <a:latin typeface="맑은 고딕"/>
                          <a:ea typeface="맑은 고딕"/>
                          <a:cs typeface="Times New Roman"/>
                        </a:rPr>
                        <a:t> / </a:t>
                      </a:r>
                      <a:r>
                        <a:rPr lang="ko-KR" sz="1200" b="1" kern="100" dirty="0">
                          <a:latin typeface="맑은 고딕"/>
                          <a:ea typeface="맑은 고딕"/>
                          <a:cs typeface="Times New Roman"/>
                        </a:rPr>
                        <a:t>목적 </a:t>
                      </a:r>
                      <a:endParaRPr lang="ko-KR" sz="12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23651" marR="23651" marT="32747" marB="32747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3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b="1" kern="100" dirty="0">
                          <a:latin typeface="맑은 고딕"/>
                          <a:ea typeface="맑은 고딕"/>
                          <a:cs typeface="Times New Roman"/>
                        </a:rPr>
                        <a:t>업 무 내 용</a:t>
                      </a:r>
                      <a:endParaRPr lang="ko-KR" sz="12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23651" marR="23651" marT="32747" marB="32747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3ED"/>
                    </a:solidFill>
                  </a:tcPr>
                </a:tc>
              </a:tr>
              <a:tr h="1354227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b="1" kern="100" dirty="0" err="1">
                          <a:latin typeface="맑은 고딕"/>
                          <a:ea typeface="맑은 고딕"/>
                          <a:cs typeface="Times New Roman"/>
                        </a:rPr>
                        <a:t>프로토타입</a:t>
                      </a:r>
                      <a:r>
                        <a:rPr lang="ko-KR" sz="1200" b="1" kern="100" dirty="0">
                          <a:latin typeface="맑은 고딕"/>
                          <a:ea typeface="맑은 고딕"/>
                          <a:cs typeface="Times New Roman"/>
                        </a:rPr>
                        <a:t> </a:t>
                      </a:r>
                      <a:endParaRPr lang="ko-KR" sz="12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맑은 고딕"/>
                          <a:ea typeface="맑은 고딕"/>
                          <a:cs typeface="Times New Roman"/>
                        </a:rPr>
                        <a:t>1</a:t>
                      </a:r>
                      <a:r>
                        <a:rPr lang="ko-KR" sz="1200" b="1" kern="100" dirty="0">
                          <a:latin typeface="맑은 고딕"/>
                          <a:ea typeface="맑은 고딕"/>
                          <a:cs typeface="Times New Roman"/>
                        </a:rPr>
                        <a:t>차</a:t>
                      </a:r>
                      <a:endParaRPr lang="ko-KR" sz="12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23651" marR="23651" marT="33657" marB="33657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9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157163"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/>
                        <a:buChar char="•"/>
                        <a:tabLst>
                          <a:tab pos="357188" algn="l"/>
                        </a:tabLst>
                      </a:pP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ko-KR" sz="1200" kern="100" dirty="0">
                          <a:latin typeface="맑은 고딕"/>
                          <a:ea typeface="맑은 고딕"/>
                          <a:cs typeface="Times New Roman"/>
                        </a:rPr>
                        <a:t>현</a:t>
                      </a: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 WINUS</a:t>
                      </a:r>
                      <a:r>
                        <a:rPr lang="ko-KR" sz="1200" kern="100" dirty="0">
                          <a:latin typeface="맑은 고딕"/>
                          <a:ea typeface="맑은 고딕"/>
                          <a:cs typeface="Times New Roman"/>
                        </a:rPr>
                        <a:t>를</a:t>
                      </a: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 WEB</a:t>
                      </a:r>
                      <a:r>
                        <a:rPr lang="ko-KR" sz="1200" kern="100" dirty="0">
                          <a:latin typeface="맑은 고딕"/>
                          <a:ea typeface="맑은 고딕"/>
                          <a:cs typeface="Times New Roman"/>
                        </a:rPr>
                        <a:t>화</a:t>
                      </a: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(</a:t>
                      </a:r>
                      <a:r>
                        <a:rPr lang="ko-KR" sz="1200" kern="100" dirty="0">
                          <a:latin typeface="맑은 고딕"/>
                          <a:ea typeface="맑은 고딕"/>
                          <a:cs typeface="Times New Roman"/>
                        </a:rPr>
                        <a:t>입하</a:t>
                      </a: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/</a:t>
                      </a:r>
                      <a:r>
                        <a:rPr lang="ko-KR" sz="1200" kern="100" dirty="0">
                          <a:latin typeface="맑은 고딕"/>
                          <a:ea typeface="맑은 고딕"/>
                          <a:cs typeface="Times New Roman"/>
                        </a:rPr>
                        <a:t>보관</a:t>
                      </a: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/</a:t>
                      </a:r>
                      <a:r>
                        <a:rPr lang="ko-KR" sz="1200" kern="100" dirty="0">
                          <a:latin typeface="맑은 고딕"/>
                          <a:ea typeface="맑은 고딕"/>
                          <a:cs typeface="Times New Roman"/>
                        </a:rPr>
                        <a:t>출하의 기본기능만</a:t>
                      </a: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)</a:t>
                      </a:r>
                      <a:endParaRPr lang="ko-KR" sz="12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marL="342900" lvl="0" indent="-157163"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/>
                        <a:buChar char="•"/>
                        <a:tabLst>
                          <a:tab pos="357188" algn="l"/>
                        </a:tabLst>
                      </a:pP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ko-KR" sz="1200" kern="100" dirty="0">
                          <a:latin typeface="맑은 고딕"/>
                          <a:ea typeface="맑은 고딕"/>
                          <a:cs typeface="Times New Roman"/>
                        </a:rPr>
                        <a:t>다국어 대응</a:t>
                      </a: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(</a:t>
                      </a:r>
                      <a:r>
                        <a:rPr lang="ko-KR" sz="1200" kern="100" dirty="0">
                          <a:latin typeface="맑은 고딕"/>
                          <a:ea typeface="맑은 고딕"/>
                          <a:cs typeface="Times New Roman"/>
                        </a:rPr>
                        <a:t>일본어번역은</a:t>
                      </a: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 JPR</a:t>
                      </a:r>
                      <a:r>
                        <a:rPr lang="ko-KR" sz="1200" kern="100" dirty="0">
                          <a:latin typeface="맑은 고딕"/>
                          <a:ea typeface="맑은 고딕"/>
                          <a:cs typeface="Times New Roman"/>
                        </a:rPr>
                        <a:t>에서 실시</a:t>
                      </a: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)</a:t>
                      </a:r>
                      <a:endParaRPr lang="ko-KR" sz="12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marL="342900" lvl="0" indent="-157163"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/>
                        <a:buChar char="•"/>
                        <a:tabLst>
                          <a:tab pos="357188" algn="l"/>
                        </a:tabLst>
                      </a:pP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 JPR</a:t>
                      </a:r>
                      <a:r>
                        <a:rPr lang="ko-KR" sz="1200" kern="100" dirty="0">
                          <a:latin typeface="맑은 고딕"/>
                          <a:ea typeface="맑은 고딕"/>
                          <a:cs typeface="Times New Roman"/>
                        </a:rPr>
                        <a:t>환경에서 동작확인이 가능할 정도의 수준 </a:t>
                      </a:r>
                    </a:p>
                  </a:txBody>
                  <a:tcPr marL="23651" marR="23651" marT="33657" marB="33657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2015</a:t>
                      </a:r>
                      <a:r>
                        <a:rPr lang="ko-KR" sz="1200" kern="100" dirty="0">
                          <a:latin typeface="맑은 고딕"/>
                          <a:ea typeface="맑은 고딕"/>
                          <a:cs typeface="Times New Roman"/>
                        </a:rPr>
                        <a:t>년</a:t>
                      </a: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 2</a:t>
                      </a:r>
                      <a:r>
                        <a:rPr lang="ko-KR" sz="1200" kern="100" dirty="0">
                          <a:latin typeface="맑은 고딕"/>
                          <a:ea typeface="맑은 고딕"/>
                          <a:cs typeface="Times New Roman"/>
                        </a:rPr>
                        <a:t>월말 </a:t>
                      </a:r>
                    </a:p>
                  </a:txBody>
                  <a:tcPr marL="23651" marR="23651" marT="33657" marB="33657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4227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b="1" kern="100" dirty="0" err="1">
                          <a:latin typeface="맑은 고딕"/>
                          <a:ea typeface="맑은 고딕"/>
                          <a:cs typeface="Times New Roman"/>
                        </a:rPr>
                        <a:t>프로토타입</a:t>
                      </a:r>
                      <a:r>
                        <a:rPr lang="ko-KR" sz="1200" b="1" kern="100" dirty="0">
                          <a:latin typeface="맑은 고딕"/>
                          <a:ea typeface="맑은 고딕"/>
                          <a:cs typeface="Times New Roman"/>
                        </a:rPr>
                        <a:t> </a:t>
                      </a:r>
                      <a:endParaRPr lang="ko-KR" sz="12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latin typeface="맑은 고딕"/>
                          <a:ea typeface="맑은 고딕"/>
                          <a:cs typeface="Times New Roman"/>
                        </a:rPr>
                        <a:t>2</a:t>
                      </a:r>
                      <a:r>
                        <a:rPr lang="ko-KR" sz="1200" b="1" kern="100" dirty="0">
                          <a:latin typeface="맑은 고딕"/>
                          <a:ea typeface="맑은 고딕"/>
                          <a:cs typeface="Times New Roman"/>
                        </a:rPr>
                        <a:t>차</a:t>
                      </a:r>
                      <a:endParaRPr lang="ko-KR" sz="12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23651" marR="23651" marT="33657" marB="33657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9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157163"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/>
                        <a:buChar char="•"/>
                        <a:tabLst>
                          <a:tab pos="357188" algn="l"/>
                        </a:tabLst>
                      </a:pP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ko-KR" sz="1200" kern="100" dirty="0" err="1">
                          <a:latin typeface="맑은 고딕"/>
                          <a:ea typeface="맑은 고딕"/>
                          <a:cs typeface="Times New Roman"/>
                        </a:rPr>
                        <a:t>프로토타입</a:t>
                      </a: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 1</a:t>
                      </a:r>
                      <a:r>
                        <a:rPr lang="ko-KR" sz="1200" kern="100" dirty="0">
                          <a:latin typeface="맑은 고딕"/>
                          <a:ea typeface="맑은 고딕"/>
                          <a:cs typeface="Times New Roman"/>
                        </a:rPr>
                        <a:t>차에 외부연계기능을 추가</a:t>
                      </a:r>
                    </a:p>
                    <a:p>
                      <a:pPr marL="342900" indent="-157163"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57188" algn="l"/>
                        </a:tabLst>
                      </a:pPr>
                      <a:r>
                        <a:rPr lang="en-US" sz="1200" kern="100" dirty="0" smtClean="0">
                          <a:latin typeface="맑은 고딕"/>
                          <a:ea typeface="맑은 고딕"/>
                          <a:cs typeface="Times New Roman"/>
                        </a:rPr>
                        <a:t>   </a:t>
                      </a: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- </a:t>
                      </a:r>
                      <a:r>
                        <a:rPr lang="en-US" sz="1200" kern="100" dirty="0" err="1">
                          <a:latin typeface="맑은 고딕"/>
                          <a:ea typeface="맑은 고딕"/>
                          <a:cs typeface="Times New Roman"/>
                        </a:rPr>
                        <a:t>iForks</a:t>
                      </a: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, </a:t>
                      </a:r>
                      <a:r>
                        <a:rPr lang="en-US" sz="1200" kern="100" dirty="0" err="1">
                          <a:latin typeface="맑은 고딕"/>
                          <a:ea typeface="맑은 고딕"/>
                          <a:cs typeface="Times New Roman"/>
                        </a:rPr>
                        <a:t>Llink</a:t>
                      </a: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(EPCIS) </a:t>
                      </a:r>
                      <a:r>
                        <a:rPr lang="ko-KR" sz="1200" kern="100" dirty="0">
                          <a:latin typeface="맑은 고딕"/>
                          <a:ea typeface="맑은 고딕"/>
                          <a:cs typeface="Times New Roman"/>
                        </a:rPr>
                        <a:t>연계관련 사양</a:t>
                      </a:r>
                    </a:p>
                    <a:p>
                      <a:pPr marL="342900" lvl="0" indent="-157163"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/>
                        <a:buChar char="•"/>
                        <a:tabLst>
                          <a:tab pos="357188" algn="l"/>
                        </a:tabLst>
                      </a:pP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ko-KR" sz="1200" kern="100" dirty="0">
                          <a:latin typeface="맑은 고딕"/>
                          <a:ea typeface="맑은 고딕"/>
                          <a:cs typeface="Times New Roman"/>
                        </a:rPr>
                        <a:t>개체관리 대응</a:t>
                      </a:r>
                    </a:p>
                    <a:p>
                      <a:pPr marL="342900" lvl="0" indent="-157163"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/>
                        <a:buChar char="•"/>
                        <a:tabLst>
                          <a:tab pos="357188" algn="l"/>
                        </a:tabLst>
                      </a:pP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ko-KR" sz="1200" kern="100" dirty="0">
                          <a:latin typeface="맑은 고딕"/>
                          <a:ea typeface="맑은 고딕"/>
                          <a:cs typeface="Times New Roman"/>
                        </a:rPr>
                        <a:t>베타 테스터 고객의 시험 운영이 가능할 정도의 수준</a:t>
                      </a:r>
                    </a:p>
                  </a:txBody>
                  <a:tcPr marL="23651" marR="23651" marT="33657" marB="33657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2015</a:t>
                      </a:r>
                      <a:r>
                        <a:rPr lang="ko-KR" sz="1200" kern="100" dirty="0">
                          <a:latin typeface="맑은 고딕"/>
                          <a:ea typeface="맑은 고딕"/>
                          <a:cs typeface="Times New Roman"/>
                        </a:rPr>
                        <a:t>년</a:t>
                      </a: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 8</a:t>
                      </a:r>
                      <a:r>
                        <a:rPr lang="ko-KR" sz="1200" kern="100" dirty="0">
                          <a:latin typeface="맑은 고딕"/>
                          <a:ea typeface="맑은 고딕"/>
                          <a:cs typeface="Times New Roman"/>
                        </a:rPr>
                        <a:t>월말 </a:t>
                      </a:r>
                    </a:p>
                  </a:txBody>
                  <a:tcPr marL="23651" marR="23651" marT="33657" marB="33657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4227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200" b="1" kern="100" dirty="0" err="1">
                          <a:latin typeface="맑은 고딕"/>
                          <a:ea typeface="맑은 고딕"/>
                          <a:cs typeface="Times New Roman"/>
                        </a:rPr>
                        <a:t>제품판</a:t>
                      </a:r>
                      <a:r>
                        <a:rPr lang="ko-KR" sz="1200" b="1" kern="100" dirty="0">
                          <a:latin typeface="맑은 고딕"/>
                          <a:ea typeface="맑은 고딕"/>
                          <a:cs typeface="Times New Roman"/>
                        </a:rPr>
                        <a:t> </a:t>
                      </a:r>
                      <a:endParaRPr lang="ko-KR" sz="12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23651" marR="23651" marT="33657" marB="33657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9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157163"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/>
                        <a:buChar char="•"/>
                        <a:tabLst>
                          <a:tab pos="357188" algn="l"/>
                        </a:tabLst>
                      </a:pP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ko-KR" sz="1200" kern="100" dirty="0" err="1">
                          <a:latin typeface="맑은 고딕"/>
                          <a:ea typeface="맑은 고딕"/>
                          <a:cs typeface="Times New Roman"/>
                        </a:rPr>
                        <a:t>프로토타입</a:t>
                      </a: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 2</a:t>
                      </a:r>
                      <a:r>
                        <a:rPr lang="ko-KR" sz="1200" kern="100" dirty="0">
                          <a:latin typeface="맑은 고딕"/>
                          <a:ea typeface="맑은 고딕"/>
                          <a:cs typeface="Times New Roman"/>
                        </a:rPr>
                        <a:t>차의 시험운영</a:t>
                      </a: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, </a:t>
                      </a:r>
                      <a:r>
                        <a:rPr lang="ko-KR" sz="1200" kern="100" dirty="0">
                          <a:latin typeface="맑은 고딕"/>
                          <a:ea typeface="맑은 고딕"/>
                          <a:cs typeface="Times New Roman"/>
                        </a:rPr>
                        <a:t>기타 조사결과를 통해 사양 재정의</a:t>
                      </a: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.</a:t>
                      </a:r>
                      <a:endParaRPr lang="ko-KR" sz="12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marL="342900" indent="-157163"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57188" algn="l"/>
                        </a:tabLst>
                      </a:pP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  </a:t>
                      </a:r>
                      <a:r>
                        <a:rPr lang="en-US" sz="1200" kern="100" dirty="0" smtClean="0">
                          <a:latin typeface="맑은 고딕"/>
                          <a:ea typeface="맑은 고딕"/>
                          <a:cs typeface="Times New Roman"/>
                        </a:rPr>
                        <a:t>  (</a:t>
                      </a:r>
                      <a:r>
                        <a:rPr lang="ko-KR" sz="1200" kern="100" dirty="0">
                          <a:latin typeface="맑은 고딕"/>
                          <a:ea typeface="맑은 고딕"/>
                          <a:cs typeface="Times New Roman"/>
                        </a:rPr>
                        <a:t>입하</a:t>
                      </a: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/</a:t>
                      </a:r>
                      <a:r>
                        <a:rPr lang="ko-KR" sz="1200" kern="100" dirty="0">
                          <a:latin typeface="맑은 고딕"/>
                          <a:ea typeface="맑은 고딕"/>
                          <a:cs typeface="Times New Roman"/>
                        </a:rPr>
                        <a:t>재고관리</a:t>
                      </a: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/</a:t>
                      </a:r>
                      <a:r>
                        <a:rPr lang="ko-KR" sz="1200" kern="100" dirty="0">
                          <a:latin typeface="맑은 고딕"/>
                          <a:ea typeface="맑은 고딕"/>
                          <a:cs typeface="Times New Roman"/>
                        </a:rPr>
                        <a:t>출하</a:t>
                      </a: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/</a:t>
                      </a:r>
                      <a:r>
                        <a:rPr lang="ko-KR" sz="1200" kern="100" dirty="0">
                          <a:latin typeface="맑은 고딕"/>
                          <a:ea typeface="맑은 고딕"/>
                          <a:cs typeface="Times New Roman"/>
                        </a:rPr>
                        <a:t>통계</a:t>
                      </a: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/</a:t>
                      </a:r>
                      <a:r>
                        <a:rPr lang="ko-KR" sz="1200" kern="100" dirty="0">
                          <a:latin typeface="맑은 고딕"/>
                          <a:ea typeface="맑은 고딕"/>
                          <a:cs typeface="Times New Roman"/>
                        </a:rPr>
                        <a:t>정산</a:t>
                      </a: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/</a:t>
                      </a:r>
                      <a:r>
                        <a:rPr lang="en-US" sz="1200" kern="100" dirty="0" err="1">
                          <a:latin typeface="맑은 고딕"/>
                          <a:ea typeface="맑은 고딕"/>
                          <a:cs typeface="Times New Roman"/>
                        </a:rPr>
                        <a:t>iForks</a:t>
                      </a:r>
                      <a:r>
                        <a:rPr lang="ko-KR" sz="1200" kern="100" dirty="0">
                          <a:latin typeface="맑은 고딕"/>
                          <a:ea typeface="맑은 고딕"/>
                          <a:cs typeface="Times New Roman"/>
                        </a:rPr>
                        <a:t>연계</a:t>
                      </a: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/</a:t>
                      </a:r>
                      <a:r>
                        <a:rPr lang="en-US" sz="1200" kern="100" dirty="0" err="1">
                          <a:latin typeface="맑은 고딕"/>
                          <a:ea typeface="맑은 고딕"/>
                          <a:cs typeface="Times New Roman"/>
                        </a:rPr>
                        <a:t>Llink</a:t>
                      </a:r>
                      <a:r>
                        <a:rPr lang="ko-KR" sz="1200" kern="100" dirty="0">
                          <a:latin typeface="맑은 고딕"/>
                          <a:ea typeface="맑은 고딕"/>
                          <a:cs typeface="Times New Roman"/>
                        </a:rPr>
                        <a:t>연계</a:t>
                      </a: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/</a:t>
                      </a:r>
                      <a:r>
                        <a:rPr lang="ko-KR" sz="1200" kern="100" dirty="0">
                          <a:latin typeface="맑은 고딕"/>
                          <a:ea typeface="맑은 고딕"/>
                          <a:cs typeface="Times New Roman"/>
                        </a:rPr>
                        <a:t>유효기간관리 등</a:t>
                      </a: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)</a:t>
                      </a:r>
                      <a:endParaRPr lang="ko-KR" sz="12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marL="342900" lvl="0" indent="-157163"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/>
                        <a:buChar char="•"/>
                        <a:tabLst>
                          <a:tab pos="357188" algn="l"/>
                        </a:tabLst>
                      </a:pP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ko-KR" sz="1200" kern="100" dirty="0" err="1">
                          <a:latin typeface="맑은 고딕"/>
                          <a:ea typeface="맑은 고딕"/>
                          <a:cs typeface="Times New Roman"/>
                        </a:rPr>
                        <a:t>제품판</a:t>
                      </a: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(</a:t>
                      </a:r>
                      <a:r>
                        <a:rPr lang="ko-KR" sz="1200" kern="100" dirty="0">
                          <a:latin typeface="맑은 고딕"/>
                          <a:ea typeface="맑은 고딕"/>
                          <a:cs typeface="Times New Roman"/>
                        </a:rPr>
                        <a:t>판매용</a:t>
                      </a: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)</a:t>
                      </a:r>
                      <a:r>
                        <a:rPr lang="ko-KR" sz="1200" kern="100" dirty="0">
                          <a:latin typeface="맑은 고딕"/>
                          <a:ea typeface="맑은 고딕"/>
                          <a:cs typeface="Times New Roman"/>
                        </a:rPr>
                        <a:t>의 기능에 필요한 요소를 추가</a:t>
                      </a: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.</a:t>
                      </a:r>
                      <a:endParaRPr lang="ko-KR" sz="1200" kern="100" dirty="0">
                        <a:latin typeface="맑은 고딕"/>
                        <a:ea typeface="맑은 고딕"/>
                        <a:cs typeface="Times New Roman"/>
                      </a:endParaRPr>
                    </a:p>
                    <a:p>
                      <a:pPr marL="342900" lvl="0" indent="-157163"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/>
                        <a:buChar char="•"/>
                        <a:tabLst>
                          <a:tab pos="357188" algn="l"/>
                        </a:tabLst>
                      </a:pP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ko-KR" sz="1200" kern="100" dirty="0">
                          <a:latin typeface="맑은 고딕"/>
                          <a:ea typeface="맑은 고딕"/>
                          <a:cs typeface="Times New Roman"/>
                        </a:rPr>
                        <a:t>외부 </a:t>
                      </a:r>
                      <a:r>
                        <a:rPr lang="ko-KR" sz="1200" kern="100" dirty="0" err="1">
                          <a:latin typeface="맑은 고딕"/>
                          <a:ea typeface="맑은 고딕"/>
                          <a:cs typeface="Times New Roman"/>
                        </a:rPr>
                        <a:t>고객사에게</a:t>
                      </a:r>
                      <a:r>
                        <a:rPr lang="ko-KR" sz="1200" kern="100" dirty="0">
                          <a:latin typeface="맑은 고딕"/>
                          <a:ea typeface="맑은 고딕"/>
                          <a:cs typeface="Times New Roman"/>
                        </a:rPr>
                        <a:t> 판매 가능한 정도의 수준</a:t>
                      </a:r>
                    </a:p>
                  </a:txBody>
                  <a:tcPr marL="23651" marR="23651" marT="33657" marB="33657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2016</a:t>
                      </a:r>
                      <a:r>
                        <a:rPr lang="ko-KR" sz="1200" kern="100" dirty="0">
                          <a:latin typeface="맑은 고딕"/>
                          <a:ea typeface="맑은 고딕"/>
                          <a:cs typeface="Times New Roman"/>
                        </a:rPr>
                        <a:t>년</a:t>
                      </a:r>
                      <a:r>
                        <a:rPr lang="en-US" sz="1200" kern="100" dirty="0">
                          <a:latin typeface="맑은 고딕"/>
                          <a:ea typeface="맑은 고딕"/>
                          <a:cs typeface="Times New Roman"/>
                        </a:rPr>
                        <a:t> 3</a:t>
                      </a:r>
                      <a:r>
                        <a:rPr lang="ko-KR" sz="1200" kern="100" dirty="0">
                          <a:latin typeface="맑은 고딕"/>
                          <a:ea typeface="맑은 고딕"/>
                          <a:cs typeface="Times New Roman"/>
                        </a:rPr>
                        <a:t>월말 </a:t>
                      </a:r>
                    </a:p>
                  </a:txBody>
                  <a:tcPr marL="23651" marR="23651" marT="33657" marB="33657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3" name="직사각형 52"/>
          <p:cNvSpPr/>
          <p:nvPr/>
        </p:nvSpPr>
        <p:spPr>
          <a:xfrm>
            <a:off x="344488" y="981074"/>
            <a:ext cx="3384376" cy="359693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latinLnBrk="0">
              <a:defRPr/>
            </a:pPr>
            <a:r>
              <a:rPr lang="en-US" altLang="ko-KR" sz="1400" b="1" kern="0" dirty="0" smtClean="0">
                <a:solidFill>
                  <a:sysClr val="window" lastClr="FFFFFF"/>
                </a:solidFill>
                <a:latin typeface="+mn-ea"/>
              </a:rPr>
              <a:t>WINUS</a:t>
            </a:r>
            <a:r>
              <a:rPr lang="ko-KR" altLang="en-US" sz="1400" b="1" kern="0" dirty="0" smtClean="0">
                <a:solidFill>
                  <a:sysClr val="window" lastClr="FFFFFF"/>
                </a:solidFill>
                <a:latin typeface="+mn-ea"/>
              </a:rPr>
              <a:t>도입에 대한 </a:t>
            </a:r>
            <a:r>
              <a:rPr lang="en-US" altLang="ko-KR" sz="1400" b="1" kern="0" dirty="0" smtClean="0">
                <a:solidFill>
                  <a:sysClr val="window" lastClr="FFFFFF"/>
                </a:solidFill>
                <a:latin typeface="+mn-ea"/>
              </a:rPr>
              <a:t>JPR </a:t>
            </a:r>
            <a:r>
              <a:rPr lang="ko-KR" altLang="en-US" sz="1400" b="1" kern="0" dirty="0" err="1" smtClean="0">
                <a:solidFill>
                  <a:sysClr val="window" lastClr="FFFFFF"/>
                </a:solidFill>
                <a:latin typeface="+mn-ea"/>
              </a:rPr>
              <a:t>제시안</a:t>
            </a: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개발 일정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smtClean="0"/>
              <a:t>4</a:t>
            </a:r>
            <a:endParaRPr lang="ko-KR" altLang="en-US" dirty="0"/>
          </a:p>
        </p:txBody>
      </p:sp>
      <p:graphicFrame>
        <p:nvGraphicFramePr>
          <p:cNvPr id="9" name="Group 86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960805608"/>
              </p:ext>
            </p:extLst>
          </p:nvPr>
        </p:nvGraphicFramePr>
        <p:xfrm>
          <a:off x="344489" y="981074"/>
          <a:ext cx="9217020" cy="5184777"/>
        </p:xfrm>
        <a:graphic>
          <a:graphicData uri="http://schemas.openxmlformats.org/drawingml/2006/table">
            <a:tbl>
              <a:tblPr/>
              <a:tblGrid>
                <a:gridCol w="835427"/>
                <a:gridCol w="1269965"/>
                <a:gridCol w="1902151"/>
                <a:gridCol w="400729"/>
                <a:gridCol w="400729"/>
                <a:gridCol w="400729"/>
                <a:gridCol w="400729"/>
                <a:gridCol w="400729"/>
                <a:gridCol w="400729"/>
                <a:gridCol w="400729"/>
                <a:gridCol w="400729"/>
                <a:gridCol w="400729"/>
                <a:gridCol w="400729"/>
                <a:gridCol w="400729"/>
                <a:gridCol w="400729"/>
                <a:gridCol w="400729"/>
              </a:tblGrid>
              <a:tr h="285157">
                <a:tc rowSpan="3"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 분</a:t>
                      </a:r>
                    </a:p>
                  </a:txBody>
                  <a:tcPr marL="33231" marR="33231" anchor="ctr" anchorCtr="1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3ED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rgbClr val="5683BA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업 무 내 용</a:t>
                      </a: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3ED"/>
                    </a:solidFill>
                  </a:tcPr>
                </a:tc>
                <a:tc gridSpan="1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전체 기간</a:t>
                      </a:r>
                    </a:p>
                  </a:txBody>
                  <a:tcPr marL="33231" marR="33231" marT="46800" marB="46800" anchor="ctr" anchorCtr="1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3E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683B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683B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683B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anchor="ctr" anchorCtr="1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3E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anchor="ctr" anchorCtr="1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3E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anchor="ctr" anchorCtr="1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3E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anchor="ctr" anchorCtr="1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3E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515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2015</a:t>
                      </a: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46800" marB="46800" anchor="ctr" anchorCtr="1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3E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46800" marB="46800" anchor="ctr" anchorCtr="1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3E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46800" marB="46800" anchor="ctr" anchorCtr="1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3E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46800" marB="46800" anchor="ctr" anchorCtr="1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3E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46800" marB="46800" anchor="ctr" anchorCtr="1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3E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46800" marB="46800" anchor="ctr" anchorCtr="1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3E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46800" marB="46800" anchor="ctr" anchorCtr="1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3E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46800" marB="46800" anchor="ctr" anchorCtr="1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3E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46800" marB="46800" anchor="ctr" anchorCtr="1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3E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46800" marB="46800" anchor="ctr" anchorCtr="1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3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2016</a:t>
                      </a: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46800" marB="46800" anchor="ctr" anchorCtr="1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3E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46800" marB="46800" anchor="ctr" anchorCtr="1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3E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46800" marB="46800" anchor="ctr" anchorCtr="1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3ED"/>
                    </a:solidFill>
                  </a:tcPr>
                </a:tc>
              </a:tr>
              <a:tr h="28515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46800" marB="46800" anchor="ctr" anchorCtr="1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3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46800" marB="46800" anchor="ctr" anchorCtr="1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3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46800" marB="46800" anchor="ctr" anchorCtr="1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3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46800" marB="46800" anchor="ctr" anchorCtr="1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3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46800" marB="46800" anchor="ctr" anchorCtr="1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3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46800" marB="46800" anchor="ctr" anchorCtr="1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3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46800" marB="46800" anchor="ctr" anchorCtr="1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3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46800" marB="46800" anchor="ctr" anchorCtr="1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3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46800" marB="46800" anchor="ctr" anchorCtr="1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3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46800" marB="46800" anchor="ctr" anchorCtr="1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3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46800" marB="46800" anchor="ctr" anchorCtr="1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3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46800" marB="46800" anchor="ctr" anchorCtr="1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3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1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46800" marB="46800" anchor="ctr" anchorCtr="1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3ED"/>
                    </a:solidFill>
                  </a:tcPr>
                </a:tc>
              </a:tr>
              <a:tr h="48103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공통</a:t>
                      </a:r>
                    </a:p>
                  </a:txBody>
                  <a:tcPr marL="33231" marR="33231" marT="46800" marB="468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개발서버세팅</a:t>
                      </a:r>
                      <a:endParaRPr kumimoji="1" lang="ko-KR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46800" marB="468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F1E9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105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서버 준비 및 개발환경 </a:t>
                      </a:r>
                      <a:r>
                        <a:rPr kumimoji="1" lang="ko-KR" altLang="en-US" sz="105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세팅</a:t>
                      </a:r>
                      <a:endParaRPr kumimoji="1" lang="ko-KR" altLang="en-US" sz="105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46800" marB="468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1034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프레임워크개발</a:t>
                      </a:r>
                    </a:p>
                  </a:txBody>
                  <a:tcPr marL="33231" marR="33231" marT="46800" marB="468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F1E9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105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Java</a:t>
                      </a:r>
                      <a:r>
                        <a:rPr kumimoji="1" lang="ko-KR" altLang="en-US" sz="105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5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Framework </a:t>
                      </a:r>
                      <a:r>
                        <a:rPr kumimoji="1" lang="ko-KR" altLang="en-US" sz="105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</a:p>
                  </a:txBody>
                  <a:tcPr marL="33231" marR="33231" marT="46800" marB="468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1034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프로그램</a:t>
                      </a:r>
                    </a:p>
                  </a:txBody>
                  <a:tcPr marL="33231" marR="33231" marT="46800" marB="468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분석</a:t>
                      </a:r>
                    </a:p>
                  </a:txBody>
                  <a:tcPr marL="33231" marR="33231" marT="46800" marB="468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F1E9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105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요구사항정의</a:t>
                      </a:r>
                      <a:r>
                        <a:rPr kumimoji="1" lang="en-US" altLang="ko-KR" sz="105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GAP</a:t>
                      </a:r>
                      <a:r>
                        <a:rPr kumimoji="1" lang="ko-KR" altLang="en-US" sz="105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분석</a:t>
                      </a:r>
                    </a:p>
                  </a:txBody>
                  <a:tcPr marL="33231" marR="33231" marT="46800" marB="468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1034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설계</a:t>
                      </a:r>
                    </a:p>
                  </a:txBody>
                  <a:tcPr marL="33231" marR="33231" marT="46800" marB="468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F1E9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105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화면설계</a:t>
                      </a:r>
                      <a:r>
                        <a:rPr kumimoji="1" lang="en-US" altLang="ko-KR" sz="105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DB</a:t>
                      </a:r>
                      <a:r>
                        <a:rPr kumimoji="1" lang="ko-KR" altLang="en-US" sz="105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설계</a:t>
                      </a:r>
                      <a:r>
                        <a:rPr kumimoji="1" lang="en-US" altLang="ko-KR" sz="105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105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인터페이스 설계</a:t>
                      </a:r>
                    </a:p>
                  </a:txBody>
                  <a:tcPr marL="33231" marR="33231" marT="46800" marB="468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1034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개발</a:t>
                      </a:r>
                    </a:p>
                  </a:txBody>
                  <a:tcPr marL="33231" marR="33231" marT="46800" marB="468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105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5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프로그램 개발</a:t>
                      </a:r>
                      <a:endParaRPr kumimoji="1" lang="en-US" altLang="ko-KR" sz="105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(1</a:t>
                      </a:r>
                      <a:r>
                        <a:rPr kumimoji="1" lang="ko-KR" altLang="en-US" sz="105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차</a:t>
                      </a:r>
                      <a:r>
                        <a:rPr kumimoji="1" lang="en-US" altLang="ko-KR" sz="105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kumimoji="1" lang="ko-KR" altLang="en-US" sz="105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단순</a:t>
                      </a:r>
                      <a:r>
                        <a:rPr kumimoji="1" lang="en-US" altLang="ko-KR" sz="105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2</a:t>
                      </a:r>
                      <a:r>
                        <a:rPr kumimoji="1" lang="ko-KR" altLang="en-US" sz="105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차</a:t>
                      </a:r>
                      <a:r>
                        <a:rPr kumimoji="1" lang="en-US" altLang="ko-KR" sz="105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kumimoji="1" lang="ko-KR" altLang="en-US" sz="105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설계</a:t>
                      </a:r>
                      <a:r>
                        <a:rPr kumimoji="1" lang="en-US" altLang="ko-KR" sz="105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1" lang="ko-KR" altLang="en-US" sz="105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46800" marB="468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1034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3231" marR="33231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테스트</a:t>
                      </a:r>
                    </a:p>
                  </a:txBody>
                  <a:tcPr marL="33231" marR="33231" marT="46800" marB="468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105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5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단위테스트</a:t>
                      </a:r>
                      <a:r>
                        <a:rPr kumimoji="1" lang="en-US" altLang="ko-KR" sz="105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5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통합테스트</a:t>
                      </a:r>
                    </a:p>
                  </a:txBody>
                  <a:tcPr marL="33231" marR="33231" marT="46800" marB="468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1034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46800" marB="46800" anchor="ctr"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전개</a:t>
                      </a:r>
                    </a:p>
                  </a:txBody>
                  <a:tcPr marL="33231" marR="33231" marT="46800" marB="468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105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사용자</a:t>
                      </a:r>
                      <a:r>
                        <a:rPr kumimoji="1" lang="en-US" altLang="ko-KR" sz="105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5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운영자 매뉴얼</a:t>
                      </a:r>
                      <a:endParaRPr kumimoji="1" lang="en-US" altLang="ko-KR" sz="105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105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5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안정화</a:t>
                      </a:r>
                    </a:p>
                  </a:txBody>
                  <a:tcPr marL="33231" marR="33231" marT="46800" marB="468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103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제품화</a:t>
                      </a:r>
                    </a:p>
                  </a:txBody>
                  <a:tcPr marL="33231" marR="33231" marT="46800" marB="468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베타테스트</a:t>
                      </a:r>
                    </a:p>
                  </a:txBody>
                  <a:tcPr marL="33231" marR="33231" marT="46800" marB="468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en-US" altLang="ko-KR" sz="105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5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베타테스트 고객 사용 지원</a:t>
                      </a:r>
                    </a:p>
                  </a:txBody>
                  <a:tcPr marL="33231" marR="33231" marT="46800" marB="468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1034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제품화지원</a:t>
                      </a:r>
                      <a:endParaRPr kumimoji="1" lang="ko-KR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marT="46800" marB="468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1" lang="ko-KR" altLang="en-US" sz="105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판매용 제품화 지원</a:t>
                      </a:r>
                    </a:p>
                  </a:txBody>
                  <a:tcPr marL="33231" marR="33231" marT="46800" marB="4680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3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" name="AutoShape 439"/>
          <p:cNvSpPr>
            <a:spLocks noChangeArrowheads="1"/>
          </p:cNvSpPr>
          <p:nvPr/>
        </p:nvSpPr>
        <p:spPr bwMode="auto">
          <a:xfrm>
            <a:off x="4388811" y="1928707"/>
            <a:ext cx="360040" cy="360000"/>
          </a:xfrm>
          <a:prstGeom prst="rightArrow">
            <a:avLst>
              <a:gd name="adj1" fmla="val 61624"/>
              <a:gd name="adj2" fmla="val 61587"/>
            </a:avLst>
          </a:prstGeom>
          <a:solidFill>
            <a:schemeClr val="accent4">
              <a:lumMod val="60000"/>
              <a:lumOff val="40000"/>
            </a:schemeClr>
          </a:solidFill>
          <a:ln w="3175" algn="ctr">
            <a:solidFill>
              <a:schemeClr val="accent4">
                <a:lumMod val="60000"/>
                <a:lumOff val="40000"/>
              </a:schemeClr>
            </a:solidFill>
            <a:miter lim="800000"/>
            <a:headEnd type="none" w="sm" len="sm"/>
            <a:tailEnd type="none" w="sm" len="med"/>
          </a:ln>
        </p:spPr>
        <p:txBody>
          <a:bodyPr wrap="none" anchor="ctr"/>
          <a:lstStyle/>
          <a:p>
            <a:pPr algn="ctr" defTabSz="1514475" fontAlgn="base" latinLnBrk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>
                <a:srgbClr val="3683D0"/>
              </a:buClr>
              <a:buSzPct val="90000"/>
              <a:buFont typeface="Wingdings 2" pitchFamily="18" charset="2"/>
              <a:buNone/>
            </a:pPr>
            <a:endParaRPr kumimoji="1" lang="ko-KR" altLang="ko-KR" sz="900" b="1" dirty="0">
              <a:solidFill>
                <a:prstClr val="black"/>
              </a:solidFill>
              <a:latin typeface="+mn-ea"/>
              <a:cs typeface="Arial Unicode MS" pitchFamily="50" charset="-127"/>
            </a:endParaRPr>
          </a:p>
        </p:txBody>
      </p:sp>
      <p:sp>
        <p:nvSpPr>
          <p:cNvPr id="11" name="AutoShape 439"/>
          <p:cNvSpPr>
            <a:spLocks noChangeArrowheads="1"/>
          </p:cNvSpPr>
          <p:nvPr/>
        </p:nvSpPr>
        <p:spPr bwMode="auto">
          <a:xfrm>
            <a:off x="4797109" y="2397138"/>
            <a:ext cx="504056" cy="360000"/>
          </a:xfrm>
          <a:prstGeom prst="rightArrow">
            <a:avLst>
              <a:gd name="adj1" fmla="val 61624"/>
              <a:gd name="adj2" fmla="val 61587"/>
            </a:avLst>
          </a:prstGeom>
          <a:solidFill>
            <a:schemeClr val="accent4">
              <a:lumMod val="60000"/>
              <a:lumOff val="40000"/>
            </a:schemeClr>
          </a:solidFill>
          <a:ln w="3175" algn="ctr">
            <a:solidFill>
              <a:schemeClr val="accent4">
                <a:lumMod val="60000"/>
                <a:lumOff val="40000"/>
              </a:schemeClr>
            </a:solidFill>
            <a:miter lim="800000"/>
            <a:headEnd type="none" w="sm" len="sm"/>
            <a:tailEnd type="none" w="sm" len="med"/>
          </a:ln>
        </p:spPr>
        <p:txBody>
          <a:bodyPr wrap="none" anchor="ctr"/>
          <a:lstStyle/>
          <a:p>
            <a:pPr algn="ctr" defTabSz="1514475" fontAlgn="base" latinLnBrk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>
                <a:srgbClr val="3683D0"/>
              </a:buClr>
              <a:buSzPct val="90000"/>
              <a:buFont typeface="Wingdings 2" pitchFamily="18" charset="2"/>
              <a:buNone/>
            </a:pPr>
            <a:endParaRPr kumimoji="1" lang="ko-KR" altLang="ko-KR" sz="900" b="1" dirty="0">
              <a:solidFill>
                <a:prstClr val="black"/>
              </a:solidFill>
              <a:latin typeface="+mn-ea"/>
              <a:cs typeface="Arial Unicode MS" pitchFamily="50" charset="-127"/>
            </a:endParaRPr>
          </a:p>
        </p:txBody>
      </p:sp>
      <p:sp>
        <p:nvSpPr>
          <p:cNvPr id="12" name="AutoShape 439"/>
          <p:cNvSpPr>
            <a:spLocks noChangeArrowheads="1"/>
          </p:cNvSpPr>
          <p:nvPr/>
        </p:nvSpPr>
        <p:spPr bwMode="auto">
          <a:xfrm>
            <a:off x="4797109" y="2876726"/>
            <a:ext cx="504056" cy="360000"/>
          </a:xfrm>
          <a:prstGeom prst="rightArrow">
            <a:avLst>
              <a:gd name="adj1" fmla="val 61624"/>
              <a:gd name="adj2" fmla="val 61587"/>
            </a:avLst>
          </a:prstGeom>
          <a:solidFill>
            <a:schemeClr val="accent4">
              <a:lumMod val="60000"/>
              <a:lumOff val="40000"/>
            </a:schemeClr>
          </a:solidFill>
          <a:ln w="3175" algn="ctr">
            <a:solidFill>
              <a:schemeClr val="accent4">
                <a:lumMod val="60000"/>
                <a:lumOff val="40000"/>
              </a:schemeClr>
            </a:solidFill>
            <a:miter lim="800000"/>
            <a:headEnd type="none" w="sm" len="sm"/>
            <a:tailEnd type="none" w="sm" len="med"/>
          </a:ln>
        </p:spPr>
        <p:txBody>
          <a:bodyPr wrap="none" anchor="ctr"/>
          <a:lstStyle/>
          <a:p>
            <a:pPr algn="ctr" defTabSz="1514475" fontAlgn="base" latinLnBrk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>
                <a:srgbClr val="3683D0"/>
              </a:buClr>
              <a:buSzPct val="90000"/>
              <a:buFont typeface="Wingdings 2" pitchFamily="18" charset="2"/>
              <a:buNone/>
            </a:pPr>
            <a:endParaRPr kumimoji="1" lang="ko-KR" altLang="ko-KR" sz="900" b="1" dirty="0">
              <a:solidFill>
                <a:prstClr val="black"/>
              </a:solidFill>
              <a:latin typeface="+mn-ea"/>
              <a:cs typeface="Arial Unicode MS" pitchFamily="50" charset="-127"/>
            </a:endParaRPr>
          </a:p>
        </p:txBody>
      </p:sp>
      <p:sp>
        <p:nvSpPr>
          <p:cNvPr id="13" name="AutoShape 439"/>
          <p:cNvSpPr>
            <a:spLocks noChangeArrowheads="1"/>
          </p:cNvSpPr>
          <p:nvPr/>
        </p:nvSpPr>
        <p:spPr bwMode="auto">
          <a:xfrm>
            <a:off x="5289290" y="3368149"/>
            <a:ext cx="504056" cy="360000"/>
          </a:xfrm>
          <a:prstGeom prst="rightArrow">
            <a:avLst>
              <a:gd name="adj1" fmla="val 61624"/>
              <a:gd name="adj2" fmla="val 61587"/>
            </a:avLst>
          </a:prstGeom>
          <a:solidFill>
            <a:schemeClr val="accent4">
              <a:lumMod val="60000"/>
              <a:lumOff val="40000"/>
            </a:schemeClr>
          </a:solidFill>
          <a:ln w="3175" algn="ctr">
            <a:solidFill>
              <a:schemeClr val="accent4">
                <a:lumMod val="60000"/>
                <a:lumOff val="40000"/>
              </a:schemeClr>
            </a:solidFill>
            <a:miter lim="800000"/>
            <a:headEnd type="none" w="sm" len="sm"/>
            <a:tailEnd type="none" w="sm" len="med"/>
          </a:ln>
        </p:spPr>
        <p:txBody>
          <a:bodyPr wrap="none" anchor="ctr"/>
          <a:lstStyle/>
          <a:p>
            <a:pPr algn="ctr" defTabSz="1514475" fontAlgn="base" latinLnBrk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>
                <a:srgbClr val="3683D0"/>
              </a:buClr>
              <a:buSzPct val="90000"/>
              <a:buFont typeface="Wingdings 2" pitchFamily="18" charset="2"/>
              <a:buNone/>
            </a:pPr>
            <a:endParaRPr kumimoji="1" lang="ko-KR" altLang="ko-KR" sz="900" b="1" dirty="0">
              <a:solidFill>
                <a:prstClr val="black"/>
              </a:solidFill>
              <a:latin typeface="+mn-ea"/>
              <a:cs typeface="Arial Unicode MS" pitchFamily="50" charset="-127"/>
            </a:endParaRPr>
          </a:p>
        </p:txBody>
      </p:sp>
      <p:sp>
        <p:nvSpPr>
          <p:cNvPr id="14" name="AutoShape 439"/>
          <p:cNvSpPr>
            <a:spLocks noChangeArrowheads="1"/>
          </p:cNvSpPr>
          <p:nvPr/>
        </p:nvSpPr>
        <p:spPr bwMode="auto">
          <a:xfrm>
            <a:off x="5313040" y="3861048"/>
            <a:ext cx="504056" cy="360000"/>
          </a:xfrm>
          <a:prstGeom prst="rightArrow">
            <a:avLst>
              <a:gd name="adj1" fmla="val 61624"/>
              <a:gd name="adj2" fmla="val 61587"/>
            </a:avLst>
          </a:prstGeom>
          <a:solidFill>
            <a:schemeClr val="accent4">
              <a:lumMod val="60000"/>
              <a:lumOff val="40000"/>
            </a:schemeClr>
          </a:solidFill>
          <a:ln w="3175" algn="ctr">
            <a:solidFill>
              <a:schemeClr val="accent4">
                <a:lumMod val="60000"/>
                <a:lumOff val="40000"/>
              </a:schemeClr>
            </a:solidFill>
            <a:miter lim="800000"/>
            <a:headEnd type="none" w="sm" len="sm"/>
            <a:tailEnd type="none" w="sm" len="med"/>
          </a:ln>
        </p:spPr>
        <p:txBody>
          <a:bodyPr wrap="none" anchor="ctr"/>
          <a:lstStyle/>
          <a:p>
            <a:pPr algn="ctr" defTabSz="1514475" fontAlgn="base" latinLnBrk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>
                <a:srgbClr val="3683D0"/>
              </a:buClr>
              <a:buSzPct val="90000"/>
              <a:buFont typeface="Wingdings 2" pitchFamily="18" charset="2"/>
              <a:buNone/>
            </a:pPr>
            <a:r>
              <a:rPr kumimoji="1" lang="en-US" altLang="ko-KR" sz="900" b="1" dirty="0" smtClean="0">
                <a:solidFill>
                  <a:prstClr val="black"/>
                </a:solidFill>
                <a:latin typeface="+mn-ea"/>
                <a:cs typeface="Arial Unicode MS" pitchFamily="50" charset="-127"/>
              </a:rPr>
              <a:t>1</a:t>
            </a:r>
            <a:r>
              <a:rPr kumimoji="1" lang="ko-KR" altLang="en-US" sz="900" b="1" dirty="0" smtClean="0">
                <a:solidFill>
                  <a:prstClr val="black"/>
                </a:solidFill>
                <a:latin typeface="+mn-ea"/>
                <a:cs typeface="Arial Unicode MS" pitchFamily="50" charset="-127"/>
              </a:rPr>
              <a:t>차</a:t>
            </a:r>
            <a:endParaRPr kumimoji="1" lang="ko-KR" altLang="ko-KR" sz="900" b="1" dirty="0">
              <a:solidFill>
                <a:prstClr val="black"/>
              </a:solidFill>
              <a:latin typeface="+mn-ea"/>
              <a:cs typeface="Arial Unicode MS" pitchFamily="50" charset="-127"/>
            </a:endParaRPr>
          </a:p>
        </p:txBody>
      </p:sp>
      <p:sp>
        <p:nvSpPr>
          <p:cNvPr id="15" name="AutoShape 439"/>
          <p:cNvSpPr>
            <a:spLocks noChangeArrowheads="1"/>
          </p:cNvSpPr>
          <p:nvPr/>
        </p:nvSpPr>
        <p:spPr bwMode="auto">
          <a:xfrm>
            <a:off x="5889104" y="3861048"/>
            <a:ext cx="864096" cy="360000"/>
          </a:xfrm>
          <a:prstGeom prst="rightArrow">
            <a:avLst>
              <a:gd name="adj1" fmla="val 61624"/>
              <a:gd name="adj2" fmla="val 61587"/>
            </a:avLst>
          </a:prstGeom>
          <a:solidFill>
            <a:schemeClr val="accent4">
              <a:lumMod val="60000"/>
              <a:lumOff val="40000"/>
            </a:schemeClr>
          </a:solidFill>
          <a:ln w="3175" algn="ctr">
            <a:solidFill>
              <a:schemeClr val="accent4">
                <a:lumMod val="60000"/>
                <a:lumOff val="40000"/>
              </a:schemeClr>
            </a:solidFill>
            <a:miter lim="800000"/>
            <a:headEnd type="none" w="sm" len="sm"/>
            <a:tailEnd type="none" w="sm" len="med"/>
          </a:ln>
        </p:spPr>
        <p:txBody>
          <a:bodyPr wrap="none" anchor="ctr"/>
          <a:lstStyle/>
          <a:p>
            <a:pPr algn="ctr" defTabSz="1514475" fontAlgn="base" latinLnBrk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>
                <a:srgbClr val="3683D0"/>
              </a:buClr>
              <a:buSzPct val="90000"/>
              <a:buFont typeface="Wingdings 2" pitchFamily="18" charset="2"/>
              <a:buNone/>
            </a:pPr>
            <a:r>
              <a:rPr kumimoji="1" lang="en-US" altLang="ko-KR" sz="900" b="1" dirty="0" smtClean="0">
                <a:solidFill>
                  <a:prstClr val="black"/>
                </a:solidFill>
                <a:latin typeface="+mn-ea"/>
                <a:cs typeface="Arial Unicode MS" pitchFamily="50" charset="-127"/>
              </a:rPr>
              <a:t>2</a:t>
            </a:r>
            <a:r>
              <a:rPr kumimoji="1" lang="ko-KR" altLang="en-US" sz="900" b="1" dirty="0" smtClean="0">
                <a:solidFill>
                  <a:prstClr val="black"/>
                </a:solidFill>
                <a:latin typeface="+mn-ea"/>
                <a:cs typeface="Arial Unicode MS" pitchFamily="50" charset="-127"/>
              </a:rPr>
              <a:t>차</a:t>
            </a:r>
            <a:endParaRPr kumimoji="1" lang="ko-KR" altLang="ko-KR" sz="900" b="1" dirty="0">
              <a:solidFill>
                <a:prstClr val="black"/>
              </a:solidFill>
              <a:latin typeface="+mn-ea"/>
              <a:cs typeface="Arial Unicode MS" pitchFamily="50" charset="-127"/>
            </a:endParaRPr>
          </a:p>
        </p:txBody>
      </p:sp>
      <p:sp>
        <p:nvSpPr>
          <p:cNvPr id="16" name="AutoShape 439"/>
          <p:cNvSpPr>
            <a:spLocks noChangeArrowheads="1"/>
          </p:cNvSpPr>
          <p:nvPr/>
        </p:nvSpPr>
        <p:spPr bwMode="auto">
          <a:xfrm>
            <a:off x="6800700" y="4293096"/>
            <a:ext cx="360040" cy="360000"/>
          </a:xfrm>
          <a:prstGeom prst="rightArrow">
            <a:avLst>
              <a:gd name="adj1" fmla="val 61624"/>
              <a:gd name="adj2" fmla="val 61587"/>
            </a:avLst>
          </a:prstGeom>
          <a:solidFill>
            <a:schemeClr val="accent4">
              <a:lumMod val="60000"/>
              <a:lumOff val="40000"/>
            </a:schemeClr>
          </a:solidFill>
          <a:ln w="3175" algn="ctr">
            <a:solidFill>
              <a:schemeClr val="accent4">
                <a:lumMod val="60000"/>
                <a:lumOff val="40000"/>
              </a:schemeClr>
            </a:solidFill>
            <a:miter lim="800000"/>
            <a:headEnd type="none" w="sm" len="sm"/>
            <a:tailEnd type="none" w="sm" len="med"/>
          </a:ln>
        </p:spPr>
        <p:txBody>
          <a:bodyPr wrap="none" anchor="ctr"/>
          <a:lstStyle/>
          <a:p>
            <a:pPr algn="ctr" defTabSz="1514475" fontAlgn="base" latinLnBrk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>
                <a:srgbClr val="3683D0"/>
              </a:buClr>
              <a:buSzPct val="90000"/>
              <a:buFont typeface="Wingdings 2" pitchFamily="18" charset="2"/>
              <a:buNone/>
            </a:pPr>
            <a:endParaRPr kumimoji="1" lang="ko-KR" altLang="ko-KR" sz="900" b="1" dirty="0">
              <a:solidFill>
                <a:prstClr val="black"/>
              </a:solidFill>
              <a:latin typeface="+mn-ea"/>
              <a:cs typeface="Arial Unicode MS" pitchFamily="50" charset="-127"/>
            </a:endParaRPr>
          </a:p>
        </p:txBody>
      </p:sp>
      <p:sp>
        <p:nvSpPr>
          <p:cNvPr id="17" name="AutoShape 439"/>
          <p:cNvSpPr>
            <a:spLocks noChangeArrowheads="1"/>
          </p:cNvSpPr>
          <p:nvPr/>
        </p:nvSpPr>
        <p:spPr bwMode="auto">
          <a:xfrm>
            <a:off x="7197123" y="4797152"/>
            <a:ext cx="360040" cy="360000"/>
          </a:xfrm>
          <a:prstGeom prst="rightArrow">
            <a:avLst>
              <a:gd name="adj1" fmla="val 61624"/>
              <a:gd name="adj2" fmla="val 61587"/>
            </a:avLst>
          </a:prstGeom>
          <a:solidFill>
            <a:schemeClr val="accent4">
              <a:lumMod val="60000"/>
              <a:lumOff val="40000"/>
            </a:schemeClr>
          </a:solidFill>
          <a:ln w="3175" algn="ctr">
            <a:solidFill>
              <a:schemeClr val="accent4">
                <a:lumMod val="60000"/>
                <a:lumOff val="40000"/>
              </a:schemeClr>
            </a:solidFill>
            <a:miter lim="800000"/>
            <a:headEnd type="none" w="sm" len="sm"/>
            <a:tailEnd type="none" w="sm" len="med"/>
          </a:ln>
        </p:spPr>
        <p:txBody>
          <a:bodyPr wrap="none" anchor="ctr"/>
          <a:lstStyle/>
          <a:p>
            <a:pPr algn="ctr" defTabSz="1514475" fontAlgn="base" latinLnBrk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>
                <a:srgbClr val="3683D0"/>
              </a:buClr>
              <a:buSzPct val="90000"/>
              <a:buFont typeface="Wingdings 2" pitchFamily="18" charset="2"/>
              <a:buNone/>
            </a:pPr>
            <a:endParaRPr kumimoji="1" lang="ko-KR" altLang="ko-KR" sz="900" b="1" dirty="0">
              <a:solidFill>
                <a:prstClr val="black"/>
              </a:solidFill>
              <a:latin typeface="+mn-ea"/>
              <a:cs typeface="Arial Unicode MS" pitchFamily="50" charset="-127"/>
            </a:endParaRPr>
          </a:p>
        </p:txBody>
      </p:sp>
      <p:sp>
        <p:nvSpPr>
          <p:cNvPr id="18" name="AutoShape 439"/>
          <p:cNvSpPr>
            <a:spLocks noChangeArrowheads="1"/>
          </p:cNvSpPr>
          <p:nvPr/>
        </p:nvSpPr>
        <p:spPr bwMode="auto">
          <a:xfrm>
            <a:off x="7592788" y="5289333"/>
            <a:ext cx="1176636" cy="360000"/>
          </a:xfrm>
          <a:prstGeom prst="rightArrow">
            <a:avLst>
              <a:gd name="adj1" fmla="val 61624"/>
              <a:gd name="adj2" fmla="val 61587"/>
            </a:avLst>
          </a:prstGeom>
          <a:solidFill>
            <a:schemeClr val="accent4">
              <a:lumMod val="60000"/>
              <a:lumOff val="40000"/>
            </a:schemeClr>
          </a:solidFill>
          <a:ln w="3175" algn="ctr">
            <a:solidFill>
              <a:schemeClr val="accent4">
                <a:lumMod val="60000"/>
                <a:lumOff val="40000"/>
              </a:schemeClr>
            </a:solidFill>
            <a:miter lim="800000"/>
            <a:headEnd type="none" w="sm" len="sm"/>
            <a:tailEnd type="none" w="sm" len="med"/>
          </a:ln>
        </p:spPr>
        <p:txBody>
          <a:bodyPr wrap="none" anchor="ctr"/>
          <a:lstStyle/>
          <a:p>
            <a:pPr algn="ctr" defTabSz="1514475" fontAlgn="base" latinLnBrk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>
                <a:srgbClr val="3683D0"/>
              </a:buClr>
              <a:buSzPct val="90000"/>
              <a:buFont typeface="Wingdings 2" pitchFamily="18" charset="2"/>
              <a:buNone/>
            </a:pPr>
            <a:endParaRPr kumimoji="1" lang="ko-KR" altLang="ko-KR" sz="900" b="1" dirty="0">
              <a:solidFill>
                <a:prstClr val="black"/>
              </a:solidFill>
              <a:latin typeface="+mn-ea"/>
              <a:cs typeface="Arial Unicode MS" pitchFamily="50" charset="-127"/>
            </a:endParaRPr>
          </a:p>
        </p:txBody>
      </p:sp>
      <p:sp>
        <p:nvSpPr>
          <p:cNvPr id="19" name="AutoShape 439"/>
          <p:cNvSpPr>
            <a:spLocks noChangeArrowheads="1"/>
          </p:cNvSpPr>
          <p:nvPr/>
        </p:nvSpPr>
        <p:spPr bwMode="auto">
          <a:xfrm>
            <a:off x="8805806" y="5745131"/>
            <a:ext cx="743831" cy="360000"/>
          </a:xfrm>
          <a:prstGeom prst="rightArrow">
            <a:avLst>
              <a:gd name="adj1" fmla="val 61624"/>
              <a:gd name="adj2" fmla="val 61587"/>
            </a:avLst>
          </a:prstGeom>
          <a:solidFill>
            <a:schemeClr val="accent4">
              <a:lumMod val="60000"/>
              <a:lumOff val="40000"/>
            </a:schemeClr>
          </a:solidFill>
          <a:ln w="3175" algn="ctr">
            <a:solidFill>
              <a:schemeClr val="accent4">
                <a:lumMod val="60000"/>
                <a:lumOff val="40000"/>
              </a:schemeClr>
            </a:solidFill>
            <a:miter lim="800000"/>
            <a:headEnd type="none" w="sm" len="sm"/>
            <a:tailEnd type="none" w="sm" len="med"/>
          </a:ln>
        </p:spPr>
        <p:txBody>
          <a:bodyPr wrap="none" anchor="ctr"/>
          <a:lstStyle/>
          <a:p>
            <a:pPr algn="ctr" defTabSz="1514475" fontAlgn="base" latinLnBrk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>
                <a:srgbClr val="3683D0"/>
              </a:buClr>
              <a:buSzPct val="90000"/>
              <a:buFont typeface="Wingdings 2" pitchFamily="18" charset="2"/>
              <a:buNone/>
            </a:pPr>
            <a:endParaRPr kumimoji="1" lang="ko-KR" altLang="ko-KR" sz="900" b="1" dirty="0">
              <a:solidFill>
                <a:prstClr val="black"/>
              </a:solidFill>
              <a:latin typeface="+mn-ea"/>
              <a:cs typeface="Arial Unicode MS" pitchFamily="50" charset="-127"/>
            </a:endParaRPr>
          </a:p>
        </p:txBody>
      </p:sp>
      <p:sp>
        <p:nvSpPr>
          <p:cNvPr id="21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3797300" y="6492899"/>
            <a:ext cx="2311400" cy="276999"/>
          </a:xfrm>
        </p:spPr>
        <p:txBody>
          <a:bodyPr wrap="square">
            <a:spAutoFit/>
          </a:bodyPr>
          <a:lstStyle/>
          <a:p>
            <a:pPr algn="ctr"/>
            <a:r>
              <a:rPr lang="en-US" altLang="ko-KR" dirty="0" smtClean="0">
                <a:latin typeface="+mn-ea"/>
              </a:rPr>
              <a:t>- 4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-</a:t>
            </a:r>
            <a:endParaRPr lang="ko-KR" altLang="en-US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개발 기능</a:t>
            </a:r>
            <a:endParaRPr lang="ko-KR" altLang="en-US" dirty="0"/>
          </a:p>
        </p:txBody>
      </p:sp>
      <p:sp>
        <p:nvSpPr>
          <p:cNvPr id="225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smtClean="0"/>
              <a:t>5</a:t>
            </a:r>
            <a:endParaRPr lang="ko-KR" altLang="en-US" dirty="0"/>
          </a:p>
        </p:txBody>
      </p:sp>
      <p:sp>
        <p:nvSpPr>
          <p:cNvPr id="144" name="직사각형 143"/>
          <p:cNvSpPr/>
          <p:nvPr/>
        </p:nvSpPr>
        <p:spPr>
          <a:xfrm>
            <a:off x="344488" y="1340767"/>
            <a:ext cx="9217024" cy="482508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69" name="꺾인 연결선 68"/>
          <p:cNvCxnSpPr>
            <a:stCxn id="10" idx="0"/>
            <a:endCxn id="6" idx="2"/>
          </p:cNvCxnSpPr>
          <p:nvPr/>
        </p:nvCxnSpPr>
        <p:spPr bwMode="auto">
          <a:xfrm rot="5400000" flipH="1" flipV="1">
            <a:off x="2753349" y="-335975"/>
            <a:ext cx="513048" cy="3886254"/>
          </a:xfrm>
          <a:prstGeom prst="bentConnector3">
            <a:avLst>
              <a:gd name="adj1" fmla="val 50000"/>
            </a:avLst>
          </a:prstGeom>
          <a:solidFill>
            <a:srgbClr val="BBE0E3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1" name="꺾인 연결선 70"/>
          <p:cNvCxnSpPr>
            <a:stCxn id="94" idx="0"/>
            <a:endCxn id="6" idx="2"/>
          </p:cNvCxnSpPr>
          <p:nvPr/>
        </p:nvCxnSpPr>
        <p:spPr bwMode="auto">
          <a:xfrm rot="5400000" flipH="1" flipV="1">
            <a:off x="3861938" y="770741"/>
            <a:ext cx="511175" cy="1670950"/>
          </a:xfrm>
          <a:prstGeom prst="bentConnector3">
            <a:avLst>
              <a:gd name="adj1" fmla="val 50000"/>
            </a:avLst>
          </a:prstGeom>
          <a:solidFill>
            <a:srgbClr val="BBE0E3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3" name="꺾인 연결선 72"/>
          <p:cNvCxnSpPr>
            <a:stCxn id="32" idx="0"/>
            <a:endCxn id="6" idx="2"/>
          </p:cNvCxnSpPr>
          <p:nvPr/>
        </p:nvCxnSpPr>
        <p:spPr bwMode="auto">
          <a:xfrm rot="16200000" flipV="1">
            <a:off x="4989224" y="1314405"/>
            <a:ext cx="514747" cy="587194"/>
          </a:xfrm>
          <a:prstGeom prst="bentConnector3">
            <a:avLst>
              <a:gd name="adj1" fmla="val 50000"/>
            </a:avLst>
          </a:prstGeom>
          <a:solidFill>
            <a:srgbClr val="BBE0E3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꺾인 연결선 73"/>
          <p:cNvCxnSpPr>
            <a:stCxn id="12" idx="0"/>
            <a:endCxn id="6" idx="2"/>
          </p:cNvCxnSpPr>
          <p:nvPr/>
        </p:nvCxnSpPr>
        <p:spPr bwMode="auto">
          <a:xfrm rot="16200000" flipV="1">
            <a:off x="5548183" y="755445"/>
            <a:ext cx="513048" cy="1703414"/>
          </a:xfrm>
          <a:prstGeom prst="bentConnector3">
            <a:avLst>
              <a:gd name="adj1" fmla="val 50000"/>
            </a:avLst>
          </a:prstGeom>
          <a:solidFill>
            <a:srgbClr val="BBE0E3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5" name="꺾인 연결선 74"/>
          <p:cNvCxnSpPr>
            <a:stCxn id="37" idx="0"/>
            <a:endCxn id="6" idx="2"/>
          </p:cNvCxnSpPr>
          <p:nvPr/>
        </p:nvCxnSpPr>
        <p:spPr bwMode="auto">
          <a:xfrm rot="16200000" flipV="1">
            <a:off x="6109415" y="194214"/>
            <a:ext cx="506959" cy="2819787"/>
          </a:xfrm>
          <a:prstGeom prst="bentConnector3">
            <a:avLst>
              <a:gd name="adj1" fmla="val 50000"/>
            </a:avLst>
          </a:prstGeom>
          <a:solidFill>
            <a:srgbClr val="BBE0E3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6" name="꺾인 연결선 75"/>
          <p:cNvCxnSpPr>
            <a:stCxn id="42" idx="0"/>
            <a:endCxn id="6" idx="2"/>
          </p:cNvCxnSpPr>
          <p:nvPr/>
        </p:nvCxnSpPr>
        <p:spPr bwMode="auto">
          <a:xfrm rot="16200000" flipV="1">
            <a:off x="6665715" y="-362086"/>
            <a:ext cx="506959" cy="3932388"/>
          </a:xfrm>
          <a:prstGeom prst="bentConnector3">
            <a:avLst>
              <a:gd name="adj1" fmla="val 50000"/>
            </a:avLst>
          </a:prstGeom>
          <a:solidFill>
            <a:srgbClr val="BBE0E3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3" name="꺾인 연결선 142"/>
          <p:cNvCxnSpPr>
            <a:stCxn id="93" idx="0"/>
            <a:endCxn id="6" idx="2"/>
          </p:cNvCxnSpPr>
          <p:nvPr/>
        </p:nvCxnSpPr>
        <p:spPr bwMode="auto">
          <a:xfrm rot="5400000" flipH="1" flipV="1">
            <a:off x="3303378" y="210902"/>
            <a:ext cx="509896" cy="2789348"/>
          </a:xfrm>
          <a:prstGeom prst="bentConnector3">
            <a:avLst>
              <a:gd name="adj1" fmla="val 50000"/>
            </a:avLst>
          </a:prstGeom>
          <a:solidFill>
            <a:srgbClr val="BBE0E3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6" name="꺾인 연결선 155"/>
          <p:cNvCxnSpPr>
            <a:stCxn id="95" idx="0"/>
            <a:endCxn id="6" idx="2"/>
          </p:cNvCxnSpPr>
          <p:nvPr/>
        </p:nvCxnSpPr>
        <p:spPr bwMode="auto">
          <a:xfrm rot="5400000" flipH="1" flipV="1">
            <a:off x="4425500" y="1334304"/>
            <a:ext cx="511175" cy="543825"/>
          </a:xfrm>
          <a:prstGeom prst="bentConnector3">
            <a:avLst>
              <a:gd name="adj1" fmla="val 50000"/>
            </a:avLst>
          </a:prstGeom>
          <a:solidFill>
            <a:srgbClr val="BBE0E3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1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3797300" y="6492899"/>
            <a:ext cx="2311400" cy="276999"/>
          </a:xfrm>
        </p:spPr>
        <p:txBody>
          <a:bodyPr wrap="square">
            <a:spAutoFit/>
          </a:bodyPr>
          <a:lstStyle/>
          <a:p>
            <a:pPr algn="ctr"/>
            <a:r>
              <a:rPr lang="en-US" altLang="ko-KR" dirty="0" smtClean="0">
                <a:latin typeface="+mn-ea"/>
              </a:rPr>
              <a:t>- 5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-</a:t>
            </a:r>
            <a:endParaRPr lang="ko-KR" altLang="en-US" dirty="0">
              <a:latin typeface="+mn-ea"/>
            </a:endParaRPr>
          </a:p>
        </p:txBody>
      </p:sp>
      <p:grpSp>
        <p:nvGrpSpPr>
          <p:cNvPr id="120" name="그룹 119"/>
          <p:cNvGrpSpPr/>
          <p:nvPr/>
        </p:nvGrpSpPr>
        <p:grpSpPr>
          <a:xfrm>
            <a:off x="569493" y="1857587"/>
            <a:ext cx="8815656" cy="4235709"/>
            <a:chOff x="569493" y="1641563"/>
            <a:chExt cx="8815656" cy="4626938"/>
          </a:xfrm>
        </p:grpSpPr>
        <p:sp>
          <p:nvSpPr>
            <p:cNvPr id="10" name="Rectangle 557"/>
            <p:cNvSpPr>
              <a:spLocks noChangeArrowheads="1"/>
            </p:cNvSpPr>
            <p:nvPr/>
          </p:nvSpPr>
          <p:spPr bwMode="auto">
            <a:xfrm>
              <a:off x="569946" y="1648214"/>
              <a:ext cx="993600" cy="309940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50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200" b="1" dirty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메타정보</a:t>
              </a:r>
            </a:p>
          </p:txBody>
        </p:sp>
        <p:sp>
          <p:nvSpPr>
            <p:cNvPr id="12" name="Rectangle 559"/>
            <p:cNvSpPr>
              <a:spLocks noChangeArrowheads="1"/>
            </p:cNvSpPr>
            <p:nvPr/>
          </p:nvSpPr>
          <p:spPr bwMode="auto">
            <a:xfrm>
              <a:off x="6159614" y="1648214"/>
              <a:ext cx="993600" cy="309940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50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1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기준관리</a:t>
              </a:r>
              <a:endParaRPr lang="ko-KR" altLang="en-US" sz="11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" name="Rectangle 560"/>
            <p:cNvSpPr>
              <a:spLocks noChangeArrowheads="1"/>
            </p:cNvSpPr>
            <p:nvPr/>
          </p:nvSpPr>
          <p:spPr bwMode="auto">
            <a:xfrm>
              <a:off x="569946" y="2002698"/>
              <a:ext cx="993600" cy="317365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로그인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Rectangle 561"/>
            <p:cNvSpPr>
              <a:spLocks noChangeArrowheads="1"/>
            </p:cNvSpPr>
            <p:nvPr/>
          </p:nvSpPr>
          <p:spPr bwMode="auto">
            <a:xfrm>
              <a:off x="569946" y="2320063"/>
              <a:ext cx="993600" cy="319221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로그아웃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" name="Rectangle 562"/>
            <p:cNvSpPr>
              <a:spLocks noChangeArrowheads="1"/>
            </p:cNvSpPr>
            <p:nvPr/>
          </p:nvSpPr>
          <p:spPr bwMode="auto">
            <a:xfrm>
              <a:off x="569946" y="2639283"/>
              <a:ext cx="993600" cy="317364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err="1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자사괸리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2" name="Rectangle 618"/>
            <p:cNvSpPr>
              <a:spLocks noChangeArrowheads="1"/>
            </p:cNvSpPr>
            <p:nvPr/>
          </p:nvSpPr>
          <p:spPr bwMode="auto">
            <a:xfrm>
              <a:off x="5043394" y="1650070"/>
              <a:ext cx="993600" cy="309942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50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1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재고관리</a:t>
              </a:r>
              <a:endParaRPr lang="en-US" altLang="ko-KR" sz="11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7" name="Rectangle 559"/>
            <p:cNvSpPr>
              <a:spLocks noChangeArrowheads="1"/>
            </p:cNvSpPr>
            <p:nvPr/>
          </p:nvSpPr>
          <p:spPr bwMode="auto">
            <a:xfrm>
              <a:off x="7275987" y="1641563"/>
              <a:ext cx="993600" cy="309940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50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200" b="1" dirty="0" err="1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정산괸리</a:t>
              </a:r>
              <a:endParaRPr lang="ko-KR" altLang="en-US" sz="12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2" name="Rectangle 559"/>
            <p:cNvSpPr>
              <a:spLocks noChangeArrowheads="1"/>
            </p:cNvSpPr>
            <p:nvPr/>
          </p:nvSpPr>
          <p:spPr bwMode="auto">
            <a:xfrm>
              <a:off x="8388588" y="1641563"/>
              <a:ext cx="993600" cy="309940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50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2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시스템</a:t>
              </a:r>
              <a:endParaRPr lang="ko-KR" altLang="en-US" sz="12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8" name="Rectangle 603"/>
            <p:cNvSpPr>
              <a:spLocks noChangeArrowheads="1"/>
            </p:cNvSpPr>
            <p:nvPr/>
          </p:nvSpPr>
          <p:spPr bwMode="auto">
            <a:xfrm>
              <a:off x="5033963" y="2635489"/>
              <a:ext cx="993600" cy="319221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재고입출고내역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9" name="Rectangle 604">
              <a:hlinkClick r:id="rId3" action="ppaction://hlinkfile"/>
            </p:cNvPr>
            <p:cNvSpPr>
              <a:spLocks noChangeArrowheads="1"/>
            </p:cNvSpPr>
            <p:nvPr/>
          </p:nvSpPr>
          <p:spPr bwMode="auto">
            <a:xfrm>
              <a:off x="5033963" y="2013463"/>
              <a:ext cx="993600" cy="317364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err="1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현재고조회</a:t>
              </a:r>
              <a:endParaRPr lang="en-US" altLang="ko-KR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0" name="Rectangle 605"/>
            <p:cNvSpPr>
              <a:spLocks noChangeArrowheads="1"/>
            </p:cNvSpPr>
            <p:nvPr/>
          </p:nvSpPr>
          <p:spPr bwMode="auto">
            <a:xfrm>
              <a:off x="5033963" y="2948359"/>
              <a:ext cx="993600" cy="317365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재고이동현황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1" name="Rectangle 606">
              <a:hlinkClick r:id="rId4" action="ppaction://hlinkfile"/>
            </p:cNvPr>
            <p:cNvSpPr>
              <a:spLocks noChangeArrowheads="1"/>
            </p:cNvSpPr>
            <p:nvPr/>
          </p:nvSpPr>
          <p:spPr bwMode="auto">
            <a:xfrm>
              <a:off x="5033963" y="3259373"/>
              <a:ext cx="993600" cy="319221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재고실사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2" name="Rectangle 605">
              <a:hlinkClick r:id="rId4" action="ppaction://hlinkfile"/>
            </p:cNvPr>
            <p:cNvSpPr>
              <a:spLocks noChangeArrowheads="1"/>
            </p:cNvSpPr>
            <p:nvPr/>
          </p:nvSpPr>
          <p:spPr bwMode="auto">
            <a:xfrm>
              <a:off x="5033963" y="3572243"/>
              <a:ext cx="993600" cy="317365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명의변경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3" name="Rectangle 606">
              <a:hlinkClick r:id="rId5" action="ppaction://hlinkfile"/>
            </p:cNvPr>
            <p:cNvSpPr>
              <a:spLocks noChangeArrowheads="1"/>
            </p:cNvSpPr>
            <p:nvPr/>
          </p:nvSpPr>
          <p:spPr bwMode="auto">
            <a:xfrm>
              <a:off x="5033963" y="3883257"/>
              <a:ext cx="993600" cy="319221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err="1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임가공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4" name="Rectangle 603"/>
            <p:cNvSpPr>
              <a:spLocks noChangeArrowheads="1"/>
            </p:cNvSpPr>
            <p:nvPr/>
          </p:nvSpPr>
          <p:spPr bwMode="auto">
            <a:xfrm>
              <a:off x="6158086" y="2616974"/>
              <a:ext cx="993600" cy="319221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창고정보관리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5" name="Rectangle 604">
              <a:hlinkClick r:id="rId3" action="ppaction://hlinkfile"/>
            </p:cNvPr>
            <p:cNvSpPr>
              <a:spLocks noChangeArrowheads="1"/>
            </p:cNvSpPr>
            <p:nvPr/>
          </p:nvSpPr>
          <p:spPr bwMode="auto">
            <a:xfrm>
              <a:off x="6158086" y="2013463"/>
              <a:ext cx="993600" cy="317364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물류센터관리</a:t>
              </a:r>
              <a:endParaRPr lang="en-US" altLang="ko-KR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6" name="Rectangle 605"/>
            <p:cNvSpPr>
              <a:spLocks noChangeArrowheads="1"/>
            </p:cNvSpPr>
            <p:nvPr/>
          </p:nvSpPr>
          <p:spPr bwMode="auto">
            <a:xfrm>
              <a:off x="6158086" y="2920586"/>
              <a:ext cx="993600" cy="317365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en-US" altLang="ko-KR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ZONE</a:t>
              </a: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관리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7" name="Rectangle 606">
              <a:hlinkClick r:id="rId4" action="ppaction://hlinkfile"/>
            </p:cNvPr>
            <p:cNvSpPr>
              <a:spLocks noChangeArrowheads="1"/>
            </p:cNvSpPr>
            <p:nvPr/>
          </p:nvSpPr>
          <p:spPr bwMode="auto">
            <a:xfrm>
              <a:off x="6158086" y="3222342"/>
              <a:ext cx="993600" cy="319221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로케이션관리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8" name="Rectangle 605">
              <a:hlinkClick r:id="rId4" action="ppaction://hlinkfile"/>
            </p:cNvPr>
            <p:cNvSpPr>
              <a:spLocks noChangeArrowheads="1"/>
            </p:cNvSpPr>
            <p:nvPr/>
          </p:nvSpPr>
          <p:spPr bwMode="auto">
            <a:xfrm>
              <a:off x="6158086" y="3525954"/>
              <a:ext cx="993600" cy="317365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화주정보관리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9" name="Rectangle 606">
              <a:hlinkClick r:id="rId5" action="ppaction://hlinkfile"/>
            </p:cNvPr>
            <p:cNvSpPr>
              <a:spLocks noChangeArrowheads="1"/>
            </p:cNvSpPr>
            <p:nvPr/>
          </p:nvSpPr>
          <p:spPr bwMode="auto">
            <a:xfrm>
              <a:off x="6158086" y="3827710"/>
              <a:ext cx="993600" cy="319221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매출거래처관리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0" name="Rectangle 603"/>
            <p:cNvSpPr>
              <a:spLocks noChangeArrowheads="1"/>
            </p:cNvSpPr>
            <p:nvPr/>
          </p:nvSpPr>
          <p:spPr bwMode="auto">
            <a:xfrm>
              <a:off x="6158086" y="4433077"/>
              <a:ext cx="993600" cy="319221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en-US" altLang="ko-KR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UOM</a:t>
              </a: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정보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1" name="Rectangle 604">
              <a:hlinkClick r:id="rId3" action="ppaction://hlinkfile"/>
            </p:cNvPr>
            <p:cNvSpPr>
              <a:spLocks noChangeArrowheads="1"/>
            </p:cNvSpPr>
            <p:nvPr/>
          </p:nvSpPr>
          <p:spPr bwMode="auto">
            <a:xfrm>
              <a:off x="6158086" y="4131322"/>
              <a:ext cx="993600" cy="317364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상품정보관리</a:t>
              </a:r>
              <a:endParaRPr lang="en-US" altLang="ko-KR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2" name="Rectangle 605"/>
            <p:cNvSpPr>
              <a:spLocks noChangeArrowheads="1"/>
            </p:cNvSpPr>
            <p:nvPr/>
          </p:nvSpPr>
          <p:spPr bwMode="auto">
            <a:xfrm>
              <a:off x="6158086" y="2315218"/>
              <a:ext cx="993600" cy="317365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err="1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센터별작업정책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3" name="Rectangle 606">
              <a:hlinkClick r:id="rId4" action="ppaction://hlinkfile"/>
            </p:cNvPr>
            <p:cNvSpPr>
              <a:spLocks noChangeArrowheads="1"/>
            </p:cNvSpPr>
            <p:nvPr/>
          </p:nvSpPr>
          <p:spPr bwMode="auto">
            <a:xfrm>
              <a:off x="6158086" y="4736689"/>
              <a:ext cx="993600" cy="319221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err="1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상품군관리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4" name="Rectangle 605">
              <a:hlinkClick r:id="rId4" action="ppaction://hlinkfile"/>
            </p:cNvPr>
            <p:cNvSpPr>
              <a:spLocks noChangeArrowheads="1"/>
            </p:cNvSpPr>
            <p:nvPr/>
          </p:nvSpPr>
          <p:spPr bwMode="auto">
            <a:xfrm>
              <a:off x="6158086" y="5040301"/>
              <a:ext cx="993600" cy="317365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세트상품구성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5" name="Rectangle 606">
              <a:hlinkClick r:id="rId5" action="ppaction://hlinkfile"/>
            </p:cNvPr>
            <p:cNvSpPr>
              <a:spLocks noChangeArrowheads="1"/>
            </p:cNvSpPr>
            <p:nvPr/>
          </p:nvSpPr>
          <p:spPr bwMode="auto">
            <a:xfrm>
              <a:off x="6158086" y="5342057"/>
              <a:ext cx="993600" cy="319221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물류용기관리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6" name="Rectangle 603"/>
            <p:cNvSpPr>
              <a:spLocks noChangeArrowheads="1"/>
            </p:cNvSpPr>
            <p:nvPr/>
          </p:nvSpPr>
          <p:spPr bwMode="auto">
            <a:xfrm>
              <a:off x="7271965" y="2339388"/>
              <a:ext cx="993600" cy="319221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정산산출</a:t>
              </a:r>
            </a:p>
          </p:txBody>
        </p:sp>
        <p:sp>
          <p:nvSpPr>
            <p:cNvPr id="117" name="Rectangle 604">
              <a:hlinkClick r:id="rId3" action="ppaction://hlinkfile"/>
            </p:cNvPr>
            <p:cNvSpPr>
              <a:spLocks noChangeArrowheads="1"/>
            </p:cNvSpPr>
            <p:nvPr/>
          </p:nvSpPr>
          <p:spPr bwMode="auto">
            <a:xfrm>
              <a:off x="7271965" y="2023879"/>
              <a:ext cx="993600" cy="317364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정산단가관리</a:t>
              </a:r>
            </a:p>
          </p:txBody>
        </p:sp>
        <p:sp>
          <p:nvSpPr>
            <p:cNvPr id="123" name="Rectangle 567"/>
            <p:cNvSpPr>
              <a:spLocks noChangeArrowheads="1"/>
            </p:cNvSpPr>
            <p:nvPr/>
          </p:nvSpPr>
          <p:spPr bwMode="auto">
            <a:xfrm>
              <a:off x="8388556" y="2336788"/>
              <a:ext cx="993600" cy="315655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프로그램관리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4" name="Rectangle 568">
              <a:hlinkClick r:id="rId6" action="ppaction://hlinkfile"/>
            </p:cNvPr>
            <p:cNvSpPr>
              <a:spLocks noChangeArrowheads="1"/>
            </p:cNvSpPr>
            <p:nvPr/>
          </p:nvSpPr>
          <p:spPr bwMode="auto">
            <a:xfrm>
              <a:off x="8388556" y="2021280"/>
              <a:ext cx="993600" cy="317365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사용자관리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5" name="Rectangle 570"/>
            <p:cNvSpPr>
              <a:spLocks noChangeArrowheads="1"/>
            </p:cNvSpPr>
            <p:nvPr/>
          </p:nvSpPr>
          <p:spPr bwMode="auto">
            <a:xfrm>
              <a:off x="8388556" y="2653471"/>
              <a:ext cx="993600" cy="317364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권한관리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6" name="Rectangle 571">
              <a:hlinkClick r:id="rId7" action="ppaction://hlinkfile"/>
            </p:cNvPr>
            <p:cNvSpPr>
              <a:spLocks noChangeArrowheads="1"/>
            </p:cNvSpPr>
            <p:nvPr/>
          </p:nvSpPr>
          <p:spPr bwMode="auto">
            <a:xfrm>
              <a:off x="8388556" y="2970835"/>
              <a:ext cx="993600" cy="319221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인터페이스현황</a:t>
              </a:r>
              <a:endParaRPr lang="en-US" altLang="ko-KR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7" name="Rectangle 571">
              <a:hlinkClick r:id="rId8" action="ppaction://hlinkfile"/>
            </p:cNvPr>
            <p:cNvSpPr>
              <a:spLocks noChangeArrowheads="1"/>
            </p:cNvSpPr>
            <p:nvPr/>
          </p:nvSpPr>
          <p:spPr bwMode="auto">
            <a:xfrm>
              <a:off x="8388556" y="3288306"/>
              <a:ext cx="993600" cy="319221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기준관리</a:t>
              </a:r>
              <a:endParaRPr lang="en-US" altLang="ko-KR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1" name="Rectangle 580">
              <a:hlinkClick r:id="rId9" action="ppaction://hlinkfile"/>
            </p:cNvPr>
            <p:cNvSpPr>
              <a:spLocks noChangeArrowheads="1"/>
            </p:cNvSpPr>
            <p:nvPr/>
          </p:nvSpPr>
          <p:spPr bwMode="auto">
            <a:xfrm>
              <a:off x="7316986" y="3518663"/>
              <a:ext cx="993600" cy="317365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err="1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창고별재고조회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2" name="Rectangle 583"/>
            <p:cNvSpPr>
              <a:spLocks noChangeArrowheads="1"/>
            </p:cNvSpPr>
            <p:nvPr/>
          </p:nvSpPr>
          <p:spPr bwMode="auto">
            <a:xfrm>
              <a:off x="7316986" y="3831880"/>
              <a:ext cx="993600" cy="319221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err="1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로케이션별재고</a:t>
              </a:r>
              <a:endParaRPr lang="en-US" altLang="ko-KR" sz="9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조회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3" name="Rectangle 559"/>
            <p:cNvSpPr>
              <a:spLocks noChangeArrowheads="1"/>
            </p:cNvSpPr>
            <p:nvPr/>
          </p:nvSpPr>
          <p:spPr bwMode="auto">
            <a:xfrm>
              <a:off x="7316986" y="3171604"/>
              <a:ext cx="993600" cy="309940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50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2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통계</a:t>
              </a:r>
              <a:endParaRPr lang="ko-KR" altLang="en-US" sz="12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4" name="Rectangle 570"/>
            <p:cNvSpPr>
              <a:spLocks noChangeArrowheads="1"/>
            </p:cNvSpPr>
            <p:nvPr/>
          </p:nvSpPr>
          <p:spPr bwMode="auto">
            <a:xfrm>
              <a:off x="7316986" y="4148105"/>
              <a:ext cx="993600" cy="317364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유효기간경고조회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5" name="Rectangle 571"/>
            <p:cNvSpPr>
              <a:spLocks noChangeArrowheads="1"/>
            </p:cNvSpPr>
            <p:nvPr/>
          </p:nvSpPr>
          <p:spPr bwMode="auto">
            <a:xfrm>
              <a:off x="7316986" y="4465469"/>
              <a:ext cx="993600" cy="319221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제품군별창고</a:t>
              </a:r>
              <a:endParaRPr lang="en-US" altLang="ko-KR" sz="9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사용현황</a:t>
              </a:r>
              <a:endParaRPr lang="en-US" altLang="ko-KR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6" name="Rectangle 572"/>
            <p:cNvSpPr>
              <a:spLocks noChangeArrowheads="1"/>
            </p:cNvSpPr>
            <p:nvPr/>
          </p:nvSpPr>
          <p:spPr bwMode="auto">
            <a:xfrm>
              <a:off x="7316986" y="4784690"/>
              <a:ext cx="993600" cy="317365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en-US" altLang="ko-KR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LOT</a:t>
              </a:r>
              <a:r>
                <a:rPr lang="ko-KR" altLang="en-US" sz="900" b="1" dirty="0" err="1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별재고조회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9" name="Rectangle 573"/>
            <p:cNvSpPr>
              <a:spLocks noChangeArrowheads="1"/>
            </p:cNvSpPr>
            <p:nvPr/>
          </p:nvSpPr>
          <p:spPr bwMode="auto">
            <a:xfrm>
              <a:off x="7316986" y="5102055"/>
              <a:ext cx="993600" cy="317364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등급별재고현황</a:t>
              </a:r>
              <a:endParaRPr lang="en-US" altLang="ko-KR" sz="9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조회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0" name="Rectangle 573"/>
            <p:cNvSpPr>
              <a:spLocks noChangeArrowheads="1"/>
            </p:cNvSpPr>
            <p:nvPr/>
          </p:nvSpPr>
          <p:spPr bwMode="auto">
            <a:xfrm>
              <a:off x="7316516" y="5412791"/>
              <a:ext cx="993600" cy="317364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거래처별출고내역조회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2" name="Rectangle 571">
              <a:hlinkClick r:id="rId8" action="ppaction://hlinkfile"/>
            </p:cNvPr>
            <p:cNvSpPr>
              <a:spLocks noChangeArrowheads="1"/>
            </p:cNvSpPr>
            <p:nvPr/>
          </p:nvSpPr>
          <p:spPr bwMode="auto">
            <a:xfrm>
              <a:off x="8391549" y="3607465"/>
              <a:ext cx="993600" cy="319221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en-US" altLang="ko-KR" sz="900" b="1" dirty="0" err="1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HelpDesk</a:t>
              </a:r>
              <a:endParaRPr lang="en-US" altLang="ko-KR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3" name="Rectangle 545"/>
            <p:cNvSpPr>
              <a:spLocks noChangeArrowheads="1"/>
            </p:cNvSpPr>
            <p:nvPr/>
          </p:nvSpPr>
          <p:spPr bwMode="auto">
            <a:xfrm>
              <a:off x="1666852" y="1644771"/>
              <a:ext cx="993600" cy="309940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50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2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입고관리</a:t>
              </a:r>
              <a:endParaRPr lang="ko-KR" altLang="en-US" sz="12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4" name="Rectangle 546"/>
            <p:cNvSpPr>
              <a:spLocks noChangeArrowheads="1"/>
            </p:cNvSpPr>
            <p:nvPr/>
          </p:nvSpPr>
          <p:spPr bwMode="auto">
            <a:xfrm>
              <a:off x="2785250" y="1646168"/>
              <a:ext cx="993600" cy="309940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50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1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출고관리</a:t>
              </a:r>
              <a:endParaRPr lang="ko-KR" altLang="en-US" sz="11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5" name="Rectangle 558"/>
            <p:cNvSpPr>
              <a:spLocks noChangeArrowheads="1"/>
            </p:cNvSpPr>
            <p:nvPr/>
          </p:nvSpPr>
          <p:spPr bwMode="auto">
            <a:xfrm>
              <a:off x="3912375" y="1646168"/>
              <a:ext cx="993600" cy="309940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50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2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작업관리</a:t>
              </a:r>
              <a:endParaRPr lang="ko-KR" altLang="en-US" sz="12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6" name="Rectangle 566">
              <a:hlinkClick r:id="rId10" action="ppaction://hlinkfile"/>
            </p:cNvPr>
            <p:cNvSpPr>
              <a:spLocks noChangeArrowheads="1"/>
            </p:cNvSpPr>
            <p:nvPr/>
          </p:nvSpPr>
          <p:spPr bwMode="auto">
            <a:xfrm>
              <a:off x="1666852" y="2002966"/>
              <a:ext cx="993600" cy="317365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입고리스트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7" name="Rectangle 567"/>
            <p:cNvSpPr>
              <a:spLocks noChangeArrowheads="1"/>
            </p:cNvSpPr>
            <p:nvPr/>
          </p:nvSpPr>
          <p:spPr bwMode="auto">
            <a:xfrm>
              <a:off x="2780407" y="2308736"/>
              <a:ext cx="993600" cy="315655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출고등록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1" name="Rectangle 568">
              <a:hlinkClick r:id="rId6" action="ppaction://hlinkfile"/>
            </p:cNvPr>
            <p:cNvSpPr>
              <a:spLocks noChangeArrowheads="1"/>
            </p:cNvSpPr>
            <p:nvPr/>
          </p:nvSpPr>
          <p:spPr bwMode="auto">
            <a:xfrm>
              <a:off x="2780407" y="1993228"/>
              <a:ext cx="993600" cy="317365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출고리스트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1" name="Rectangle 569">
              <a:hlinkClick r:id="rId11" action="ppaction://hlinkfile"/>
            </p:cNvPr>
            <p:cNvSpPr>
              <a:spLocks noChangeArrowheads="1"/>
            </p:cNvSpPr>
            <p:nvPr/>
          </p:nvSpPr>
          <p:spPr bwMode="auto">
            <a:xfrm>
              <a:off x="1666852" y="2318475"/>
              <a:ext cx="993600" cy="319221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입고등록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2" name="Rectangle 570"/>
            <p:cNvSpPr>
              <a:spLocks noChangeArrowheads="1"/>
            </p:cNvSpPr>
            <p:nvPr/>
          </p:nvSpPr>
          <p:spPr bwMode="auto">
            <a:xfrm>
              <a:off x="1666852" y="2634984"/>
              <a:ext cx="993600" cy="317364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템플릿입력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3" name="Rectangle 571">
              <a:hlinkClick r:id="rId7" action="ppaction://hlinkfile"/>
            </p:cNvPr>
            <p:cNvSpPr>
              <a:spLocks noChangeArrowheads="1"/>
            </p:cNvSpPr>
            <p:nvPr/>
          </p:nvSpPr>
          <p:spPr bwMode="auto">
            <a:xfrm>
              <a:off x="1666852" y="2952347"/>
              <a:ext cx="993600" cy="319221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입고확정</a:t>
              </a:r>
              <a:endParaRPr lang="en-US" altLang="ko-KR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5" name="Rectangle 603"/>
            <p:cNvSpPr>
              <a:spLocks noChangeArrowheads="1"/>
            </p:cNvSpPr>
            <p:nvPr/>
          </p:nvSpPr>
          <p:spPr bwMode="auto">
            <a:xfrm>
              <a:off x="3912375" y="2319856"/>
              <a:ext cx="993600" cy="319221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할당조회</a:t>
              </a:r>
              <a:endParaRPr lang="en-US" altLang="ko-KR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6" name="Rectangle 604">
              <a:hlinkClick r:id="rId3" action="ppaction://hlinkfile"/>
            </p:cNvPr>
            <p:cNvSpPr>
              <a:spLocks noChangeArrowheads="1"/>
            </p:cNvSpPr>
            <p:nvPr/>
          </p:nvSpPr>
          <p:spPr bwMode="auto">
            <a:xfrm>
              <a:off x="3912375" y="2002507"/>
              <a:ext cx="993600" cy="317364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입출고현황</a:t>
              </a:r>
              <a:endParaRPr lang="en-US" altLang="ko-KR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7" name="Rectangle 605"/>
            <p:cNvSpPr>
              <a:spLocks noChangeArrowheads="1"/>
            </p:cNvSpPr>
            <p:nvPr/>
          </p:nvSpPr>
          <p:spPr bwMode="auto">
            <a:xfrm>
              <a:off x="3912375" y="2611237"/>
              <a:ext cx="993600" cy="317365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입고작업지시서</a:t>
              </a:r>
            </a:p>
          </p:txBody>
        </p:sp>
        <p:sp>
          <p:nvSpPr>
            <p:cNvPr id="138" name="Rectangle 606">
              <a:hlinkClick r:id="rId4" action="ppaction://hlinkfile"/>
            </p:cNvPr>
            <p:cNvSpPr>
              <a:spLocks noChangeArrowheads="1"/>
            </p:cNvSpPr>
            <p:nvPr/>
          </p:nvSpPr>
          <p:spPr bwMode="auto">
            <a:xfrm>
              <a:off x="3912375" y="2928602"/>
              <a:ext cx="993600" cy="319221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err="1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피킹리스트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9" name="Rectangle 570"/>
            <p:cNvSpPr>
              <a:spLocks noChangeArrowheads="1"/>
            </p:cNvSpPr>
            <p:nvPr/>
          </p:nvSpPr>
          <p:spPr bwMode="auto">
            <a:xfrm>
              <a:off x="2780407" y="2625419"/>
              <a:ext cx="993600" cy="317364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템플릿입력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0" name="Rectangle 571">
              <a:hlinkClick r:id="rId7" action="ppaction://hlinkfile"/>
            </p:cNvPr>
            <p:cNvSpPr>
              <a:spLocks noChangeArrowheads="1"/>
            </p:cNvSpPr>
            <p:nvPr/>
          </p:nvSpPr>
          <p:spPr bwMode="auto">
            <a:xfrm>
              <a:off x="2780407" y="2942783"/>
              <a:ext cx="993600" cy="319221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출고확정</a:t>
              </a:r>
              <a:endParaRPr lang="en-US" altLang="ko-KR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2" name="Rectangle 571">
              <a:hlinkClick r:id="rId8" action="ppaction://hlinkfile"/>
            </p:cNvPr>
            <p:cNvSpPr>
              <a:spLocks noChangeArrowheads="1"/>
            </p:cNvSpPr>
            <p:nvPr/>
          </p:nvSpPr>
          <p:spPr bwMode="auto">
            <a:xfrm>
              <a:off x="2780407" y="3260254"/>
              <a:ext cx="993600" cy="319221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배차작업</a:t>
              </a:r>
              <a:endParaRPr lang="en-US" altLang="ko-KR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9" name="Rectangle 606">
              <a:hlinkClick r:id="rId4" action="ppaction://hlinkfile"/>
            </p:cNvPr>
            <p:cNvSpPr>
              <a:spLocks noChangeArrowheads="1"/>
            </p:cNvSpPr>
            <p:nvPr/>
          </p:nvSpPr>
          <p:spPr bwMode="auto">
            <a:xfrm>
              <a:off x="3912375" y="3243432"/>
              <a:ext cx="993600" cy="319221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상차리스트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3" name="Rectangle 605"/>
            <p:cNvSpPr>
              <a:spLocks noChangeArrowheads="1"/>
            </p:cNvSpPr>
            <p:nvPr/>
          </p:nvSpPr>
          <p:spPr bwMode="auto">
            <a:xfrm>
              <a:off x="5033963" y="4196127"/>
              <a:ext cx="993600" cy="317365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err="1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임가공조립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4" name="Rectangle 606">
              <a:hlinkClick r:id="rId4" action="ppaction://hlinkfile"/>
            </p:cNvPr>
            <p:cNvSpPr>
              <a:spLocks noChangeArrowheads="1"/>
            </p:cNvSpPr>
            <p:nvPr/>
          </p:nvSpPr>
          <p:spPr bwMode="auto">
            <a:xfrm>
              <a:off x="5033963" y="4507141"/>
              <a:ext cx="993600" cy="319221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재고조정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5" name="Rectangle 605">
              <a:hlinkClick r:id="rId4" action="ppaction://hlinkfile"/>
            </p:cNvPr>
            <p:cNvSpPr>
              <a:spLocks noChangeArrowheads="1"/>
            </p:cNvSpPr>
            <p:nvPr/>
          </p:nvSpPr>
          <p:spPr bwMode="auto">
            <a:xfrm>
              <a:off x="5033963" y="4820011"/>
              <a:ext cx="993600" cy="317365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순환재고조사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6" name="Rectangle 606">
              <a:hlinkClick r:id="rId5" action="ppaction://hlinkfile"/>
            </p:cNvPr>
            <p:cNvSpPr>
              <a:spLocks noChangeArrowheads="1"/>
            </p:cNvSpPr>
            <p:nvPr/>
          </p:nvSpPr>
          <p:spPr bwMode="auto">
            <a:xfrm>
              <a:off x="5033963" y="5131020"/>
              <a:ext cx="993600" cy="319221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유효기간경고관리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7" name="Rectangle 604">
              <a:hlinkClick r:id="rId3" action="ppaction://hlinkfile"/>
            </p:cNvPr>
            <p:cNvSpPr>
              <a:spLocks noChangeArrowheads="1"/>
            </p:cNvSpPr>
            <p:nvPr/>
          </p:nvSpPr>
          <p:spPr bwMode="auto">
            <a:xfrm>
              <a:off x="5033963" y="2324476"/>
              <a:ext cx="993600" cy="317364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용기재고조회</a:t>
              </a:r>
              <a:endParaRPr lang="en-US" altLang="ko-KR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9" name="Rectangle 606">
              <a:hlinkClick r:id="rId5" action="ppaction://hlinkfile"/>
            </p:cNvPr>
            <p:cNvSpPr>
              <a:spLocks noChangeArrowheads="1"/>
            </p:cNvSpPr>
            <p:nvPr/>
          </p:nvSpPr>
          <p:spPr bwMode="auto">
            <a:xfrm>
              <a:off x="6157921" y="5645669"/>
              <a:ext cx="993600" cy="319221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가용물류기기설정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7" name="Rectangle 606">
              <a:hlinkClick r:id="rId5" action="ppaction://hlinkfile"/>
            </p:cNvPr>
            <p:cNvSpPr>
              <a:spLocks noChangeArrowheads="1"/>
            </p:cNvSpPr>
            <p:nvPr/>
          </p:nvSpPr>
          <p:spPr bwMode="auto">
            <a:xfrm>
              <a:off x="6157921" y="5949280"/>
              <a:ext cx="993600" cy="319221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상품별용기관리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88" name="꺾인 연결선 87"/>
            <p:cNvCxnSpPr>
              <a:stCxn id="91" idx="0"/>
              <a:endCxn id="15" idx="2"/>
            </p:cNvCxnSpPr>
            <p:nvPr/>
          </p:nvCxnSpPr>
          <p:spPr bwMode="auto">
            <a:xfrm rot="16200000" flipV="1">
              <a:off x="582732" y="3440662"/>
              <a:ext cx="972419" cy="4390"/>
            </a:xfrm>
            <a:prstGeom prst="bentConnector3">
              <a:avLst>
                <a:gd name="adj1" fmla="val 50000"/>
              </a:avLst>
            </a:prstGeom>
            <a:solidFill>
              <a:srgbClr val="BBE0E3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1" name="Rectangle 546"/>
            <p:cNvSpPr>
              <a:spLocks noChangeArrowheads="1"/>
            </p:cNvSpPr>
            <p:nvPr/>
          </p:nvSpPr>
          <p:spPr bwMode="auto">
            <a:xfrm>
              <a:off x="574336" y="3929066"/>
              <a:ext cx="993600" cy="316403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50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11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송수신관리</a:t>
              </a:r>
              <a:endParaRPr lang="ko-KR" altLang="en-US" sz="11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8" name="Rectangle 567"/>
            <p:cNvSpPr>
              <a:spLocks noChangeArrowheads="1"/>
            </p:cNvSpPr>
            <p:nvPr/>
          </p:nvSpPr>
          <p:spPr bwMode="auto">
            <a:xfrm>
              <a:off x="569493" y="4605450"/>
              <a:ext cx="993600" cy="322237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수신관리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9" name="Rectangle 568">
              <a:hlinkClick r:id="rId6" action="ppaction://hlinkfile"/>
            </p:cNvPr>
            <p:cNvSpPr>
              <a:spLocks noChangeArrowheads="1"/>
            </p:cNvSpPr>
            <p:nvPr/>
          </p:nvSpPr>
          <p:spPr bwMode="auto">
            <a:xfrm>
              <a:off x="569493" y="4283363"/>
              <a:ext cx="993600" cy="323983"/>
            </a:xfrm>
            <a:prstGeom prst="rect">
              <a:avLst/>
            </a:prstGeom>
            <a:solidFill>
              <a:srgbClr val="EAEAEA"/>
            </a:solidFill>
            <a:ln w="31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tIns="18000" rIns="36000" bIns="18000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송신관리</a:t>
              </a:r>
              <a:endParaRPr lang="ko-KR" altLang="en-US" sz="900" b="1" dirty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6" name="직사각형 5"/>
          <p:cNvSpPr/>
          <p:nvPr/>
        </p:nvSpPr>
        <p:spPr>
          <a:xfrm>
            <a:off x="344488" y="980728"/>
            <a:ext cx="9217024" cy="369900"/>
          </a:xfrm>
          <a:prstGeom prst="rect">
            <a:avLst/>
          </a:prstGeom>
          <a:solidFill>
            <a:schemeClr val="tx2">
              <a:lumMod val="40000"/>
              <a:lumOff val="60000"/>
              <a:alpha val="5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en-US" altLang="ko-KR" sz="12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rPr>
              <a:t>WINUS JPR WMS</a:t>
            </a:r>
            <a:endParaRPr kumimoji="1" lang="ko-KR" altLang="en-US" sz="1200" b="1" dirty="0">
              <a:gradFill>
                <a:gsLst>
                  <a:gs pos="5000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0"/>
              </a:gra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Framework - </a:t>
            </a:r>
            <a:r>
              <a:rPr lang="ko-KR" altLang="en-US" dirty="0" smtClean="0"/>
              <a:t>개념</a:t>
            </a:r>
            <a:endParaRPr lang="ko-KR" altLang="en-US" dirty="0"/>
          </a:p>
        </p:txBody>
      </p:sp>
      <p:sp>
        <p:nvSpPr>
          <p:cNvPr id="225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smtClean="0"/>
              <a:t>6</a:t>
            </a:r>
            <a:endParaRPr lang="ko-KR" altLang="en-US" dirty="0"/>
          </a:p>
        </p:txBody>
      </p:sp>
      <p:sp>
        <p:nvSpPr>
          <p:cNvPr id="118" name="AutoShape 278"/>
          <p:cNvSpPr>
            <a:spLocks noChangeArrowheads="1"/>
          </p:cNvSpPr>
          <p:nvPr/>
        </p:nvSpPr>
        <p:spPr bwMode="auto">
          <a:xfrm>
            <a:off x="452313" y="3824560"/>
            <a:ext cx="4446588" cy="2268538"/>
          </a:xfrm>
          <a:prstGeom prst="roundRect">
            <a:avLst>
              <a:gd name="adj" fmla="val 3861"/>
            </a:avLst>
          </a:prstGeom>
          <a:solidFill>
            <a:srgbClr val="EAEAEA"/>
          </a:solidFill>
          <a:ln w="9525">
            <a:noFill/>
            <a:round/>
            <a:headEnd/>
            <a:tailEnd/>
          </a:ln>
          <a:effectLst>
            <a:outerShdw dist="12700" dir="5400000" algn="ctr" rotWithShape="0">
              <a:srgbClr val="99CCFF"/>
            </a:outerShdw>
          </a:effectLst>
        </p:spPr>
        <p:txBody>
          <a:bodyPr wrap="none" anchor="ctr"/>
          <a:lstStyle/>
          <a:p>
            <a:pPr defTabSz="914400" eaLnBrk="1" fontAlgn="auto" hangingPunct="1">
              <a:lnSpc>
                <a:spcPct val="11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Char char="•"/>
              <a:defRPr/>
            </a:pPr>
            <a:endParaRPr lang="ko-KR" altLang="ko-KR" sz="900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3" name="직사각형 122"/>
          <p:cNvSpPr/>
          <p:nvPr/>
        </p:nvSpPr>
        <p:spPr bwMode="auto">
          <a:xfrm>
            <a:off x="1584201" y="4265885"/>
            <a:ext cx="2109787" cy="1711325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anchor="ctr"/>
          <a:lstStyle/>
          <a:p>
            <a:pPr algn="ctr" defTabSz="91440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ko-KR" altLang="en-US" sz="1800" kern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rPr>
              <a:t>리</a:t>
            </a:r>
          </a:p>
        </p:txBody>
      </p:sp>
      <p:sp>
        <p:nvSpPr>
          <p:cNvPr id="129" name="직사각형 128"/>
          <p:cNvSpPr/>
          <p:nvPr/>
        </p:nvSpPr>
        <p:spPr bwMode="auto">
          <a:xfrm>
            <a:off x="1828676" y="5535885"/>
            <a:ext cx="1652587" cy="377825"/>
          </a:xfrm>
          <a:prstGeom prst="rect">
            <a:avLst/>
          </a:prstGeom>
          <a:solidFill>
            <a:srgbClr val="1D8FD5"/>
          </a:solidFill>
          <a:ln w="9525">
            <a:solidFill>
              <a:sysClr val="window" lastClr="FFFFFF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 defTabSz="91440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ko-KR" sz="12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Framework</a:t>
            </a:r>
            <a:endParaRPr lang="ko-KR" altLang="en-US" sz="12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1" name="직사각형 130"/>
          <p:cNvSpPr/>
          <p:nvPr/>
        </p:nvSpPr>
        <p:spPr bwMode="auto">
          <a:xfrm>
            <a:off x="1828676" y="5073923"/>
            <a:ext cx="1652587" cy="377825"/>
          </a:xfrm>
          <a:prstGeom prst="rect">
            <a:avLst/>
          </a:prstGeom>
          <a:solidFill>
            <a:srgbClr val="55B0DD"/>
          </a:solidFill>
          <a:ln w="9525" algn="ctr">
            <a:solidFill>
              <a:sysClr val="window" lastClr="FFFF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91440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ko-KR" sz="12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Common Component</a:t>
            </a:r>
            <a:endParaRPr lang="ko-KR" altLang="en-US" sz="12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" name="그룹 64"/>
          <p:cNvGrpSpPr>
            <a:grpSpLocks/>
          </p:cNvGrpSpPr>
          <p:nvPr/>
        </p:nvGrpSpPr>
        <p:grpSpPr bwMode="auto">
          <a:xfrm>
            <a:off x="1828121" y="4401659"/>
            <a:ext cx="1628675" cy="567035"/>
            <a:chOff x="1268760" y="4551096"/>
            <a:chExt cx="2460962" cy="905960"/>
          </a:xfrm>
        </p:grpSpPr>
        <p:sp>
          <p:nvSpPr>
            <p:cNvPr id="210" name="직사각형 209"/>
            <p:cNvSpPr/>
            <p:nvPr/>
          </p:nvSpPr>
          <p:spPr>
            <a:xfrm>
              <a:off x="1269599" y="5168635"/>
              <a:ext cx="2461113" cy="289146"/>
            </a:xfrm>
            <a:prstGeom prst="rect">
              <a:avLst/>
            </a:prstGeom>
            <a:solidFill>
              <a:srgbClr val="93CCE9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9144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11" name="Rectangle 5"/>
            <p:cNvSpPr>
              <a:spLocks noChangeArrowheads="1"/>
            </p:cNvSpPr>
            <p:nvPr/>
          </p:nvSpPr>
          <p:spPr bwMode="auto">
            <a:xfrm>
              <a:off x="1269599" y="4917533"/>
              <a:ext cx="287849" cy="459084"/>
            </a:xfrm>
            <a:prstGeom prst="rect">
              <a:avLst/>
            </a:prstGeom>
            <a:solidFill>
              <a:srgbClr val="93CCE9"/>
            </a:solidFill>
            <a:ln w="9525" algn="ctr">
              <a:noFill/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defTabSz="9144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12" name="Rectangle 5"/>
            <p:cNvSpPr>
              <a:spLocks noChangeArrowheads="1"/>
            </p:cNvSpPr>
            <p:nvPr/>
          </p:nvSpPr>
          <p:spPr bwMode="auto">
            <a:xfrm>
              <a:off x="1631808" y="4666433"/>
              <a:ext cx="287849" cy="459082"/>
            </a:xfrm>
            <a:prstGeom prst="rect">
              <a:avLst/>
            </a:prstGeom>
            <a:solidFill>
              <a:srgbClr val="93CCE9"/>
            </a:solidFill>
            <a:ln w="9525" algn="ctr">
              <a:noFill/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defTabSz="9144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13" name="Rectangle 5"/>
            <p:cNvSpPr>
              <a:spLocks noChangeArrowheads="1"/>
            </p:cNvSpPr>
            <p:nvPr/>
          </p:nvSpPr>
          <p:spPr bwMode="auto">
            <a:xfrm>
              <a:off x="1994020" y="4917533"/>
              <a:ext cx="287849" cy="459084"/>
            </a:xfrm>
            <a:prstGeom prst="rect">
              <a:avLst/>
            </a:prstGeom>
            <a:solidFill>
              <a:srgbClr val="93CCE9"/>
            </a:solidFill>
            <a:ln w="9525" algn="ctr">
              <a:noFill/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defTabSz="9144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14" name="Rectangle 5"/>
            <p:cNvSpPr>
              <a:spLocks noChangeArrowheads="1"/>
            </p:cNvSpPr>
            <p:nvPr/>
          </p:nvSpPr>
          <p:spPr bwMode="auto">
            <a:xfrm>
              <a:off x="2356230" y="4666433"/>
              <a:ext cx="287849" cy="459082"/>
            </a:xfrm>
            <a:prstGeom prst="rect">
              <a:avLst/>
            </a:prstGeom>
            <a:solidFill>
              <a:srgbClr val="93CCE9"/>
            </a:solidFill>
            <a:ln w="9525" algn="ctr">
              <a:noFill/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defTabSz="9144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15" name="Rectangle 5"/>
            <p:cNvSpPr>
              <a:spLocks noChangeArrowheads="1"/>
            </p:cNvSpPr>
            <p:nvPr/>
          </p:nvSpPr>
          <p:spPr bwMode="auto">
            <a:xfrm>
              <a:off x="2718441" y="4917533"/>
              <a:ext cx="287849" cy="459084"/>
            </a:xfrm>
            <a:prstGeom prst="rect">
              <a:avLst/>
            </a:prstGeom>
            <a:solidFill>
              <a:srgbClr val="93CCE9"/>
            </a:solidFill>
            <a:ln w="9525" algn="ctr">
              <a:noFill/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defTabSz="9144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16" name="Rectangle 5"/>
            <p:cNvSpPr>
              <a:spLocks noChangeArrowheads="1"/>
            </p:cNvSpPr>
            <p:nvPr/>
          </p:nvSpPr>
          <p:spPr bwMode="auto">
            <a:xfrm>
              <a:off x="3080651" y="4666433"/>
              <a:ext cx="287849" cy="459082"/>
            </a:xfrm>
            <a:prstGeom prst="rect">
              <a:avLst/>
            </a:prstGeom>
            <a:solidFill>
              <a:srgbClr val="93CCE9"/>
            </a:solidFill>
            <a:ln w="9525" algn="ctr">
              <a:noFill/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defTabSz="9144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17" name="Rectangle 5"/>
            <p:cNvSpPr>
              <a:spLocks noChangeArrowheads="1"/>
            </p:cNvSpPr>
            <p:nvPr/>
          </p:nvSpPr>
          <p:spPr bwMode="auto">
            <a:xfrm>
              <a:off x="3442862" y="4917533"/>
              <a:ext cx="287849" cy="459084"/>
            </a:xfrm>
            <a:prstGeom prst="rect">
              <a:avLst/>
            </a:prstGeom>
            <a:solidFill>
              <a:srgbClr val="93CCE9"/>
            </a:solidFill>
            <a:ln w="9525" algn="ctr">
              <a:noFill/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pPr defTabSz="9144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18" name="직사각형 217"/>
            <p:cNvSpPr/>
            <p:nvPr/>
          </p:nvSpPr>
          <p:spPr>
            <a:xfrm>
              <a:off x="1435111" y="4564979"/>
              <a:ext cx="652459" cy="286609"/>
            </a:xfrm>
            <a:prstGeom prst="rect">
              <a:avLst/>
            </a:prstGeom>
            <a:solidFill>
              <a:srgbClr val="93CCE9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9144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19" name="직사각형 218"/>
            <p:cNvSpPr/>
            <p:nvPr/>
          </p:nvSpPr>
          <p:spPr>
            <a:xfrm>
              <a:off x="2166730" y="4552296"/>
              <a:ext cx="650059" cy="289146"/>
            </a:xfrm>
            <a:prstGeom prst="rect">
              <a:avLst/>
            </a:prstGeom>
            <a:solidFill>
              <a:srgbClr val="93CCE9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9144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20" name="직사각형 219"/>
            <p:cNvSpPr/>
            <p:nvPr/>
          </p:nvSpPr>
          <p:spPr>
            <a:xfrm>
              <a:off x="2886353" y="4552296"/>
              <a:ext cx="652459" cy="289146"/>
            </a:xfrm>
            <a:prstGeom prst="rect">
              <a:avLst/>
            </a:prstGeom>
            <a:solidFill>
              <a:srgbClr val="93CCE9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9144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59" name="직사각형 158"/>
          <p:cNvSpPr/>
          <p:nvPr/>
        </p:nvSpPr>
        <p:spPr bwMode="auto">
          <a:xfrm>
            <a:off x="2190626" y="4753248"/>
            <a:ext cx="828675" cy="2873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ko-KR" sz="12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Template</a:t>
            </a:r>
            <a:endParaRPr lang="ko-KR" altLang="en-US" sz="12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0" name="직사각형 159"/>
          <p:cNvSpPr/>
          <p:nvPr/>
        </p:nvSpPr>
        <p:spPr bwMode="auto">
          <a:xfrm>
            <a:off x="1955676" y="4365898"/>
            <a:ext cx="417512" cy="2873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ko-KR" sz="12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Biz.</a:t>
            </a:r>
            <a:endParaRPr lang="ko-KR" altLang="en-US" sz="12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1" name="직사각형 160"/>
          <p:cNvSpPr/>
          <p:nvPr/>
        </p:nvSpPr>
        <p:spPr bwMode="auto">
          <a:xfrm>
            <a:off x="2443038" y="4364310"/>
            <a:ext cx="417513" cy="2873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ko-KR" sz="12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Biz.</a:t>
            </a:r>
            <a:endParaRPr lang="ko-KR" altLang="en-US" sz="12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2" name="직사각형 161"/>
          <p:cNvSpPr/>
          <p:nvPr/>
        </p:nvSpPr>
        <p:spPr bwMode="auto">
          <a:xfrm>
            <a:off x="2911351" y="4375423"/>
            <a:ext cx="417512" cy="2873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ko-KR" sz="1200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Biz.</a:t>
            </a:r>
            <a:endParaRPr lang="ko-KR" altLang="en-US" sz="12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3" name="한쪽 모서리는 잘리고 다른 쪽 모서리는 둥근 사각형 162"/>
          <p:cNvSpPr/>
          <p:nvPr/>
        </p:nvSpPr>
        <p:spPr bwMode="auto">
          <a:xfrm>
            <a:off x="1566738" y="4027760"/>
            <a:ext cx="2143125" cy="250825"/>
          </a:xfrm>
          <a:prstGeom prst="snipRoundRect">
            <a:avLst/>
          </a:prstGeom>
          <a:solidFill>
            <a:srgbClr val="7CA3D6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 defTabSz="914400" eaLnBrk="1" fontAlgn="auto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ko-KR" altLang="en-US" sz="1600" b="1" kern="0" dirty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rPr>
              <a:t>표준프레임워크</a:t>
            </a:r>
          </a:p>
        </p:txBody>
      </p:sp>
      <p:sp>
        <p:nvSpPr>
          <p:cNvPr id="164" name="타원형 설명선 163"/>
          <p:cNvSpPr/>
          <p:nvPr/>
        </p:nvSpPr>
        <p:spPr bwMode="auto">
          <a:xfrm>
            <a:off x="3824163" y="4221435"/>
            <a:ext cx="911225" cy="819150"/>
          </a:xfrm>
          <a:prstGeom prst="wedgeEllipseCallout">
            <a:avLst>
              <a:gd name="adj1" fmla="val -88773"/>
              <a:gd name="adj2" fmla="val 24933"/>
            </a:avLst>
          </a:prstGeom>
          <a:solidFill>
            <a:srgbClr val="1B9DBB"/>
          </a:solidFill>
          <a:ln w="9525" cap="flat" cmpd="sng" algn="ctr">
            <a:solidFill>
              <a:srgbClr val="EEECE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 defTabSz="914400" ea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kumimoji="1" lang="ko-KR" altLang="en-US" sz="1100" kern="0" dirty="0">
              <a:solidFill>
                <a:sysClr val="window" lastClr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5" name="타원형 설명선 164"/>
          <p:cNvSpPr/>
          <p:nvPr/>
        </p:nvSpPr>
        <p:spPr bwMode="auto">
          <a:xfrm>
            <a:off x="3824163" y="5067573"/>
            <a:ext cx="911225" cy="817562"/>
          </a:xfrm>
          <a:prstGeom prst="wedgeEllipseCallout">
            <a:avLst>
              <a:gd name="adj1" fmla="val -88773"/>
              <a:gd name="adj2" fmla="val 24933"/>
            </a:avLst>
          </a:prstGeom>
          <a:solidFill>
            <a:srgbClr val="1B9DBB"/>
          </a:solidFill>
          <a:ln w="9525" cap="flat" cmpd="sng" algn="ctr">
            <a:solidFill>
              <a:srgbClr val="EEECE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 defTabSz="914400" eaLnBrk="1" latin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kumimoji="1" lang="ko-KR" altLang="en-US" sz="1050" kern="0" dirty="0">
              <a:solidFill>
                <a:sysClr val="window" lastClr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6" name="타원형 설명선 165"/>
          <p:cNvSpPr/>
          <p:nvPr/>
        </p:nvSpPr>
        <p:spPr bwMode="auto">
          <a:xfrm flipH="1">
            <a:off x="574551" y="4250010"/>
            <a:ext cx="911225" cy="817563"/>
          </a:xfrm>
          <a:prstGeom prst="wedgeEllipseCallout">
            <a:avLst>
              <a:gd name="adj1" fmla="val -100111"/>
              <a:gd name="adj2" fmla="val -22298"/>
            </a:avLst>
          </a:prstGeom>
          <a:solidFill>
            <a:srgbClr val="1B9DBB"/>
          </a:solidFill>
          <a:ln w="9525" cap="flat" cmpd="sng" algn="ctr">
            <a:solidFill>
              <a:srgbClr val="EEECE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 defTabSz="914400" ea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kumimoji="1" lang="ko-KR" altLang="en-US" sz="1050" kern="0" dirty="0">
              <a:solidFill>
                <a:sysClr val="window" lastClr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7" name="타원형 설명선 166"/>
          <p:cNvSpPr/>
          <p:nvPr/>
        </p:nvSpPr>
        <p:spPr bwMode="auto">
          <a:xfrm flipH="1">
            <a:off x="574551" y="5094560"/>
            <a:ext cx="911225" cy="819150"/>
          </a:xfrm>
          <a:prstGeom prst="wedgeEllipseCallout">
            <a:avLst>
              <a:gd name="adj1" fmla="val -94006"/>
              <a:gd name="adj2" fmla="val -25518"/>
            </a:avLst>
          </a:prstGeom>
          <a:solidFill>
            <a:srgbClr val="1B9DBB"/>
          </a:solidFill>
          <a:ln w="9525" cap="flat" cmpd="sng" algn="ctr">
            <a:solidFill>
              <a:srgbClr val="EEECE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 defTabSz="914400" eaLnBrk="1" latin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1" lang="ko-KR" altLang="en-US" sz="1050" kern="0" dirty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rPr>
              <a:t>공통</a:t>
            </a:r>
            <a:endParaRPr kumimoji="1" lang="en-US" altLang="ko-KR" sz="1050" kern="0" dirty="0">
              <a:solidFill>
                <a:sysClr val="window" lastClr="FFFFFF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914400" eaLnBrk="1" latin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1" lang="ko-KR" altLang="en-US" sz="1050" kern="0" dirty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rPr>
              <a:t>어플리케이션</a:t>
            </a:r>
            <a:endParaRPr kumimoji="1" lang="en-US" altLang="ko-KR" sz="1050" kern="0" dirty="0">
              <a:solidFill>
                <a:sysClr val="window" lastClr="FFFFFF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914400" eaLnBrk="1" latin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1" lang="ko-KR" altLang="en-US" sz="1050" kern="0" dirty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rPr>
              <a:t>재사용</a:t>
            </a:r>
          </a:p>
        </p:txBody>
      </p:sp>
      <p:sp>
        <p:nvSpPr>
          <p:cNvPr id="168" name="직사각형 167"/>
          <p:cNvSpPr/>
          <p:nvPr/>
        </p:nvSpPr>
        <p:spPr bwMode="auto">
          <a:xfrm>
            <a:off x="3701926" y="5158060"/>
            <a:ext cx="1196975" cy="7651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defTabSz="914400" ea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1" lang="ko-KR" altLang="en-US" sz="105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표준화된</a:t>
            </a:r>
            <a:endParaRPr kumimoji="1" lang="en-US" altLang="ko-KR" sz="1050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914400" ea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1" lang="ko-KR" altLang="en-US" sz="105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기반환경</a:t>
            </a:r>
            <a:endParaRPr kumimoji="1" lang="en-US" altLang="ko-KR" sz="1050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914400" ea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1" lang="ko-KR" altLang="en-US" sz="105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통합</a:t>
            </a:r>
            <a:r>
              <a:rPr kumimoji="1" lang="en-US" altLang="ko-KR" sz="105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kumimoji="1" lang="ko-KR" altLang="en-US" sz="105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성능</a:t>
            </a:r>
            <a:r>
              <a:rPr kumimoji="1" lang="en-US" altLang="ko-KR" sz="105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kumimoji="1" lang="ko-KR" altLang="en-US" sz="105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튜닝</a:t>
            </a:r>
            <a:r>
              <a:rPr kumimoji="1" lang="en-US" altLang="ko-KR" sz="105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/</a:t>
            </a:r>
          </a:p>
          <a:p>
            <a:pPr algn="ctr" defTabSz="914400" ea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1" lang="ko-KR" altLang="en-US" sz="105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검증</a:t>
            </a:r>
            <a:r>
              <a:rPr kumimoji="1" lang="en-US" altLang="ko-KR" sz="105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kumimoji="1" lang="ko-KR" altLang="en-US" sz="105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버그</a:t>
            </a:r>
          </a:p>
        </p:txBody>
      </p:sp>
      <p:sp>
        <p:nvSpPr>
          <p:cNvPr id="169" name="직사각형 168"/>
          <p:cNvSpPr/>
          <p:nvPr/>
        </p:nvSpPr>
        <p:spPr bwMode="auto">
          <a:xfrm>
            <a:off x="482476" y="4400823"/>
            <a:ext cx="1079500" cy="59848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defTabSz="914400" ea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1" lang="ko-KR" altLang="en-US" sz="105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다양한 개방형</a:t>
            </a:r>
            <a:endParaRPr kumimoji="1" lang="en-US" altLang="ko-KR" sz="1050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914400" ea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1" lang="ko-KR" altLang="en-US" sz="105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어플리케이션</a:t>
            </a:r>
            <a:endParaRPr kumimoji="1" lang="en-US" altLang="ko-KR" sz="1050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914400" ea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1" lang="ko-KR" altLang="en-US" sz="105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개발</a:t>
            </a:r>
            <a:r>
              <a:rPr kumimoji="1" lang="en-US" altLang="ko-KR" sz="105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kumimoji="1" lang="ko-KR" altLang="en-US" sz="105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이식</a:t>
            </a:r>
          </a:p>
        </p:txBody>
      </p:sp>
      <p:sp>
        <p:nvSpPr>
          <p:cNvPr id="170" name="직사각형 169"/>
          <p:cNvSpPr/>
          <p:nvPr/>
        </p:nvSpPr>
        <p:spPr bwMode="auto">
          <a:xfrm>
            <a:off x="3767013" y="4345260"/>
            <a:ext cx="1079500" cy="6223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defTabSz="914400" ea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1" lang="ko-KR" altLang="en-US" sz="110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균일한</a:t>
            </a:r>
            <a:endParaRPr kumimoji="1" lang="en-US" altLang="ko-KR" sz="1100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914400" ea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1" lang="ko-KR" altLang="en-US" sz="110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어플리케이션</a:t>
            </a:r>
            <a:endParaRPr kumimoji="1" lang="en-US" altLang="ko-KR" sz="1100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914400" eaLnBrk="1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1" lang="ko-KR" altLang="en-US" sz="1100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템플릿 제공</a:t>
            </a:r>
          </a:p>
        </p:txBody>
      </p:sp>
      <p:pic>
        <p:nvPicPr>
          <p:cNvPr id="171" name="Picture 223" descr="6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flipV="1">
            <a:off x="318963" y="2816895"/>
            <a:ext cx="4681538" cy="882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2" name="Picture 231" descr="화살표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62579" y="2802571"/>
            <a:ext cx="2166272" cy="76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Group 224"/>
          <p:cNvGrpSpPr>
            <a:grpSpLocks/>
          </p:cNvGrpSpPr>
          <p:nvPr/>
        </p:nvGrpSpPr>
        <p:grpSpPr bwMode="auto">
          <a:xfrm>
            <a:off x="685125" y="2060848"/>
            <a:ext cx="3960142" cy="629214"/>
            <a:chOff x="602" y="1999"/>
            <a:chExt cx="3226" cy="453"/>
          </a:xfrm>
        </p:grpSpPr>
        <p:sp>
          <p:nvSpPr>
            <p:cNvPr id="207" name="AutoShape 225"/>
            <p:cNvSpPr>
              <a:spLocks noChangeArrowheads="1"/>
            </p:cNvSpPr>
            <p:nvPr/>
          </p:nvSpPr>
          <p:spPr bwMode="auto">
            <a:xfrm>
              <a:off x="602" y="1999"/>
              <a:ext cx="3225" cy="437"/>
            </a:xfrm>
            <a:prstGeom prst="roundRect">
              <a:avLst>
                <a:gd name="adj" fmla="val 15565"/>
              </a:avLst>
            </a:prstGeom>
            <a:gradFill rotWithShape="1">
              <a:gsLst>
                <a:gs pos="0">
                  <a:srgbClr val="ACCBDE"/>
                </a:gs>
                <a:gs pos="100000">
                  <a:srgbClr val="ACCBDE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>
              <a:outerShdw dist="25400" dir="16200000" algn="ctr" rotWithShape="0">
                <a:srgbClr val="3B77B3"/>
              </a:outerShdw>
            </a:effectLst>
          </p:spPr>
          <p:txBody>
            <a:bodyPr wrap="none" anchor="ctr"/>
            <a:lstStyle/>
            <a:p>
              <a:pPr defTabSz="9144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08" name="AutoShape 226"/>
            <p:cNvSpPr>
              <a:spLocks noChangeArrowheads="1"/>
            </p:cNvSpPr>
            <p:nvPr/>
          </p:nvSpPr>
          <p:spPr bwMode="auto">
            <a:xfrm>
              <a:off x="631" y="2022"/>
              <a:ext cx="3168" cy="430"/>
            </a:xfrm>
            <a:prstGeom prst="roundRect">
              <a:avLst>
                <a:gd name="adj" fmla="val 15801"/>
              </a:avLst>
            </a:pr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defTabSz="9144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09" name="AutoShape 227"/>
            <p:cNvSpPr>
              <a:spLocks noChangeArrowheads="1"/>
            </p:cNvSpPr>
            <p:nvPr/>
          </p:nvSpPr>
          <p:spPr bwMode="auto">
            <a:xfrm>
              <a:off x="653" y="2039"/>
              <a:ext cx="3124" cy="366"/>
            </a:xfrm>
            <a:prstGeom prst="roundRect">
              <a:avLst>
                <a:gd name="adj" fmla="val 14287"/>
              </a:avLst>
            </a:prstGeom>
            <a:gradFill rotWithShape="1">
              <a:gsLst>
                <a:gs pos="0">
                  <a:srgbClr val="E8E8E8"/>
                </a:gs>
                <a:gs pos="100000">
                  <a:srgbClr val="E8E8E8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defTabSz="9144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74" name="Rectangle 230"/>
          <p:cNvSpPr>
            <a:spLocks noChangeArrowheads="1"/>
          </p:cNvSpPr>
          <p:nvPr/>
        </p:nvSpPr>
        <p:spPr bwMode="auto">
          <a:xfrm>
            <a:off x="650751" y="2060848"/>
            <a:ext cx="4027487" cy="814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defTabSz="9144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ko-KR" altLang="en-US" sz="1500" b="1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표준프레임워크는 어플리케이션의</a:t>
            </a:r>
            <a:endParaRPr lang="en-US" altLang="ko-KR" sz="1500" b="1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defTabSz="9144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ko-KR" altLang="en-US" sz="1500" b="1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개발기간 및 리소스를 절감</a:t>
            </a:r>
            <a:endParaRPr lang="ko-KR" altLang="en-US" sz="15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5" name="직사각형 174"/>
          <p:cNvSpPr/>
          <p:nvPr/>
        </p:nvSpPr>
        <p:spPr bwMode="auto">
          <a:xfrm>
            <a:off x="1904876" y="3032398"/>
            <a:ext cx="1482725" cy="28733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defTabSz="91440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ko-KR" altLang="en-US" sz="1200" b="1" kern="0" dirty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  <a:cs typeface="Arial Unicode MS" pitchFamily="50" charset="-127"/>
              </a:rPr>
              <a:t>프로젝트 품질</a:t>
            </a:r>
          </a:p>
        </p:txBody>
      </p: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596758" y="3526691"/>
            <a:ext cx="998494" cy="361271"/>
            <a:chOff x="250" y="2704"/>
            <a:chExt cx="1242" cy="261"/>
          </a:xfrm>
        </p:grpSpPr>
        <p:pic>
          <p:nvPicPr>
            <p:cNvPr id="205" name="Picture 18" descr="80"/>
            <p:cNvPicPr>
              <a:picLocks noChangeAspect="1" noChangeArrowheads="1"/>
            </p:cNvPicPr>
            <p:nvPr/>
          </p:nvPicPr>
          <p:blipFill>
            <a:blip r:embed="rId4" cstate="print"/>
            <a:srcRect r="67395"/>
            <a:stretch>
              <a:fillRect/>
            </a:stretch>
          </p:blipFill>
          <p:spPr bwMode="auto">
            <a:xfrm>
              <a:off x="250" y="2704"/>
              <a:ext cx="552" cy="2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06" name="Picture 19" descr="80"/>
            <p:cNvPicPr>
              <a:picLocks noChangeAspect="1" noChangeArrowheads="1"/>
            </p:cNvPicPr>
            <p:nvPr/>
          </p:nvPicPr>
          <p:blipFill>
            <a:blip r:embed="rId4" cstate="print"/>
            <a:srcRect l="44005"/>
            <a:stretch>
              <a:fillRect/>
            </a:stretch>
          </p:blipFill>
          <p:spPr bwMode="auto">
            <a:xfrm>
              <a:off x="544" y="2704"/>
              <a:ext cx="948" cy="2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77" name="Text Box 20"/>
          <p:cNvSpPr txBox="1">
            <a:spLocks noChangeArrowheads="1"/>
          </p:cNvSpPr>
          <p:nvPr/>
        </p:nvSpPr>
        <p:spPr bwMode="auto">
          <a:xfrm>
            <a:off x="596776" y="3573735"/>
            <a:ext cx="1019175" cy="3032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algn="ctr" defTabSz="914400" eaLnBrk="1" fontAlgn="auto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defRPr/>
            </a:pPr>
            <a:r>
              <a:rPr lang="ko-KR" altLang="en-US" sz="1300" kern="0" dirty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rPr>
              <a:t>업무단순화</a:t>
            </a:r>
          </a:p>
        </p:txBody>
      </p:sp>
      <p:grpSp>
        <p:nvGrpSpPr>
          <p:cNvPr id="6" name="Group 17"/>
          <p:cNvGrpSpPr>
            <a:grpSpLocks/>
          </p:cNvGrpSpPr>
          <p:nvPr/>
        </p:nvGrpSpPr>
        <p:grpSpPr bwMode="auto">
          <a:xfrm>
            <a:off x="1651018" y="3523272"/>
            <a:ext cx="998494" cy="361271"/>
            <a:chOff x="250" y="2704"/>
            <a:chExt cx="1242" cy="261"/>
          </a:xfrm>
        </p:grpSpPr>
        <p:pic>
          <p:nvPicPr>
            <p:cNvPr id="203" name="Picture 18" descr="80"/>
            <p:cNvPicPr>
              <a:picLocks noChangeAspect="1" noChangeArrowheads="1"/>
            </p:cNvPicPr>
            <p:nvPr/>
          </p:nvPicPr>
          <p:blipFill>
            <a:blip r:embed="rId4" cstate="print"/>
            <a:srcRect r="67395"/>
            <a:stretch>
              <a:fillRect/>
            </a:stretch>
          </p:blipFill>
          <p:spPr bwMode="auto">
            <a:xfrm>
              <a:off x="250" y="2704"/>
              <a:ext cx="552" cy="2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04" name="Picture 19" descr="80"/>
            <p:cNvPicPr>
              <a:picLocks noChangeAspect="1" noChangeArrowheads="1"/>
            </p:cNvPicPr>
            <p:nvPr/>
          </p:nvPicPr>
          <p:blipFill>
            <a:blip r:embed="rId4" cstate="print"/>
            <a:srcRect l="44005"/>
            <a:stretch>
              <a:fillRect/>
            </a:stretch>
          </p:blipFill>
          <p:spPr bwMode="auto">
            <a:xfrm>
              <a:off x="544" y="2704"/>
              <a:ext cx="948" cy="2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79" name="Text Box 20"/>
          <p:cNvSpPr txBox="1">
            <a:spLocks noChangeArrowheads="1"/>
          </p:cNvSpPr>
          <p:nvPr/>
        </p:nvSpPr>
        <p:spPr bwMode="auto">
          <a:xfrm>
            <a:off x="1571501" y="3568973"/>
            <a:ext cx="1185862" cy="30321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defTabSz="914400" eaLnBrk="1" fontAlgn="auto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defRPr/>
            </a:pPr>
            <a:r>
              <a:rPr lang="ko-KR" altLang="en-US" sz="1300" kern="0" dirty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rPr>
              <a:t>성능품질보장</a:t>
            </a:r>
          </a:p>
        </p:txBody>
      </p:sp>
      <p:grpSp>
        <p:nvGrpSpPr>
          <p:cNvPr id="7" name="Group 17"/>
          <p:cNvGrpSpPr>
            <a:grpSpLocks/>
          </p:cNvGrpSpPr>
          <p:nvPr/>
        </p:nvGrpSpPr>
        <p:grpSpPr bwMode="auto">
          <a:xfrm>
            <a:off x="2705277" y="3523272"/>
            <a:ext cx="998494" cy="361271"/>
            <a:chOff x="250" y="2704"/>
            <a:chExt cx="1242" cy="261"/>
          </a:xfrm>
        </p:grpSpPr>
        <p:pic>
          <p:nvPicPr>
            <p:cNvPr id="201" name="Picture 18" descr="80"/>
            <p:cNvPicPr>
              <a:picLocks noChangeAspect="1" noChangeArrowheads="1"/>
            </p:cNvPicPr>
            <p:nvPr/>
          </p:nvPicPr>
          <p:blipFill>
            <a:blip r:embed="rId4" cstate="print"/>
            <a:srcRect r="67395"/>
            <a:stretch>
              <a:fillRect/>
            </a:stretch>
          </p:blipFill>
          <p:spPr bwMode="auto">
            <a:xfrm>
              <a:off x="250" y="2704"/>
              <a:ext cx="552" cy="2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02" name="Picture 19" descr="80"/>
            <p:cNvPicPr>
              <a:picLocks noChangeAspect="1" noChangeArrowheads="1"/>
            </p:cNvPicPr>
            <p:nvPr/>
          </p:nvPicPr>
          <p:blipFill>
            <a:blip r:embed="rId4" cstate="print"/>
            <a:srcRect l="44005"/>
            <a:stretch>
              <a:fillRect/>
            </a:stretch>
          </p:blipFill>
          <p:spPr bwMode="auto">
            <a:xfrm>
              <a:off x="544" y="2704"/>
              <a:ext cx="948" cy="2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81" name="Text Box 20"/>
          <p:cNvSpPr txBox="1">
            <a:spLocks noChangeArrowheads="1"/>
          </p:cNvSpPr>
          <p:nvPr/>
        </p:nvSpPr>
        <p:spPr bwMode="auto">
          <a:xfrm>
            <a:off x="2836738" y="3568973"/>
            <a:ext cx="852488" cy="30321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defTabSz="914400" eaLnBrk="1" fontAlgn="auto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defRPr/>
            </a:pPr>
            <a:r>
              <a:rPr lang="ko-KR" altLang="en-US" sz="1300" kern="0" dirty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rPr>
              <a:t>비용절감</a:t>
            </a:r>
          </a:p>
        </p:txBody>
      </p:sp>
      <p:grpSp>
        <p:nvGrpSpPr>
          <p:cNvPr id="8" name="Group 17"/>
          <p:cNvGrpSpPr>
            <a:grpSpLocks/>
          </p:cNvGrpSpPr>
          <p:nvPr/>
        </p:nvGrpSpPr>
        <p:grpSpPr bwMode="auto">
          <a:xfrm>
            <a:off x="3756486" y="3523272"/>
            <a:ext cx="998494" cy="361271"/>
            <a:chOff x="250" y="2704"/>
            <a:chExt cx="1242" cy="261"/>
          </a:xfrm>
        </p:grpSpPr>
        <p:pic>
          <p:nvPicPr>
            <p:cNvPr id="199" name="Picture 18" descr="80"/>
            <p:cNvPicPr>
              <a:picLocks noChangeAspect="1" noChangeArrowheads="1"/>
            </p:cNvPicPr>
            <p:nvPr/>
          </p:nvPicPr>
          <p:blipFill>
            <a:blip r:embed="rId4" cstate="print"/>
            <a:srcRect r="67395"/>
            <a:stretch>
              <a:fillRect/>
            </a:stretch>
          </p:blipFill>
          <p:spPr bwMode="auto">
            <a:xfrm>
              <a:off x="250" y="2704"/>
              <a:ext cx="552" cy="2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00" name="Picture 19" descr="80"/>
            <p:cNvPicPr>
              <a:picLocks noChangeAspect="1" noChangeArrowheads="1"/>
            </p:cNvPicPr>
            <p:nvPr/>
          </p:nvPicPr>
          <p:blipFill>
            <a:blip r:embed="rId4" cstate="print"/>
            <a:srcRect l="44005"/>
            <a:stretch>
              <a:fillRect/>
            </a:stretch>
          </p:blipFill>
          <p:spPr bwMode="auto">
            <a:xfrm>
              <a:off x="544" y="2704"/>
              <a:ext cx="948" cy="2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83" name="Text Box 20"/>
          <p:cNvSpPr txBox="1">
            <a:spLocks noChangeArrowheads="1"/>
          </p:cNvSpPr>
          <p:nvPr/>
        </p:nvSpPr>
        <p:spPr bwMode="auto">
          <a:xfrm>
            <a:off x="3867026" y="3568973"/>
            <a:ext cx="850900" cy="30321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defTabSz="914400" eaLnBrk="1" fontAlgn="auto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defRPr/>
            </a:pPr>
            <a:r>
              <a:rPr lang="ko-KR" altLang="en-US" sz="1300" kern="0" dirty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rPr>
              <a:t>납기보장</a:t>
            </a:r>
          </a:p>
        </p:txBody>
      </p:sp>
      <p:grpSp>
        <p:nvGrpSpPr>
          <p:cNvPr id="9" name="그룹 133"/>
          <p:cNvGrpSpPr>
            <a:grpSpLocks/>
          </p:cNvGrpSpPr>
          <p:nvPr/>
        </p:nvGrpSpPr>
        <p:grpSpPr bwMode="auto">
          <a:xfrm>
            <a:off x="5025901" y="2637110"/>
            <a:ext cx="4319587" cy="2808288"/>
            <a:chOff x="4906963" y="2614851"/>
            <a:chExt cx="4319587" cy="3190835"/>
          </a:xfrm>
        </p:grpSpPr>
        <p:sp>
          <p:nvSpPr>
            <p:cNvPr id="191" name="AutoShape 35"/>
            <p:cNvSpPr>
              <a:spLocks noChangeArrowheads="1"/>
            </p:cNvSpPr>
            <p:nvPr/>
          </p:nvSpPr>
          <p:spPr bwMode="auto">
            <a:xfrm>
              <a:off x="4906963" y="2614851"/>
              <a:ext cx="1050859" cy="1455136"/>
            </a:xfrm>
            <a:prstGeom prst="homePlate">
              <a:avLst>
                <a:gd name="adj" fmla="val 39532"/>
              </a:avLst>
            </a:prstGeom>
            <a:solidFill>
              <a:srgbClr val="D9ECF3"/>
            </a:solidFill>
            <a:ln w="9525" algn="ctr">
              <a:solidFill>
                <a:srgbClr val="A9D5E5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하드웨어</a:t>
              </a:r>
              <a:endParaRPr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중심</a:t>
              </a:r>
              <a:endParaRPr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(1940~60)</a:t>
              </a:r>
              <a:endParaRPr lang="ko-KR" altLang="en-US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2" name="AutoShape 35"/>
            <p:cNvSpPr>
              <a:spLocks noChangeArrowheads="1"/>
            </p:cNvSpPr>
            <p:nvPr/>
          </p:nvSpPr>
          <p:spPr bwMode="auto">
            <a:xfrm>
              <a:off x="5996537" y="2614851"/>
              <a:ext cx="1050859" cy="1455136"/>
            </a:xfrm>
            <a:prstGeom prst="homePlate">
              <a:avLst>
                <a:gd name="adj" fmla="val 39532"/>
              </a:avLst>
            </a:prstGeom>
            <a:solidFill>
              <a:srgbClr val="A9D5E5"/>
            </a:solidFill>
            <a:ln w="9525">
              <a:noFill/>
              <a:miter lim="800000"/>
              <a:headEnd/>
              <a:tailEnd/>
            </a:ln>
          </p:spPr>
          <p:txBody>
            <a:bodyPr wrap="none" lIns="72000" tIns="0" rIns="0" bIns="0" anchor="ctr"/>
            <a:lstStyle/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프로그램</a:t>
              </a:r>
              <a:endParaRPr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중심</a:t>
              </a:r>
              <a:endParaRPr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(1970~1990)</a:t>
              </a:r>
              <a:endParaRPr lang="ko-KR" altLang="en-US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3" name="AutoShape 35"/>
            <p:cNvSpPr>
              <a:spLocks noChangeArrowheads="1"/>
            </p:cNvSpPr>
            <p:nvPr/>
          </p:nvSpPr>
          <p:spPr bwMode="auto">
            <a:xfrm>
              <a:off x="7086117" y="2614851"/>
              <a:ext cx="1050859" cy="1455136"/>
            </a:xfrm>
            <a:prstGeom prst="homePlate">
              <a:avLst>
                <a:gd name="adj" fmla="val 39532"/>
              </a:avLst>
            </a:prstGeom>
            <a:solidFill>
              <a:srgbClr val="72BAD4"/>
            </a:solidFill>
            <a:ln w="9525">
              <a:noFill/>
              <a:miter lim="800000"/>
              <a:headEnd/>
              <a:tailEnd/>
            </a:ln>
          </p:spPr>
          <p:txBody>
            <a:bodyPr wrap="none" lIns="72000" tIns="0" rIns="0" bIns="0" anchor="ctr"/>
            <a:lstStyle/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객체지향</a:t>
              </a:r>
              <a:endParaRPr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중심</a:t>
              </a:r>
              <a:endParaRPr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(1990~2000)</a:t>
              </a:r>
              <a:endParaRPr lang="ko-KR" altLang="en-US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4" name="AutoShape 35"/>
            <p:cNvSpPr>
              <a:spLocks noChangeArrowheads="1"/>
            </p:cNvSpPr>
            <p:nvPr/>
          </p:nvSpPr>
          <p:spPr bwMode="auto">
            <a:xfrm>
              <a:off x="8175625" y="2614851"/>
              <a:ext cx="1050925" cy="1455627"/>
            </a:xfrm>
            <a:prstGeom prst="homePlate">
              <a:avLst>
                <a:gd name="adj" fmla="val 39533"/>
              </a:avLst>
            </a:prstGeom>
            <a:solidFill>
              <a:srgbClr val="4BA8C9"/>
            </a:solidFill>
            <a:ln>
              <a:noFill/>
            </a:ln>
            <a:effectLst/>
            <a:extLst/>
          </p:spPr>
          <p:txBody>
            <a:bodyPr wrap="none" lIns="72000" tIns="0" rIns="0" bIns="0" anchor="ctr"/>
            <a:lstStyle/>
            <a:p>
              <a:pPr algn="ctr" defTabSz="968375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ko-KR" altLang="en-US" sz="1200" kern="0" dirty="0">
                  <a:solidFill>
                    <a:sysClr val="window" lastClr="FFFFFF"/>
                  </a:solidFill>
                  <a:latin typeface="맑은 고딕" pitchFamily="50" charset="-127"/>
                  <a:ea typeface="맑은 고딕" pitchFamily="50" charset="-127"/>
                </a:rPr>
                <a:t>프레임워크</a:t>
              </a:r>
              <a:endParaRPr lang="en-US" altLang="ko-KR" sz="1200" kern="0" dirty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ko-KR" altLang="en-US" sz="1200" kern="0" dirty="0">
                  <a:solidFill>
                    <a:sysClr val="window" lastClr="FFFFFF"/>
                  </a:solidFill>
                  <a:latin typeface="맑은 고딕" pitchFamily="50" charset="-127"/>
                  <a:ea typeface="맑은 고딕" pitchFamily="50" charset="-127"/>
                </a:rPr>
                <a:t>중심</a:t>
              </a:r>
              <a:endParaRPr lang="en-US" altLang="ko-KR" sz="1200" kern="0" dirty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ko-KR" sz="1200" kern="0" dirty="0">
                  <a:solidFill>
                    <a:sysClr val="window" lastClr="FFFFFF"/>
                  </a:solidFill>
                  <a:latin typeface="맑은 고딕" pitchFamily="50" charset="-127"/>
                  <a:ea typeface="맑은 고딕" pitchFamily="50" charset="-127"/>
                </a:rPr>
                <a:t>(2000~</a:t>
              </a:r>
              <a:r>
                <a:rPr lang="ko-KR" altLang="en-US" sz="1200" kern="0" dirty="0">
                  <a:solidFill>
                    <a:sysClr val="window" lastClr="FFFFFF"/>
                  </a:solidFill>
                  <a:latin typeface="맑은 고딕" pitchFamily="50" charset="-127"/>
                  <a:ea typeface="맑은 고딕" pitchFamily="50" charset="-127"/>
                </a:rPr>
                <a:t>현재</a:t>
              </a:r>
              <a:r>
                <a:rPr lang="en-US" altLang="ko-KR" sz="1200" kern="0" dirty="0">
                  <a:solidFill>
                    <a:sysClr val="window" lastClr="FFFFFF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  <a:endParaRPr lang="ko-KR" altLang="en-US" sz="1200" kern="0" dirty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5" name="직사각형 127"/>
            <p:cNvSpPr>
              <a:spLocks noChangeArrowheads="1"/>
            </p:cNvSpPr>
            <p:nvPr/>
          </p:nvSpPr>
          <p:spPr bwMode="auto">
            <a:xfrm>
              <a:off x="4906963" y="4267134"/>
              <a:ext cx="1025945" cy="1538552"/>
            </a:xfrm>
            <a:prstGeom prst="rect">
              <a:avLst/>
            </a:prstGeom>
            <a:solidFill>
              <a:srgbClr val="D9ECF3"/>
            </a:solidFill>
            <a:ln w="9525" algn="ctr">
              <a:solidFill>
                <a:srgbClr val="A9D5E5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이해하기 </a:t>
              </a:r>
              <a:endParaRPr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쉬운 고급</a:t>
              </a:r>
              <a:endParaRPr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프로그램 </a:t>
              </a:r>
              <a:endParaRPr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언어 및 환경이</a:t>
              </a:r>
              <a:endParaRPr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요구</a:t>
              </a:r>
            </a:p>
          </p:txBody>
        </p:sp>
        <p:sp>
          <p:nvSpPr>
            <p:cNvPr id="196" name="직사각형 128"/>
            <p:cNvSpPr>
              <a:spLocks noChangeArrowheads="1"/>
            </p:cNvSpPr>
            <p:nvPr/>
          </p:nvSpPr>
          <p:spPr bwMode="auto">
            <a:xfrm>
              <a:off x="5984226" y="4267134"/>
              <a:ext cx="1025945" cy="1538552"/>
            </a:xfrm>
            <a:prstGeom prst="rect">
              <a:avLst/>
            </a:prstGeom>
            <a:solidFill>
              <a:srgbClr val="A9D5E5"/>
            </a:solidFill>
            <a:ln w="9525">
              <a:noFill/>
              <a:miter lim="800000"/>
              <a:headEnd/>
              <a:tailEnd/>
            </a:ln>
          </p:spPr>
          <p:txBody>
            <a:bodyPr wrap="none" lIns="72000" tIns="0" rIns="0" bIns="0" anchor="ctr"/>
            <a:lstStyle/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복잡도 증가</a:t>
              </a:r>
              <a:endParaRPr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시스템</a:t>
              </a:r>
              <a:endParaRPr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통합요구</a:t>
              </a:r>
              <a:endParaRPr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증가</a:t>
              </a:r>
            </a:p>
          </p:txBody>
        </p:sp>
        <p:sp>
          <p:nvSpPr>
            <p:cNvPr id="197" name="직사각형 129"/>
            <p:cNvSpPr>
              <a:spLocks noChangeArrowheads="1"/>
            </p:cNvSpPr>
            <p:nvPr/>
          </p:nvSpPr>
          <p:spPr bwMode="auto">
            <a:xfrm>
              <a:off x="7078839" y="4267134"/>
              <a:ext cx="1025945" cy="1538552"/>
            </a:xfrm>
            <a:prstGeom prst="rect">
              <a:avLst/>
            </a:prstGeom>
            <a:solidFill>
              <a:srgbClr val="72BAD4"/>
            </a:solidFill>
            <a:ln w="9525">
              <a:noFill/>
              <a:miter lim="800000"/>
              <a:headEnd/>
              <a:tailEnd/>
            </a:ln>
          </p:spPr>
          <p:txBody>
            <a:bodyPr wrap="none" lIns="72000" tIns="0" rIns="0" bIns="0" anchor="ctr"/>
            <a:lstStyle/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객체지향 </a:t>
              </a:r>
              <a:endParaRPr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모듈화</a:t>
              </a:r>
              <a:endParaRPr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재사용성은 </a:t>
              </a:r>
              <a:endParaRPr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>
                <a:lnSpc>
                  <a:spcPct val="100000"/>
                </a:lnSpc>
              </a:pPr>
              <a:r>
                <a:rPr lang="ko-KR" altLang="en-US" sz="120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떨어짐</a:t>
              </a:r>
            </a:p>
          </p:txBody>
        </p:sp>
        <p:sp>
          <p:nvSpPr>
            <p:cNvPr id="198" name="직사각형 197"/>
            <p:cNvSpPr/>
            <p:nvPr/>
          </p:nvSpPr>
          <p:spPr>
            <a:xfrm>
              <a:off x="8191500" y="4267086"/>
              <a:ext cx="1025525" cy="1538600"/>
            </a:xfrm>
            <a:prstGeom prst="rect">
              <a:avLst/>
            </a:prstGeom>
            <a:solidFill>
              <a:srgbClr val="4BA8C9"/>
            </a:solidFill>
            <a:ln>
              <a:noFill/>
            </a:ln>
            <a:effectLst/>
          </p:spPr>
          <p:txBody>
            <a:bodyPr wrap="none" lIns="72000" tIns="0" rIns="0" bIns="0" anchor="ctr"/>
            <a:lstStyle/>
            <a:p>
              <a:pPr algn="ctr" defTabSz="968375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ko-KR" altLang="en-US" sz="1200" kern="0" dirty="0">
                  <a:solidFill>
                    <a:sysClr val="window" lastClr="FFFFFF"/>
                  </a:solidFill>
                  <a:latin typeface="맑은 고딕" pitchFamily="50" charset="-127"/>
                  <a:ea typeface="맑은 고딕" pitchFamily="50" charset="-127"/>
                </a:rPr>
                <a:t>프레임워크 </a:t>
              </a:r>
              <a:endParaRPr lang="en-US" altLang="ko-KR" sz="1200" kern="0" dirty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ko-KR" altLang="en-US" sz="1200" kern="0" dirty="0">
                  <a:solidFill>
                    <a:sysClr val="window" lastClr="FFFFFF"/>
                  </a:solidFill>
                  <a:latin typeface="맑은 고딕" pitchFamily="50" charset="-127"/>
                  <a:ea typeface="맑은 고딕" pitchFamily="50" charset="-127"/>
                </a:rPr>
                <a:t>기반에</a:t>
              </a:r>
              <a:endParaRPr lang="en-US" altLang="ko-KR" sz="1200" kern="0" dirty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ko-KR" altLang="en-US" sz="1200" kern="0" dirty="0">
                  <a:solidFill>
                    <a:sysClr val="window" lastClr="FFFFFF"/>
                  </a:solidFill>
                  <a:latin typeface="맑은 고딕" pitchFamily="50" charset="-127"/>
                  <a:ea typeface="맑은 고딕" pitchFamily="50" charset="-127"/>
                </a:rPr>
                <a:t>컴포넌트 </a:t>
              </a:r>
              <a:endParaRPr lang="en-US" altLang="ko-KR" sz="1200" kern="0" dirty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ko-KR" altLang="en-US" sz="1200" kern="0" dirty="0" err="1">
                  <a:solidFill>
                    <a:sysClr val="window" lastClr="FFFFFF"/>
                  </a:solidFill>
                  <a:latin typeface="맑은 고딕" pitchFamily="50" charset="-127"/>
                  <a:ea typeface="맑은 고딕" pitchFamily="50" charset="-127"/>
                </a:rPr>
                <a:t>재조립</a:t>
              </a:r>
              <a:endParaRPr lang="en-US" altLang="ko-KR" sz="1200" kern="0" dirty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968375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ko-KR" altLang="en-US" sz="1200" kern="0" dirty="0">
                  <a:solidFill>
                    <a:sysClr val="window" lastClr="FFFFFF"/>
                  </a:solidFill>
                  <a:latin typeface="맑은 고딕" pitchFamily="50" charset="-127"/>
                  <a:ea typeface="맑은 고딕" pitchFamily="50" charset="-127"/>
                </a:rPr>
                <a:t>적용</a:t>
              </a:r>
            </a:p>
          </p:txBody>
        </p:sp>
      </p:grpSp>
      <p:sp>
        <p:nvSpPr>
          <p:cNvPr id="185" name="오른쪽 화살표 184"/>
          <p:cNvSpPr/>
          <p:nvPr/>
        </p:nvSpPr>
        <p:spPr>
          <a:xfrm>
            <a:off x="5025901" y="5445398"/>
            <a:ext cx="4319587" cy="719137"/>
          </a:xfrm>
          <a:prstGeom prst="rightArrow">
            <a:avLst/>
          </a:prstGeom>
          <a:solidFill>
            <a:srgbClr val="4F81BD"/>
          </a:solidFill>
          <a:ln w="317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anchor="ctr"/>
          <a:lstStyle/>
          <a:p>
            <a:pPr algn="ctr" defTabSz="91440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ko-KR" altLang="en-US" sz="1200" b="1" kern="0" err="1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rPr>
              <a:t>재사용성</a:t>
            </a:r>
            <a:r>
              <a:rPr lang="ko-KR" altLang="en-US" sz="1200" b="1" kern="0" dirty="0">
                <a:solidFill>
                  <a:sysClr val="window" lastClr="FFFFFF"/>
                </a:solidFill>
                <a:latin typeface="맑은 고딕" pitchFamily="50" charset="-127"/>
                <a:ea typeface="맑은 고딕" pitchFamily="50" charset="-127"/>
              </a:rPr>
              <a:t> 증가</a:t>
            </a:r>
          </a:p>
        </p:txBody>
      </p:sp>
      <p:grpSp>
        <p:nvGrpSpPr>
          <p:cNvPr id="10" name="그룹 14"/>
          <p:cNvGrpSpPr>
            <a:grpSpLocks/>
          </p:cNvGrpSpPr>
          <p:nvPr/>
        </p:nvGrpSpPr>
        <p:grpSpPr bwMode="auto">
          <a:xfrm>
            <a:off x="5025901" y="2060848"/>
            <a:ext cx="1965325" cy="215900"/>
            <a:chOff x="192872" y="1687749"/>
            <a:chExt cx="1966045" cy="215444"/>
          </a:xfrm>
        </p:grpSpPr>
        <p:sp>
          <p:nvSpPr>
            <p:cNvPr id="187" name="Text Box 9"/>
            <p:cNvSpPr txBox="1">
              <a:spLocks noChangeArrowheads="1"/>
            </p:cNvSpPr>
            <p:nvPr/>
          </p:nvSpPr>
          <p:spPr bwMode="auto">
            <a:xfrm>
              <a:off x="467610" y="1687749"/>
              <a:ext cx="1691307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eaLnBrk="1" hangingPunct="1">
                <a:tabLst>
                  <a:tab pos="5648325" algn="l"/>
                </a:tabLst>
              </a:pPr>
              <a:r>
                <a:rPr lang="ko-KR" altLang="en-US" sz="1300" b="1">
                  <a:solidFill>
                    <a:srgbClr val="376092"/>
                  </a:solidFill>
                  <a:latin typeface="맑은 고딕" pitchFamily="50" charset="-127"/>
                  <a:ea typeface="맑은 고딕" pitchFamily="50" charset="-127"/>
                  <a:cs typeface="Arial Unicode MS" pitchFamily="50" charset="-127"/>
                </a:rPr>
                <a:t>표준프레임워크 발전과정</a:t>
              </a:r>
            </a:p>
          </p:txBody>
        </p:sp>
        <p:grpSp>
          <p:nvGrpSpPr>
            <p:cNvPr id="11" name="그룹 67"/>
            <p:cNvGrpSpPr>
              <a:grpSpLocks/>
            </p:cNvGrpSpPr>
            <p:nvPr/>
          </p:nvGrpSpPr>
          <p:grpSpPr bwMode="auto">
            <a:xfrm>
              <a:off x="192872" y="1701226"/>
              <a:ext cx="198000" cy="198000"/>
              <a:chOff x="7889851" y="7193027"/>
              <a:chExt cx="164147" cy="164147"/>
            </a:xfrm>
          </p:grpSpPr>
          <p:sp>
            <p:nvSpPr>
              <p:cNvPr id="189" name="AutoShape 194"/>
              <p:cNvSpPr>
                <a:spLocks noChangeArrowheads="1"/>
              </p:cNvSpPr>
              <p:nvPr/>
            </p:nvSpPr>
            <p:spPr bwMode="gray">
              <a:xfrm>
                <a:off x="7889851" y="7193673"/>
                <a:ext cx="164570" cy="162849"/>
              </a:xfrm>
              <a:prstGeom prst="roundRect">
                <a:avLst>
                  <a:gd name="adj" fmla="val 16667"/>
                </a:avLst>
              </a:prstGeom>
              <a:solidFill>
                <a:srgbClr val="0C4CA0"/>
              </a:solidFill>
              <a:ln w="9525" algn="ctr">
                <a:noFill/>
                <a:round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ko-KR" altLang="en-US" sz="1500" b="1" kern="0">
                  <a:solidFill>
                    <a:sysClr val="windowText" lastClr="00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pic>
            <p:nvPicPr>
              <p:cNvPr id="190" name="Picture 195" descr="화살2"/>
              <p:cNvPicPr>
                <a:picLocks noChangeAspect="1" noChangeArrowheads="1"/>
              </p:cNvPicPr>
              <p:nvPr/>
            </p:nvPicPr>
            <p:blipFill>
              <a:blip r:embed="rId5" cstate="print">
                <a:lum bright="30000" contrast="66000"/>
                <a:grayscl/>
                <a:biLevel thresh="50000"/>
              </a:blip>
              <a:srcRect/>
              <a:stretch>
                <a:fillRect/>
              </a:stretch>
            </p:blipFill>
            <p:spPr bwMode="gray">
              <a:xfrm>
                <a:off x="7920990" y="7224167"/>
                <a:ext cx="101869" cy="1018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224" name="Rectangle 108"/>
          <p:cNvSpPr>
            <a:spLocks noChangeArrowheads="1"/>
          </p:cNvSpPr>
          <p:nvPr/>
        </p:nvSpPr>
        <p:spPr bwMode="auto">
          <a:xfrm>
            <a:off x="344488" y="980728"/>
            <a:ext cx="9217025" cy="648072"/>
          </a:xfrm>
          <a:prstGeom prst="rect">
            <a:avLst/>
          </a:prstGeom>
          <a:solidFill>
            <a:srgbClr val="F0F8FA">
              <a:alpha val="50000"/>
            </a:srgbClr>
          </a:solidFill>
          <a:ln w="9525">
            <a:solidFill>
              <a:schemeClr val="tx2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kumimoji="1" lang="ko-KR" altLang="en-US" sz="1400" dirty="0" smtClean="0">
                <a:solidFill>
                  <a:srgbClr val="000000"/>
                </a:solidFill>
                <a:latin typeface="맑은 고딕" pitchFamily="50" charset="-127"/>
              </a:rPr>
              <a:t>표준프레임워크는 효율적인 정보시스템 개발을 위해 소프트웨어의 설계 및 구현에 필요한 틀을 제공하는 것으로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맑은 고딕" pitchFamily="50" charset="-127"/>
              </a:rPr>
              <a:t>, 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맑은 고딕" pitchFamily="50" charset="-127"/>
              </a:rPr>
              <a:t>어플리케이션 개발 시 재사용도가 높아져 개발기간과 리소스를 절감 할 수 있습니다</a:t>
            </a:r>
          </a:p>
        </p:txBody>
      </p:sp>
      <p:sp>
        <p:nvSpPr>
          <p:cNvPr id="7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3797300" y="6492899"/>
            <a:ext cx="2311400" cy="276999"/>
          </a:xfrm>
        </p:spPr>
        <p:txBody>
          <a:bodyPr wrap="square">
            <a:spAutoFit/>
          </a:bodyPr>
          <a:lstStyle/>
          <a:p>
            <a:pPr algn="ctr"/>
            <a:r>
              <a:rPr lang="en-US" altLang="ko-KR" dirty="0" smtClean="0">
                <a:latin typeface="+mn-ea"/>
              </a:rPr>
              <a:t>- 6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-</a:t>
            </a:r>
            <a:endParaRPr lang="ko-KR" altLang="en-US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Framework - </a:t>
            </a:r>
            <a:r>
              <a:rPr lang="ko-KR" altLang="en-US" dirty="0" smtClean="0"/>
              <a:t>구성</a:t>
            </a:r>
            <a:endParaRPr lang="ko-KR" altLang="en-US" dirty="0"/>
          </a:p>
        </p:txBody>
      </p:sp>
      <p:sp>
        <p:nvSpPr>
          <p:cNvPr id="225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smtClean="0"/>
              <a:t>6</a:t>
            </a:r>
            <a:endParaRPr lang="ko-KR" altLang="en-US" dirty="0"/>
          </a:p>
        </p:txBody>
      </p:sp>
      <p:sp>
        <p:nvSpPr>
          <p:cNvPr id="224" name="Rectangle 108"/>
          <p:cNvSpPr>
            <a:spLocks noChangeArrowheads="1"/>
          </p:cNvSpPr>
          <p:nvPr/>
        </p:nvSpPr>
        <p:spPr bwMode="auto">
          <a:xfrm>
            <a:off x="344488" y="980728"/>
            <a:ext cx="9217025" cy="648072"/>
          </a:xfrm>
          <a:prstGeom prst="rect">
            <a:avLst/>
          </a:prstGeom>
          <a:solidFill>
            <a:srgbClr val="F0F8FA">
              <a:alpha val="50000"/>
            </a:srgbClr>
          </a:solidFill>
          <a:ln w="9525">
            <a:solidFill>
              <a:schemeClr val="tx2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atinLnBrk="0"/>
            <a:r>
              <a:rPr kumimoji="1" lang="en-US" altLang="ko-KR" sz="1400" dirty="0" smtClean="0">
                <a:latin typeface="맑은 고딕" pitchFamily="50" charset="-127"/>
                <a:ea typeface="맑은 고딕" pitchFamily="50" charset="-127"/>
              </a:rPr>
              <a:t>Spring Framework</a:t>
            </a:r>
            <a:r>
              <a:rPr kumimoji="1" lang="ko-KR" altLang="en-US" sz="1400" dirty="0" smtClean="0">
                <a:latin typeface="맑은 고딕" pitchFamily="50" charset="-127"/>
                <a:ea typeface="맑은 고딕" pitchFamily="50" charset="-127"/>
              </a:rPr>
              <a:t>를 기반으로 개발환경을 구축하고 필요한 공통컴포넌트를 개발하여 프레임워크를 완성한 후 업무영역을 개발합니다</a:t>
            </a:r>
            <a:r>
              <a:rPr kumimoji="1" lang="en-US" altLang="ko-KR" sz="1400" dirty="0" smtClean="0">
                <a:latin typeface="맑은 고딕" pitchFamily="50" charset="-127"/>
                <a:ea typeface="맑은 고딕" pitchFamily="50" charset="-127"/>
              </a:rPr>
              <a:t>.</a:t>
            </a:r>
            <a:endParaRPr kumimoji="1" lang="ko-KR" altLang="en-US" sz="1400" dirty="0" smtClean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227" name="모서리가 둥근 직사각형 155"/>
          <p:cNvSpPr>
            <a:spLocks noChangeArrowheads="1"/>
          </p:cNvSpPr>
          <p:nvPr/>
        </p:nvSpPr>
        <p:spPr bwMode="auto">
          <a:xfrm>
            <a:off x="344488" y="1988840"/>
            <a:ext cx="4464050" cy="4177010"/>
          </a:xfrm>
          <a:prstGeom prst="roundRect">
            <a:avLst>
              <a:gd name="adj" fmla="val 3116"/>
            </a:avLst>
          </a:prstGeom>
          <a:solidFill>
            <a:srgbClr val="E7F5FF">
              <a:alpha val="27058"/>
            </a:srgbClr>
          </a:solidFill>
          <a:ln w="28575">
            <a:solidFill>
              <a:srgbClr val="00B0F0"/>
            </a:solidFill>
            <a:round/>
            <a:headEnd/>
            <a:tailEnd/>
          </a:ln>
        </p:spPr>
        <p:txBody>
          <a:bodyPr lIns="0" tIns="0" rIns="0" bIns="0"/>
          <a:lstStyle/>
          <a:p>
            <a:pPr algn="ctr" eaLnBrk="1" hangingPunct="1">
              <a:lnSpc>
                <a:spcPct val="100000"/>
              </a:lnSpc>
            </a:pPr>
            <a:endParaRPr lang="ko-KR" altLang="en-US" sz="1300" b="1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8" name="직사각형 227"/>
          <p:cNvSpPr/>
          <p:nvPr/>
        </p:nvSpPr>
        <p:spPr>
          <a:xfrm>
            <a:off x="1863477" y="2250380"/>
            <a:ext cx="800100" cy="4462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b="1" dirty="0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입고관리</a:t>
            </a:r>
            <a:endParaRPr lang="ko-KR" altLang="en-US" sz="1050" b="1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9" name="직사각형 228"/>
          <p:cNvSpPr/>
          <p:nvPr/>
        </p:nvSpPr>
        <p:spPr>
          <a:xfrm>
            <a:off x="2701677" y="2250380"/>
            <a:ext cx="798512" cy="4462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b="1" dirty="0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출고관리</a:t>
            </a:r>
            <a:endParaRPr lang="ko-KR" altLang="en-US" sz="1050" b="1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0" name="직사각형 229"/>
          <p:cNvSpPr/>
          <p:nvPr/>
        </p:nvSpPr>
        <p:spPr>
          <a:xfrm>
            <a:off x="1863477" y="3303928"/>
            <a:ext cx="2473325" cy="403713"/>
          </a:xfrm>
          <a:prstGeom prst="rect">
            <a:avLst/>
          </a:prstGeom>
          <a:solidFill>
            <a:srgbClr val="00A1D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공통컴포넌트</a:t>
            </a:r>
          </a:p>
        </p:txBody>
      </p:sp>
      <p:sp>
        <p:nvSpPr>
          <p:cNvPr id="231" name="직사각형 230"/>
          <p:cNvSpPr/>
          <p:nvPr/>
        </p:nvSpPr>
        <p:spPr>
          <a:xfrm>
            <a:off x="1863477" y="3829817"/>
            <a:ext cx="603250" cy="446209"/>
          </a:xfrm>
          <a:prstGeom prst="rect">
            <a:avLst/>
          </a:prstGeom>
          <a:solidFill>
            <a:srgbClr val="00A1D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화면처리</a:t>
            </a:r>
            <a:r>
              <a:rPr lang="en-US" altLang="ko-KR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계층</a:t>
            </a:r>
          </a:p>
        </p:txBody>
      </p:sp>
      <p:sp>
        <p:nvSpPr>
          <p:cNvPr id="232" name="직사각형 231"/>
          <p:cNvSpPr/>
          <p:nvPr/>
        </p:nvSpPr>
        <p:spPr>
          <a:xfrm>
            <a:off x="2487364" y="3829817"/>
            <a:ext cx="603250" cy="446209"/>
          </a:xfrm>
          <a:prstGeom prst="rect">
            <a:avLst/>
          </a:prstGeom>
          <a:solidFill>
            <a:srgbClr val="00A1D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업무처리</a:t>
            </a:r>
            <a:r>
              <a:rPr lang="en-US" altLang="ko-KR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계층</a:t>
            </a:r>
          </a:p>
        </p:txBody>
      </p:sp>
      <p:sp>
        <p:nvSpPr>
          <p:cNvPr id="233" name="직사각형 232"/>
          <p:cNvSpPr/>
          <p:nvPr/>
        </p:nvSpPr>
        <p:spPr>
          <a:xfrm>
            <a:off x="3111252" y="3829817"/>
            <a:ext cx="601662" cy="446209"/>
          </a:xfrm>
          <a:prstGeom prst="rect">
            <a:avLst/>
          </a:prstGeom>
          <a:solidFill>
            <a:srgbClr val="00A1D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데이터</a:t>
            </a:r>
            <a:endParaRPr lang="en-US" altLang="ko-KR" sz="1050" b="1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ct val="100000"/>
              </a:lnSpc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처리 계층</a:t>
            </a:r>
          </a:p>
        </p:txBody>
      </p:sp>
      <p:sp>
        <p:nvSpPr>
          <p:cNvPr id="234" name="직사각형 233"/>
          <p:cNvSpPr/>
          <p:nvPr/>
        </p:nvSpPr>
        <p:spPr>
          <a:xfrm>
            <a:off x="3735139" y="3829817"/>
            <a:ext cx="601663" cy="446209"/>
          </a:xfrm>
          <a:prstGeom prst="rect">
            <a:avLst/>
          </a:prstGeom>
          <a:solidFill>
            <a:srgbClr val="00A1D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연계통합</a:t>
            </a:r>
            <a:r>
              <a:rPr lang="en-US" altLang="ko-KR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계층</a:t>
            </a:r>
          </a:p>
        </p:txBody>
      </p:sp>
      <p:sp>
        <p:nvSpPr>
          <p:cNvPr id="235" name="직사각형 234"/>
          <p:cNvSpPr/>
          <p:nvPr/>
        </p:nvSpPr>
        <p:spPr>
          <a:xfrm>
            <a:off x="1863477" y="4318522"/>
            <a:ext cx="2473325" cy="446209"/>
          </a:xfrm>
          <a:prstGeom prst="rect">
            <a:avLst/>
          </a:prstGeom>
          <a:solidFill>
            <a:srgbClr val="00A1D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공통기반 계층</a:t>
            </a:r>
          </a:p>
        </p:txBody>
      </p:sp>
      <p:sp>
        <p:nvSpPr>
          <p:cNvPr id="236" name="직사각형 235"/>
          <p:cNvSpPr/>
          <p:nvPr/>
        </p:nvSpPr>
        <p:spPr>
          <a:xfrm>
            <a:off x="1863477" y="4856806"/>
            <a:ext cx="603250" cy="444437"/>
          </a:xfrm>
          <a:prstGeom prst="rect">
            <a:avLst/>
          </a:prstGeom>
          <a:solidFill>
            <a:srgbClr val="92D400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구현도구</a:t>
            </a:r>
          </a:p>
        </p:txBody>
      </p:sp>
      <p:sp>
        <p:nvSpPr>
          <p:cNvPr id="237" name="직사각형 236"/>
          <p:cNvSpPr/>
          <p:nvPr/>
        </p:nvSpPr>
        <p:spPr>
          <a:xfrm>
            <a:off x="2487364" y="4856806"/>
            <a:ext cx="603250" cy="444437"/>
          </a:xfrm>
          <a:prstGeom prst="rect">
            <a:avLst/>
          </a:prstGeom>
          <a:solidFill>
            <a:srgbClr val="92D400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테스트</a:t>
            </a:r>
            <a:endParaRPr lang="en-US" altLang="ko-KR" sz="1050" b="1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ct val="100000"/>
              </a:lnSpc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도구</a:t>
            </a:r>
          </a:p>
        </p:txBody>
      </p:sp>
      <p:sp>
        <p:nvSpPr>
          <p:cNvPr id="238" name="직사각형 237"/>
          <p:cNvSpPr/>
          <p:nvPr/>
        </p:nvSpPr>
        <p:spPr>
          <a:xfrm>
            <a:off x="3111252" y="4856806"/>
            <a:ext cx="601662" cy="444437"/>
          </a:xfrm>
          <a:prstGeom prst="rect">
            <a:avLst/>
          </a:prstGeom>
          <a:solidFill>
            <a:srgbClr val="92D400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형상관리도구</a:t>
            </a:r>
          </a:p>
        </p:txBody>
      </p:sp>
      <p:sp>
        <p:nvSpPr>
          <p:cNvPr id="239" name="직사각형 238"/>
          <p:cNvSpPr/>
          <p:nvPr/>
        </p:nvSpPr>
        <p:spPr>
          <a:xfrm>
            <a:off x="3735139" y="4856806"/>
            <a:ext cx="601663" cy="444437"/>
          </a:xfrm>
          <a:prstGeom prst="rect">
            <a:avLst/>
          </a:prstGeom>
          <a:solidFill>
            <a:srgbClr val="92D400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배포도구</a:t>
            </a:r>
          </a:p>
        </p:txBody>
      </p:sp>
      <p:sp>
        <p:nvSpPr>
          <p:cNvPr id="241" name="직사각형 240"/>
          <p:cNvSpPr/>
          <p:nvPr/>
        </p:nvSpPr>
        <p:spPr>
          <a:xfrm>
            <a:off x="1661864" y="2066230"/>
            <a:ext cx="115888" cy="3934428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endParaRPr lang="ko-KR" altLang="en-US" sz="1050" b="1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2" name="직사각형 241"/>
          <p:cNvSpPr/>
          <p:nvPr/>
        </p:nvSpPr>
        <p:spPr>
          <a:xfrm>
            <a:off x="1719014" y="5411025"/>
            <a:ext cx="2735263" cy="589634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endParaRPr lang="ko-KR" altLang="en-US" sz="1050" b="1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3" name="직사각형 242"/>
          <p:cNvSpPr/>
          <p:nvPr/>
        </p:nvSpPr>
        <p:spPr>
          <a:xfrm>
            <a:off x="4405064" y="2066230"/>
            <a:ext cx="115888" cy="3934428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endParaRPr lang="ko-KR" altLang="en-US" sz="1050" b="1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4" name="TextBox 260"/>
          <p:cNvSpPr txBox="1">
            <a:spLocks noChangeArrowheads="1"/>
          </p:cNvSpPr>
          <p:nvPr/>
        </p:nvSpPr>
        <p:spPr bwMode="auto">
          <a:xfrm>
            <a:off x="2408940" y="5564648"/>
            <a:ext cx="145860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ko-KR" sz="1200" dirty="0" smtClean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Spring Framework</a:t>
            </a:r>
            <a:endParaRPr lang="ko-KR" altLang="en-US" sz="1200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1" name="직사각형 250"/>
          <p:cNvSpPr/>
          <p:nvPr/>
        </p:nvSpPr>
        <p:spPr>
          <a:xfrm>
            <a:off x="1833314" y="2220278"/>
            <a:ext cx="2530475" cy="1007512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00000"/>
              </a:lnSpc>
              <a:defRPr/>
            </a:pPr>
            <a:endParaRPr lang="ko-KR" altLang="en-US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2" name="직사각형 251"/>
          <p:cNvSpPr/>
          <p:nvPr/>
        </p:nvSpPr>
        <p:spPr>
          <a:xfrm>
            <a:off x="1833314" y="3270286"/>
            <a:ext cx="2530475" cy="467457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00000"/>
              </a:lnSpc>
              <a:defRPr/>
            </a:pPr>
            <a:endParaRPr lang="ko-KR" altLang="en-US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3" name="직사각형 252"/>
          <p:cNvSpPr/>
          <p:nvPr/>
        </p:nvSpPr>
        <p:spPr>
          <a:xfrm>
            <a:off x="1833314" y="3792633"/>
            <a:ext cx="2530475" cy="991575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00000"/>
              </a:lnSpc>
              <a:defRPr/>
            </a:pPr>
            <a:endParaRPr lang="ko-KR" altLang="en-US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54" name="그룹 201"/>
          <p:cNvGrpSpPr>
            <a:grpSpLocks noChangeAspect="1"/>
          </p:cNvGrpSpPr>
          <p:nvPr/>
        </p:nvGrpSpPr>
        <p:grpSpPr bwMode="auto">
          <a:xfrm>
            <a:off x="1738064" y="2662945"/>
            <a:ext cx="136525" cy="139883"/>
            <a:chOff x="272480" y="4834467"/>
            <a:chExt cx="235520" cy="228158"/>
          </a:xfrm>
        </p:grpSpPr>
        <p:sp>
          <p:nvSpPr>
            <p:cNvPr id="318" name="타원 4"/>
            <p:cNvSpPr>
              <a:spLocks noChangeArrowheads="1"/>
            </p:cNvSpPr>
            <p:nvPr/>
          </p:nvSpPr>
          <p:spPr bwMode="gray">
            <a:xfrm>
              <a:off x="272480" y="4834467"/>
              <a:ext cx="235520" cy="228158"/>
            </a:xfrm>
            <a:prstGeom prst="ellipse">
              <a:avLst/>
            </a:prstGeom>
            <a:solidFill>
              <a:srgbClr val="00A1DE"/>
            </a:solidFill>
            <a:ln w="12700">
              <a:solidFill>
                <a:schemeClr val="bg1"/>
              </a:solidFill>
            </a:ln>
            <a:extLst/>
          </p:spPr>
          <p:txBody>
            <a:bodyPr rIns="36000" bIns="36000"/>
            <a:lstStyle/>
            <a:p>
              <a:pPr defTabSz="914400">
                <a:lnSpc>
                  <a:spcPct val="100000"/>
                </a:lnSpc>
                <a:defRPr/>
              </a:pPr>
              <a:endParaRPr lang="ko-KR" altLang="en-US" sz="5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319" name="타원 4"/>
            <p:cNvSpPr>
              <a:spLocks noChangeAspect="1" noChangeArrowheads="1"/>
            </p:cNvSpPr>
            <p:nvPr/>
          </p:nvSpPr>
          <p:spPr bwMode="gray">
            <a:xfrm>
              <a:off x="299866" y="4860460"/>
              <a:ext cx="186225" cy="179060"/>
            </a:xfrm>
            <a:prstGeom prst="ellipse">
              <a:avLst/>
            </a:prstGeom>
            <a:solidFill>
              <a:schemeClr val="bg1"/>
            </a:solidFill>
            <a:ln w="12700">
              <a:noFill/>
            </a:ln>
            <a:extLst/>
          </p:spPr>
          <p:txBody>
            <a:bodyPr rIns="36000" bIns="36000"/>
            <a:lstStyle/>
            <a:p>
              <a:pPr defTabSz="914400">
                <a:lnSpc>
                  <a:spcPct val="100000"/>
                </a:lnSpc>
                <a:defRPr/>
              </a:pPr>
              <a:endParaRPr lang="ko-KR" altLang="en-US" sz="5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320" name="타원 19"/>
            <p:cNvSpPr>
              <a:spLocks noChangeArrowheads="1"/>
            </p:cNvSpPr>
            <p:nvPr/>
          </p:nvSpPr>
          <p:spPr bwMode="gray">
            <a:xfrm>
              <a:off x="286174" y="4912446"/>
              <a:ext cx="210872" cy="7509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ctr" defTabSz="914400">
                <a:lnSpc>
                  <a:spcPct val="100000"/>
                </a:lnSpc>
                <a:defRPr/>
              </a:pPr>
              <a:r>
                <a:rPr kumimoji="1" lang="en-US" altLang="ko-KR" sz="900" b="1" kern="0" dirty="0">
                  <a:solidFill>
                    <a:srgbClr val="00B0F0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1</a:t>
              </a:r>
              <a:endParaRPr kumimoji="1" lang="ko-KR" altLang="en-US" sz="900" b="1" kern="0" dirty="0">
                <a:solidFill>
                  <a:srgbClr val="00B0F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grpSp>
        <p:nvGrpSpPr>
          <p:cNvPr id="255" name="그룹 214"/>
          <p:cNvGrpSpPr>
            <a:grpSpLocks noChangeAspect="1"/>
          </p:cNvGrpSpPr>
          <p:nvPr/>
        </p:nvGrpSpPr>
        <p:grpSpPr bwMode="auto">
          <a:xfrm>
            <a:off x="1747589" y="4226447"/>
            <a:ext cx="136525" cy="139882"/>
            <a:chOff x="272480" y="4834467"/>
            <a:chExt cx="235520" cy="228158"/>
          </a:xfrm>
        </p:grpSpPr>
        <p:sp>
          <p:nvSpPr>
            <p:cNvPr id="315" name="타원 4"/>
            <p:cNvSpPr>
              <a:spLocks noChangeArrowheads="1"/>
            </p:cNvSpPr>
            <p:nvPr/>
          </p:nvSpPr>
          <p:spPr bwMode="gray">
            <a:xfrm>
              <a:off x="272480" y="4834467"/>
              <a:ext cx="235520" cy="228158"/>
            </a:xfrm>
            <a:prstGeom prst="ellipse">
              <a:avLst/>
            </a:prstGeom>
            <a:solidFill>
              <a:srgbClr val="00A1DE"/>
            </a:solidFill>
            <a:ln w="12700">
              <a:solidFill>
                <a:schemeClr val="bg1"/>
              </a:solidFill>
            </a:ln>
            <a:extLst/>
          </p:spPr>
          <p:txBody>
            <a:bodyPr rIns="36000" bIns="36000"/>
            <a:lstStyle/>
            <a:p>
              <a:pPr defTabSz="914400">
                <a:lnSpc>
                  <a:spcPct val="100000"/>
                </a:lnSpc>
                <a:defRPr/>
              </a:pPr>
              <a:endParaRPr lang="ko-KR" altLang="en-US" sz="5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316" name="타원 4"/>
            <p:cNvSpPr>
              <a:spLocks noChangeAspect="1" noChangeArrowheads="1"/>
            </p:cNvSpPr>
            <p:nvPr/>
          </p:nvSpPr>
          <p:spPr bwMode="gray">
            <a:xfrm>
              <a:off x="299866" y="4860459"/>
              <a:ext cx="186225" cy="179061"/>
            </a:xfrm>
            <a:prstGeom prst="ellipse">
              <a:avLst/>
            </a:prstGeom>
            <a:solidFill>
              <a:schemeClr val="bg1"/>
            </a:solidFill>
            <a:ln w="12700">
              <a:noFill/>
            </a:ln>
            <a:extLst/>
          </p:spPr>
          <p:txBody>
            <a:bodyPr rIns="36000" bIns="36000"/>
            <a:lstStyle/>
            <a:p>
              <a:pPr defTabSz="914400">
                <a:lnSpc>
                  <a:spcPct val="100000"/>
                </a:lnSpc>
                <a:defRPr/>
              </a:pPr>
              <a:endParaRPr lang="ko-KR" altLang="en-US" sz="5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317" name="타원 19"/>
            <p:cNvSpPr>
              <a:spLocks noChangeArrowheads="1"/>
            </p:cNvSpPr>
            <p:nvPr/>
          </p:nvSpPr>
          <p:spPr bwMode="gray">
            <a:xfrm>
              <a:off x="286174" y="4912444"/>
              <a:ext cx="210872" cy="7509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ctr" defTabSz="914400">
                <a:lnSpc>
                  <a:spcPct val="100000"/>
                </a:lnSpc>
                <a:defRPr/>
              </a:pPr>
              <a:r>
                <a:rPr kumimoji="1" lang="en-US" altLang="ko-KR" sz="900" b="1" kern="0" dirty="0">
                  <a:solidFill>
                    <a:srgbClr val="00B0F0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3</a:t>
              </a:r>
              <a:endParaRPr kumimoji="1" lang="ko-KR" altLang="en-US" sz="900" b="1" kern="0" dirty="0">
                <a:solidFill>
                  <a:srgbClr val="00B0F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grpSp>
        <p:nvGrpSpPr>
          <p:cNvPr id="256" name="그룹 218"/>
          <p:cNvGrpSpPr>
            <a:grpSpLocks noChangeAspect="1"/>
          </p:cNvGrpSpPr>
          <p:nvPr/>
        </p:nvGrpSpPr>
        <p:grpSpPr bwMode="auto">
          <a:xfrm>
            <a:off x="1742827" y="3459747"/>
            <a:ext cx="136525" cy="139883"/>
            <a:chOff x="272480" y="4834467"/>
            <a:chExt cx="235520" cy="228158"/>
          </a:xfrm>
        </p:grpSpPr>
        <p:sp>
          <p:nvSpPr>
            <p:cNvPr id="312" name="타원 4"/>
            <p:cNvSpPr>
              <a:spLocks noChangeArrowheads="1"/>
            </p:cNvSpPr>
            <p:nvPr/>
          </p:nvSpPr>
          <p:spPr bwMode="gray">
            <a:xfrm>
              <a:off x="272480" y="4834467"/>
              <a:ext cx="235520" cy="228158"/>
            </a:xfrm>
            <a:prstGeom prst="ellipse">
              <a:avLst/>
            </a:prstGeom>
            <a:solidFill>
              <a:srgbClr val="00A1DE"/>
            </a:solidFill>
            <a:ln w="12700">
              <a:solidFill>
                <a:schemeClr val="bg1"/>
              </a:solidFill>
            </a:ln>
            <a:extLst/>
          </p:spPr>
          <p:txBody>
            <a:bodyPr rIns="36000" bIns="36000"/>
            <a:lstStyle/>
            <a:p>
              <a:pPr defTabSz="914400">
                <a:lnSpc>
                  <a:spcPct val="100000"/>
                </a:lnSpc>
                <a:defRPr/>
              </a:pPr>
              <a:endParaRPr lang="ko-KR" altLang="en-US" sz="5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313" name="타원 4"/>
            <p:cNvSpPr>
              <a:spLocks noChangeAspect="1" noChangeArrowheads="1"/>
            </p:cNvSpPr>
            <p:nvPr/>
          </p:nvSpPr>
          <p:spPr bwMode="gray">
            <a:xfrm>
              <a:off x="299866" y="4860460"/>
              <a:ext cx="186225" cy="179060"/>
            </a:xfrm>
            <a:prstGeom prst="ellipse">
              <a:avLst/>
            </a:prstGeom>
            <a:solidFill>
              <a:schemeClr val="bg1"/>
            </a:solidFill>
            <a:ln w="12700">
              <a:noFill/>
            </a:ln>
            <a:extLst/>
          </p:spPr>
          <p:txBody>
            <a:bodyPr rIns="36000" bIns="36000"/>
            <a:lstStyle/>
            <a:p>
              <a:pPr defTabSz="914400">
                <a:lnSpc>
                  <a:spcPct val="100000"/>
                </a:lnSpc>
                <a:defRPr/>
              </a:pPr>
              <a:endParaRPr lang="ko-KR" altLang="en-US" sz="5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314" name="타원 19"/>
            <p:cNvSpPr>
              <a:spLocks noChangeArrowheads="1"/>
            </p:cNvSpPr>
            <p:nvPr/>
          </p:nvSpPr>
          <p:spPr bwMode="gray">
            <a:xfrm>
              <a:off x="286172" y="4912446"/>
              <a:ext cx="210873" cy="7509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ctr" defTabSz="914400">
                <a:lnSpc>
                  <a:spcPct val="100000"/>
                </a:lnSpc>
                <a:defRPr/>
              </a:pPr>
              <a:r>
                <a:rPr kumimoji="1" lang="en-US" altLang="ko-KR" sz="900" b="1" kern="0" dirty="0">
                  <a:solidFill>
                    <a:srgbClr val="00B0F0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2</a:t>
              </a:r>
              <a:endParaRPr kumimoji="1" lang="ko-KR" altLang="en-US" sz="900" b="1" kern="0" dirty="0">
                <a:solidFill>
                  <a:srgbClr val="00B0F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sp>
        <p:nvSpPr>
          <p:cNvPr id="258" name="대각선 방향의 모서리가 둥근 사각형 257"/>
          <p:cNvSpPr/>
          <p:nvPr/>
        </p:nvSpPr>
        <p:spPr bwMode="auto">
          <a:xfrm flipH="1">
            <a:off x="485776" y="3181700"/>
            <a:ext cx="1000125" cy="607340"/>
          </a:xfrm>
          <a:prstGeom prst="round2DiagRect">
            <a:avLst>
              <a:gd name="adj1" fmla="val 22830"/>
              <a:gd name="adj2" fmla="val 0"/>
            </a:avLst>
          </a:prstGeom>
          <a:solidFill>
            <a:schemeClr val="bg1"/>
          </a:solidFill>
          <a:ln w="6350" cap="flat" cmpd="sng" algn="ctr">
            <a:solidFill>
              <a:srgbClr val="00A1D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44000" tIns="0" rIns="0" bIns="0"/>
          <a:lstStyle/>
          <a:p>
            <a:pPr>
              <a:lnSpc>
                <a:spcPct val="100000"/>
              </a:lnSpc>
              <a:defRPr/>
            </a:pPr>
            <a:endParaRPr lang="ko-KR" altLang="en-US" sz="1050" dirty="0">
              <a:solidFill>
                <a:srgbClr val="00277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9" name="직사각형 258"/>
          <p:cNvSpPr/>
          <p:nvPr/>
        </p:nvSpPr>
        <p:spPr>
          <a:xfrm>
            <a:off x="485776" y="3300335"/>
            <a:ext cx="1000125" cy="25391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dirty="0" smtClean="0">
                <a:solidFill>
                  <a:srgbClr val="002776"/>
                </a:solidFill>
                <a:latin typeface="맑은 고딕" pitchFamily="50" charset="-127"/>
                <a:ea typeface="맑은 고딕" pitchFamily="50" charset="-127"/>
              </a:rPr>
              <a:t>공통요소</a:t>
            </a:r>
            <a:endParaRPr lang="ko-KR" altLang="en-US" sz="1050" dirty="0">
              <a:solidFill>
                <a:srgbClr val="00277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0" name="대각선 방향의 모서리가 둥근 사각형 259"/>
          <p:cNvSpPr/>
          <p:nvPr/>
        </p:nvSpPr>
        <p:spPr bwMode="auto">
          <a:xfrm flipH="1">
            <a:off x="485776" y="3975559"/>
            <a:ext cx="1000125" cy="605569"/>
          </a:xfrm>
          <a:prstGeom prst="round2DiagRect">
            <a:avLst>
              <a:gd name="adj1" fmla="val 22830"/>
              <a:gd name="adj2" fmla="val 0"/>
            </a:avLst>
          </a:prstGeom>
          <a:solidFill>
            <a:schemeClr val="bg1"/>
          </a:solidFill>
          <a:ln w="6350" cap="flat" cmpd="sng" algn="ctr">
            <a:solidFill>
              <a:srgbClr val="00A1D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44000" tIns="0" rIns="0" bIns="0"/>
          <a:lstStyle/>
          <a:p>
            <a:pPr>
              <a:lnSpc>
                <a:spcPct val="100000"/>
              </a:lnSpc>
              <a:defRPr/>
            </a:pPr>
            <a:endParaRPr lang="ko-KR" altLang="en-US" sz="1050" dirty="0">
              <a:solidFill>
                <a:srgbClr val="00277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1" name="직사각형 260"/>
          <p:cNvSpPr/>
          <p:nvPr/>
        </p:nvSpPr>
        <p:spPr>
          <a:xfrm>
            <a:off x="485776" y="3991496"/>
            <a:ext cx="1000125" cy="42319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defRPr/>
            </a:pPr>
            <a:endParaRPr lang="en-US" altLang="ko-KR" sz="1050" dirty="0">
              <a:solidFill>
                <a:srgbClr val="002776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ct val="100000"/>
              </a:lnSpc>
              <a:defRPr/>
            </a:pPr>
            <a:r>
              <a:rPr lang="ko-KR" altLang="en-US" sz="1050" dirty="0" smtClean="0">
                <a:solidFill>
                  <a:srgbClr val="002776"/>
                </a:solidFill>
                <a:latin typeface="맑은 고딕" pitchFamily="50" charset="-127"/>
                <a:ea typeface="맑은 고딕" pitchFamily="50" charset="-127"/>
              </a:rPr>
              <a:t>실행환경</a:t>
            </a:r>
            <a:endParaRPr lang="ko-KR" altLang="en-US" sz="1050" dirty="0">
              <a:solidFill>
                <a:srgbClr val="00277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2" name="대각선 방향의 모서리가 둥근 사각형 261"/>
          <p:cNvSpPr/>
          <p:nvPr/>
        </p:nvSpPr>
        <p:spPr bwMode="auto">
          <a:xfrm flipH="1">
            <a:off x="485776" y="4654908"/>
            <a:ext cx="1000125" cy="605569"/>
          </a:xfrm>
          <a:prstGeom prst="round2DiagRect">
            <a:avLst>
              <a:gd name="adj1" fmla="val 22830"/>
              <a:gd name="adj2" fmla="val 0"/>
            </a:avLst>
          </a:prstGeom>
          <a:solidFill>
            <a:schemeClr val="bg1"/>
          </a:solidFill>
          <a:ln w="6350" cap="flat" cmpd="sng" algn="ctr">
            <a:solidFill>
              <a:srgbClr val="00A1D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44000" tIns="0" rIns="0" bIns="0" anchor="ctr"/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dirty="0" smtClean="0">
                <a:solidFill>
                  <a:srgbClr val="002776"/>
                </a:solidFill>
                <a:latin typeface="맑은 고딕" pitchFamily="50" charset="-127"/>
                <a:ea typeface="맑은 고딕" pitchFamily="50" charset="-127"/>
              </a:rPr>
              <a:t>개발환경</a:t>
            </a:r>
            <a:endParaRPr lang="ko-KR" altLang="en-US" sz="1050" dirty="0">
              <a:solidFill>
                <a:srgbClr val="00277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64" name="그룹 335"/>
          <p:cNvGrpSpPr>
            <a:grpSpLocks/>
          </p:cNvGrpSpPr>
          <p:nvPr/>
        </p:nvGrpSpPr>
        <p:grpSpPr bwMode="auto">
          <a:xfrm>
            <a:off x="484188" y="5399153"/>
            <a:ext cx="1001713" cy="607340"/>
            <a:chOff x="4550769" y="6330886"/>
            <a:chExt cx="1034026" cy="627104"/>
          </a:xfrm>
        </p:grpSpPr>
        <p:sp>
          <p:nvSpPr>
            <p:cNvPr id="301" name="대각선 방향의 모서리가 둥근 사각형 300"/>
            <p:cNvSpPr/>
            <p:nvPr/>
          </p:nvSpPr>
          <p:spPr bwMode="auto">
            <a:xfrm flipH="1">
              <a:off x="4552408" y="6330886"/>
              <a:ext cx="1032387" cy="627104"/>
            </a:xfrm>
            <a:prstGeom prst="round2DiagRect">
              <a:avLst>
                <a:gd name="adj1" fmla="val 22830"/>
                <a:gd name="adj2" fmla="val 0"/>
              </a:avLst>
            </a:prstGeom>
            <a:solidFill>
              <a:schemeClr val="bg1"/>
            </a:solidFill>
            <a:ln w="6350" cap="flat" cmpd="sng" algn="ctr">
              <a:solidFill>
                <a:srgbClr val="00A1D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144000" tIns="0" rIns="0" bIns="0" anchor="ctr"/>
            <a:lstStyle/>
            <a:p>
              <a:pPr>
                <a:defRPr/>
              </a:pPr>
              <a:r>
                <a:rPr lang="en-US" altLang="ko-KR" sz="1050" dirty="0" smtClean="0">
                  <a:solidFill>
                    <a:srgbClr val="002776"/>
                  </a:solidFill>
                  <a:latin typeface="맑은 고딕" pitchFamily="50" charset="-127"/>
                  <a:ea typeface="맑은 고딕" pitchFamily="50" charset="-127"/>
                </a:rPr>
                <a:t>Framework</a:t>
              </a:r>
              <a:endParaRPr lang="ko-KR" altLang="en-US" sz="1050" dirty="0" smtClean="0">
                <a:solidFill>
                  <a:srgbClr val="002776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02" name="직사각형 301"/>
            <p:cNvSpPr/>
            <p:nvPr/>
          </p:nvSpPr>
          <p:spPr>
            <a:xfrm>
              <a:off x="4552408" y="6347341"/>
              <a:ext cx="1032387" cy="26217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defRPr/>
              </a:pPr>
              <a:endParaRPr lang="ko-KR" altLang="en-US" sz="1050" dirty="0">
                <a:solidFill>
                  <a:srgbClr val="002776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303" name="그룹 230"/>
            <p:cNvGrpSpPr>
              <a:grpSpLocks/>
            </p:cNvGrpSpPr>
            <p:nvPr/>
          </p:nvGrpSpPr>
          <p:grpSpPr bwMode="auto">
            <a:xfrm>
              <a:off x="4550769" y="6330886"/>
              <a:ext cx="374712" cy="261632"/>
              <a:chOff x="8593171" y="2807328"/>
              <a:chExt cx="392277" cy="261632"/>
            </a:xfrm>
          </p:grpSpPr>
          <p:sp>
            <p:nvSpPr>
              <p:cNvPr id="304" name="자유형 22"/>
              <p:cNvSpPr>
                <a:spLocks noChangeArrowheads="1"/>
              </p:cNvSpPr>
              <p:nvPr/>
            </p:nvSpPr>
            <p:spPr bwMode="auto">
              <a:xfrm>
                <a:off x="8593171" y="2807328"/>
                <a:ext cx="392277" cy="261632"/>
              </a:xfrm>
              <a:custGeom>
                <a:avLst/>
                <a:gdLst>
                  <a:gd name="T0" fmla="*/ 0 w 352356"/>
                  <a:gd name="T1" fmla="*/ 436254 h 329415"/>
                  <a:gd name="T2" fmla="*/ 688741 w 352356"/>
                  <a:gd name="T3" fmla="*/ 2324 h 329415"/>
                  <a:gd name="T4" fmla="*/ 673768 w 352356"/>
                  <a:gd name="T5" fmla="*/ 2324 h 329415"/>
                  <a:gd name="T6" fmla="*/ 0 w 352356"/>
                  <a:gd name="T7" fmla="*/ 2324 h 329415"/>
                  <a:gd name="T8" fmla="*/ 0 w 352356"/>
                  <a:gd name="T9" fmla="*/ 436254 h 3294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2356"/>
                  <a:gd name="T16" fmla="*/ 0 h 329415"/>
                  <a:gd name="T17" fmla="*/ 352356 w 352356"/>
                  <a:gd name="T18" fmla="*/ 329415 h 32941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2356" h="329415">
                    <a:moveTo>
                      <a:pt x="0" y="329415"/>
                    </a:moveTo>
                    <a:cubicBezTo>
                      <a:pt x="116840" y="220195"/>
                      <a:pt x="234885" y="112250"/>
                      <a:pt x="350520" y="1755"/>
                    </a:cubicBezTo>
                    <a:cubicBezTo>
                      <a:pt x="352356" y="0"/>
                      <a:pt x="345440" y="1755"/>
                      <a:pt x="342900" y="1755"/>
                    </a:cubicBezTo>
                    <a:lnTo>
                      <a:pt x="0" y="1755"/>
                    </a:lnTo>
                    <a:lnTo>
                      <a:pt x="0" y="329415"/>
                    </a:lnTo>
                    <a:close/>
                  </a:path>
                </a:pathLst>
              </a:custGeom>
              <a:solidFill>
                <a:srgbClr val="00A1DE"/>
              </a:solidFill>
              <a:ln w="9525">
                <a:noFill/>
                <a:round/>
                <a:headEnd/>
                <a:tailEnd/>
              </a:ln>
            </p:spPr>
            <p:txBody>
              <a:bodyPr rIns="36000" bIns="36000"/>
              <a:lstStyle/>
              <a:p>
                <a:endParaRPr lang="ko-KR" altLang="en-US"/>
              </a:p>
            </p:txBody>
          </p:sp>
          <p:grpSp>
            <p:nvGrpSpPr>
              <p:cNvPr id="305" name="그룹 226"/>
              <p:cNvGrpSpPr>
                <a:grpSpLocks noChangeAspect="1"/>
              </p:cNvGrpSpPr>
              <p:nvPr/>
            </p:nvGrpSpPr>
            <p:grpSpPr bwMode="auto">
              <a:xfrm>
                <a:off x="8615076" y="2821940"/>
                <a:ext cx="148646" cy="144000"/>
                <a:chOff x="272480" y="4834467"/>
                <a:chExt cx="235520" cy="228158"/>
              </a:xfrm>
            </p:grpSpPr>
            <p:sp>
              <p:nvSpPr>
                <p:cNvPr id="306" name="타원 4"/>
                <p:cNvSpPr>
                  <a:spLocks noChangeArrowheads="1"/>
                </p:cNvSpPr>
                <p:nvPr/>
              </p:nvSpPr>
              <p:spPr bwMode="gray">
                <a:xfrm>
                  <a:off x="273110" y="4834489"/>
                  <a:ext cx="236477" cy="228848"/>
                </a:xfrm>
                <a:prstGeom prst="ellipse">
                  <a:avLst/>
                </a:prstGeom>
                <a:solidFill>
                  <a:srgbClr val="00A1DE"/>
                </a:solidFill>
                <a:ln w="12700">
                  <a:solidFill>
                    <a:schemeClr val="bg1"/>
                  </a:solidFill>
                </a:ln>
                <a:extLst/>
              </p:spPr>
              <p:txBody>
                <a:bodyPr rIns="36000" bIns="36000"/>
                <a:lstStyle/>
                <a:p>
                  <a:pPr defTabSz="914400">
                    <a:lnSpc>
                      <a:spcPct val="100000"/>
                    </a:lnSpc>
                    <a:defRPr/>
                  </a:pPr>
                  <a:endParaRPr lang="ko-KR" altLang="en-US" sz="400" kern="0" dirty="0">
                    <a:solidFill>
                      <a:srgbClr val="000000"/>
                    </a:solidFill>
                    <a:latin typeface="맑은 고딕" pitchFamily="50" charset="-127"/>
                    <a:ea typeface="맑은 고딕" pitchFamily="50" charset="-127"/>
                    <a:cs typeface="Arial" charset="0"/>
                  </a:endParaRPr>
                </a:p>
              </p:txBody>
            </p:sp>
            <p:sp>
              <p:nvSpPr>
                <p:cNvPr id="307" name="타원 4"/>
                <p:cNvSpPr>
                  <a:spLocks noChangeAspect="1" noChangeArrowheads="1"/>
                </p:cNvSpPr>
                <p:nvPr/>
              </p:nvSpPr>
              <p:spPr bwMode="gray">
                <a:xfrm>
                  <a:off x="300291" y="4860561"/>
                  <a:ext cx="187551" cy="179601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noFill/>
                </a:ln>
                <a:extLst/>
              </p:spPr>
              <p:txBody>
                <a:bodyPr rIns="36000" bIns="36000"/>
                <a:lstStyle/>
                <a:p>
                  <a:pPr defTabSz="914400">
                    <a:lnSpc>
                      <a:spcPct val="100000"/>
                    </a:lnSpc>
                    <a:defRPr/>
                  </a:pPr>
                  <a:endParaRPr lang="ko-KR" altLang="en-US" sz="400" kern="0" dirty="0">
                    <a:solidFill>
                      <a:srgbClr val="000000"/>
                    </a:solidFill>
                    <a:latin typeface="맑은 고딕" pitchFamily="50" charset="-127"/>
                    <a:ea typeface="맑은 고딕" pitchFamily="50" charset="-127"/>
                    <a:cs typeface="Arial" charset="0"/>
                  </a:endParaRPr>
                </a:p>
              </p:txBody>
            </p:sp>
            <p:sp>
              <p:nvSpPr>
                <p:cNvPr id="308" name="타원 19"/>
                <p:cNvSpPr>
                  <a:spLocks noChangeArrowheads="1"/>
                </p:cNvSpPr>
                <p:nvPr/>
              </p:nvSpPr>
              <p:spPr bwMode="gray">
                <a:xfrm>
                  <a:off x="286700" y="4912703"/>
                  <a:ext cx="212015" cy="753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anchor="ctr"/>
                <a:lstStyle/>
                <a:p>
                  <a:pPr algn="ctr" defTabSz="914400">
                    <a:lnSpc>
                      <a:spcPct val="100000"/>
                    </a:lnSpc>
                    <a:defRPr/>
                  </a:pPr>
                  <a:r>
                    <a:rPr kumimoji="1" lang="en-US" altLang="ko-KR" sz="800" b="1" kern="0" dirty="0">
                      <a:solidFill>
                        <a:srgbClr val="00B0F0"/>
                      </a:solidFill>
                      <a:latin typeface="맑은 고딕" pitchFamily="50" charset="-127"/>
                      <a:ea typeface="맑은 고딕" pitchFamily="50" charset="-127"/>
                      <a:cs typeface="Arial" pitchFamily="34" charset="0"/>
                    </a:rPr>
                    <a:t>5</a:t>
                  </a:r>
                  <a:endParaRPr kumimoji="1" lang="ko-KR" altLang="en-US" sz="800" b="1" kern="0" dirty="0">
                    <a:solidFill>
                      <a:srgbClr val="00B0F0"/>
                    </a:solidFill>
                    <a:latin typeface="맑은 고딕" pitchFamily="50" charset="-127"/>
                    <a:ea typeface="맑은 고딕" pitchFamily="50" charset="-127"/>
                    <a:cs typeface="Arial" pitchFamily="34" charset="0"/>
                  </a:endParaRPr>
                </a:p>
              </p:txBody>
            </p:sp>
          </p:grpSp>
        </p:grpSp>
      </p:grpSp>
      <p:grpSp>
        <p:nvGrpSpPr>
          <p:cNvPr id="265" name="그룹 231"/>
          <p:cNvGrpSpPr>
            <a:grpSpLocks/>
          </p:cNvGrpSpPr>
          <p:nvPr/>
        </p:nvGrpSpPr>
        <p:grpSpPr bwMode="auto">
          <a:xfrm>
            <a:off x="484188" y="3183471"/>
            <a:ext cx="363538" cy="253205"/>
            <a:chOff x="8593171" y="2807328"/>
            <a:chExt cx="392277" cy="261632"/>
          </a:xfrm>
        </p:grpSpPr>
        <p:sp>
          <p:nvSpPr>
            <p:cNvPr id="296" name="자유형 22"/>
            <p:cNvSpPr>
              <a:spLocks noChangeArrowheads="1"/>
            </p:cNvSpPr>
            <p:nvPr/>
          </p:nvSpPr>
          <p:spPr bwMode="auto">
            <a:xfrm>
              <a:off x="8593171" y="2807328"/>
              <a:ext cx="392277" cy="261632"/>
            </a:xfrm>
            <a:custGeom>
              <a:avLst/>
              <a:gdLst>
                <a:gd name="T0" fmla="*/ 0 w 352356"/>
                <a:gd name="T1" fmla="*/ 436254 h 329415"/>
                <a:gd name="T2" fmla="*/ 688741 w 352356"/>
                <a:gd name="T3" fmla="*/ 2324 h 329415"/>
                <a:gd name="T4" fmla="*/ 673768 w 352356"/>
                <a:gd name="T5" fmla="*/ 2324 h 329415"/>
                <a:gd name="T6" fmla="*/ 0 w 352356"/>
                <a:gd name="T7" fmla="*/ 2324 h 329415"/>
                <a:gd name="T8" fmla="*/ 0 w 352356"/>
                <a:gd name="T9" fmla="*/ 436254 h 3294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2356"/>
                <a:gd name="T16" fmla="*/ 0 h 329415"/>
                <a:gd name="T17" fmla="*/ 352356 w 352356"/>
                <a:gd name="T18" fmla="*/ 329415 h 32941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2356" h="329415">
                  <a:moveTo>
                    <a:pt x="0" y="329415"/>
                  </a:moveTo>
                  <a:cubicBezTo>
                    <a:pt x="116840" y="220195"/>
                    <a:pt x="234885" y="112250"/>
                    <a:pt x="350520" y="1755"/>
                  </a:cubicBezTo>
                  <a:cubicBezTo>
                    <a:pt x="352356" y="0"/>
                    <a:pt x="345440" y="1755"/>
                    <a:pt x="342900" y="1755"/>
                  </a:cubicBezTo>
                  <a:lnTo>
                    <a:pt x="0" y="1755"/>
                  </a:lnTo>
                  <a:lnTo>
                    <a:pt x="0" y="329415"/>
                  </a:lnTo>
                  <a:close/>
                </a:path>
              </a:pathLst>
            </a:custGeom>
            <a:solidFill>
              <a:srgbClr val="00A1DE"/>
            </a:solidFill>
            <a:ln w="9525">
              <a:noFill/>
              <a:round/>
              <a:headEnd/>
              <a:tailEnd/>
            </a:ln>
          </p:spPr>
          <p:txBody>
            <a:bodyPr rIns="36000" bIns="36000"/>
            <a:lstStyle/>
            <a:p>
              <a:endParaRPr lang="ko-KR" altLang="en-US"/>
            </a:p>
          </p:txBody>
        </p:sp>
        <p:grpSp>
          <p:nvGrpSpPr>
            <p:cNvPr id="297" name="그룹 226"/>
            <p:cNvGrpSpPr>
              <a:grpSpLocks noChangeAspect="1"/>
            </p:cNvGrpSpPr>
            <p:nvPr/>
          </p:nvGrpSpPr>
          <p:grpSpPr bwMode="auto">
            <a:xfrm>
              <a:off x="8615076" y="2821940"/>
              <a:ext cx="148646" cy="144000"/>
              <a:chOff x="272480" y="4834467"/>
              <a:chExt cx="235520" cy="228158"/>
            </a:xfrm>
          </p:grpSpPr>
          <p:sp>
            <p:nvSpPr>
              <p:cNvPr id="298" name="타원 4"/>
              <p:cNvSpPr>
                <a:spLocks noChangeArrowheads="1"/>
              </p:cNvSpPr>
              <p:nvPr/>
            </p:nvSpPr>
            <p:spPr bwMode="gray">
              <a:xfrm>
                <a:off x="273058" y="4834507"/>
                <a:ext cx="236129" cy="229011"/>
              </a:xfrm>
              <a:prstGeom prst="ellipse">
                <a:avLst/>
              </a:prstGeom>
              <a:solidFill>
                <a:srgbClr val="00A1DE"/>
              </a:solidFill>
              <a:ln w="12700">
                <a:solidFill>
                  <a:schemeClr val="bg1"/>
                </a:solidFill>
              </a:ln>
              <a:extLst/>
            </p:spPr>
            <p:txBody>
              <a:bodyPr rIns="36000" bIns="36000"/>
              <a:lstStyle/>
              <a:p>
                <a:pPr defTabSz="914400">
                  <a:lnSpc>
                    <a:spcPct val="100000"/>
                  </a:lnSpc>
                  <a:defRPr/>
                </a:pPr>
                <a:endParaRPr lang="ko-KR" altLang="en-US" sz="400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cs typeface="Arial" charset="0"/>
                </a:endParaRPr>
              </a:p>
            </p:txBody>
          </p:sp>
          <p:sp>
            <p:nvSpPr>
              <p:cNvPr id="299" name="타원 4"/>
              <p:cNvSpPr>
                <a:spLocks noChangeAspect="1" noChangeArrowheads="1"/>
              </p:cNvSpPr>
              <p:nvPr/>
            </p:nvSpPr>
            <p:spPr bwMode="gray">
              <a:xfrm>
                <a:off x="300199" y="4860596"/>
                <a:ext cx="187274" cy="179731"/>
              </a:xfrm>
              <a:prstGeom prst="ellipse">
                <a:avLst/>
              </a:prstGeom>
              <a:solidFill>
                <a:schemeClr val="bg1"/>
              </a:solidFill>
              <a:ln w="12700">
                <a:noFill/>
              </a:ln>
              <a:extLst/>
            </p:spPr>
            <p:txBody>
              <a:bodyPr rIns="36000" bIns="36000"/>
              <a:lstStyle/>
              <a:p>
                <a:pPr defTabSz="914400">
                  <a:lnSpc>
                    <a:spcPct val="100000"/>
                  </a:lnSpc>
                  <a:defRPr/>
                </a:pPr>
                <a:endParaRPr lang="ko-KR" altLang="en-US" sz="400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cs typeface="Arial" charset="0"/>
                </a:endParaRPr>
              </a:p>
            </p:txBody>
          </p:sp>
          <p:sp>
            <p:nvSpPr>
              <p:cNvPr id="300" name="타원 19"/>
              <p:cNvSpPr>
                <a:spLocks noChangeArrowheads="1"/>
              </p:cNvSpPr>
              <p:nvPr/>
            </p:nvSpPr>
            <p:spPr bwMode="gray">
              <a:xfrm>
                <a:off x="286628" y="4912776"/>
                <a:ext cx="211702" cy="753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anchor="ctr"/>
              <a:lstStyle/>
              <a:p>
                <a:pPr algn="ctr" defTabSz="914400">
                  <a:lnSpc>
                    <a:spcPct val="100000"/>
                  </a:lnSpc>
                  <a:defRPr/>
                </a:pPr>
                <a:r>
                  <a:rPr kumimoji="1" lang="en-US" altLang="ko-KR" sz="800" b="1" kern="0" dirty="0">
                    <a:solidFill>
                      <a:srgbClr val="00B0F0"/>
                    </a:solidFill>
                    <a:latin typeface="맑은 고딕" pitchFamily="50" charset="-127"/>
                    <a:ea typeface="맑은 고딕" pitchFamily="50" charset="-127"/>
                    <a:cs typeface="Arial" pitchFamily="34" charset="0"/>
                  </a:rPr>
                  <a:t>2</a:t>
                </a:r>
                <a:endParaRPr kumimoji="1" lang="ko-KR" altLang="en-US" sz="800" b="1" kern="0" dirty="0">
                  <a:solidFill>
                    <a:srgbClr val="00B0F0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endParaRPr>
              </a:p>
            </p:txBody>
          </p:sp>
        </p:grpSp>
      </p:grpSp>
      <p:grpSp>
        <p:nvGrpSpPr>
          <p:cNvPr id="266" name="그룹 237"/>
          <p:cNvGrpSpPr>
            <a:grpSpLocks/>
          </p:cNvGrpSpPr>
          <p:nvPr/>
        </p:nvGrpSpPr>
        <p:grpSpPr bwMode="auto">
          <a:xfrm>
            <a:off x="484188" y="3977331"/>
            <a:ext cx="363538" cy="253205"/>
            <a:chOff x="8593171" y="2807328"/>
            <a:chExt cx="392277" cy="261632"/>
          </a:xfrm>
        </p:grpSpPr>
        <p:sp>
          <p:nvSpPr>
            <p:cNvPr id="291" name="자유형 22"/>
            <p:cNvSpPr>
              <a:spLocks noChangeArrowheads="1"/>
            </p:cNvSpPr>
            <p:nvPr/>
          </p:nvSpPr>
          <p:spPr bwMode="auto">
            <a:xfrm>
              <a:off x="8593171" y="2807328"/>
              <a:ext cx="392277" cy="261632"/>
            </a:xfrm>
            <a:custGeom>
              <a:avLst/>
              <a:gdLst>
                <a:gd name="T0" fmla="*/ 0 w 352356"/>
                <a:gd name="T1" fmla="*/ 436254 h 329415"/>
                <a:gd name="T2" fmla="*/ 688741 w 352356"/>
                <a:gd name="T3" fmla="*/ 2324 h 329415"/>
                <a:gd name="T4" fmla="*/ 673768 w 352356"/>
                <a:gd name="T5" fmla="*/ 2324 h 329415"/>
                <a:gd name="T6" fmla="*/ 0 w 352356"/>
                <a:gd name="T7" fmla="*/ 2324 h 329415"/>
                <a:gd name="T8" fmla="*/ 0 w 352356"/>
                <a:gd name="T9" fmla="*/ 436254 h 3294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2356"/>
                <a:gd name="T16" fmla="*/ 0 h 329415"/>
                <a:gd name="T17" fmla="*/ 352356 w 352356"/>
                <a:gd name="T18" fmla="*/ 329415 h 32941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2356" h="329415">
                  <a:moveTo>
                    <a:pt x="0" y="329415"/>
                  </a:moveTo>
                  <a:cubicBezTo>
                    <a:pt x="116840" y="220195"/>
                    <a:pt x="234885" y="112250"/>
                    <a:pt x="350520" y="1755"/>
                  </a:cubicBezTo>
                  <a:cubicBezTo>
                    <a:pt x="352356" y="0"/>
                    <a:pt x="345440" y="1755"/>
                    <a:pt x="342900" y="1755"/>
                  </a:cubicBezTo>
                  <a:lnTo>
                    <a:pt x="0" y="1755"/>
                  </a:lnTo>
                  <a:lnTo>
                    <a:pt x="0" y="329415"/>
                  </a:lnTo>
                  <a:close/>
                </a:path>
              </a:pathLst>
            </a:custGeom>
            <a:solidFill>
              <a:srgbClr val="00A1DE"/>
            </a:solidFill>
            <a:ln w="9525">
              <a:noFill/>
              <a:round/>
              <a:headEnd/>
              <a:tailEnd/>
            </a:ln>
          </p:spPr>
          <p:txBody>
            <a:bodyPr rIns="36000" bIns="36000"/>
            <a:lstStyle/>
            <a:p>
              <a:endParaRPr lang="ko-KR" altLang="en-US"/>
            </a:p>
          </p:txBody>
        </p:sp>
        <p:grpSp>
          <p:nvGrpSpPr>
            <p:cNvPr id="292" name="그룹 226"/>
            <p:cNvGrpSpPr>
              <a:grpSpLocks noChangeAspect="1"/>
            </p:cNvGrpSpPr>
            <p:nvPr/>
          </p:nvGrpSpPr>
          <p:grpSpPr bwMode="auto">
            <a:xfrm>
              <a:off x="8615076" y="2821940"/>
              <a:ext cx="148646" cy="144000"/>
              <a:chOff x="272480" y="4834467"/>
              <a:chExt cx="235520" cy="228158"/>
            </a:xfrm>
          </p:grpSpPr>
          <p:sp>
            <p:nvSpPr>
              <p:cNvPr id="293" name="타원 4"/>
              <p:cNvSpPr>
                <a:spLocks noChangeArrowheads="1"/>
              </p:cNvSpPr>
              <p:nvPr/>
            </p:nvSpPr>
            <p:spPr bwMode="gray">
              <a:xfrm>
                <a:off x="273058" y="4834507"/>
                <a:ext cx="236129" cy="229011"/>
              </a:xfrm>
              <a:prstGeom prst="ellipse">
                <a:avLst/>
              </a:prstGeom>
              <a:solidFill>
                <a:srgbClr val="00A1DE"/>
              </a:solidFill>
              <a:ln w="12700">
                <a:solidFill>
                  <a:schemeClr val="bg1"/>
                </a:solidFill>
              </a:ln>
              <a:extLst/>
            </p:spPr>
            <p:txBody>
              <a:bodyPr rIns="36000" bIns="36000"/>
              <a:lstStyle/>
              <a:p>
                <a:pPr defTabSz="914400">
                  <a:lnSpc>
                    <a:spcPct val="100000"/>
                  </a:lnSpc>
                  <a:defRPr/>
                </a:pPr>
                <a:endParaRPr lang="ko-KR" altLang="en-US" sz="400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cs typeface="Arial" charset="0"/>
                </a:endParaRPr>
              </a:p>
            </p:txBody>
          </p:sp>
          <p:sp>
            <p:nvSpPr>
              <p:cNvPr id="294" name="타원 4"/>
              <p:cNvSpPr>
                <a:spLocks noChangeAspect="1" noChangeArrowheads="1"/>
              </p:cNvSpPr>
              <p:nvPr/>
            </p:nvSpPr>
            <p:spPr bwMode="gray">
              <a:xfrm>
                <a:off x="300199" y="4860596"/>
                <a:ext cx="187274" cy="179731"/>
              </a:xfrm>
              <a:prstGeom prst="ellipse">
                <a:avLst/>
              </a:prstGeom>
              <a:solidFill>
                <a:schemeClr val="bg1"/>
              </a:solidFill>
              <a:ln w="12700">
                <a:noFill/>
              </a:ln>
              <a:extLst/>
            </p:spPr>
            <p:txBody>
              <a:bodyPr rIns="36000" bIns="36000"/>
              <a:lstStyle/>
              <a:p>
                <a:pPr defTabSz="914400">
                  <a:lnSpc>
                    <a:spcPct val="100000"/>
                  </a:lnSpc>
                  <a:defRPr/>
                </a:pPr>
                <a:endParaRPr lang="ko-KR" altLang="en-US" sz="400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cs typeface="Arial" charset="0"/>
                </a:endParaRPr>
              </a:p>
            </p:txBody>
          </p:sp>
          <p:sp>
            <p:nvSpPr>
              <p:cNvPr id="295" name="타원 19"/>
              <p:cNvSpPr>
                <a:spLocks noChangeArrowheads="1"/>
              </p:cNvSpPr>
              <p:nvPr/>
            </p:nvSpPr>
            <p:spPr bwMode="gray">
              <a:xfrm>
                <a:off x="286628" y="4912776"/>
                <a:ext cx="211702" cy="753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anchor="ctr"/>
              <a:lstStyle/>
              <a:p>
                <a:pPr algn="ctr" defTabSz="914400">
                  <a:lnSpc>
                    <a:spcPct val="100000"/>
                  </a:lnSpc>
                  <a:defRPr/>
                </a:pPr>
                <a:r>
                  <a:rPr kumimoji="1" lang="en-US" altLang="ko-KR" sz="800" b="1" kern="0" dirty="0">
                    <a:solidFill>
                      <a:srgbClr val="00B0F0"/>
                    </a:solidFill>
                    <a:latin typeface="맑은 고딕" pitchFamily="50" charset="-127"/>
                    <a:ea typeface="맑은 고딕" pitchFamily="50" charset="-127"/>
                    <a:cs typeface="Arial" pitchFamily="34" charset="0"/>
                  </a:rPr>
                  <a:t>3</a:t>
                </a:r>
                <a:endParaRPr kumimoji="1" lang="ko-KR" altLang="en-US" sz="800" b="1" kern="0" dirty="0">
                  <a:solidFill>
                    <a:srgbClr val="00B0F0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endParaRPr>
              </a:p>
            </p:txBody>
          </p:sp>
        </p:grpSp>
      </p:grpSp>
      <p:grpSp>
        <p:nvGrpSpPr>
          <p:cNvPr id="267" name="그룹 243"/>
          <p:cNvGrpSpPr>
            <a:grpSpLocks/>
          </p:cNvGrpSpPr>
          <p:nvPr/>
        </p:nvGrpSpPr>
        <p:grpSpPr bwMode="auto">
          <a:xfrm>
            <a:off x="484188" y="4653136"/>
            <a:ext cx="363538" cy="253206"/>
            <a:chOff x="8593171" y="2807328"/>
            <a:chExt cx="392277" cy="261632"/>
          </a:xfrm>
        </p:grpSpPr>
        <p:sp>
          <p:nvSpPr>
            <p:cNvPr id="286" name="자유형 22"/>
            <p:cNvSpPr>
              <a:spLocks noChangeArrowheads="1"/>
            </p:cNvSpPr>
            <p:nvPr/>
          </p:nvSpPr>
          <p:spPr bwMode="auto">
            <a:xfrm>
              <a:off x="8593171" y="2807328"/>
              <a:ext cx="392277" cy="261632"/>
            </a:xfrm>
            <a:custGeom>
              <a:avLst/>
              <a:gdLst>
                <a:gd name="T0" fmla="*/ 0 w 352356"/>
                <a:gd name="T1" fmla="*/ 436254 h 329415"/>
                <a:gd name="T2" fmla="*/ 688741 w 352356"/>
                <a:gd name="T3" fmla="*/ 2324 h 329415"/>
                <a:gd name="T4" fmla="*/ 673768 w 352356"/>
                <a:gd name="T5" fmla="*/ 2324 h 329415"/>
                <a:gd name="T6" fmla="*/ 0 w 352356"/>
                <a:gd name="T7" fmla="*/ 2324 h 329415"/>
                <a:gd name="T8" fmla="*/ 0 w 352356"/>
                <a:gd name="T9" fmla="*/ 436254 h 3294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2356"/>
                <a:gd name="T16" fmla="*/ 0 h 329415"/>
                <a:gd name="T17" fmla="*/ 352356 w 352356"/>
                <a:gd name="T18" fmla="*/ 329415 h 32941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2356" h="329415">
                  <a:moveTo>
                    <a:pt x="0" y="329415"/>
                  </a:moveTo>
                  <a:cubicBezTo>
                    <a:pt x="116840" y="220195"/>
                    <a:pt x="234885" y="112250"/>
                    <a:pt x="350520" y="1755"/>
                  </a:cubicBezTo>
                  <a:cubicBezTo>
                    <a:pt x="352356" y="0"/>
                    <a:pt x="345440" y="1755"/>
                    <a:pt x="342900" y="1755"/>
                  </a:cubicBezTo>
                  <a:lnTo>
                    <a:pt x="0" y="1755"/>
                  </a:lnTo>
                  <a:lnTo>
                    <a:pt x="0" y="329415"/>
                  </a:lnTo>
                  <a:close/>
                </a:path>
              </a:pathLst>
            </a:custGeom>
            <a:solidFill>
              <a:srgbClr val="00A1DE"/>
            </a:solidFill>
            <a:ln w="9525">
              <a:noFill/>
              <a:round/>
              <a:headEnd/>
              <a:tailEnd/>
            </a:ln>
          </p:spPr>
          <p:txBody>
            <a:bodyPr rIns="36000" bIns="36000"/>
            <a:lstStyle/>
            <a:p>
              <a:endParaRPr lang="ko-KR" altLang="en-US"/>
            </a:p>
          </p:txBody>
        </p:sp>
        <p:grpSp>
          <p:nvGrpSpPr>
            <p:cNvPr id="287" name="그룹 226"/>
            <p:cNvGrpSpPr>
              <a:grpSpLocks noChangeAspect="1"/>
            </p:cNvGrpSpPr>
            <p:nvPr/>
          </p:nvGrpSpPr>
          <p:grpSpPr bwMode="auto">
            <a:xfrm>
              <a:off x="8615076" y="2821940"/>
              <a:ext cx="148646" cy="144000"/>
              <a:chOff x="272480" y="4834467"/>
              <a:chExt cx="235520" cy="228158"/>
            </a:xfrm>
          </p:grpSpPr>
          <p:sp>
            <p:nvSpPr>
              <p:cNvPr id="288" name="타원 4"/>
              <p:cNvSpPr>
                <a:spLocks noChangeArrowheads="1"/>
              </p:cNvSpPr>
              <p:nvPr/>
            </p:nvSpPr>
            <p:spPr bwMode="gray">
              <a:xfrm>
                <a:off x="273058" y="4834505"/>
                <a:ext cx="236129" cy="229011"/>
              </a:xfrm>
              <a:prstGeom prst="ellipse">
                <a:avLst/>
              </a:prstGeom>
              <a:solidFill>
                <a:srgbClr val="00A1DE"/>
              </a:solidFill>
              <a:ln w="12700">
                <a:solidFill>
                  <a:schemeClr val="bg1"/>
                </a:solidFill>
              </a:ln>
              <a:extLst/>
            </p:spPr>
            <p:txBody>
              <a:bodyPr rIns="36000" bIns="36000"/>
              <a:lstStyle/>
              <a:p>
                <a:pPr defTabSz="914400">
                  <a:lnSpc>
                    <a:spcPct val="100000"/>
                  </a:lnSpc>
                  <a:defRPr/>
                </a:pPr>
                <a:endParaRPr lang="ko-KR" altLang="en-US" sz="400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cs typeface="Arial" charset="0"/>
                </a:endParaRPr>
              </a:p>
            </p:txBody>
          </p:sp>
          <p:sp>
            <p:nvSpPr>
              <p:cNvPr id="289" name="타원 4"/>
              <p:cNvSpPr>
                <a:spLocks noChangeAspect="1" noChangeArrowheads="1"/>
              </p:cNvSpPr>
              <p:nvPr/>
            </p:nvSpPr>
            <p:spPr bwMode="gray">
              <a:xfrm>
                <a:off x="300199" y="4860596"/>
                <a:ext cx="187274" cy="179729"/>
              </a:xfrm>
              <a:prstGeom prst="ellipse">
                <a:avLst/>
              </a:prstGeom>
              <a:solidFill>
                <a:schemeClr val="bg1"/>
              </a:solidFill>
              <a:ln w="12700">
                <a:noFill/>
              </a:ln>
              <a:extLst/>
            </p:spPr>
            <p:txBody>
              <a:bodyPr rIns="36000" bIns="36000"/>
              <a:lstStyle/>
              <a:p>
                <a:pPr defTabSz="914400">
                  <a:lnSpc>
                    <a:spcPct val="100000"/>
                  </a:lnSpc>
                  <a:defRPr/>
                </a:pPr>
                <a:endParaRPr lang="ko-KR" altLang="en-US" sz="400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  <a:cs typeface="Arial" charset="0"/>
                </a:endParaRPr>
              </a:p>
            </p:txBody>
          </p:sp>
          <p:sp>
            <p:nvSpPr>
              <p:cNvPr id="290" name="타원 19"/>
              <p:cNvSpPr>
                <a:spLocks noChangeArrowheads="1"/>
              </p:cNvSpPr>
              <p:nvPr/>
            </p:nvSpPr>
            <p:spPr bwMode="gray">
              <a:xfrm>
                <a:off x="286628" y="4912775"/>
                <a:ext cx="211702" cy="75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anchor="ctr"/>
              <a:lstStyle/>
              <a:p>
                <a:pPr algn="ctr" defTabSz="914400">
                  <a:lnSpc>
                    <a:spcPct val="100000"/>
                  </a:lnSpc>
                  <a:defRPr/>
                </a:pPr>
                <a:r>
                  <a:rPr kumimoji="1" lang="en-US" altLang="ko-KR" sz="800" b="1" kern="0" dirty="0">
                    <a:solidFill>
                      <a:srgbClr val="00B0F0"/>
                    </a:solidFill>
                    <a:latin typeface="맑은 고딕" pitchFamily="50" charset="-127"/>
                    <a:ea typeface="맑은 고딕" pitchFamily="50" charset="-127"/>
                    <a:cs typeface="Arial" pitchFamily="34" charset="0"/>
                  </a:rPr>
                  <a:t>4</a:t>
                </a:r>
                <a:endParaRPr kumimoji="1" lang="ko-KR" altLang="en-US" sz="800" b="1" kern="0" dirty="0">
                  <a:solidFill>
                    <a:srgbClr val="00B0F0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endParaRPr>
              </a:p>
            </p:txBody>
          </p:sp>
        </p:grpSp>
      </p:grpSp>
      <p:grpSp>
        <p:nvGrpSpPr>
          <p:cNvPr id="268" name="그룹 362"/>
          <p:cNvGrpSpPr>
            <a:grpSpLocks/>
          </p:cNvGrpSpPr>
          <p:nvPr/>
        </p:nvGrpSpPr>
        <p:grpSpPr bwMode="auto">
          <a:xfrm>
            <a:off x="484188" y="2413362"/>
            <a:ext cx="1001713" cy="607340"/>
            <a:chOff x="3944888" y="5538466"/>
            <a:chExt cx="1034026" cy="627409"/>
          </a:xfrm>
        </p:grpSpPr>
        <p:sp>
          <p:nvSpPr>
            <p:cNvPr id="278" name="대각선 방향의 모서리가 둥근 사각형 277"/>
            <p:cNvSpPr/>
            <p:nvPr/>
          </p:nvSpPr>
          <p:spPr bwMode="auto">
            <a:xfrm flipH="1">
              <a:off x="3946527" y="5538466"/>
              <a:ext cx="1032387" cy="627409"/>
            </a:xfrm>
            <a:prstGeom prst="round2DiagRect">
              <a:avLst>
                <a:gd name="adj1" fmla="val 22830"/>
                <a:gd name="adj2" fmla="val 0"/>
              </a:avLst>
            </a:prstGeom>
            <a:solidFill>
              <a:schemeClr val="bg1"/>
            </a:solidFill>
            <a:ln w="6350" cap="flat" cmpd="sng" algn="ctr">
              <a:solidFill>
                <a:srgbClr val="00A1D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144000" tIns="0" rIns="0" bIns="0"/>
            <a:lstStyle/>
            <a:p>
              <a:pPr>
                <a:lnSpc>
                  <a:spcPct val="100000"/>
                </a:lnSpc>
                <a:defRPr/>
              </a:pPr>
              <a:endParaRPr lang="ko-KR" altLang="en-US" sz="1050" dirty="0">
                <a:solidFill>
                  <a:srgbClr val="002776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79" name="직사각형 278"/>
            <p:cNvSpPr/>
            <p:nvPr/>
          </p:nvSpPr>
          <p:spPr>
            <a:xfrm>
              <a:off x="3946527" y="5554929"/>
              <a:ext cx="1032387" cy="262306"/>
            </a:xfrm>
            <a:prstGeom prst="rect">
              <a:avLst/>
            </a:prstGeom>
          </p:spPr>
          <p:txBody>
            <a:bodyPr lIns="0" rIns="0">
              <a:spAutoFit/>
            </a:bodyPr>
            <a:lstStyle/>
            <a:p>
              <a:pPr algn="ctr">
                <a:lnSpc>
                  <a:spcPct val="100000"/>
                </a:lnSpc>
                <a:defRPr/>
              </a:pPr>
              <a:endParaRPr lang="ko-KR" altLang="en-US" sz="1050" dirty="0">
                <a:solidFill>
                  <a:srgbClr val="002776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280" name="그룹 249"/>
            <p:cNvGrpSpPr>
              <a:grpSpLocks/>
            </p:cNvGrpSpPr>
            <p:nvPr/>
          </p:nvGrpSpPr>
          <p:grpSpPr bwMode="auto">
            <a:xfrm>
              <a:off x="3944888" y="5538466"/>
              <a:ext cx="374712" cy="261632"/>
              <a:chOff x="8593171" y="2807328"/>
              <a:chExt cx="392277" cy="261632"/>
            </a:xfrm>
          </p:grpSpPr>
          <p:sp>
            <p:nvSpPr>
              <p:cNvPr id="281" name="자유형 22"/>
              <p:cNvSpPr>
                <a:spLocks noChangeArrowheads="1"/>
              </p:cNvSpPr>
              <p:nvPr/>
            </p:nvSpPr>
            <p:spPr bwMode="auto">
              <a:xfrm>
                <a:off x="8593171" y="2807328"/>
                <a:ext cx="392277" cy="261632"/>
              </a:xfrm>
              <a:custGeom>
                <a:avLst/>
                <a:gdLst>
                  <a:gd name="T0" fmla="*/ 0 w 352356"/>
                  <a:gd name="T1" fmla="*/ 436254 h 329415"/>
                  <a:gd name="T2" fmla="*/ 688741 w 352356"/>
                  <a:gd name="T3" fmla="*/ 2324 h 329415"/>
                  <a:gd name="T4" fmla="*/ 673768 w 352356"/>
                  <a:gd name="T5" fmla="*/ 2324 h 329415"/>
                  <a:gd name="T6" fmla="*/ 0 w 352356"/>
                  <a:gd name="T7" fmla="*/ 2324 h 329415"/>
                  <a:gd name="T8" fmla="*/ 0 w 352356"/>
                  <a:gd name="T9" fmla="*/ 436254 h 3294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2356"/>
                  <a:gd name="T16" fmla="*/ 0 h 329415"/>
                  <a:gd name="T17" fmla="*/ 352356 w 352356"/>
                  <a:gd name="T18" fmla="*/ 329415 h 32941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2356" h="329415">
                    <a:moveTo>
                      <a:pt x="0" y="329415"/>
                    </a:moveTo>
                    <a:cubicBezTo>
                      <a:pt x="116840" y="220195"/>
                      <a:pt x="234885" y="112250"/>
                      <a:pt x="350520" y="1755"/>
                    </a:cubicBezTo>
                    <a:cubicBezTo>
                      <a:pt x="352356" y="0"/>
                      <a:pt x="345440" y="1755"/>
                      <a:pt x="342900" y="1755"/>
                    </a:cubicBezTo>
                    <a:lnTo>
                      <a:pt x="0" y="1755"/>
                    </a:lnTo>
                    <a:lnTo>
                      <a:pt x="0" y="329415"/>
                    </a:lnTo>
                    <a:close/>
                  </a:path>
                </a:pathLst>
              </a:custGeom>
              <a:solidFill>
                <a:srgbClr val="00A1DE"/>
              </a:solidFill>
              <a:ln w="9525">
                <a:noFill/>
                <a:round/>
                <a:headEnd/>
                <a:tailEnd/>
              </a:ln>
            </p:spPr>
            <p:txBody>
              <a:bodyPr rIns="36000" bIns="36000"/>
              <a:lstStyle/>
              <a:p>
                <a:endParaRPr lang="ko-KR" altLang="en-US"/>
              </a:p>
            </p:txBody>
          </p:sp>
          <p:grpSp>
            <p:nvGrpSpPr>
              <p:cNvPr id="282" name="그룹 226"/>
              <p:cNvGrpSpPr>
                <a:grpSpLocks noChangeAspect="1"/>
              </p:cNvGrpSpPr>
              <p:nvPr/>
            </p:nvGrpSpPr>
            <p:grpSpPr bwMode="auto">
              <a:xfrm>
                <a:off x="8615076" y="2821940"/>
                <a:ext cx="148646" cy="144000"/>
                <a:chOff x="272480" y="4834467"/>
                <a:chExt cx="235520" cy="228158"/>
              </a:xfrm>
            </p:grpSpPr>
            <p:sp>
              <p:nvSpPr>
                <p:cNvPr id="283" name="타원 4"/>
                <p:cNvSpPr>
                  <a:spLocks noChangeArrowheads="1"/>
                </p:cNvSpPr>
                <p:nvPr/>
              </p:nvSpPr>
              <p:spPr bwMode="gray">
                <a:xfrm>
                  <a:off x="273110" y="4834502"/>
                  <a:ext cx="236477" cy="228959"/>
                </a:xfrm>
                <a:prstGeom prst="ellipse">
                  <a:avLst/>
                </a:prstGeom>
                <a:solidFill>
                  <a:srgbClr val="00A1DE"/>
                </a:solidFill>
                <a:ln w="12700">
                  <a:solidFill>
                    <a:schemeClr val="bg1"/>
                  </a:solidFill>
                </a:ln>
                <a:extLst/>
              </p:spPr>
              <p:txBody>
                <a:bodyPr rIns="36000" bIns="36000"/>
                <a:lstStyle/>
                <a:p>
                  <a:pPr defTabSz="914400">
                    <a:lnSpc>
                      <a:spcPct val="100000"/>
                    </a:lnSpc>
                    <a:defRPr/>
                  </a:pPr>
                  <a:endParaRPr lang="ko-KR" altLang="en-US" sz="400" kern="0" dirty="0">
                    <a:solidFill>
                      <a:srgbClr val="000000"/>
                    </a:solidFill>
                    <a:latin typeface="맑은 고딕" pitchFamily="50" charset="-127"/>
                    <a:ea typeface="맑은 고딕" pitchFamily="50" charset="-127"/>
                    <a:cs typeface="Arial" charset="0"/>
                  </a:endParaRPr>
                </a:p>
              </p:txBody>
            </p:sp>
            <p:sp>
              <p:nvSpPr>
                <p:cNvPr id="284" name="타원 4"/>
                <p:cNvSpPr>
                  <a:spLocks noChangeAspect="1" noChangeArrowheads="1"/>
                </p:cNvSpPr>
                <p:nvPr/>
              </p:nvSpPr>
              <p:spPr bwMode="gray">
                <a:xfrm>
                  <a:off x="300291" y="4860586"/>
                  <a:ext cx="187551" cy="179689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noFill/>
                </a:ln>
                <a:extLst/>
              </p:spPr>
              <p:txBody>
                <a:bodyPr rIns="36000" bIns="36000"/>
                <a:lstStyle/>
                <a:p>
                  <a:pPr defTabSz="914400">
                    <a:lnSpc>
                      <a:spcPct val="100000"/>
                    </a:lnSpc>
                    <a:defRPr/>
                  </a:pPr>
                  <a:endParaRPr lang="ko-KR" altLang="en-US" sz="400" kern="0" dirty="0">
                    <a:solidFill>
                      <a:srgbClr val="000000"/>
                    </a:solidFill>
                    <a:latin typeface="맑은 고딕" pitchFamily="50" charset="-127"/>
                    <a:ea typeface="맑은 고딕" pitchFamily="50" charset="-127"/>
                    <a:cs typeface="Arial" charset="0"/>
                  </a:endParaRPr>
                </a:p>
              </p:txBody>
            </p:sp>
            <p:sp>
              <p:nvSpPr>
                <p:cNvPr id="285" name="타원 19"/>
                <p:cNvSpPr>
                  <a:spLocks noChangeArrowheads="1"/>
                </p:cNvSpPr>
                <p:nvPr/>
              </p:nvSpPr>
              <p:spPr bwMode="gray">
                <a:xfrm>
                  <a:off x="286700" y="4912754"/>
                  <a:ext cx="212015" cy="7535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anchor="ctr"/>
                <a:lstStyle/>
                <a:p>
                  <a:pPr algn="ctr" defTabSz="914400">
                    <a:lnSpc>
                      <a:spcPct val="100000"/>
                    </a:lnSpc>
                    <a:defRPr/>
                  </a:pPr>
                  <a:r>
                    <a:rPr kumimoji="1" lang="en-US" altLang="ko-KR" sz="800" b="1" kern="0" dirty="0">
                      <a:solidFill>
                        <a:srgbClr val="00B0F0"/>
                      </a:solidFill>
                      <a:latin typeface="맑은 고딕" pitchFamily="50" charset="-127"/>
                      <a:ea typeface="맑은 고딕" pitchFamily="50" charset="-127"/>
                      <a:cs typeface="Arial" pitchFamily="34" charset="0"/>
                    </a:rPr>
                    <a:t>1</a:t>
                  </a:r>
                  <a:endParaRPr kumimoji="1" lang="ko-KR" altLang="en-US" sz="800" b="1" kern="0" dirty="0">
                    <a:solidFill>
                      <a:srgbClr val="00B0F0"/>
                    </a:solidFill>
                    <a:latin typeface="맑은 고딕" pitchFamily="50" charset="-127"/>
                    <a:ea typeface="맑은 고딕" pitchFamily="50" charset="-127"/>
                    <a:cs typeface="Arial" pitchFamily="34" charset="0"/>
                  </a:endParaRPr>
                </a:p>
              </p:txBody>
            </p:sp>
          </p:grpSp>
        </p:grpSp>
      </p:grpSp>
      <p:sp>
        <p:nvSpPr>
          <p:cNvPr id="269" name="직사각형 268"/>
          <p:cNvSpPr/>
          <p:nvPr/>
        </p:nvSpPr>
        <p:spPr>
          <a:xfrm>
            <a:off x="1861889" y="2733772"/>
            <a:ext cx="800100" cy="4462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b="1" dirty="0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재고관리</a:t>
            </a:r>
            <a:endParaRPr lang="ko-KR" altLang="en-US" sz="1050" b="1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0" name="직사각형 269"/>
          <p:cNvSpPr/>
          <p:nvPr/>
        </p:nvSpPr>
        <p:spPr>
          <a:xfrm>
            <a:off x="2698502" y="2733772"/>
            <a:ext cx="800100" cy="4462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b="1" dirty="0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정산관리</a:t>
            </a:r>
            <a:endParaRPr lang="ko-KR" altLang="en-US" sz="1050" b="1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2" name="직사각형 271"/>
          <p:cNvSpPr/>
          <p:nvPr/>
        </p:nvSpPr>
        <p:spPr>
          <a:xfrm>
            <a:off x="1722189" y="2066230"/>
            <a:ext cx="2733675" cy="113323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endParaRPr lang="ko-KR" altLang="en-US" sz="1050" b="1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3" name="직사각형 272"/>
          <p:cNvSpPr/>
          <p:nvPr/>
        </p:nvSpPr>
        <p:spPr>
          <a:xfrm>
            <a:off x="1707902" y="2135286"/>
            <a:ext cx="2781300" cy="3833500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00000"/>
              </a:lnSpc>
              <a:defRPr/>
            </a:pPr>
            <a:endParaRPr lang="ko-KR" altLang="en-US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74" name="그룹 210"/>
          <p:cNvGrpSpPr>
            <a:grpSpLocks noChangeAspect="1"/>
          </p:cNvGrpSpPr>
          <p:nvPr/>
        </p:nvGrpSpPr>
        <p:grpSpPr bwMode="auto">
          <a:xfrm>
            <a:off x="1622177" y="5411025"/>
            <a:ext cx="136525" cy="139883"/>
            <a:chOff x="272480" y="4834467"/>
            <a:chExt cx="235520" cy="228158"/>
          </a:xfrm>
        </p:grpSpPr>
        <p:sp>
          <p:nvSpPr>
            <p:cNvPr id="275" name="타원 4"/>
            <p:cNvSpPr>
              <a:spLocks noChangeArrowheads="1"/>
            </p:cNvSpPr>
            <p:nvPr/>
          </p:nvSpPr>
          <p:spPr bwMode="gray">
            <a:xfrm>
              <a:off x="272480" y="4834467"/>
              <a:ext cx="235520" cy="228158"/>
            </a:xfrm>
            <a:prstGeom prst="ellipse">
              <a:avLst/>
            </a:prstGeom>
            <a:solidFill>
              <a:srgbClr val="00A1DE"/>
            </a:solidFill>
            <a:ln w="12700">
              <a:solidFill>
                <a:schemeClr val="bg1"/>
              </a:solidFill>
            </a:ln>
            <a:extLst/>
          </p:spPr>
          <p:txBody>
            <a:bodyPr rIns="36000" bIns="36000"/>
            <a:lstStyle/>
            <a:p>
              <a:pPr defTabSz="914400">
                <a:lnSpc>
                  <a:spcPct val="100000"/>
                </a:lnSpc>
                <a:defRPr/>
              </a:pPr>
              <a:endParaRPr lang="ko-KR" altLang="en-US" sz="5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276" name="타원 4"/>
            <p:cNvSpPr>
              <a:spLocks noChangeAspect="1" noChangeArrowheads="1"/>
            </p:cNvSpPr>
            <p:nvPr/>
          </p:nvSpPr>
          <p:spPr bwMode="gray">
            <a:xfrm>
              <a:off x="299866" y="4860460"/>
              <a:ext cx="186225" cy="179060"/>
            </a:xfrm>
            <a:prstGeom prst="ellipse">
              <a:avLst/>
            </a:prstGeom>
            <a:solidFill>
              <a:schemeClr val="bg1"/>
            </a:solidFill>
            <a:ln w="12700">
              <a:noFill/>
            </a:ln>
            <a:extLst/>
          </p:spPr>
          <p:txBody>
            <a:bodyPr rIns="36000" bIns="36000"/>
            <a:lstStyle/>
            <a:p>
              <a:pPr defTabSz="914400">
                <a:lnSpc>
                  <a:spcPct val="100000"/>
                </a:lnSpc>
                <a:defRPr/>
              </a:pPr>
              <a:endParaRPr lang="ko-KR" altLang="en-US" sz="5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277" name="타원 19"/>
            <p:cNvSpPr>
              <a:spLocks noChangeArrowheads="1"/>
            </p:cNvSpPr>
            <p:nvPr/>
          </p:nvSpPr>
          <p:spPr bwMode="gray">
            <a:xfrm>
              <a:off x="286172" y="4912446"/>
              <a:ext cx="210873" cy="7509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ctr" defTabSz="914400">
                <a:lnSpc>
                  <a:spcPct val="100000"/>
                </a:lnSpc>
                <a:defRPr/>
              </a:pPr>
              <a:r>
                <a:rPr kumimoji="1" lang="en-US" altLang="ko-KR" sz="900" b="1" kern="0" dirty="0">
                  <a:solidFill>
                    <a:srgbClr val="00B0F0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5</a:t>
              </a:r>
              <a:endParaRPr kumimoji="1" lang="ko-KR" altLang="en-US" sz="900" b="1" kern="0" dirty="0">
                <a:solidFill>
                  <a:srgbClr val="00B0F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sp>
        <p:nvSpPr>
          <p:cNvPr id="332" name="직사각형 331"/>
          <p:cNvSpPr/>
          <p:nvPr/>
        </p:nvSpPr>
        <p:spPr>
          <a:xfrm>
            <a:off x="488504" y="2551482"/>
            <a:ext cx="1000125" cy="25391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dirty="0" smtClean="0">
                <a:solidFill>
                  <a:srgbClr val="002776"/>
                </a:solidFill>
                <a:latin typeface="맑은 고딕" pitchFamily="50" charset="-127"/>
                <a:ea typeface="맑은 고딕" pitchFamily="50" charset="-127"/>
              </a:rPr>
              <a:t>업무영역</a:t>
            </a:r>
            <a:endParaRPr lang="ko-KR" altLang="en-US" sz="1050" dirty="0">
              <a:solidFill>
                <a:srgbClr val="00277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3" name="직사각형 332"/>
          <p:cNvSpPr/>
          <p:nvPr/>
        </p:nvSpPr>
        <p:spPr>
          <a:xfrm>
            <a:off x="1848916" y="4845626"/>
            <a:ext cx="2530475" cy="467457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00000"/>
              </a:lnSpc>
              <a:defRPr/>
            </a:pPr>
            <a:endParaRPr lang="ko-KR" altLang="en-US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57" name="그룹 222"/>
          <p:cNvGrpSpPr>
            <a:grpSpLocks noChangeAspect="1"/>
          </p:cNvGrpSpPr>
          <p:nvPr/>
        </p:nvGrpSpPr>
        <p:grpSpPr bwMode="auto">
          <a:xfrm>
            <a:off x="1782811" y="4953043"/>
            <a:ext cx="138113" cy="139883"/>
            <a:chOff x="272480" y="4834467"/>
            <a:chExt cx="235520" cy="228158"/>
          </a:xfrm>
        </p:grpSpPr>
        <p:sp>
          <p:nvSpPr>
            <p:cNvPr id="309" name="타원 4"/>
            <p:cNvSpPr>
              <a:spLocks noChangeArrowheads="1"/>
            </p:cNvSpPr>
            <p:nvPr/>
          </p:nvSpPr>
          <p:spPr bwMode="gray">
            <a:xfrm>
              <a:off x="272480" y="4834467"/>
              <a:ext cx="235520" cy="228158"/>
            </a:xfrm>
            <a:prstGeom prst="ellipse">
              <a:avLst/>
            </a:prstGeom>
            <a:solidFill>
              <a:srgbClr val="00A1DE"/>
            </a:solidFill>
            <a:ln w="12700">
              <a:solidFill>
                <a:schemeClr val="bg1"/>
              </a:solidFill>
            </a:ln>
            <a:extLst/>
          </p:spPr>
          <p:txBody>
            <a:bodyPr rIns="36000" bIns="36000"/>
            <a:lstStyle/>
            <a:p>
              <a:pPr defTabSz="914400">
                <a:lnSpc>
                  <a:spcPct val="100000"/>
                </a:lnSpc>
                <a:defRPr/>
              </a:pPr>
              <a:endParaRPr lang="ko-KR" altLang="en-US" sz="5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310" name="타원 4"/>
            <p:cNvSpPr>
              <a:spLocks noChangeAspect="1" noChangeArrowheads="1"/>
            </p:cNvSpPr>
            <p:nvPr/>
          </p:nvSpPr>
          <p:spPr bwMode="gray">
            <a:xfrm>
              <a:off x="299551" y="4860460"/>
              <a:ext cx="186792" cy="179060"/>
            </a:xfrm>
            <a:prstGeom prst="ellipse">
              <a:avLst/>
            </a:prstGeom>
            <a:solidFill>
              <a:schemeClr val="bg1"/>
            </a:solidFill>
            <a:ln w="12700">
              <a:noFill/>
            </a:ln>
            <a:extLst/>
          </p:spPr>
          <p:txBody>
            <a:bodyPr rIns="36000" bIns="36000"/>
            <a:lstStyle/>
            <a:p>
              <a:pPr defTabSz="914400">
                <a:lnSpc>
                  <a:spcPct val="100000"/>
                </a:lnSpc>
                <a:defRPr/>
              </a:pPr>
              <a:endParaRPr lang="ko-KR" altLang="en-US" sz="5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311" name="타원 19"/>
            <p:cNvSpPr>
              <a:spLocks noChangeArrowheads="1"/>
            </p:cNvSpPr>
            <p:nvPr/>
          </p:nvSpPr>
          <p:spPr bwMode="gray">
            <a:xfrm>
              <a:off x="286016" y="4912446"/>
              <a:ext cx="211155" cy="7509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/>
            <a:lstStyle/>
            <a:p>
              <a:pPr algn="ctr" defTabSz="914400">
                <a:lnSpc>
                  <a:spcPct val="100000"/>
                </a:lnSpc>
                <a:defRPr/>
              </a:pPr>
              <a:r>
                <a:rPr kumimoji="1" lang="en-US" altLang="ko-KR" sz="900" b="1" kern="0" dirty="0">
                  <a:solidFill>
                    <a:srgbClr val="00B0F0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rPr>
                <a:t>4</a:t>
              </a:r>
              <a:endParaRPr kumimoji="1" lang="ko-KR" altLang="en-US" sz="900" b="1" kern="0" dirty="0">
                <a:solidFill>
                  <a:srgbClr val="00B0F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sp>
        <p:nvSpPr>
          <p:cNvPr id="334" name="직사각형 333"/>
          <p:cNvSpPr/>
          <p:nvPr/>
        </p:nvSpPr>
        <p:spPr>
          <a:xfrm>
            <a:off x="3532025" y="2253122"/>
            <a:ext cx="798512" cy="4462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b="1" dirty="0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기준관리</a:t>
            </a:r>
            <a:endParaRPr lang="ko-KR" altLang="en-US" sz="1050" b="1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5" name="직사각형 334"/>
          <p:cNvSpPr/>
          <p:nvPr/>
        </p:nvSpPr>
        <p:spPr>
          <a:xfrm>
            <a:off x="3528850" y="2736514"/>
            <a:ext cx="800100" cy="44620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defRPr/>
            </a:pPr>
            <a:r>
              <a:rPr lang="ko-KR" altLang="en-US" sz="1050" b="1" dirty="0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통계관리</a:t>
            </a:r>
            <a:endParaRPr lang="ko-KR" altLang="en-US" sz="1050" b="1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0" name="직사각형 339"/>
          <p:cNvSpPr/>
          <p:nvPr/>
        </p:nvSpPr>
        <p:spPr>
          <a:xfrm>
            <a:off x="4953000" y="3512158"/>
            <a:ext cx="1728192" cy="34547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kern="0" dirty="0" smtClean="0">
                <a:solidFill>
                  <a:sysClr val="window" lastClr="FFFFFF"/>
                </a:solidFill>
                <a:latin typeface="+mn-ea"/>
              </a:rPr>
              <a:t>개발환경</a:t>
            </a: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41" name="직사각형 340"/>
          <p:cNvSpPr/>
          <p:nvPr/>
        </p:nvSpPr>
        <p:spPr>
          <a:xfrm>
            <a:off x="4953000" y="1988840"/>
            <a:ext cx="1728192" cy="34547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kern="0" dirty="0" smtClean="0">
                <a:solidFill>
                  <a:sysClr val="window" lastClr="FFFFFF"/>
                </a:solidFill>
                <a:latin typeface="+mn-ea"/>
              </a:rPr>
              <a:t>공통요소</a:t>
            </a: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109" name="그룹 108"/>
          <p:cNvGrpSpPr/>
          <p:nvPr/>
        </p:nvGrpSpPr>
        <p:grpSpPr>
          <a:xfrm>
            <a:off x="4953000" y="2420888"/>
            <a:ext cx="4612016" cy="936674"/>
            <a:chOff x="4953000" y="2420888"/>
            <a:chExt cx="4612016" cy="720080"/>
          </a:xfrm>
        </p:grpSpPr>
        <p:sp>
          <p:nvSpPr>
            <p:cNvPr id="342" name="AutoShape 214"/>
            <p:cNvSpPr>
              <a:spLocks noChangeArrowheads="1"/>
            </p:cNvSpPr>
            <p:nvPr/>
          </p:nvSpPr>
          <p:spPr bwMode="auto">
            <a:xfrm>
              <a:off x="4953000" y="2420888"/>
              <a:ext cx="868271" cy="36004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 algn="ctr">
              <a:solidFill>
                <a:srgbClr val="9EBFD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200" b="1" smtClean="0">
                  <a:latin typeface="+mn-ea"/>
                </a:rPr>
                <a:t>인증</a:t>
              </a:r>
              <a:endParaRPr lang="ko-KR" altLang="en-US" sz="1200" b="1" dirty="0" smtClean="0">
                <a:latin typeface="+mn-ea"/>
              </a:endParaRPr>
            </a:p>
          </p:txBody>
        </p:sp>
        <p:sp>
          <p:nvSpPr>
            <p:cNvPr id="344" name="AutoShape 214"/>
            <p:cNvSpPr>
              <a:spLocks noChangeArrowheads="1"/>
            </p:cNvSpPr>
            <p:nvPr/>
          </p:nvSpPr>
          <p:spPr bwMode="auto">
            <a:xfrm>
              <a:off x="5888936" y="2420888"/>
              <a:ext cx="868271" cy="36004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 algn="ctr">
              <a:solidFill>
                <a:srgbClr val="9EBFD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200" b="1" smtClean="0">
                  <a:latin typeface="+mn-ea"/>
                </a:rPr>
                <a:t>보안</a:t>
              </a:r>
              <a:endParaRPr lang="ko-KR" altLang="en-US" sz="1200" b="1" dirty="0" smtClean="0">
                <a:latin typeface="+mn-ea"/>
              </a:endParaRPr>
            </a:p>
          </p:txBody>
        </p:sp>
        <p:sp>
          <p:nvSpPr>
            <p:cNvPr id="345" name="AutoShape 214"/>
            <p:cNvSpPr>
              <a:spLocks noChangeArrowheads="1"/>
            </p:cNvSpPr>
            <p:nvPr/>
          </p:nvSpPr>
          <p:spPr bwMode="auto">
            <a:xfrm>
              <a:off x="6824872" y="2420888"/>
              <a:ext cx="868271" cy="36004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 algn="ctr">
              <a:solidFill>
                <a:srgbClr val="9EBFD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200" b="1" dirty="0" smtClean="0">
                  <a:latin typeface="+mn-ea"/>
                </a:rPr>
                <a:t>시스템</a:t>
              </a:r>
            </a:p>
          </p:txBody>
        </p:sp>
        <p:sp>
          <p:nvSpPr>
            <p:cNvPr id="346" name="AutoShape 214"/>
            <p:cNvSpPr>
              <a:spLocks noChangeArrowheads="1"/>
            </p:cNvSpPr>
            <p:nvPr/>
          </p:nvSpPr>
          <p:spPr bwMode="auto">
            <a:xfrm>
              <a:off x="7760808" y="2420888"/>
              <a:ext cx="868271" cy="36004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 algn="ctr">
              <a:solidFill>
                <a:srgbClr val="9EBFD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200" b="1" dirty="0" smtClean="0">
                  <a:latin typeface="+mn-ea"/>
                </a:rPr>
                <a:t>연계</a:t>
              </a:r>
            </a:p>
          </p:txBody>
        </p:sp>
        <p:sp>
          <p:nvSpPr>
            <p:cNvPr id="347" name="AutoShape 214"/>
            <p:cNvSpPr>
              <a:spLocks noChangeArrowheads="1"/>
            </p:cNvSpPr>
            <p:nvPr/>
          </p:nvSpPr>
          <p:spPr bwMode="auto">
            <a:xfrm>
              <a:off x="8696745" y="2420888"/>
              <a:ext cx="868271" cy="36004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 algn="ctr">
              <a:solidFill>
                <a:srgbClr val="9EBFD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200" b="1" dirty="0" smtClean="0">
                  <a:latin typeface="+mn-ea"/>
                </a:rPr>
                <a:t>요소기술</a:t>
              </a:r>
            </a:p>
          </p:txBody>
        </p:sp>
        <p:sp>
          <p:nvSpPr>
            <p:cNvPr id="349" name="직사각형 127"/>
            <p:cNvSpPr>
              <a:spLocks noChangeArrowheads="1"/>
            </p:cNvSpPr>
            <p:nvPr/>
          </p:nvSpPr>
          <p:spPr bwMode="auto">
            <a:xfrm>
              <a:off x="4953000" y="2823960"/>
              <a:ext cx="867600" cy="317008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9EBFD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ko-KR" altLang="en-US" sz="1000" dirty="0" smtClean="0">
                  <a:latin typeface="+mn-ea"/>
                </a:rPr>
                <a:t>로그인</a:t>
              </a:r>
              <a:endParaRPr lang="en-US" altLang="ko-KR" sz="1000" dirty="0" smtClean="0">
                <a:latin typeface="+mn-ea"/>
              </a:endParaRPr>
            </a:p>
            <a:p>
              <a:pPr algn="ctr">
                <a:lnSpc>
                  <a:spcPct val="100000"/>
                </a:lnSpc>
              </a:pPr>
              <a:r>
                <a:rPr lang="ko-KR" altLang="en-US" sz="1000" dirty="0" smtClean="0">
                  <a:latin typeface="+mn-ea"/>
                </a:rPr>
                <a:t>인증</a:t>
              </a:r>
            </a:p>
          </p:txBody>
        </p:sp>
        <p:sp>
          <p:nvSpPr>
            <p:cNvPr id="350" name="직사각형 127"/>
            <p:cNvSpPr>
              <a:spLocks noChangeArrowheads="1"/>
            </p:cNvSpPr>
            <p:nvPr/>
          </p:nvSpPr>
          <p:spPr bwMode="auto">
            <a:xfrm>
              <a:off x="5889104" y="2823960"/>
              <a:ext cx="867600" cy="317008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9EBFD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ko-KR" altLang="en-US" sz="1000" dirty="0" smtClean="0">
                  <a:latin typeface="+mn-ea"/>
                </a:rPr>
                <a:t>권한관리</a:t>
              </a:r>
              <a:endParaRPr lang="en-US" altLang="ko-KR" sz="1000" dirty="0" smtClean="0">
                <a:latin typeface="+mn-ea"/>
              </a:endParaRPr>
            </a:p>
            <a:p>
              <a:pPr algn="ctr">
                <a:lnSpc>
                  <a:spcPct val="100000"/>
                </a:lnSpc>
              </a:pPr>
              <a:r>
                <a:rPr lang="ko-KR" altLang="en-US" sz="1000" dirty="0" err="1" smtClean="0">
                  <a:latin typeface="+mn-ea"/>
                </a:rPr>
                <a:t>암복호화</a:t>
              </a:r>
              <a:endParaRPr lang="ko-KR" altLang="en-US" sz="1000" dirty="0" smtClean="0">
                <a:latin typeface="+mn-ea"/>
              </a:endParaRPr>
            </a:p>
          </p:txBody>
        </p:sp>
        <p:sp>
          <p:nvSpPr>
            <p:cNvPr id="351" name="직사각형 127"/>
            <p:cNvSpPr>
              <a:spLocks noChangeArrowheads="1"/>
            </p:cNvSpPr>
            <p:nvPr/>
          </p:nvSpPr>
          <p:spPr bwMode="auto">
            <a:xfrm>
              <a:off x="6825208" y="2823960"/>
              <a:ext cx="867600" cy="317008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9EBFD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ko-KR" altLang="en-US" sz="1000" dirty="0" smtClean="0">
                  <a:latin typeface="+mn-ea"/>
                </a:rPr>
                <a:t>공통코드</a:t>
              </a:r>
              <a:endParaRPr lang="en-US" altLang="ko-KR" sz="1000" dirty="0" smtClean="0">
                <a:latin typeface="+mn-ea"/>
              </a:endParaRPr>
            </a:p>
            <a:p>
              <a:pPr algn="ctr">
                <a:lnSpc>
                  <a:spcPct val="100000"/>
                </a:lnSpc>
              </a:pPr>
              <a:r>
                <a:rPr lang="ko-KR" altLang="en-US" sz="1000" dirty="0" err="1" smtClean="0">
                  <a:latin typeface="+mn-ea"/>
                </a:rPr>
                <a:t>매뉴</a:t>
              </a:r>
              <a:r>
                <a:rPr lang="en-US" altLang="ko-KR" sz="1000" b="1" dirty="0" smtClean="0">
                  <a:solidFill>
                    <a:schemeClr val="tx2"/>
                  </a:solidFill>
                  <a:latin typeface="+mn-ea"/>
                </a:rPr>
                <a:t>, </a:t>
              </a:r>
              <a:r>
                <a:rPr lang="ko-KR" altLang="en-US" sz="1000" b="1" dirty="0" smtClean="0">
                  <a:solidFill>
                    <a:schemeClr val="tx2"/>
                  </a:solidFill>
                  <a:latin typeface="+mn-ea"/>
                </a:rPr>
                <a:t>다국어</a:t>
              </a:r>
            </a:p>
          </p:txBody>
        </p:sp>
        <p:sp>
          <p:nvSpPr>
            <p:cNvPr id="352" name="직사각형 127"/>
            <p:cNvSpPr>
              <a:spLocks noChangeArrowheads="1"/>
            </p:cNvSpPr>
            <p:nvPr/>
          </p:nvSpPr>
          <p:spPr bwMode="auto">
            <a:xfrm>
              <a:off x="7761312" y="2823960"/>
              <a:ext cx="867600" cy="317008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9EBFD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ko-KR" sz="1000" dirty="0" smtClean="0">
                  <a:latin typeface="+mn-ea"/>
                </a:rPr>
                <a:t>DB</a:t>
              </a:r>
              <a:r>
                <a:rPr lang="ko-KR" altLang="en-US" sz="1000" dirty="0" smtClean="0">
                  <a:latin typeface="+mn-ea"/>
                </a:rPr>
                <a:t>연계</a:t>
              </a:r>
              <a:endParaRPr lang="en-US" altLang="ko-KR" sz="1000" dirty="0" smtClean="0">
                <a:latin typeface="+mn-ea"/>
              </a:endParaRPr>
            </a:p>
            <a:p>
              <a:pPr algn="ctr">
                <a:lnSpc>
                  <a:spcPct val="100000"/>
                </a:lnSpc>
              </a:pPr>
              <a:r>
                <a:rPr lang="ko-KR" altLang="en-US" sz="1000" b="1" dirty="0" err="1" smtClean="0">
                  <a:solidFill>
                    <a:schemeClr val="tx2"/>
                  </a:solidFill>
                  <a:latin typeface="+mn-ea"/>
                </a:rPr>
                <a:t>웹서비스</a:t>
              </a:r>
              <a:endParaRPr lang="ko-KR" altLang="en-US" sz="1000" b="1" dirty="0" smtClean="0">
                <a:solidFill>
                  <a:schemeClr val="tx2"/>
                </a:solidFill>
                <a:latin typeface="+mn-ea"/>
              </a:endParaRPr>
            </a:p>
          </p:txBody>
        </p:sp>
        <p:sp>
          <p:nvSpPr>
            <p:cNvPr id="353" name="직사각형 127"/>
            <p:cNvSpPr>
              <a:spLocks noChangeArrowheads="1"/>
            </p:cNvSpPr>
            <p:nvPr/>
          </p:nvSpPr>
          <p:spPr bwMode="auto">
            <a:xfrm>
              <a:off x="8697416" y="2823960"/>
              <a:ext cx="867600" cy="317008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9EBFD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ko-KR" altLang="en-US" sz="1000" dirty="0" smtClean="0">
                  <a:latin typeface="+mn-ea"/>
                </a:rPr>
                <a:t>메시지</a:t>
              </a:r>
              <a:r>
                <a:rPr lang="en-US" altLang="ko-KR" sz="1000" dirty="0" smtClean="0">
                  <a:latin typeface="+mn-ea"/>
                </a:rPr>
                <a:t>,</a:t>
              </a:r>
              <a:r>
                <a:rPr lang="ko-KR" altLang="en-US" sz="1000" dirty="0" smtClean="0">
                  <a:latin typeface="+mn-ea"/>
                </a:rPr>
                <a:t>세션</a:t>
              </a:r>
              <a:r>
                <a:rPr lang="en-US" altLang="ko-KR" sz="1000" dirty="0" smtClean="0">
                  <a:latin typeface="+mn-ea"/>
                </a:rPr>
                <a:t>,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000" dirty="0" smtClean="0">
                  <a:latin typeface="+mn-ea"/>
                </a:rPr>
                <a:t>쿠키</a:t>
              </a:r>
              <a:r>
                <a:rPr lang="en-US" altLang="ko-KR" sz="1000" dirty="0" smtClean="0">
                  <a:latin typeface="+mn-ea"/>
                </a:rPr>
                <a:t>, </a:t>
              </a:r>
              <a:r>
                <a:rPr lang="ko-KR" altLang="en-US" sz="1000" b="1" dirty="0" err="1" smtClean="0">
                  <a:solidFill>
                    <a:schemeClr val="tx2"/>
                  </a:solidFill>
                  <a:latin typeface="+mn-ea"/>
                </a:rPr>
                <a:t>그리드</a:t>
              </a:r>
              <a:endParaRPr lang="ko-KR" altLang="en-US" sz="1000" b="1" dirty="0" smtClean="0">
                <a:solidFill>
                  <a:schemeClr val="tx2"/>
                </a:solidFill>
                <a:latin typeface="+mn-ea"/>
              </a:endParaRPr>
            </a:p>
          </p:txBody>
        </p:sp>
      </p:grpSp>
      <p:graphicFrame>
        <p:nvGraphicFramePr>
          <p:cNvPr id="108" name="표 107"/>
          <p:cNvGraphicFramePr>
            <a:graphicFrameLocks noGrp="1"/>
          </p:cNvGraphicFramePr>
          <p:nvPr/>
        </p:nvGraphicFramePr>
        <p:xfrm>
          <a:off x="4953001" y="3857629"/>
          <a:ext cx="4643470" cy="2286016"/>
        </p:xfrm>
        <a:graphic>
          <a:graphicData uri="http://schemas.openxmlformats.org/drawingml/2006/table">
            <a:tbl>
              <a:tblPr/>
              <a:tblGrid>
                <a:gridCol w="916374"/>
                <a:gridCol w="1952287"/>
                <a:gridCol w="1774809"/>
              </a:tblGrid>
              <a:tr h="231150">
                <a:tc>
                  <a:txBody>
                    <a:bodyPr/>
                    <a:lstStyle/>
                    <a:p>
                      <a:pPr marL="0" marR="0" lvl="0" indent="0" algn="ctr" defTabSz="449263" rtl="0" eaLnBrk="0" fontAlgn="ctr" latinLnBrk="0" hangingPunct="0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서비스구분</a:t>
                      </a: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9263" rtl="0" eaLnBrk="0" fontAlgn="ctr" latinLnBrk="0" hangingPunct="0">
                        <a:lnSpc>
                          <a:spcPts val="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ko-KR" alt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서비스</a:t>
                      </a: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9263" rtl="0" eaLnBrk="0" fontAlgn="ctr" latinLnBrk="0" hangingPunct="0">
                        <a:lnSpc>
                          <a:spcPts val="1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오픈 </a:t>
                      </a:r>
                      <a:r>
                        <a:rPr kumimoji="0" lang="ko-KR" alt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소프트웨어 </a:t>
                      </a: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</a:tr>
              <a:tr h="144584">
                <a:tc rowSpan="3">
                  <a:txBody>
                    <a:bodyPr/>
                    <a:lstStyle/>
                    <a:p>
                      <a:pPr marL="0" marR="0" lvl="0" indent="0" algn="ctr" defTabSz="449263" rtl="0" eaLnBrk="0" fontAlgn="ctr" latinLnBrk="0" hangingPunct="0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ko-KR" altLang="en-GB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화면처리</a:t>
                      </a: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Ajax Support</a:t>
                      </a:r>
                      <a:endParaRPr kumimoji="0" lang="en-GB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Ajax Tags</a:t>
                      </a:r>
                      <a:endParaRPr kumimoji="0" lang="en-GB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45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Template Engine</a:t>
                      </a:r>
                      <a:endParaRPr kumimoji="0" lang="en-GB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Velocity1.6</a:t>
                      </a:r>
                      <a:endParaRPr kumimoji="0" lang="en-GB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45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JqGrid</a:t>
                      </a:r>
                      <a:endParaRPr kumimoji="0" lang="en-GB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JqGrid</a:t>
                      </a:r>
                      <a:r>
                        <a:rPr kumimoji="0" lang="en-GB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4.5.4</a:t>
                      </a: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4584">
                <a:tc rowSpan="2">
                  <a:txBody>
                    <a:bodyPr/>
                    <a:lstStyle/>
                    <a:p>
                      <a:pPr marL="0" marR="0" lvl="0" indent="0" algn="ctr" defTabSz="449263" rtl="0" eaLnBrk="0" fontAlgn="ctr" latinLnBrk="0" hangingPunct="0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ko-KR" altLang="en-GB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업무처리</a:t>
                      </a: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Process Control</a:t>
                      </a:r>
                      <a:endParaRPr kumimoji="0" lang="en-GB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Spring2.5 Web Flow </a:t>
                      </a:r>
                      <a:endParaRPr kumimoji="0" lang="en-GB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59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Exception Handling</a:t>
                      </a:r>
                      <a:endParaRPr kumimoji="0" lang="en-GB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Spring</a:t>
                      </a:r>
                      <a:endParaRPr kumimoji="0" lang="en-GB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4584">
                <a:tc rowSpan="2">
                  <a:txBody>
                    <a:bodyPr/>
                    <a:lstStyle/>
                    <a:p>
                      <a:pPr marL="0" marR="0" lvl="0" indent="0" algn="ctr" defTabSz="449263" rtl="0" eaLnBrk="0" fontAlgn="ctr" latinLnBrk="0" hangingPunct="0">
                        <a:lnSpc>
                          <a:spcPts val="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ko-KR" altLang="en-GB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데이터처리</a:t>
                      </a: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Data Access</a:t>
                      </a:r>
                      <a:endParaRPr kumimoji="0" lang="en-GB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iBatis2.3.x SQL Maps</a:t>
                      </a:r>
                      <a:endParaRPr kumimoji="0" lang="en-GB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59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Transaction</a:t>
                      </a:r>
                      <a:endParaRPr kumimoji="0" lang="en-GB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Spring</a:t>
                      </a: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2478">
                <a:tc>
                  <a:txBody>
                    <a:bodyPr/>
                    <a:lstStyle/>
                    <a:p>
                      <a:pPr marL="0" marR="0" lvl="0" indent="0" algn="ctr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ko-KR" alt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연계통합</a:t>
                      </a:r>
                      <a:endParaRPr kumimoji="0" lang="ko-KR" altLang="en-GB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Web Service Interface</a:t>
                      </a:r>
                      <a:endParaRPr kumimoji="0" lang="en-GB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Apache </a:t>
                      </a:r>
                      <a:r>
                        <a:rPr kumimoji="0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cxf</a:t>
                      </a:r>
                      <a:endParaRPr kumimoji="0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4584">
                <a:tc rowSpan="6">
                  <a:txBody>
                    <a:bodyPr/>
                    <a:lstStyle/>
                    <a:p>
                      <a:pPr marL="0" marR="0" lvl="0" indent="0" algn="ctr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ko-KR" alt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</a:t>
                      </a:r>
                      <a:endParaRPr kumimoji="0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ctr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ko-KR" alt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기반</a:t>
                      </a:r>
                      <a:endParaRPr kumimoji="0" lang="ko-KR" altLang="en-GB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AOP</a:t>
                      </a:r>
                      <a:endParaRPr kumimoji="0" lang="en-GB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Spring</a:t>
                      </a: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45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Excel</a:t>
                      </a:r>
                      <a:endParaRPr kumimoji="0" lang="en-GB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Apache POI / JEXCEL</a:t>
                      </a: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45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Object Pooling</a:t>
                      </a:r>
                      <a:endParaRPr kumimoji="0" lang="en-GB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Apache Commons Pool</a:t>
                      </a: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45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Property</a:t>
                      </a:r>
                      <a:endParaRPr kumimoji="0" lang="en-GB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Spring</a:t>
                      </a: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45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Resource</a:t>
                      </a:r>
                      <a:endParaRPr kumimoji="0" lang="en-GB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Spring</a:t>
                      </a:r>
                      <a:endParaRPr kumimoji="0" lang="en-GB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45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Scheduling</a:t>
                      </a:r>
                      <a:endParaRPr kumimoji="0" lang="en-GB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49263" rtl="0" eaLnBrk="0" fontAlgn="ctr" latinLnBrk="0" hangingPunct="0">
                        <a:lnSpc>
                          <a:spcPts val="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100000"/>
                        <a:buFont typeface="HY헤드라인M" pitchFamily="18" charset="-127"/>
                        <a:buNone/>
                        <a:tabLst/>
                      </a:pPr>
                      <a:r>
                        <a:rPr kumimoji="0" lang="en-GB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Quartz1.5</a:t>
                      </a:r>
                      <a:endParaRPr kumimoji="0" lang="en-GB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18000" marB="18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3797300" y="6492899"/>
            <a:ext cx="2311400" cy="276999"/>
          </a:xfrm>
        </p:spPr>
        <p:txBody>
          <a:bodyPr wrap="square">
            <a:spAutoFit/>
          </a:bodyPr>
          <a:lstStyle/>
          <a:p>
            <a:pPr algn="ctr"/>
            <a:r>
              <a:rPr lang="en-US" altLang="ko-KR" dirty="0" smtClean="0">
                <a:latin typeface="+mn-ea"/>
              </a:rPr>
              <a:t>- 7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-</a:t>
            </a:r>
            <a:endParaRPr lang="ko-KR" altLang="en-US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Framework – </a:t>
            </a:r>
            <a:r>
              <a:rPr lang="ko-KR" altLang="en-US" dirty="0" smtClean="0"/>
              <a:t>다국어</a:t>
            </a:r>
            <a:r>
              <a:rPr lang="en-US" altLang="ko-KR" dirty="0" smtClean="0"/>
              <a:t>(1/2)</a:t>
            </a:r>
            <a:endParaRPr lang="ko-KR" altLang="en-US" dirty="0"/>
          </a:p>
        </p:txBody>
      </p:sp>
      <p:sp>
        <p:nvSpPr>
          <p:cNvPr id="225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smtClean="0"/>
              <a:t>6</a:t>
            </a:r>
            <a:endParaRPr lang="ko-KR" altLang="en-US" dirty="0"/>
          </a:p>
        </p:txBody>
      </p:sp>
      <p:sp>
        <p:nvSpPr>
          <p:cNvPr id="224" name="Rectangle 108"/>
          <p:cNvSpPr>
            <a:spLocks noChangeArrowheads="1"/>
          </p:cNvSpPr>
          <p:nvPr/>
        </p:nvSpPr>
        <p:spPr bwMode="auto">
          <a:xfrm>
            <a:off x="344488" y="980728"/>
            <a:ext cx="9217025" cy="648072"/>
          </a:xfrm>
          <a:prstGeom prst="rect">
            <a:avLst/>
          </a:prstGeom>
          <a:solidFill>
            <a:srgbClr val="F0F8FA">
              <a:alpha val="50000"/>
            </a:srgbClr>
          </a:solidFill>
          <a:ln w="9525">
            <a:solidFill>
              <a:schemeClr val="tx2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atinLnBrk="0"/>
            <a:r>
              <a:rPr kumimoji="1" lang="ko-KR" altLang="en-US" sz="1400" dirty="0" smtClean="0">
                <a:solidFill>
                  <a:srgbClr val="000000"/>
                </a:solidFill>
                <a:latin typeface="맑은 고딕" pitchFamily="50" charset="-127"/>
              </a:rPr>
              <a:t>다국어 처리는 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맑은 고딕" pitchFamily="50" charset="-127"/>
              </a:rPr>
              <a:t>Java Spring Framework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맑은 고딕" pitchFamily="50" charset="-127"/>
              </a:rPr>
              <a:t>을 통해서 처리합니다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맑은 고딕" pitchFamily="50" charset="-127"/>
              </a:rPr>
              <a:t>. 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맑은 고딕" pitchFamily="50" charset="-127"/>
              </a:rPr>
              <a:t>사용자화면에서 다국어 편집내용을 입력하고 저장하면 다국어 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맑은 고딕" pitchFamily="50" charset="-127"/>
              </a:rPr>
              <a:t>Properties 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맑은 고딕" pitchFamily="50" charset="-127"/>
              </a:rPr>
              <a:t>파일로 저장되고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맑은 고딕" pitchFamily="50" charset="-127"/>
              </a:rPr>
              <a:t>, 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맑은 고딕" pitchFamily="50" charset="-127"/>
              </a:rPr>
              <a:t>사용자화면에 다국어 서비스 됩니다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맑은 고딕" pitchFamily="50" charset="-127"/>
              </a:rPr>
              <a:t>.</a:t>
            </a:r>
            <a:endParaRPr kumimoji="1" lang="ko-KR" altLang="en-US" sz="1400" dirty="0" smtClean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104" name="Rectangle 93"/>
          <p:cNvSpPr>
            <a:spLocks noChangeArrowheads="1"/>
          </p:cNvSpPr>
          <p:nvPr/>
        </p:nvSpPr>
        <p:spPr bwMode="auto">
          <a:xfrm>
            <a:off x="344488" y="1698079"/>
            <a:ext cx="9217025" cy="4467771"/>
          </a:xfrm>
          <a:prstGeom prst="rect">
            <a:avLst/>
          </a:prstGeom>
          <a:noFill/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b="0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5" name="Rectangle 128"/>
          <p:cNvSpPr>
            <a:spLocks noChangeArrowheads="1"/>
          </p:cNvSpPr>
          <p:nvPr/>
        </p:nvSpPr>
        <p:spPr bwMode="auto">
          <a:xfrm>
            <a:off x="5102805" y="1855260"/>
            <a:ext cx="4304070" cy="268321"/>
          </a:xfrm>
          <a:prstGeom prst="rect">
            <a:avLst/>
          </a:prstGeom>
          <a:blipFill dpi="0" rotWithShape="1">
            <a:blip r:embed="rId2" cstate="print">
              <a:lum bright="12000"/>
            </a:blip>
            <a:srcRect/>
            <a:stretch>
              <a:fillRect/>
            </a:stretch>
          </a:blipFill>
          <a:ln w="9525" algn="ctr">
            <a:solidFill>
              <a:srgbClr val="3991BD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wrap="none" anchor="ctr"/>
          <a:lstStyle/>
          <a:p>
            <a:pPr algn="ctr" defTabSz="839788">
              <a:lnSpc>
                <a:spcPct val="90000"/>
              </a:lnSpc>
              <a:defRPr/>
            </a:pPr>
            <a:r>
              <a:rPr lang="ko-KR" altLang="en-US" sz="1100" dirty="0">
                <a:latin typeface="맑은 고딕" pitchFamily="50" charset="-127"/>
                <a:ea typeface="맑은 고딕" pitchFamily="50" charset="-127"/>
              </a:rPr>
              <a:t>사용자 화면에 다국어 적용 </a:t>
            </a:r>
          </a:p>
        </p:txBody>
      </p:sp>
      <p:sp>
        <p:nvSpPr>
          <p:cNvPr id="106" name="Rectangle 128"/>
          <p:cNvSpPr>
            <a:spLocks noChangeArrowheads="1"/>
          </p:cNvSpPr>
          <p:nvPr/>
        </p:nvSpPr>
        <p:spPr bwMode="auto">
          <a:xfrm>
            <a:off x="508790" y="1855260"/>
            <a:ext cx="4304070" cy="268321"/>
          </a:xfrm>
          <a:prstGeom prst="rect">
            <a:avLst/>
          </a:prstGeom>
          <a:blipFill dpi="0" rotWithShape="1">
            <a:blip r:embed="rId2" cstate="print">
              <a:lum bright="12000"/>
            </a:blip>
            <a:srcRect/>
            <a:stretch>
              <a:fillRect/>
            </a:stretch>
          </a:blipFill>
          <a:ln w="9525" algn="ctr">
            <a:solidFill>
              <a:srgbClr val="3991BD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wrap="none" anchor="ctr"/>
          <a:lstStyle/>
          <a:p>
            <a:pPr algn="ctr" defTabSz="839788">
              <a:lnSpc>
                <a:spcPct val="90000"/>
              </a:lnSpc>
              <a:defRPr/>
            </a:pPr>
            <a:r>
              <a:rPr lang="ko-KR" altLang="en-US" sz="1100" dirty="0">
                <a:latin typeface="맑은 고딕" pitchFamily="50" charset="-127"/>
                <a:ea typeface="맑은 고딕" pitchFamily="50" charset="-127"/>
              </a:rPr>
              <a:t>다국어 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Label/Message</a:t>
            </a:r>
            <a:r>
              <a:rPr lang="ko-KR" altLang="en-US" sz="11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100" dirty="0">
                <a:latin typeface="맑은 고딕" pitchFamily="50" charset="-127"/>
                <a:ea typeface="맑은 고딕" pitchFamily="50" charset="-127"/>
              </a:rPr>
              <a:t>properties File </a:t>
            </a:r>
            <a:r>
              <a:rPr lang="ko-KR" altLang="en-US" sz="1100" dirty="0">
                <a:latin typeface="맑은 고딕" pitchFamily="50" charset="-127"/>
                <a:ea typeface="맑은 고딕" pitchFamily="50" charset="-127"/>
              </a:rPr>
              <a:t>생성</a:t>
            </a:r>
          </a:p>
        </p:txBody>
      </p:sp>
      <p:sp>
        <p:nvSpPr>
          <p:cNvPr id="107" name="Rectangle 93"/>
          <p:cNvSpPr>
            <a:spLocks noChangeArrowheads="1"/>
          </p:cNvSpPr>
          <p:nvPr/>
        </p:nvSpPr>
        <p:spPr bwMode="auto">
          <a:xfrm>
            <a:off x="5102805" y="2118817"/>
            <a:ext cx="4307292" cy="3669161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algn="ctr">
              <a:defRPr/>
            </a:pPr>
            <a:endParaRPr lang="ko-KR" altLang="en-US" sz="11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8" name="Rectangle 93"/>
          <p:cNvSpPr>
            <a:spLocks noChangeArrowheads="1"/>
          </p:cNvSpPr>
          <p:nvPr/>
        </p:nvSpPr>
        <p:spPr bwMode="auto">
          <a:xfrm>
            <a:off x="508790" y="2128344"/>
            <a:ext cx="4304070" cy="3669161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algn="ctr">
              <a:defRPr/>
            </a:pPr>
            <a:endParaRPr lang="ko-KR" altLang="en-US" sz="11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9" name="Text Box 269"/>
          <p:cNvSpPr txBox="1">
            <a:spLocks noChangeArrowheads="1"/>
          </p:cNvSpPr>
          <p:nvPr/>
        </p:nvSpPr>
        <p:spPr bwMode="auto">
          <a:xfrm>
            <a:off x="2058384" y="2222018"/>
            <a:ext cx="1232266" cy="2143387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marL="104775" indent="-104775" algn="ctr" defTabSz="1076325">
              <a:buClr>
                <a:srgbClr val="808080"/>
              </a:buClr>
              <a:buSzPct val="90000"/>
              <a:defRPr/>
            </a:pPr>
            <a:endParaRPr lang="ko-KR" altLang="en-US" sz="1000" b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0" name="AutoShape 216"/>
          <p:cNvCxnSpPr>
            <a:cxnSpLocks noChangeShapeType="1"/>
          </p:cNvCxnSpPr>
          <p:nvPr/>
        </p:nvCxnSpPr>
        <p:spPr bwMode="auto">
          <a:xfrm flipV="1">
            <a:off x="2657604" y="3122240"/>
            <a:ext cx="0" cy="431853"/>
          </a:xfrm>
          <a:prstGeom prst="straightConnector1">
            <a:avLst/>
          </a:prstGeom>
          <a:noFill/>
          <a:ln w="19050">
            <a:solidFill>
              <a:srgbClr val="808080"/>
            </a:solidFill>
            <a:round/>
            <a:headEnd type="triangle" w="med" len="sm"/>
            <a:tailEnd type="none" w="med" len="sm"/>
          </a:ln>
        </p:spPr>
      </p:cxnSp>
      <p:grpSp>
        <p:nvGrpSpPr>
          <p:cNvPr id="111" name="그룹 173"/>
          <p:cNvGrpSpPr>
            <a:grpSpLocks/>
          </p:cNvGrpSpPr>
          <p:nvPr/>
        </p:nvGrpSpPr>
        <p:grpSpPr bwMode="auto">
          <a:xfrm>
            <a:off x="2174362" y="3558856"/>
            <a:ext cx="1005142" cy="663656"/>
            <a:chOff x="2190752" y="4051299"/>
            <a:chExt cx="990585" cy="663585"/>
          </a:xfrm>
        </p:grpSpPr>
        <p:sp>
          <p:nvSpPr>
            <p:cNvPr id="112" name="AutoShape 37"/>
            <p:cNvSpPr>
              <a:spLocks noChangeArrowheads="1"/>
            </p:cNvSpPr>
            <p:nvPr/>
          </p:nvSpPr>
          <p:spPr bwMode="auto">
            <a:xfrm>
              <a:off x="2190752" y="4051299"/>
              <a:ext cx="990585" cy="234957"/>
            </a:xfrm>
            <a:prstGeom prst="roundRect">
              <a:avLst>
                <a:gd name="adj" fmla="val 16667"/>
              </a:avLst>
            </a:prstGeom>
            <a:solidFill>
              <a:srgbClr val="CCFF66"/>
            </a:solidFill>
            <a:ln w="9525" algn="ctr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latinLnBrk="0"/>
              <a:r>
                <a:rPr lang="en-US" altLang="ko-KR" sz="1000" b="0" dirty="0" err="1">
                  <a:latin typeface="맑은 고딕" pitchFamily="50" charset="-127"/>
                  <a:ea typeface="맑은 고딕" pitchFamily="50" charset="-127"/>
                </a:rPr>
                <a:t>message_en</a:t>
              </a:r>
              <a:endParaRPr lang="en-US" altLang="ko-KR" sz="1000" b="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3" name="AutoShape 37"/>
            <p:cNvSpPr>
              <a:spLocks noChangeArrowheads="1"/>
            </p:cNvSpPr>
            <p:nvPr/>
          </p:nvSpPr>
          <p:spPr bwMode="auto">
            <a:xfrm>
              <a:off x="2190752" y="4264026"/>
              <a:ext cx="990585" cy="234957"/>
            </a:xfrm>
            <a:prstGeom prst="roundRect">
              <a:avLst>
                <a:gd name="adj" fmla="val 16667"/>
              </a:avLst>
            </a:prstGeom>
            <a:solidFill>
              <a:srgbClr val="CCFF66"/>
            </a:solidFill>
            <a:ln w="9525" algn="ctr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latinLnBrk="0"/>
              <a:r>
                <a:rPr lang="en-US" altLang="ko-KR" sz="1000" b="0">
                  <a:latin typeface="맑은 고딕" pitchFamily="50" charset="-127"/>
                  <a:ea typeface="맑은 고딕" pitchFamily="50" charset="-127"/>
                </a:rPr>
                <a:t>message_ko</a:t>
              </a:r>
            </a:p>
          </p:txBody>
        </p:sp>
        <p:sp>
          <p:nvSpPr>
            <p:cNvPr id="114" name="AutoShape 37"/>
            <p:cNvSpPr>
              <a:spLocks noChangeArrowheads="1"/>
            </p:cNvSpPr>
            <p:nvPr/>
          </p:nvSpPr>
          <p:spPr bwMode="auto">
            <a:xfrm>
              <a:off x="2190752" y="4479926"/>
              <a:ext cx="990585" cy="234958"/>
            </a:xfrm>
            <a:prstGeom prst="roundRect">
              <a:avLst>
                <a:gd name="adj" fmla="val 16667"/>
              </a:avLst>
            </a:prstGeom>
            <a:solidFill>
              <a:srgbClr val="CCFF66"/>
            </a:solidFill>
            <a:ln w="9525" algn="ctr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latinLnBrk="0"/>
              <a:r>
                <a:rPr lang="en-US" altLang="ko-KR" sz="1000" b="0">
                  <a:latin typeface="맑은 고딕" pitchFamily="50" charset="-127"/>
                  <a:ea typeface="맑은 고딕" pitchFamily="50" charset="-127"/>
                </a:rPr>
                <a:t>message_ch</a:t>
              </a:r>
            </a:p>
          </p:txBody>
        </p:sp>
      </p:grpSp>
      <p:sp>
        <p:nvSpPr>
          <p:cNvPr id="115" name="AutoShape 79"/>
          <p:cNvSpPr>
            <a:spLocks noChangeArrowheads="1"/>
          </p:cNvSpPr>
          <p:nvPr/>
        </p:nvSpPr>
        <p:spPr bwMode="auto">
          <a:xfrm>
            <a:off x="2238794" y="2607827"/>
            <a:ext cx="844062" cy="511237"/>
          </a:xfrm>
          <a:prstGeom prst="roundRect">
            <a:avLst>
              <a:gd name="adj" fmla="val 16667"/>
            </a:avLst>
          </a:prstGeom>
          <a:solidFill>
            <a:srgbClr val="CDE9EB"/>
          </a:solidFill>
          <a:ln w="9525" algn="ctr">
            <a:solidFill>
              <a:schemeClr val="hlink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latinLnBrk="0">
              <a:defRPr/>
            </a:pPr>
            <a:r>
              <a:rPr lang="en-US" altLang="ko-KR" sz="1000" b="0">
                <a:latin typeface="맑은 고딕" pitchFamily="50" charset="-127"/>
                <a:ea typeface="맑은 고딕" pitchFamily="50" charset="-127"/>
              </a:rPr>
              <a:t>properties</a:t>
            </a:r>
          </a:p>
          <a:p>
            <a:pPr algn="ctr" latinLnBrk="0">
              <a:defRPr/>
            </a:pPr>
            <a:r>
              <a:rPr lang="en-US" altLang="ko-KR" sz="1000" b="0">
                <a:latin typeface="맑은 고딕" pitchFamily="50" charset="-127"/>
                <a:ea typeface="맑은 고딕" pitchFamily="50" charset="-127"/>
              </a:rPr>
              <a:t>Generator</a:t>
            </a:r>
            <a:endParaRPr lang="ko-KR" altLang="en-US" sz="10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0" name="Text Box 236"/>
          <p:cNvSpPr txBox="1">
            <a:spLocks noChangeArrowheads="1"/>
          </p:cNvSpPr>
          <p:nvPr/>
        </p:nvSpPr>
        <p:spPr bwMode="auto">
          <a:xfrm>
            <a:off x="2061606" y="2247421"/>
            <a:ext cx="523512" cy="246092"/>
          </a:xfrm>
          <a:prstGeom prst="rect">
            <a:avLst/>
          </a:prstGeom>
          <a:noFill/>
          <a:ln w="19050" algn="ctr">
            <a:noFill/>
            <a:miter lim="800000"/>
            <a:headEnd type="none" w="med" len="sm"/>
            <a:tailEnd type="none" w="med" len="sm"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Sever</a:t>
            </a:r>
          </a:p>
        </p:txBody>
      </p:sp>
      <p:cxnSp>
        <p:nvCxnSpPr>
          <p:cNvPr id="121" name="AutoShape 237"/>
          <p:cNvCxnSpPr>
            <a:cxnSpLocks noChangeShapeType="1"/>
          </p:cNvCxnSpPr>
          <p:nvPr/>
        </p:nvCxnSpPr>
        <p:spPr bwMode="auto">
          <a:xfrm>
            <a:off x="1425339" y="2793588"/>
            <a:ext cx="639489" cy="0"/>
          </a:xfrm>
          <a:prstGeom prst="straightConnector1">
            <a:avLst/>
          </a:prstGeom>
          <a:noFill/>
          <a:ln w="19050">
            <a:solidFill>
              <a:srgbClr val="808080"/>
            </a:solidFill>
            <a:round/>
            <a:headEnd type="none" w="med" len="sm"/>
            <a:tailEnd type="triangle" w="med" len="sm"/>
          </a:ln>
        </p:spPr>
      </p:cxnSp>
      <p:grpSp>
        <p:nvGrpSpPr>
          <p:cNvPr id="122" name="Group 202"/>
          <p:cNvGrpSpPr>
            <a:grpSpLocks/>
          </p:cNvGrpSpPr>
          <p:nvPr/>
        </p:nvGrpSpPr>
        <p:grpSpPr bwMode="auto">
          <a:xfrm>
            <a:off x="565169" y="2222018"/>
            <a:ext cx="913326" cy="1101860"/>
            <a:chOff x="3279" y="1679"/>
            <a:chExt cx="567" cy="694"/>
          </a:xfrm>
        </p:grpSpPr>
        <p:sp>
          <p:nvSpPr>
            <p:cNvPr id="123" name="Rectangle 11" descr="밝은 상향 대각선"/>
            <p:cNvSpPr>
              <a:spLocks noChangeArrowheads="1"/>
            </p:cNvSpPr>
            <p:nvPr/>
          </p:nvSpPr>
          <p:spPr bwMode="auto">
            <a:xfrm>
              <a:off x="3279" y="1693"/>
              <a:ext cx="567" cy="680"/>
            </a:xfrm>
            <a:prstGeom prst="rect">
              <a:avLst/>
            </a:prstGeom>
            <a:pattFill prst="ltUpDiag">
              <a:fgClr>
                <a:srgbClr val="DDDDDD"/>
              </a:fgClr>
              <a:bgClr>
                <a:schemeClr val="bg1"/>
              </a:bgClr>
            </a:pattFill>
            <a:ln w="12700" algn="ctr">
              <a:pattFill prst="pct5">
                <a:fgClr>
                  <a:srgbClr val="6C7072"/>
                </a:fgClr>
                <a:bgClr>
                  <a:srgbClr val="A0AFBC"/>
                </a:bgClr>
              </a:patt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en-US" sz="1000" b="0"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124" name="Group 25"/>
            <p:cNvGrpSpPr>
              <a:grpSpLocks noChangeAspect="1"/>
            </p:cNvGrpSpPr>
            <p:nvPr/>
          </p:nvGrpSpPr>
          <p:grpSpPr bwMode="auto">
            <a:xfrm>
              <a:off x="3342" y="1924"/>
              <a:ext cx="453" cy="371"/>
              <a:chOff x="643" y="1684"/>
              <a:chExt cx="619" cy="524"/>
            </a:xfrm>
          </p:grpSpPr>
          <p:pic>
            <p:nvPicPr>
              <p:cNvPr id="126" name="Picture 26" descr="워크스테이션2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748" y="1684"/>
                <a:ext cx="514" cy="5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27" name="Picture 27" descr="사용자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643" y="1900"/>
                <a:ext cx="280" cy="3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125" name="Rectangle 97" descr="o1"/>
            <p:cNvSpPr>
              <a:spLocks noChangeArrowheads="1"/>
            </p:cNvSpPr>
            <p:nvPr/>
          </p:nvSpPr>
          <p:spPr bwMode="auto">
            <a:xfrm>
              <a:off x="3279" y="1679"/>
              <a:ext cx="567" cy="179"/>
            </a:xfrm>
            <a:prstGeom prst="rect">
              <a:avLst/>
            </a:prstGeom>
            <a:blipFill dpi="0" rotWithShape="0">
              <a:blip r:embed="rId5" cstate="print">
                <a:lum bright="-6000"/>
              </a:blip>
              <a:srcRect/>
              <a:stretch>
                <a:fillRect/>
              </a:stretch>
            </a:blipFill>
            <a:ln w="6350" algn="ctr">
              <a:solidFill>
                <a:srgbClr val="C0C0C0"/>
              </a:solidFill>
              <a:miter lim="800000"/>
              <a:headEnd/>
              <a:tailEnd/>
            </a:ln>
            <a:effectLst>
              <a:outerShdw dist="17961" dir="2700000" algn="ctr" rotWithShape="0">
                <a:srgbClr val="C0C0C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algn="ctr" latinLnBrk="0">
                <a:lnSpc>
                  <a:spcPct val="110000"/>
                </a:lnSpc>
                <a:defRPr/>
              </a:pPr>
              <a:r>
                <a:rPr lang="ko-KR" altLang="en-US" sz="1000" b="0">
                  <a:latin typeface="맑은 고딕" pitchFamily="50" charset="-127"/>
                  <a:ea typeface="맑은 고딕" pitchFamily="50" charset="-127"/>
                </a:rPr>
                <a:t>시스템 관리자</a:t>
              </a:r>
            </a:p>
          </p:txBody>
        </p:sp>
      </p:grpSp>
      <p:grpSp>
        <p:nvGrpSpPr>
          <p:cNvPr id="128" name="Group 220"/>
          <p:cNvGrpSpPr>
            <a:grpSpLocks/>
          </p:cNvGrpSpPr>
          <p:nvPr/>
        </p:nvGrpSpPr>
        <p:grpSpPr bwMode="auto">
          <a:xfrm>
            <a:off x="1613802" y="2625292"/>
            <a:ext cx="286723" cy="306424"/>
            <a:chOff x="2053" y="1743"/>
            <a:chExt cx="178" cy="193"/>
          </a:xfrm>
        </p:grpSpPr>
        <p:pic>
          <p:nvPicPr>
            <p:cNvPr id="129" name="Picture 221" descr="젤리원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053" y="1758"/>
              <a:ext cx="178" cy="1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0" name="Text Box 222"/>
            <p:cNvSpPr txBox="1">
              <a:spLocks noChangeArrowheads="1"/>
            </p:cNvSpPr>
            <p:nvPr/>
          </p:nvSpPr>
          <p:spPr bwMode="auto">
            <a:xfrm>
              <a:off x="2118" y="1743"/>
              <a:ext cx="44" cy="18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45715" rIns="0" bIns="45715">
              <a:spAutoFit/>
            </a:bodyPr>
            <a:lstStyle/>
            <a:p>
              <a:pPr algn="ctr" latinLnBrk="0">
                <a:lnSpc>
                  <a:spcPct val="130000"/>
                </a:lnSpc>
              </a:pPr>
              <a:r>
                <a:rPr lang="en-US" altLang="ko-KR" sz="1000" b="0" i="1">
                  <a:latin typeface="맑은 고딕" pitchFamily="50" charset="-127"/>
                  <a:ea typeface="맑은 고딕" pitchFamily="50" charset="-127"/>
                </a:rPr>
                <a:t>1</a:t>
              </a:r>
            </a:p>
          </p:txBody>
        </p:sp>
      </p:grpSp>
      <p:grpSp>
        <p:nvGrpSpPr>
          <p:cNvPr id="131" name="Group 241"/>
          <p:cNvGrpSpPr>
            <a:grpSpLocks/>
          </p:cNvGrpSpPr>
          <p:nvPr/>
        </p:nvGrpSpPr>
        <p:grpSpPr bwMode="auto">
          <a:xfrm>
            <a:off x="2493302" y="3169871"/>
            <a:ext cx="286723" cy="306425"/>
            <a:chOff x="2053" y="1743"/>
            <a:chExt cx="178" cy="193"/>
          </a:xfrm>
        </p:grpSpPr>
        <p:pic>
          <p:nvPicPr>
            <p:cNvPr id="132" name="Picture 242" descr="젤리원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053" y="1758"/>
              <a:ext cx="178" cy="1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3" name="Text Box 243"/>
            <p:cNvSpPr txBox="1">
              <a:spLocks noChangeArrowheads="1"/>
            </p:cNvSpPr>
            <p:nvPr/>
          </p:nvSpPr>
          <p:spPr bwMode="auto">
            <a:xfrm>
              <a:off x="2118" y="1743"/>
              <a:ext cx="44" cy="17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45715" rIns="0" bIns="45715">
              <a:spAutoFit/>
            </a:bodyPr>
            <a:lstStyle/>
            <a:p>
              <a:pPr algn="ctr" latinLnBrk="0">
                <a:lnSpc>
                  <a:spcPct val="130000"/>
                </a:lnSpc>
              </a:pPr>
              <a:r>
                <a:rPr lang="en-US" altLang="ko-KR" sz="1000" b="0" i="1" dirty="0" smtClean="0">
                  <a:latin typeface="맑은 고딕" pitchFamily="50" charset="-127"/>
                  <a:ea typeface="맑은 고딕" pitchFamily="50" charset="-127"/>
                </a:rPr>
                <a:t>3</a:t>
              </a:r>
              <a:endParaRPr lang="en-US" altLang="ko-KR" sz="1000" b="0" i="1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134" name="AutoShape 237"/>
          <p:cNvCxnSpPr>
            <a:cxnSpLocks noChangeShapeType="1"/>
          </p:cNvCxnSpPr>
          <p:nvPr/>
        </p:nvCxnSpPr>
        <p:spPr bwMode="auto">
          <a:xfrm flipH="1">
            <a:off x="3126348" y="3009050"/>
            <a:ext cx="876278" cy="1588"/>
          </a:xfrm>
          <a:prstGeom prst="straightConnector1">
            <a:avLst/>
          </a:prstGeom>
          <a:noFill/>
          <a:ln w="19050">
            <a:solidFill>
              <a:srgbClr val="808080"/>
            </a:solidFill>
            <a:round/>
            <a:headEnd type="triangle" w="med" len="sm"/>
            <a:tailEnd type="none" w="med" len="sm"/>
          </a:ln>
        </p:spPr>
      </p:cxnSp>
      <p:grpSp>
        <p:nvGrpSpPr>
          <p:cNvPr id="139" name="Group 238"/>
          <p:cNvGrpSpPr>
            <a:grpSpLocks/>
          </p:cNvGrpSpPr>
          <p:nvPr/>
        </p:nvGrpSpPr>
        <p:grpSpPr bwMode="auto">
          <a:xfrm>
            <a:off x="3464617" y="2840754"/>
            <a:ext cx="286723" cy="306425"/>
            <a:chOff x="2053" y="1743"/>
            <a:chExt cx="178" cy="193"/>
          </a:xfrm>
        </p:grpSpPr>
        <p:pic>
          <p:nvPicPr>
            <p:cNvPr id="140" name="Picture 239" descr="젤리원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053" y="1758"/>
              <a:ext cx="178" cy="1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1" name="Text Box 240"/>
            <p:cNvSpPr txBox="1">
              <a:spLocks noChangeArrowheads="1"/>
            </p:cNvSpPr>
            <p:nvPr/>
          </p:nvSpPr>
          <p:spPr bwMode="auto">
            <a:xfrm>
              <a:off x="2118" y="1743"/>
              <a:ext cx="44" cy="17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45715" rIns="0" bIns="45715">
              <a:spAutoFit/>
            </a:bodyPr>
            <a:lstStyle/>
            <a:p>
              <a:pPr algn="ctr" latinLnBrk="0">
                <a:lnSpc>
                  <a:spcPct val="130000"/>
                </a:lnSpc>
              </a:pPr>
              <a:r>
                <a:rPr lang="en-US" altLang="ko-KR" sz="1000" b="0" i="1" dirty="0" smtClean="0">
                  <a:latin typeface="맑은 고딕" pitchFamily="50" charset="-127"/>
                  <a:ea typeface="맑은 고딕" pitchFamily="50" charset="-127"/>
                </a:rPr>
                <a:t>4</a:t>
              </a:r>
              <a:endParaRPr lang="en-US" altLang="ko-KR" sz="1000" b="0" i="1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42" name="Text Box 269"/>
          <p:cNvSpPr txBox="1">
            <a:spLocks noChangeArrowheads="1"/>
          </p:cNvSpPr>
          <p:nvPr/>
        </p:nvSpPr>
        <p:spPr bwMode="auto">
          <a:xfrm>
            <a:off x="6480044" y="2222018"/>
            <a:ext cx="1232265" cy="1857602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marL="104775" indent="-104775" algn="ctr" defTabSz="1076325">
              <a:buClr>
                <a:srgbClr val="808080"/>
              </a:buClr>
              <a:buSzPct val="90000"/>
              <a:defRPr/>
            </a:pPr>
            <a:endParaRPr lang="ko-KR" altLang="en-US" sz="10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3" name="Text Box 236"/>
          <p:cNvSpPr txBox="1">
            <a:spLocks noChangeArrowheads="1"/>
          </p:cNvSpPr>
          <p:nvPr/>
        </p:nvSpPr>
        <p:spPr bwMode="auto">
          <a:xfrm>
            <a:off x="6480044" y="2250597"/>
            <a:ext cx="349544" cy="246092"/>
          </a:xfrm>
          <a:prstGeom prst="rect">
            <a:avLst/>
          </a:prstGeom>
          <a:noFill/>
          <a:ln w="19050" algn="ctr">
            <a:noFill/>
            <a:miter lim="800000"/>
            <a:headEnd type="none" w="med" len="sm"/>
            <a:tailEnd type="none" w="med" len="sm"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PC</a:t>
            </a:r>
          </a:p>
        </p:txBody>
      </p:sp>
      <p:cxnSp>
        <p:nvCxnSpPr>
          <p:cNvPr id="144" name="AutoShape 125"/>
          <p:cNvCxnSpPr>
            <a:cxnSpLocks noChangeShapeType="1"/>
          </p:cNvCxnSpPr>
          <p:nvPr/>
        </p:nvCxnSpPr>
        <p:spPr bwMode="auto">
          <a:xfrm>
            <a:off x="5929149" y="2680861"/>
            <a:ext cx="731305" cy="0"/>
          </a:xfrm>
          <a:prstGeom prst="straightConnector1">
            <a:avLst/>
          </a:prstGeom>
          <a:noFill/>
          <a:ln w="19050">
            <a:solidFill>
              <a:srgbClr val="808080"/>
            </a:solidFill>
            <a:round/>
            <a:headEnd type="none" w="med" len="sm"/>
            <a:tailEnd type="triangle" w="med" len="sm"/>
          </a:ln>
        </p:spPr>
      </p:cxnSp>
      <p:sp>
        <p:nvSpPr>
          <p:cNvPr id="145" name="Text Box 269"/>
          <p:cNvSpPr txBox="1">
            <a:spLocks noChangeArrowheads="1"/>
          </p:cNvSpPr>
          <p:nvPr/>
        </p:nvSpPr>
        <p:spPr bwMode="auto">
          <a:xfrm>
            <a:off x="8074741" y="2222018"/>
            <a:ext cx="1232265" cy="1833786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marL="104775" indent="-104775" algn="ctr" defTabSz="1076325">
              <a:buClr>
                <a:srgbClr val="808080"/>
              </a:buClr>
              <a:buSzPct val="90000"/>
              <a:defRPr/>
            </a:pPr>
            <a:endParaRPr lang="ko-KR" altLang="en-US" sz="10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6" name="Text Box 236"/>
          <p:cNvSpPr txBox="1">
            <a:spLocks noChangeArrowheads="1"/>
          </p:cNvSpPr>
          <p:nvPr/>
        </p:nvSpPr>
        <p:spPr bwMode="auto">
          <a:xfrm>
            <a:off x="8077962" y="2247421"/>
            <a:ext cx="523511" cy="246092"/>
          </a:xfrm>
          <a:prstGeom prst="rect">
            <a:avLst/>
          </a:prstGeom>
          <a:noFill/>
          <a:ln w="19050" algn="ctr">
            <a:noFill/>
            <a:miter lim="800000"/>
            <a:headEnd type="none" w="med" len="sm"/>
            <a:tailEnd type="none" w="med" len="sm"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Sever</a:t>
            </a:r>
          </a:p>
        </p:txBody>
      </p:sp>
      <p:cxnSp>
        <p:nvCxnSpPr>
          <p:cNvPr id="147" name="AutoShape 216"/>
          <p:cNvCxnSpPr>
            <a:cxnSpLocks noChangeShapeType="1"/>
            <a:stCxn id="195" idx="2"/>
            <a:endCxn id="157" idx="0"/>
          </p:cNvCxnSpPr>
          <p:nvPr/>
        </p:nvCxnSpPr>
        <p:spPr bwMode="auto">
          <a:xfrm rot="5400000">
            <a:off x="8494218" y="3405621"/>
            <a:ext cx="423915" cy="3222"/>
          </a:xfrm>
          <a:prstGeom prst="straightConnector1">
            <a:avLst/>
          </a:prstGeom>
          <a:noFill/>
          <a:ln w="19050">
            <a:solidFill>
              <a:srgbClr val="808080"/>
            </a:solidFill>
            <a:round/>
            <a:headEnd type="none" w="med" len="sm"/>
            <a:tailEnd type="triangle" w="med" len="sm"/>
          </a:ln>
        </p:spPr>
      </p:cxnSp>
      <p:grpSp>
        <p:nvGrpSpPr>
          <p:cNvPr id="148" name="그룹 211"/>
          <p:cNvGrpSpPr>
            <a:grpSpLocks/>
          </p:cNvGrpSpPr>
          <p:nvPr/>
        </p:nvGrpSpPr>
        <p:grpSpPr bwMode="auto">
          <a:xfrm>
            <a:off x="5175292" y="2222018"/>
            <a:ext cx="913326" cy="1101860"/>
            <a:chOff x="5238752" y="3213100"/>
            <a:chExt cx="900112" cy="1101725"/>
          </a:xfrm>
        </p:grpSpPr>
        <p:sp>
          <p:nvSpPr>
            <p:cNvPr id="149" name="Rectangle 11" descr="밝은 상향 대각선"/>
            <p:cNvSpPr>
              <a:spLocks noChangeArrowheads="1"/>
            </p:cNvSpPr>
            <p:nvPr/>
          </p:nvSpPr>
          <p:spPr bwMode="auto">
            <a:xfrm>
              <a:off x="5238752" y="3235325"/>
              <a:ext cx="900112" cy="1079500"/>
            </a:xfrm>
            <a:prstGeom prst="rect">
              <a:avLst/>
            </a:prstGeom>
            <a:pattFill prst="ltUpDiag">
              <a:fgClr>
                <a:srgbClr val="DDDDDD"/>
              </a:fgClr>
              <a:bgClr>
                <a:schemeClr val="bg1"/>
              </a:bgClr>
            </a:pattFill>
            <a:ln w="12700" algn="ctr">
              <a:pattFill prst="pct5">
                <a:fgClr>
                  <a:srgbClr val="6C7072"/>
                </a:fgClr>
                <a:bgClr>
                  <a:srgbClr val="A0AFBC"/>
                </a:bgClr>
              </a:patt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en-US" sz="1000" b="0"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150" name="Group 25"/>
            <p:cNvGrpSpPr>
              <a:grpSpLocks noChangeAspect="1"/>
            </p:cNvGrpSpPr>
            <p:nvPr/>
          </p:nvGrpSpPr>
          <p:grpSpPr bwMode="auto">
            <a:xfrm>
              <a:off x="5338764" y="3602038"/>
              <a:ext cx="719138" cy="588962"/>
              <a:chOff x="643" y="1684"/>
              <a:chExt cx="619" cy="524"/>
            </a:xfrm>
          </p:grpSpPr>
          <p:pic>
            <p:nvPicPr>
              <p:cNvPr id="152" name="Picture 26" descr="워크스테이션2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748" y="1684"/>
                <a:ext cx="514" cy="5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53" name="Picture 27" descr="사용자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643" y="1900"/>
                <a:ext cx="280" cy="3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151" name="Rectangle 97" descr="o1"/>
            <p:cNvSpPr>
              <a:spLocks noChangeArrowheads="1"/>
            </p:cNvSpPr>
            <p:nvPr/>
          </p:nvSpPr>
          <p:spPr bwMode="auto">
            <a:xfrm>
              <a:off x="5238752" y="3213100"/>
              <a:ext cx="900112" cy="284162"/>
            </a:xfrm>
            <a:prstGeom prst="rect">
              <a:avLst/>
            </a:prstGeom>
            <a:blipFill dpi="0" rotWithShape="0">
              <a:blip r:embed="rId5" cstate="print">
                <a:lum bright="-6000"/>
              </a:blip>
              <a:srcRect/>
              <a:stretch>
                <a:fillRect/>
              </a:stretch>
            </a:blipFill>
            <a:ln w="6350" algn="ctr">
              <a:solidFill>
                <a:srgbClr val="C0C0C0"/>
              </a:solidFill>
              <a:miter lim="800000"/>
              <a:headEnd/>
              <a:tailEnd/>
            </a:ln>
            <a:effectLst>
              <a:outerShdw dist="17961" dir="2700000" algn="ctr" rotWithShape="0">
                <a:srgbClr val="C0C0C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algn="ctr" latinLnBrk="0">
                <a:lnSpc>
                  <a:spcPct val="110000"/>
                </a:lnSpc>
                <a:defRPr/>
              </a:pPr>
              <a:r>
                <a:rPr lang="ko-KR" altLang="en-US" sz="1000" b="0">
                  <a:latin typeface="맑은 고딕" pitchFamily="50" charset="-127"/>
                  <a:ea typeface="맑은 고딕" pitchFamily="50" charset="-127"/>
                </a:rPr>
                <a:t>사용자 화면</a:t>
              </a:r>
            </a:p>
          </p:txBody>
        </p:sp>
      </p:grpSp>
      <p:cxnSp>
        <p:nvCxnSpPr>
          <p:cNvPr id="154" name="AutoShape 125"/>
          <p:cNvCxnSpPr>
            <a:cxnSpLocks noChangeShapeType="1"/>
          </p:cNvCxnSpPr>
          <p:nvPr/>
        </p:nvCxnSpPr>
        <p:spPr bwMode="auto">
          <a:xfrm>
            <a:off x="7349879" y="2680861"/>
            <a:ext cx="731305" cy="0"/>
          </a:xfrm>
          <a:prstGeom prst="straightConnector1">
            <a:avLst/>
          </a:prstGeom>
          <a:noFill/>
          <a:ln w="19050">
            <a:solidFill>
              <a:srgbClr val="808080"/>
            </a:solidFill>
            <a:round/>
            <a:headEnd type="none" w="med" len="sm"/>
            <a:tailEnd type="triangle" w="med" len="sm"/>
          </a:ln>
        </p:spPr>
      </p:cxnSp>
      <p:cxnSp>
        <p:nvCxnSpPr>
          <p:cNvPr id="155" name="AutoShape 125"/>
          <p:cNvCxnSpPr>
            <a:cxnSpLocks noChangeShapeType="1"/>
          </p:cNvCxnSpPr>
          <p:nvPr/>
        </p:nvCxnSpPr>
        <p:spPr bwMode="auto">
          <a:xfrm>
            <a:off x="6083786" y="3019040"/>
            <a:ext cx="731305" cy="0"/>
          </a:xfrm>
          <a:prstGeom prst="straightConnector1">
            <a:avLst/>
          </a:prstGeom>
          <a:noFill/>
          <a:ln w="19050">
            <a:solidFill>
              <a:srgbClr val="808080"/>
            </a:solidFill>
            <a:round/>
            <a:headEnd type="triangle" w="med" len="sm"/>
            <a:tailEnd type="none" w="med" len="sm"/>
          </a:ln>
        </p:spPr>
      </p:cxnSp>
      <p:sp>
        <p:nvSpPr>
          <p:cNvPr id="156" name="AutoShape 79"/>
          <p:cNvSpPr>
            <a:spLocks noChangeArrowheads="1"/>
          </p:cNvSpPr>
          <p:nvPr/>
        </p:nvSpPr>
        <p:spPr bwMode="auto">
          <a:xfrm>
            <a:off x="6671729" y="2536381"/>
            <a:ext cx="844062" cy="625551"/>
          </a:xfrm>
          <a:prstGeom prst="roundRect">
            <a:avLst>
              <a:gd name="adj" fmla="val 16667"/>
            </a:avLst>
          </a:prstGeom>
          <a:solidFill>
            <a:srgbClr val="CDE9EB"/>
          </a:solidFill>
          <a:ln w="9525" algn="ctr">
            <a:solidFill>
              <a:schemeClr val="hlink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latinLnBrk="0">
              <a:defRPr/>
            </a:pPr>
            <a:r>
              <a:rPr lang="en-US" altLang="ko-KR" sz="1000" b="0">
                <a:latin typeface="맑은 고딕" pitchFamily="50" charset="-127"/>
                <a:ea typeface="맑은 고딕" pitchFamily="50" charset="-127"/>
              </a:rPr>
              <a:t>Internet</a:t>
            </a:r>
          </a:p>
          <a:p>
            <a:pPr algn="ctr" latinLnBrk="0">
              <a:defRPr/>
            </a:pPr>
            <a:r>
              <a:rPr lang="en-US" altLang="ko-KR" sz="1000" b="0">
                <a:latin typeface="맑은 고딕" pitchFamily="50" charset="-127"/>
                <a:ea typeface="맑은 고딕" pitchFamily="50" charset="-127"/>
              </a:rPr>
              <a:t>Browser</a:t>
            </a:r>
            <a:endParaRPr lang="ko-KR" altLang="en-US" sz="10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7" name="AutoShape 37"/>
          <p:cNvSpPr>
            <a:spLocks noChangeArrowheads="1"/>
          </p:cNvSpPr>
          <p:nvPr/>
        </p:nvSpPr>
        <p:spPr bwMode="auto">
          <a:xfrm>
            <a:off x="8248708" y="3619189"/>
            <a:ext cx="913326" cy="360406"/>
          </a:xfrm>
          <a:prstGeom prst="roundRect">
            <a:avLst>
              <a:gd name="adj" fmla="val 16667"/>
            </a:avLst>
          </a:prstGeom>
          <a:solidFill>
            <a:srgbClr val="EAEAEA"/>
          </a:solidFill>
          <a:ln w="9525" algn="ctr">
            <a:solidFill>
              <a:schemeClr val="bg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 latinLnBrk="0">
              <a:defRPr/>
            </a:pPr>
            <a:r>
              <a:rPr lang="en-US" altLang="ko-KR" sz="1000" b="0" dirty="0" err="1" smtClean="0">
                <a:latin typeface="맑은 고딕" pitchFamily="50" charset="-127"/>
                <a:ea typeface="맑은 고딕" pitchFamily="50" charset="-127"/>
              </a:rPr>
              <a:t>Jsp</a:t>
            </a:r>
            <a:r>
              <a:rPr lang="en-US" altLang="ko-KR" sz="1000" b="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en-US" altLang="ko-KR" sz="1000" b="0" dirty="0" err="1" smtClean="0">
                <a:latin typeface="맑은 고딕" pitchFamily="50" charset="-127"/>
                <a:ea typeface="맑은 고딕" pitchFamily="50" charset="-127"/>
              </a:rPr>
              <a:t>vm</a:t>
            </a:r>
            <a:endParaRPr lang="en-US" altLang="ko-KR" sz="1000" b="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58" name="꺾인 연결선 243"/>
          <p:cNvCxnSpPr>
            <a:cxnSpLocks noChangeShapeType="1"/>
            <a:stCxn id="157" idx="1"/>
            <a:endCxn id="156" idx="2"/>
          </p:cNvCxnSpPr>
          <p:nvPr/>
        </p:nvCxnSpPr>
        <p:spPr bwMode="auto">
          <a:xfrm rot="10800000">
            <a:off x="7093760" y="3161933"/>
            <a:ext cx="1154948" cy="638253"/>
          </a:xfrm>
          <a:prstGeom prst="bentConnector2">
            <a:avLst/>
          </a:prstGeom>
          <a:noFill/>
          <a:ln w="19050">
            <a:solidFill>
              <a:srgbClr val="808080"/>
            </a:solidFill>
            <a:round/>
            <a:headEnd type="none" w="med" len="sm"/>
            <a:tailEnd type="triangle" w="med" len="med"/>
          </a:ln>
        </p:spPr>
      </p:cxnSp>
      <p:grpSp>
        <p:nvGrpSpPr>
          <p:cNvPr id="159" name="Group 138"/>
          <p:cNvGrpSpPr>
            <a:grpSpLocks/>
          </p:cNvGrpSpPr>
          <p:nvPr/>
        </p:nvGrpSpPr>
        <p:grpSpPr bwMode="auto">
          <a:xfrm>
            <a:off x="6219094" y="2507803"/>
            <a:ext cx="286723" cy="306424"/>
            <a:chOff x="2053" y="1743"/>
            <a:chExt cx="178" cy="193"/>
          </a:xfrm>
        </p:grpSpPr>
        <p:pic>
          <p:nvPicPr>
            <p:cNvPr id="160" name="Picture 130" descr="젤리원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053" y="1758"/>
              <a:ext cx="178" cy="1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1" name="Text Box 131"/>
            <p:cNvSpPr txBox="1">
              <a:spLocks noChangeArrowheads="1"/>
            </p:cNvSpPr>
            <p:nvPr/>
          </p:nvSpPr>
          <p:spPr bwMode="auto">
            <a:xfrm>
              <a:off x="2118" y="1743"/>
              <a:ext cx="44" cy="18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45715" rIns="0" bIns="45715">
              <a:spAutoFit/>
            </a:bodyPr>
            <a:lstStyle/>
            <a:p>
              <a:pPr algn="ctr" latinLnBrk="0">
                <a:lnSpc>
                  <a:spcPct val="130000"/>
                </a:lnSpc>
              </a:pPr>
              <a:r>
                <a:rPr lang="en-US" altLang="ko-KR" sz="1000" b="0" i="1">
                  <a:latin typeface="맑은 고딕" pitchFamily="50" charset="-127"/>
                  <a:ea typeface="맑은 고딕" pitchFamily="50" charset="-127"/>
                </a:rPr>
                <a:t>1</a:t>
              </a:r>
            </a:p>
          </p:txBody>
        </p:sp>
      </p:grpSp>
      <p:grpSp>
        <p:nvGrpSpPr>
          <p:cNvPr id="162" name="Group 188"/>
          <p:cNvGrpSpPr>
            <a:grpSpLocks/>
          </p:cNvGrpSpPr>
          <p:nvPr/>
        </p:nvGrpSpPr>
        <p:grpSpPr bwMode="auto">
          <a:xfrm>
            <a:off x="7680093" y="2517329"/>
            <a:ext cx="286723" cy="306424"/>
            <a:chOff x="2053" y="1743"/>
            <a:chExt cx="178" cy="193"/>
          </a:xfrm>
        </p:grpSpPr>
        <p:pic>
          <p:nvPicPr>
            <p:cNvPr id="163" name="Picture 189" descr="젤리원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053" y="1758"/>
              <a:ext cx="178" cy="1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4" name="Text Box 190"/>
            <p:cNvSpPr txBox="1">
              <a:spLocks noChangeArrowheads="1"/>
            </p:cNvSpPr>
            <p:nvPr/>
          </p:nvSpPr>
          <p:spPr bwMode="auto">
            <a:xfrm>
              <a:off x="2118" y="1743"/>
              <a:ext cx="44" cy="18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45715" rIns="0" bIns="45715">
              <a:spAutoFit/>
            </a:bodyPr>
            <a:lstStyle/>
            <a:p>
              <a:pPr algn="ctr" latinLnBrk="0">
                <a:lnSpc>
                  <a:spcPct val="130000"/>
                </a:lnSpc>
              </a:pPr>
              <a:r>
                <a:rPr lang="en-US" altLang="ko-KR" sz="1000" b="0" i="1">
                  <a:latin typeface="맑은 고딕" pitchFamily="50" charset="-127"/>
                  <a:ea typeface="맑은 고딕" pitchFamily="50" charset="-127"/>
                </a:rPr>
                <a:t>2</a:t>
              </a:r>
            </a:p>
          </p:txBody>
        </p:sp>
      </p:grpSp>
      <p:grpSp>
        <p:nvGrpSpPr>
          <p:cNvPr id="165" name="Group 191"/>
          <p:cNvGrpSpPr>
            <a:grpSpLocks/>
          </p:cNvGrpSpPr>
          <p:nvPr/>
        </p:nvGrpSpPr>
        <p:grpSpPr bwMode="auto">
          <a:xfrm>
            <a:off x="8548317" y="3225441"/>
            <a:ext cx="286723" cy="306424"/>
            <a:chOff x="2053" y="2019"/>
            <a:chExt cx="178" cy="193"/>
          </a:xfrm>
        </p:grpSpPr>
        <p:pic>
          <p:nvPicPr>
            <p:cNvPr id="166" name="Picture 192" descr="젤리원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053" y="2034"/>
              <a:ext cx="178" cy="1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7" name="Text Box 193"/>
            <p:cNvSpPr txBox="1">
              <a:spLocks noChangeArrowheads="1"/>
            </p:cNvSpPr>
            <p:nvPr/>
          </p:nvSpPr>
          <p:spPr bwMode="auto">
            <a:xfrm>
              <a:off x="2118" y="2019"/>
              <a:ext cx="44" cy="18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45715" rIns="0" bIns="45715">
              <a:spAutoFit/>
            </a:bodyPr>
            <a:lstStyle/>
            <a:p>
              <a:pPr algn="ctr" latinLnBrk="0">
                <a:lnSpc>
                  <a:spcPct val="130000"/>
                </a:lnSpc>
              </a:pPr>
              <a:r>
                <a:rPr lang="en-US" altLang="ko-KR" sz="1000" b="0" i="1">
                  <a:latin typeface="맑은 고딕" pitchFamily="50" charset="-127"/>
                  <a:ea typeface="맑은 고딕" pitchFamily="50" charset="-127"/>
                </a:rPr>
                <a:t>3</a:t>
              </a:r>
            </a:p>
          </p:txBody>
        </p:sp>
      </p:grpSp>
      <p:grpSp>
        <p:nvGrpSpPr>
          <p:cNvPr id="168" name="Group 185"/>
          <p:cNvGrpSpPr>
            <a:grpSpLocks/>
          </p:cNvGrpSpPr>
          <p:nvPr/>
        </p:nvGrpSpPr>
        <p:grpSpPr bwMode="auto">
          <a:xfrm>
            <a:off x="6950399" y="3368333"/>
            <a:ext cx="286723" cy="306424"/>
            <a:chOff x="2053" y="2019"/>
            <a:chExt cx="178" cy="193"/>
          </a:xfrm>
        </p:grpSpPr>
        <p:pic>
          <p:nvPicPr>
            <p:cNvPr id="169" name="Picture 134" descr="젤리원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053" y="2034"/>
              <a:ext cx="178" cy="1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0" name="Text Box 135"/>
            <p:cNvSpPr txBox="1">
              <a:spLocks noChangeArrowheads="1"/>
            </p:cNvSpPr>
            <p:nvPr/>
          </p:nvSpPr>
          <p:spPr bwMode="auto">
            <a:xfrm>
              <a:off x="2118" y="2019"/>
              <a:ext cx="44" cy="18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45715" rIns="0" bIns="45715">
              <a:spAutoFit/>
            </a:bodyPr>
            <a:lstStyle/>
            <a:p>
              <a:pPr algn="ctr" latinLnBrk="0">
                <a:lnSpc>
                  <a:spcPct val="130000"/>
                </a:lnSpc>
              </a:pPr>
              <a:r>
                <a:rPr lang="en-US" altLang="ko-KR" sz="1000" b="0" i="1">
                  <a:latin typeface="맑은 고딕" pitchFamily="50" charset="-127"/>
                  <a:ea typeface="맑은 고딕" pitchFamily="50" charset="-127"/>
                </a:rPr>
                <a:t>4</a:t>
              </a:r>
            </a:p>
          </p:txBody>
        </p:sp>
      </p:grpSp>
      <p:grpSp>
        <p:nvGrpSpPr>
          <p:cNvPr id="171" name="Group 244"/>
          <p:cNvGrpSpPr>
            <a:grpSpLocks/>
          </p:cNvGrpSpPr>
          <p:nvPr/>
        </p:nvGrpSpPr>
        <p:grpSpPr bwMode="auto">
          <a:xfrm>
            <a:off x="6228758" y="2842806"/>
            <a:ext cx="286723" cy="306425"/>
            <a:chOff x="2053" y="1743"/>
            <a:chExt cx="178" cy="193"/>
          </a:xfrm>
        </p:grpSpPr>
        <p:pic>
          <p:nvPicPr>
            <p:cNvPr id="172" name="Picture 245" descr="젤리원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053" y="1758"/>
              <a:ext cx="178" cy="1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3" name="Text Box 246"/>
            <p:cNvSpPr txBox="1">
              <a:spLocks noChangeArrowheads="1"/>
            </p:cNvSpPr>
            <p:nvPr/>
          </p:nvSpPr>
          <p:spPr bwMode="auto">
            <a:xfrm>
              <a:off x="2118" y="1743"/>
              <a:ext cx="44" cy="18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45715" rIns="0" bIns="45715">
              <a:spAutoFit/>
            </a:bodyPr>
            <a:lstStyle/>
            <a:p>
              <a:pPr algn="ctr" latinLnBrk="0">
                <a:lnSpc>
                  <a:spcPct val="130000"/>
                </a:lnSpc>
              </a:pPr>
              <a:r>
                <a:rPr lang="en-US" altLang="ko-KR" sz="1000" b="0" i="1">
                  <a:latin typeface="맑은 고딕" pitchFamily="50" charset="-127"/>
                  <a:ea typeface="맑은 고딕" pitchFamily="50" charset="-127"/>
                </a:rPr>
                <a:t>5</a:t>
              </a:r>
            </a:p>
          </p:txBody>
        </p:sp>
      </p:grpSp>
      <p:sp>
        <p:nvSpPr>
          <p:cNvPr id="174" name="Rectangle 9"/>
          <p:cNvSpPr>
            <a:spLocks noChangeArrowheads="1"/>
          </p:cNvSpPr>
          <p:nvPr/>
        </p:nvSpPr>
        <p:spPr bwMode="auto">
          <a:xfrm>
            <a:off x="5246167" y="4174882"/>
            <a:ext cx="4017347" cy="269908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180000" tIns="0" rIns="36000" bIns="0" anchor="ctr"/>
          <a:lstStyle/>
          <a:p>
            <a:pPr marL="265113" algn="ctr">
              <a:defRPr/>
            </a:pPr>
            <a:r>
              <a:rPr lang="ko-KR" altLang="en-US" sz="1000" b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사용자가 </a:t>
            </a:r>
            <a:r>
              <a:rPr lang="en-US" altLang="ko-KR" sz="1000" b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Change Language </a:t>
            </a:r>
            <a:r>
              <a:rPr lang="ko-KR" altLang="en-US" sz="1000" b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요청</a:t>
            </a:r>
          </a:p>
        </p:txBody>
      </p:sp>
      <p:sp>
        <p:nvSpPr>
          <p:cNvPr id="175" name="Rectangle 10"/>
          <p:cNvSpPr>
            <a:spLocks noChangeArrowheads="1"/>
          </p:cNvSpPr>
          <p:nvPr/>
        </p:nvSpPr>
        <p:spPr bwMode="auto">
          <a:xfrm>
            <a:off x="5233281" y="4176469"/>
            <a:ext cx="449414" cy="269908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b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</a:t>
            </a:r>
          </a:p>
        </p:txBody>
      </p:sp>
      <p:sp>
        <p:nvSpPr>
          <p:cNvPr id="176" name="Rectangle 11"/>
          <p:cNvSpPr>
            <a:spLocks noChangeArrowheads="1"/>
          </p:cNvSpPr>
          <p:nvPr/>
        </p:nvSpPr>
        <p:spPr bwMode="auto">
          <a:xfrm>
            <a:off x="5246167" y="4490832"/>
            <a:ext cx="4017347" cy="269908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180000" tIns="0" rIns="36000" bIns="0" anchor="ctr"/>
          <a:lstStyle/>
          <a:p>
            <a:pPr marL="265113" algn="ctr">
              <a:defRPr/>
            </a:pPr>
            <a:r>
              <a:rPr lang="en-US" altLang="ko-KR" sz="1000" b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Server</a:t>
            </a:r>
            <a:r>
              <a:rPr lang="ko-KR" altLang="en-US" sz="1000" b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에 사용자가 선택한 다국어 요청</a:t>
            </a:r>
          </a:p>
        </p:txBody>
      </p:sp>
      <p:sp>
        <p:nvSpPr>
          <p:cNvPr id="177" name="Rectangle 12"/>
          <p:cNvSpPr>
            <a:spLocks noChangeArrowheads="1"/>
          </p:cNvSpPr>
          <p:nvPr/>
        </p:nvSpPr>
        <p:spPr bwMode="auto">
          <a:xfrm>
            <a:off x="5233281" y="4492420"/>
            <a:ext cx="449414" cy="269908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b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2</a:t>
            </a:r>
          </a:p>
        </p:txBody>
      </p:sp>
      <p:sp>
        <p:nvSpPr>
          <p:cNvPr id="178" name="Rectangle 13"/>
          <p:cNvSpPr>
            <a:spLocks noChangeArrowheads="1"/>
          </p:cNvSpPr>
          <p:nvPr/>
        </p:nvSpPr>
        <p:spPr bwMode="auto">
          <a:xfrm>
            <a:off x="5246167" y="4806784"/>
            <a:ext cx="4017347" cy="269908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180000" tIns="0" rIns="36000" bIns="0" anchor="ctr"/>
          <a:lstStyle/>
          <a:p>
            <a:pPr marL="265113" algn="ctr">
              <a:defRPr/>
            </a:pPr>
            <a:r>
              <a:rPr lang="ko-KR" altLang="en-US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해당 다국어 </a:t>
            </a:r>
            <a:r>
              <a:rPr lang="en-US" altLang="ko-KR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properties </a:t>
            </a:r>
            <a:r>
              <a:rPr lang="ko-KR" altLang="en-US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파일로 변환되어 </a:t>
            </a:r>
            <a:r>
              <a:rPr lang="en-US" altLang="ko-KR" sz="1000" b="0" dirty="0" err="1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jsp</a:t>
            </a:r>
            <a:r>
              <a:rPr lang="ko-KR" altLang="en-US" sz="1000" b="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에 </a:t>
            </a:r>
            <a:r>
              <a:rPr lang="ko-KR" altLang="en-US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반영</a:t>
            </a:r>
          </a:p>
        </p:txBody>
      </p:sp>
      <p:sp>
        <p:nvSpPr>
          <p:cNvPr id="179" name="Rectangle 14"/>
          <p:cNvSpPr>
            <a:spLocks noChangeArrowheads="1"/>
          </p:cNvSpPr>
          <p:nvPr/>
        </p:nvSpPr>
        <p:spPr bwMode="auto">
          <a:xfrm>
            <a:off x="5233281" y="4808371"/>
            <a:ext cx="449414" cy="269908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b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3</a:t>
            </a:r>
          </a:p>
        </p:txBody>
      </p:sp>
      <p:sp>
        <p:nvSpPr>
          <p:cNvPr id="180" name="Rectangle 13"/>
          <p:cNvSpPr>
            <a:spLocks noChangeArrowheads="1"/>
          </p:cNvSpPr>
          <p:nvPr/>
        </p:nvSpPr>
        <p:spPr bwMode="auto">
          <a:xfrm>
            <a:off x="5246167" y="5122735"/>
            <a:ext cx="4017347" cy="269908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180000" tIns="0" rIns="36000" bIns="0" anchor="ctr"/>
          <a:lstStyle/>
          <a:p>
            <a:pPr marL="265113" algn="ctr">
              <a:defRPr/>
            </a:pPr>
            <a:r>
              <a:rPr lang="en-US" altLang="ko-KR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사용자가 선택한 다국어로 변환된 코드로 </a:t>
            </a:r>
            <a:r>
              <a:rPr lang="en-US" altLang="ko-KR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PC</a:t>
            </a:r>
            <a:r>
              <a:rPr lang="ko-KR" altLang="en-US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에 전달</a:t>
            </a:r>
          </a:p>
        </p:txBody>
      </p:sp>
      <p:sp>
        <p:nvSpPr>
          <p:cNvPr id="181" name="Rectangle 14"/>
          <p:cNvSpPr>
            <a:spLocks noChangeArrowheads="1"/>
          </p:cNvSpPr>
          <p:nvPr/>
        </p:nvSpPr>
        <p:spPr bwMode="auto">
          <a:xfrm>
            <a:off x="5233281" y="5124323"/>
            <a:ext cx="449414" cy="269908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b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4</a:t>
            </a:r>
          </a:p>
        </p:txBody>
      </p:sp>
      <p:sp>
        <p:nvSpPr>
          <p:cNvPr id="182" name="Rectangle 13"/>
          <p:cNvSpPr>
            <a:spLocks noChangeArrowheads="1"/>
          </p:cNvSpPr>
          <p:nvPr/>
        </p:nvSpPr>
        <p:spPr bwMode="auto">
          <a:xfrm>
            <a:off x="5246167" y="5438686"/>
            <a:ext cx="4017347" cy="269908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180000" tIns="0" rIns="36000" bIns="0" anchor="ctr"/>
          <a:lstStyle/>
          <a:p>
            <a:pPr marL="265113" algn="ctr">
              <a:defRPr/>
            </a:pPr>
            <a:r>
              <a:rPr lang="ko-KR" altLang="en-US" sz="1000" b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사용자 </a:t>
            </a:r>
            <a:r>
              <a:rPr lang="en-US" altLang="ko-KR" sz="1000" b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Internet Browser </a:t>
            </a:r>
            <a:r>
              <a:rPr lang="ko-KR" altLang="en-US" sz="1000" b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에 선택한 다국어로 </a:t>
            </a:r>
            <a:r>
              <a:rPr lang="en-US" altLang="ko-KR" sz="1000" b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Display</a:t>
            </a:r>
            <a:endParaRPr lang="ko-KR" altLang="en-US" sz="1000" b="0">
              <a:solidFill>
                <a:srgbClr val="333333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3" name="Rectangle 14"/>
          <p:cNvSpPr>
            <a:spLocks noChangeArrowheads="1"/>
          </p:cNvSpPr>
          <p:nvPr/>
        </p:nvSpPr>
        <p:spPr bwMode="auto">
          <a:xfrm>
            <a:off x="5233281" y="5440273"/>
            <a:ext cx="449414" cy="269908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b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5</a:t>
            </a:r>
          </a:p>
        </p:txBody>
      </p:sp>
      <p:sp>
        <p:nvSpPr>
          <p:cNvPr id="184" name="Rectangle 9"/>
          <p:cNvSpPr>
            <a:spLocks noChangeArrowheads="1"/>
          </p:cNvSpPr>
          <p:nvPr/>
        </p:nvSpPr>
        <p:spPr bwMode="auto">
          <a:xfrm>
            <a:off x="681147" y="4494008"/>
            <a:ext cx="4017347" cy="269908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180000" tIns="0" rIns="36000" bIns="0" anchor="ctr"/>
          <a:lstStyle/>
          <a:p>
            <a:pPr marL="265113" algn="ctr">
              <a:defRPr/>
            </a:pPr>
            <a:r>
              <a:rPr lang="ko-KR" altLang="en-US" sz="1000" b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다국어 관리화면에서 다국어 </a:t>
            </a:r>
            <a:r>
              <a:rPr lang="en-US" altLang="ko-KR" sz="1000" b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properties</a:t>
            </a:r>
            <a:r>
              <a:rPr lang="ko-KR" altLang="en-US" sz="1000" b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생성 요청</a:t>
            </a:r>
          </a:p>
        </p:txBody>
      </p:sp>
      <p:sp>
        <p:nvSpPr>
          <p:cNvPr id="185" name="Rectangle 10"/>
          <p:cNvSpPr>
            <a:spLocks noChangeArrowheads="1"/>
          </p:cNvSpPr>
          <p:nvPr/>
        </p:nvSpPr>
        <p:spPr bwMode="auto">
          <a:xfrm>
            <a:off x="668260" y="4495596"/>
            <a:ext cx="449414" cy="269908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b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</a:t>
            </a:r>
          </a:p>
        </p:txBody>
      </p:sp>
      <p:sp>
        <p:nvSpPr>
          <p:cNvPr id="186" name="Rectangle 11"/>
          <p:cNvSpPr>
            <a:spLocks noChangeArrowheads="1"/>
          </p:cNvSpPr>
          <p:nvPr/>
        </p:nvSpPr>
        <p:spPr bwMode="auto">
          <a:xfrm>
            <a:off x="681147" y="4809959"/>
            <a:ext cx="4017347" cy="269908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180000" tIns="0" rIns="36000" bIns="0" anchor="ctr"/>
          <a:lstStyle/>
          <a:p>
            <a:pPr marL="265113" algn="ctr">
              <a:defRPr/>
            </a:pPr>
            <a:r>
              <a:rPr lang="ko-KR" altLang="en-US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다국어 </a:t>
            </a:r>
            <a:r>
              <a:rPr lang="en-US" altLang="ko-KR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Label/Message</a:t>
            </a:r>
            <a:r>
              <a:rPr lang="ko-KR" altLang="en-US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Data</a:t>
            </a:r>
            <a:r>
              <a:rPr lang="ko-KR" altLang="en-US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b="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Read</a:t>
            </a:r>
            <a:endParaRPr lang="ko-KR" altLang="en-US" sz="1000" b="0" dirty="0">
              <a:solidFill>
                <a:srgbClr val="333333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7" name="Rectangle 12"/>
          <p:cNvSpPr>
            <a:spLocks noChangeArrowheads="1"/>
          </p:cNvSpPr>
          <p:nvPr/>
        </p:nvSpPr>
        <p:spPr bwMode="auto">
          <a:xfrm>
            <a:off x="668260" y="4811546"/>
            <a:ext cx="449414" cy="269908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b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2</a:t>
            </a:r>
          </a:p>
        </p:txBody>
      </p:sp>
      <p:sp>
        <p:nvSpPr>
          <p:cNvPr id="188" name="Rectangle 13"/>
          <p:cNvSpPr>
            <a:spLocks noChangeArrowheads="1"/>
          </p:cNvSpPr>
          <p:nvPr/>
        </p:nvSpPr>
        <p:spPr bwMode="auto">
          <a:xfrm>
            <a:off x="681147" y="5125910"/>
            <a:ext cx="4017347" cy="269908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180000" tIns="0" rIns="36000" bIns="0" anchor="ctr"/>
          <a:lstStyle/>
          <a:p>
            <a:pPr marL="265113" algn="ctr">
              <a:defRPr/>
            </a:pPr>
            <a:r>
              <a:rPr lang="ko-KR" altLang="en-US" sz="1000" b="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b="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Language/Message Data</a:t>
            </a:r>
            <a:r>
              <a:rPr lang="ko-KR" altLang="en-US" sz="1000" b="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를 다국어 편집</a:t>
            </a:r>
            <a:r>
              <a:rPr lang="en-US" altLang="ko-KR" sz="1000" b="0" dirty="0" smtClean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lang="ko-KR" altLang="en-US" sz="1000" b="0" dirty="0">
              <a:solidFill>
                <a:srgbClr val="333333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9" name="Rectangle 14"/>
          <p:cNvSpPr>
            <a:spLocks noChangeArrowheads="1"/>
          </p:cNvSpPr>
          <p:nvPr/>
        </p:nvSpPr>
        <p:spPr bwMode="auto">
          <a:xfrm>
            <a:off x="668260" y="5127498"/>
            <a:ext cx="449414" cy="269908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b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3</a:t>
            </a:r>
          </a:p>
        </p:txBody>
      </p:sp>
      <p:sp>
        <p:nvSpPr>
          <p:cNvPr id="190" name="Rectangle 13"/>
          <p:cNvSpPr>
            <a:spLocks noChangeArrowheads="1"/>
          </p:cNvSpPr>
          <p:nvPr/>
        </p:nvSpPr>
        <p:spPr bwMode="auto">
          <a:xfrm>
            <a:off x="681147" y="5441862"/>
            <a:ext cx="4017347" cy="269908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7EA4C0"/>
            </a:solidFill>
            <a:miter lim="800000"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180000" tIns="0" rIns="36000" bIns="0" anchor="ctr"/>
          <a:lstStyle/>
          <a:p>
            <a:pPr marL="265113" algn="ctr">
              <a:defRPr/>
            </a:pPr>
            <a:r>
              <a:rPr lang="en-US" altLang="ko-KR" sz="1000" b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 Generator</a:t>
            </a:r>
            <a:r>
              <a:rPr lang="ko-KR" altLang="en-US" sz="1000" b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를 통해 </a:t>
            </a:r>
            <a:r>
              <a:rPr lang="en-US" altLang="ko-KR" sz="1000" b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Server</a:t>
            </a:r>
            <a:r>
              <a:rPr lang="ko-KR" altLang="en-US" sz="1000" b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에 다국어 </a:t>
            </a:r>
            <a:r>
              <a:rPr lang="en-US" altLang="ko-KR" sz="1000" b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properies File </a:t>
            </a:r>
            <a:r>
              <a:rPr lang="ko-KR" altLang="en-US" sz="1000" b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rPr>
              <a:t>생성</a:t>
            </a:r>
          </a:p>
        </p:txBody>
      </p:sp>
      <p:cxnSp>
        <p:nvCxnSpPr>
          <p:cNvPr id="116" name="AutoShape 229"/>
          <p:cNvCxnSpPr>
            <a:cxnSpLocks noChangeShapeType="1"/>
          </p:cNvCxnSpPr>
          <p:nvPr/>
        </p:nvCxnSpPr>
        <p:spPr bwMode="auto">
          <a:xfrm flipH="1" flipV="1">
            <a:off x="3126658" y="2722877"/>
            <a:ext cx="803482" cy="389"/>
          </a:xfrm>
          <a:prstGeom prst="straightConnector1">
            <a:avLst/>
          </a:prstGeom>
          <a:noFill/>
          <a:ln w="19050">
            <a:solidFill>
              <a:srgbClr val="808080"/>
            </a:solidFill>
            <a:round/>
            <a:headEnd type="none" w="med" len="sm"/>
            <a:tailEnd type="triangle" w="med" len="sm"/>
          </a:ln>
        </p:spPr>
      </p:cxnSp>
      <p:sp>
        <p:nvSpPr>
          <p:cNvPr id="191" name="Rectangle 14"/>
          <p:cNvSpPr>
            <a:spLocks noChangeArrowheads="1"/>
          </p:cNvSpPr>
          <p:nvPr/>
        </p:nvSpPr>
        <p:spPr bwMode="auto">
          <a:xfrm>
            <a:off x="668260" y="5443449"/>
            <a:ext cx="449414" cy="269908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b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4</a:t>
            </a:r>
          </a:p>
        </p:txBody>
      </p:sp>
      <p:grpSp>
        <p:nvGrpSpPr>
          <p:cNvPr id="192" name="그룹 173"/>
          <p:cNvGrpSpPr>
            <a:grpSpLocks/>
          </p:cNvGrpSpPr>
          <p:nvPr/>
        </p:nvGrpSpPr>
        <p:grpSpPr bwMode="auto">
          <a:xfrm>
            <a:off x="8205215" y="2531618"/>
            <a:ext cx="1005142" cy="663656"/>
            <a:chOff x="2190752" y="4051299"/>
            <a:chExt cx="990585" cy="663585"/>
          </a:xfrm>
        </p:grpSpPr>
        <p:sp>
          <p:nvSpPr>
            <p:cNvPr id="193" name="AutoShape 37"/>
            <p:cNvSpPr>
              <a:spLocks noChangeArrowheads="1"/>
            </p:cNvSpPr>
            <p:nvPr/>
          </p:nvSpPr>
          <p:spPr bwMode="auto">
            <a:xfrm>
              <a:off x="2190752" y="4051299"/>
              <a:ext cx="990585" cy="234957"/>
            </a:xfrm>
            <a:prstGeom prst="roundRect">
              <a:avLst>
                <a:gd name="adj" fmla="val 16667"/>
              </a:avLst>
            </a:prstGeom>
            <a:solidFill>
              <a:srgbClr val="CCFF66"/>
            </a:solidFill>
            <a:ln w="9525" algn="ctr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latinLnBrk="0"/>
              <a:r>
                <a:rPr lang="en-US" altLang="ko-KR" sz="1000" b="0">
                  <a:latin typeface="맑은 고딕" pitchFamily="50" charset="-127"/>
                  <a:ea typeface="맑은 고딕" pitchFamily="50" charset="-127"/>
                </a:rPr>
                <a:t>message_en</a:t>
              </a:r>
            </a:p>
          </p:txBody>
        </p:sp>
        <p:sp>
          <p:nvSpPr>
            <p:cNvPr id="194" name="AutoShape 37"/>
            <p:cNvSpPr>
              <a:spLocks noChangeArrowheads="1"/>
            </p:cNvSpPr>
            <p:nvPr/>
          </p:nvSpPr>
          <p:spPr bwMode="auto">
            <a:xfrm>
              <a:off x="2190752" y="4264026"/>
              <a:ext cx="990585" cy="234957"/>
            </a:xfrm>
            <a:prstGeom prst="roundRect">
              <a:avLst>
                <a:gd name="adj" fmla="val 16667"/>
              </a:avLst>
            </a:prstGeom>
            <a:solidFill>
              <a:srgbClr val="CCFF66"/>
            </a:solidFill>
            <a:ln w="9525" algn="ctr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latinLnBrk="0"/>
              <a:r>
                <a:rPr lang="en-US" altLang="ko-KR" sz="1000" b="0">
                  <a:latin typeface="맑은 고딕" pitchFamily="50" charset="-127"/>
                  <a:ea typeface="맑은 고딕" pitchFamily="50" charset="-127"/>
                </a:rPr>
                <a:t>message_ko</a:t>
              </a:r>
            </a:p>
          </p:txBody>
        </p:sp>
        <p:sp>
          <p:nvSpPr>
            <p:cNvPr id="195" name="AutoShape 37"/>
            <p:cNvSpPr>
              <a:spLocks noChangeArrowheads="1"/>
            </p:cNvSpPr>
            <p:nvPr/>
          </p:nvSpPr>
          <p:spPr bwMode="auto">
            <a:xfrm>
              <a:off x="2190752" y="4479926"/>
              <a:ext cx="990585" cy="234958"/>
            </a:xfrm>
            <a:prstGeom prst="roundRect">
              <a:avLst>
                <a:gd name="adj" fmla="val 16667"/>
              </a:avLst>
            </a:prstGeom>
            <a:solidFill>
              <a:srgbClr val="CCFF66"/>
            </a:solidFill>
            <a:ln w="9525" algn="ctr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latinLnBrk="0"/>
              <a:r>
                <a:rPr lang="en-US" altLang="ko-KR" sz="1000" b="0" dirty="0" err="1" smtClean="0">
                  <a:latin typeface="맑은 고딕" pitchFamily="50" charset="-127"/>
                  <a:ea typeface="맑은 고딕" pitchFamily="50" charset="-127"/>
                </a:rPr>
                <a:t>message_ch</a:t>
              </a:r>
              <a:endParaRPr lang="en-US" altLang="ko-KR" sz="1000" b="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197" name="Picture 3" descr="D:\Downloads\xml문서.jpg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9236" r="9236"/>
          <a:stretch/>
        </p:blipFill>
        <p:spPr bwMode="auto">
          <a:xfrm>
            <a:off x="3952868" y="2428868"/>
            <a:ext cx="642942" cy="72008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7" name="Group 230"/>
          <p:cNvGrpSpPr>
            <a:grpSpLocks/>
          </p:cNvGrpSpPr>
          <p:nvPr/>
        </p:nvGrpSpPr>
        <p:grpSpPr bwMode="auto">
          <a:xfrm>
            <a:off x="3454953" y="2545443"/>
            <a:ext cx="286723" cy="306425"/>
            <a:chOff x="2053" y="1743"/>
            <a:chExt cx="178" cy="193"/>
          </a:xfrm>
        </p:grpSpPr>
        <p:pic>
          <p:nvPicPr>
            <p:cNvPr id="118" name="Picture 231" descr="젤리원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053" y="1758"/>
              <a:ext cx="178" cy="1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9" name="Text Box 232"/>
            <p:cNvSpPr txBox="1">
              <a:spLocks noChangeArrowheads="1"/>
            </p:cNvSpPr>
            <p:nvPr/>
          </p:nvSpPr>
          <p:spPr bwMode="auto">
            <a:xfrm>
              <a:off x="2118" y="1743"/>
              <a:ext cx="44" cy="18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0" tIns="45715" rIns="0" bIns="45715">
              <a:spAutoFit/>
            </a:bodyPr>
            <a:lstStyle/>
            <a:p>
              <a:pPr algn="ctr" latinLnBrk="0">
                <a:lnSpc>
                  <a:spcPct val="130000"/>
                </a:lnSpc>
              </a:pPr>
              <a:r>
                <a:rPr lang="en-US" altLang="ko-KR" sz="1000" b="0" i="1" dirty="0">
                  <a:latin typeface="맑은 고딕" pitchFamily="50" charset="-127"/>
                  <a:ea typeface="맑은 고딕" pitchFamily="50" charset="-127"/>
                </a:rPr>
                <a:t>2</a:t>
              </a:r>
            </a:p>
          </p:txBody>
        </p:sp>
      </p:grpSp>
      <p:sp>
        <p:nvSpPr>
          <p:cNvPr id="94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3797300" y="6492899"/>
            <a:ext cx="2311400" cy="276999"/>
          </a:xfrm>
        </p:spPr>
        <p:txBody>
          <a:bodyPr wrap="square">
            <a:spAutoFit/>
          </a:bodyPr>
          <a:lstStyle/>
          <a:p>
            <a:pPr algn="ctr"/>
            <a:r>
              <a:rPr lang="en-US" altLang="ko-KR" dirty="0" smtClean="0">
                <a:latin typeface="+mn-ea"/>
              </a:rPr>
              <a:t>- 8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-</a:t>
            </a:r>
            <a:endParaRPr lang="ko-KR" altLang="en-US" dirty="0">
              <a:latin typeface="+mn-ea"/>
            </a:endParaRPr>
          </a:p>
        </p:txBody>
      </p:sp>
      <p:sp>
        <p:nvSpPr>
          <p:cNvPr id="95" name="Rectangle 559"/>
          <p:cNvSpPr>
            <a:spLocks noChangeArrowheads="1"/>
          </p:cNvSpPr>
          <p:nvPr/>
        </p:nvSpPr>
        <p:spPr bwMode="auto">
          <a:xfrm>
            <a:off x="3995731" y="2389125"/>
            <a:ext cx="571504" cy="33978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en-US" altLang="ko-KR" sz="9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rPr>
              <a:t>Properties File</a:t>
            </a:r>
            <a:endParaRPr lang="ko-KR" altLang="en-US" sz="900" b="1" dirty="0">
              <a:gradFill>
                <a:gsLst>
                  <a:gs pos="5000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0"/>
              </a:gra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93"/>
          <p:cNvSpPr>
            <a:spLocks noChangeArrowheads="1"/>
          </p:cNvSpPr>
          <p:nvPr/>
        </p:nvSpPr>
        <p:spPr bwMode="auto">
          <a:xfrm>
            <a:off x="508790" y="2128344"/>
            <a:ext cx="2729698" cy="3881951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algn="ctr">
              <a:defRPr/>
            </a:pPr>
            <a:endParaRPr lang="ko-KR" altLang="en-US" sz="11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2" name="Rectangle 93"/>
          <p:cNvSpPr>
            <a:spLocks noChangeArrowheads="1"/>
          </p:cNvSpPr>
          <p:nvPr/>
        </p:nvSpPr>
        <p:spPr bwMode="auto">
          <a:xfrm>
            <a:off x="595282" y="2285992"/>
            <a:ext cx="2500330" cy="3500462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algn="ctr">
              <a:defRPr/>
            </a:pPr>
            <a:endParaRPr lang="ko-KR" altLang="en-US" sz="11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93"/>
          <p:cNvSpPr>
            <a:spLocks noChangeArrowheads="1"/>
          </p:cNvSpPr>
          <p:nvPr/>
        </p:nvSpPr>
        <p:spPr bwMode="auto">
          <a:xfrm>
            <a:off x="7552708" y="2118817"/>
            <a:ext cx="1900886" cy="3881951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algn="ctr">
              <a:defRPr/>
            </a:pPr>
            <a:endParaRPr lang="ko-KR" altLang="en-US" sz="11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Text Box 269"/>
          <p:cNvSpPr txBox="1">
            <a:spLocks noChangeArrowheads="1"/>
          </p:cNvSpPr>
          <p:nvPr/>
        </p:nvSpPr>
        <p:spPr bwMode="auto">
          <a:xfrm>
            <a:off x="7596206" y="3929066"/>
            <a:ext cx="1785950" cy="1857602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marL="104775" indent="-104775" algn="ctr" defTabSz="1076325">
              <a:buClr>
                <a:srgbClr val="808080"/>
              </a:buClr>
              <a:buSzPct val="90000"/>
              <a:defRPr/>
            </a:pPr>
            <a:endParaRPr lang="ko-KR" altLang="en-US" sz="10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Rectangle 93"/>
          <p:cNvSpPr>
            <a:spLocks noChangeArrowheads="1"/>
          </p:cNvSpPr>
          <p:nvPr/>
        </p:nvSpPr>
        <p:spPr bwMode="auto">
          <a:xfrm>
            <a:off x="3363780" y="2143116"/>
            <a:ext cx="4071966" cy="3854630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algn="ctr">
              <a:defRPr/>
            </a:pPr>
            <a:endParaRPr lang="ko-KR" altLang="en-US" sz="11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Text Box 269"/>
          <p:cNvSpPr txBox="1">
            <a:spLocks noChangeArrowheads="1"/>
          </p:cNvSpPr>
          <p:nvPr/>
        </p:nvSpPr>
        <p:spPr bwMode="auto">
          <a:xfrm>
            <a:off x="3452802" y="3929066"/>
            <a:ext cx="3929090" cy="1857602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marL="104775" indent="-104775" algn="ctr" defTabSz="1076325">
              <a:buClr>
                <a:srgbClr val="808080"/>
              </a:buClr>
              <a:buSzPct val="90000"/>
              <a:defRPr/>
            </a:pPr>
            <a:endParaRPr lang="ko-KR" altLang="en-US" sz="10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Framework – </a:t>
            </a:r>
            <a:r>
              <a:rPr lang="ko-KR" altLang="en-US" dirty="0" smtClean="0"/>
              <a:t>다국어</a:t>
            </a:r>
            <a:r>
              <a:rPr lang="en-US" altLang="ko-KR" dirty="0" smtClean="0"/>
              <a:t>(2/2) </a:t>
            </a:r>
            <a:endParaRPr lang="ko-KR" altLang="en-US" dirty="0"/>
          </a:p>
        </p:txBody>
      </p:sp>
      <p:sp>
        <p:nvSpPr>
          <p:cNvPr id="225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smtClean="0"/>
              <a:t>6</a:t>
            </a:r>
            <a:endParaRPr lang="ko-KR" altLang="en-US" dirty="0"/>
          </a:p>
        </p:txBody>
      </p:sp>
      <p:sp>
        <p:nvSpPr>
          <p:cNvPr id="224" name="Rectangle 108"/>
          <p:cNvSpPr>
            <a:spLocks noChangeArrowheads="1"/>
          </p:cNvSpPr>
          <p:nvPr/>
        </p:nvSpPr>
        <p:spPr bwMode="auto">
          <a:xfrm>
            <a:off x="344488" y="980728"/>
            <a:ext cx="9217025" cy="648072"/>
          </a:xfrm>
          <a:prstGeom prst="rect">
            <a:avLst/>
          </a:prstGeom>
          <a:solidFill>
            <a:srgbClr val="F0F8FA">
              <a:alpha val="50000"/>
            </a:srgbClr>
          </a:solidFill>
          <a:ln w="9525">
            <a:solidFill>
              <a:schemeClr val="tx2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atinLnBrk="0"/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</a:rPr>
              <a:t>다국어 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+mn-ea"/>
              </a:rPr>
              <a:t>Properties 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</a:rPr>
              <a:t>파일을 설정하면 개발자는 자신의 언어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</a:rPr>
              <a:t>한국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+mn-ea"/>
              </a:rPr>
              <a:t>,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</a:rPr>
              <a:t>일본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+mn-ea"/>
              </a:rPr>
              <a:t>,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</a:rPr>
              <a:t>중국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+mn-ea"/>
              </a:rPr>
              <a:t>)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</a:rPr>
              <a:t>로 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+mn-ea"/>
              </a:rPr>
              <a:t>Label 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</a:rPr>
              <a:t>및 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+mn-ea"/>
              </a:rPr>
              <a:t>Message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</a:rPr>
              <a:t>를 개발하더라도 사용자에게는 사용자가 설정한 언어로 화면을 서비스합니다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+mn-ea"/>
              </a:rPr>
              <a:t>.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</a:rPr>
              <a:t> </a:t>
            </a:r>
          </a:p>
        </p:txBody>
      </p:sp>
      <p:sp>
        <p:nvSpPr>
          <p:cNvPr id="14" name="Rectangle 93"/>
          <p:cNvSpPr>
            <a:spLocks noChangeArrowheads="1"/>
          </p:cNvSpPr>
          <p:nvPr/>
        </p:nvSpPr>
        <p:spPr bwMode="auto">
          <a:xfrm>
            <a:off x="344488" y="1698079"/>
            <a:ext cx="9217025" cy="4467771"/>
          </a:xfrm>
          <a:prstGeom prst="rect">
            <a:avLst/>
          </a:prstGeom>
          <a:noFill/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b="0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128"/>
          <p:cNvSpPr>
            <a:spLocks noChangeArrowheads="1"/>
          </p:cNvSpPr>
          <p:nvPr/>
        </p:nvSpPr>
        <p:spPr bwMode="auto">
          <a:xfrm>
            <a:off x="7551144" y="1855260"/>
            <a:ext cx="1911242" cy="268321"/>
          </a:xfrm>
          <a:prstGeom prst="rect">
            <a:avLst/>
          </a:prstGeom>
          <a:blipFill dpi="0" rotWithShape="1">
            <a:blip r:embed="rId2" cstate="print">
              <a:lum bright="12000"/>
            </a:blip>
            <a:srcRect/>
            <a:stretch>
              <a:fillRect/>
            </a:stretch>
          </a:blipFill>
          <a:ln w="9525" algn="ctr">
            <a:solidFill>
              <a:srgbClr val="3991BD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wrap="none" anchor="ctr"/>
          <a:lstStyle/>
          <a:p>
            <a:pPr algn="ctr" defTabSz="968375">
              <a:lnSpc>
                <a:spcPct val="100000"/>
              </a:lnSpc>
            </a:pPr>
            <a:r>
              <a:rPr lang="ko-KR" altLang="en-US" sz="1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사용자 화면</a:t>
            </a:r>
            <a:endParaRPr lang="en-US" altLang="ko-KR" sz="11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128"/>
          <p:cNvSpPr>
            <a:spLocks noChangeArrowheads="1"/>
          </p:cNvSpPr>
          <p:nvPr/>
        </p:nvSpPr>
        <p:spPr bwMode="auto">
          <a:xfrm>
            <a:off x="508790" y="1855260"/>
            <a:ext cx="2729698" cy="268321"/>
          </a:xfrm>
          <a:prstGeom prst="rect">
            <a:avLst/>
          </a:prstGeom>
          <a:blipFill dpi="0" rotWithShape="1">
            <a:blip r:embed="rId2" cstate="print">
              <a:lum bright="12000"/>
            </a:blip>
            <a:srcRect/>
            <a:stretch>
              <a:fillRect/>
            </a:stretch>
          </a:blipFill>
          <a:ln w="9525" algn="ctr">
            <a:solidFill>
              <a:srgbClr val="3991BD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wrap="none" anchor="ctr"/>
          <a:lstStyle/>
          <a:p>
            <a:pPr algn="ctr" defTabSz="968375">
              <a:lnSpc>
                <a:spcPct val="100000"/>
              </a:lnSpc>
            </a:pPr>
            <a:r>
              <a:rPr lang="ko-KR" altLang="en-US" sz="1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다국어 </a:t>
            </a:r>
            <a:r>
              <a:rPr lang="en-US" altLang="ko-KR" sz="1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Properties </a:t>
            </a:r>
            <a:r>
              <a:rPr lang="ko-KR" altLang="en-US" sz="1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파일</a:t>
            </a:r>
            <a:endParaRPr lang="en-US" altLang="ko-KR" sz="11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3797300" y="6492899"/>
            <a:ext cx="2311400" cy="276999"/>
          </a:xfrm>
        </p:spPr>
        <p:txBody>
          <a:bodyPr wrap="square">
            <a:spAutoFit/>
          </a:bodyPr>
          <a:lstStyle/>
          <a:p>
            <a:pPr algn="ctr"/>
            <a:r>
              <a:rPr lang="en-US" altLang="ko-KR" dirty="0" smtClean="0">
                <a:latin typeface="+mn-ea"/>
              </a:rPr>
              <a:t>- 9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-</a:t>
            </a:r>
            <a:endParaRPr lang="ko-KR" altLang="en-US" dirty="0">
              <a:latin typeface="+mn-ea"/>
            </a:endParaRPr>
          </a:p>
        </p:txBody>
      </p:sp>
      <p:sp>
        <p:nvSpPr>
          <p:cNvPr id="31" name="Rectangle 108"/>
          <p:cNvSpPr>
            <a:spLocks noChangeArrowheads="1"/>
          </p:cNvSpPr>
          <p:nvPr/>
        </p:nvSpPr>
        <p:spPr bwMode="auto">
          <a:xfrm>
            <a:off x="641553" y="2605299"/>
            <a:ext cx="2428892" cy="3000397"/>
          </a:xfrm>
          <a:prstGeom prst="rect">
            <a:avLst/>
          </a:prstGeom>
          <a:solidFill>
            <a:srgbClr val="F0F8FA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88900" indent="-88900">
              <a:buFont typeface="Arial" pitchFamily="34" charset="0"/>
              <a:buChar char="•"/>
            </a:pPr>
            <a:r>
              <a:rPr kumimoji="1" lang="en-US" altLang="ko-KR" sz="1050" dirty="0" smtClean="0">
                <a:solidFill>
                  <a:srgbClr val="000000"/>
                </a:solidFill>
                <a:latin typeface="+mn-ea"/>
              </a:rPr>
              <a:t>message-</a:t>
            </a:r>
            <a:r>
              <a:rPr kumimoji="1" lang="en-US" altLang="ko-KR" sz="1050" dirty="0" err="1" smtClean="0">
                <a:solidFill>
                  <a:srgbClr val="000000"/>
                </a:solidFill>
                <a:latin typeface="+mn-ea"/>
              </a:rPr>
              <a:t>common_ko.properties</a:t>
            </a:r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 </a:t>
            </a:r>
            <a:endParaRPr kumimoji="1" lang="en-US" altLang="ko-KR" sz="1050" dirty="0" smtClean="0">
              <a:solidFill>
                <a:srgbClr val="000000"/>
              </a:solidFill>
              <a:latin typeface="+mn-ea"/>
            </a:endParaRPr>
          </a:p>
          <a:p>
            <a:pPr marL="88900" indent="-88900"/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  저장</a:t>
            </a:r>
            <a:r>
              <a:rPr kumimoji="1" lang="en-US" altLang="ko-KR" sz="1050" dirty="0" smtClean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저장</a:t>
            </a:r>
            <a:endParaRPr kumimoji="1" lang="en-US" altLang="ko-KR" sz="1050" dirty="0" smtClean="0">
              <a:solidFill>
                <a:srgbClr val="000000"/>
              </a:solidFill>
              <a:latin typeface="+mn-ea"/>
            </a:endParaRPr>
          </a:p>
          <a:p>
            <a:pPr marL="88900" indent="-88900"/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  신규</a:t>
            </a:r>
            <a:r>
              <a:rPr kumimoji="1" lang="en-US" altLang="ko-KR" sz="1050" dirty="0" smtClean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신규</a:t>
            </a:r>
            <a:endParaRPr kumimoji="1" lang="en-US" altLang="ko-KR" sz="1050" dirty="0" smtClean="0">
              <a:solidFill>
                <a:srgbClr val="000000"/>
              </a:solidFill>
              <a:latin typeface="+mn-ea"/>
            </a:endParaRPr>
          </a:p>
          <a:p>
            <a:pPr marL="88900" indent="-88900"/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  삭제</a:t>
            </a:r>
            <a:r>
              <a:rPr kumimoji="1" lang="en-US" altLang="ko-KR" sz="1050" dirty="0" smtClean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삭제</a:t>
            </a:r>
            <a:endParaRPr kumimoji="1" lang="en-US" altLang="ko-KR" sz="1050" dirty="0" smtClean="0">
              <a:solidFill>
                <a:srgbClr val="000000"/>
              </a:solidFill>
              <a:latin typeface="+mn-ea"/>
            </a:endParaRPr>
          </a:p>
          <a:p>
            <a:pPr marL="88900" indent="-88900"/>
            <a:endParaRPr kumimoji="1" lang="en-US" altLang="ko-KR" sz="1050" dirty="0" smtClean="0">
              <a:solidFill>
                <a:srgbClr val="000000"/>
              </a:solidFill>
              <a:latin typeface="+mn-ea"/>
            </a:endParaRPr>
          </a:p>
          <a:p>
            <a:pPr marL="88900" indent="-88900">
              <a:buFont typeface="Arial" pitchFamily="34" charset="0"/>
              <a:buChar char="•"/>
            </a:pPr>
            <a:r>
              <a:rPr kumimoji="1" lang="en-US" altLang="ko-KR" sz="1050" dirty="0" smtClean="0">
                <a:solidFill>
                  <a:srgbClr val="000000"/>
                </a:solidFill>
                <a:latin typeface="+mn-ea"/>
              </a:rPr>
              <a:t>message-</a:t>
            </a:r>
            <a:r>
              <a:rPr kumimoji="1" lang="en-US" altLang="ko-KR" sz="1050" dirty="0" err="1" smtClean="0">
                <a:solidFill>
                  <a:srgbClr val="000000"/>
                </a:solidFill>
                <a:latin typeface="+mn-ea"/>
              </a:rPr>
              <a:t>common_ja.properties</a:t>
            </a:r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 </a:t>
            </a:r>
            <a:endParaRPr kumimoji="1" lang="en-US" altLang="ko-KR" sz="1050" dirty="0" smtClean="0">
              <a:solidFill>
                <a:srgbClr val="000000"/>
              </a:solidFill>
              <a:latin typeface="+mn-ea"/>
            </a:endParaRPr>
          </a:p>
          <a:p>
            <a:pPr marL="88900" indent="-88900"/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  저장</a:t>
            </a:r>
            <a:r>
              <a:rPr kumimoji="1" lang="en-US" altLang="ko-KR" sz="1050" dirty="0" smtClean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保存</a:t>
            </a:r>
            <a:endParaRPr kumimoji="1" lang="en-US" altLang="ko-KR" sz="1050" dirty="0" smtClean="0">
              <a:solidFill>
                <a:srgbClr val="000000"/>
              </a:solidFill>
              <a:latin typeface="+mn-ea"/>
            </a:endParaRPr>
          </a:p>
          <a:p>
            <a:pPr marL="88900" indent="-88900"/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  신규</a:t>
            </a:r>
            <a:r>
              <a:rPr kumimoji="1" lang="en-US" altLang="ko-KR" sz="1050" dirty="0" smtClean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新規</a:t>
            </a:r>
            <a:endParaRPr kumimoji="1" lang="en-US" altLang="ko-KR" sz="1050" dirty="0" smtClean="0">
              <a:solidFill>
                <a:srgbClr val="000000"/>
              </a:solidFill>
              <a:latin typeface="+mn-ea"/>
            </a:endParaRPr>
          </a:p>
          <a:p>
            <a:pPr marL="88900" indent="-88900"/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  삭제</a:t>
            </a:r>
            <a:r>
              <a:rPr kumimoji="1" lang="en-US" altLang="ko-KR" sz="1050" dirty="0" smtClean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削除</a:t>
            </a:r>
            <a:endParaRPr kumimoji="1" lang="en-US" altLang="ko-KR" sz="1050" dirty="0" smtClean="0">
              <a:solidFill>
                <a:srgbClr val="000000"/>
              </a:solidFill>
              <a:latin typeface="+mn-ea"/>
            </a:endParaRPr>
          </a:p>
          <a:p>
            <a:pPr marL="88900" indent="-88900">
              <a:buFont typeface="Arial" pitchFamily="34" charset="0"/>
              <a:buChar char="•"/>
            </a:pPr>
            <a:endParaRPr kumimoji="1" lang="en-US" altLang="ko-KR" sz="1050" dirty="0" smtClean="0">
              <a:solidFill>
                <a:srgbClr val="000000"/>
              </a:solidFill>
              <a:latin typeface="+mn-ea"/>
            </a:endParaRPr>
          </a:p>
          <a:p>
            <a:pPr marL="88900" indent="-88900">
              <a:buFont typeface="Arial" pitchFamily="34" charset="0"/>
              <a:buChar char="•"/>
            </a:pPr>
            <a:r>
              <a:rPr kumimoji="1" lang="en-US" altLang="ko-KR" sz="1050" dirty="0" smtClean="0">
                <a:solidFill>
                  <a:srgbClr val="000000"/>
                </a:solidFill>
                <a:latin typeface="+mn-ea"/>
              </a:rPr>
              <a:t>message-</a:t>
            </a:r>
            <a:r>
              <a:rPr kumimoji="1" lang="en-US" altLang="ko-KR" sz="1050" dirty="0" err="1" smtClean="0">
                <a:solidFill>
                  <a:srgbClr val="000000"/>
                </a:solidFill>
                <a:latin typeface="+mn-ea"/>
              </a:rPr>
              <a:t>common_zh.properties</a:t>
            </a:r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 </a:t>
            </a:r>
            <a:endParaRPr kumimoji="1" lang="en-US" altLang="ko-KR" sz="1050" dirty="0" smtClean="0">
              <a:solidFill>
                <a:srgbClr val="000000"/>
              </a:solidFill>
              <a:latin typeface="+mn-ea"/>
            </a:endParaRPr>
          </a:p>
          <a:p>
            <a:pPr marL="88900" indent="-88900"/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  저장</a:t>
            </a:r>
            <a:r>
              <a:rPr kumimoji="1" lang="en-US" altLang="ko-KR" sz="1050" dirty="0" smtClean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保护</a:t>
            </a:r>
            <a:endParaRPr kumimoji="1" lang="en-US" altLang="ko-KR" sz="1050" dirty="0" smtClean="0">
              <a:solidFill>
                <a:srgbClr val="000000"/>
              </a:solidFill>
              <a:latin typeface="+mn-ea"/>
            </a:endParaRPr>
          </a:p>
          <a:p>
            <a:pPr marL="88900" indent="-88900"/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  신규</a:t>
            </a:r>
            <a:r>
              <a:rPr kumimoji="1" lang="en-US" altLang="ko-KR" sz="1050" dirty="0" smtClean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新規</a:t>
            </a:r>
            <a:endParaRPr kumimoji="1" lang="en-US" altLang="ko-KR" sz="1050" dirty="0" smtClean="0">
              <a:solidFill>
                <a:srgbClr val="000000"/>
              </a:solidFill>
              <a:latin typeface="+mn-ea"/>
            </a:endParaRPr>
          </a:p>
          <a:p>
            <a:pPr marL="88900" indent="-88900"/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  삭제</a:t>
            </a:r>
            <a:r>
              <a:rPr kumimoji="1" lang="en-US" altLang="ko-KR" sz="1050" dirty="0" smtClean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削除</a:t>
            </a:r>
            <a:endParaRPr kumimoji="1" lang="en-US" altLang="ko-KR" sz="1050" dirty="0" smtClean="0">
              <a:solidFill>
                <a:srgbClr val="000000"/>
              </a:solidFill>
              <a:latin typeface="+mn-ea"/>
            </a:endParaRPr>
          </a:p>
          <a:p>
            <a:pPr marL="88900" indent="-88900"/>
            <a:endParaRPr kumimoji="1" lang="en-US" altLang="ko-KR" sz="1050" dirty="0" smtClean="0">
              <a:solidFill>
                <a:srgbClr val="000000"/>
              </a:solidFill>
              <a:latin typeface="+mn-ea"/>
            </a:endParaRPr>
          </a:p>
          <a:p>
            <a:pPr marL="88900" indent="-88900">
              <a:buFont typeface="Arial" pitchFamily="34" charset="0"/>
              <a:buChar char="•"/>
            </a:pPr>
            <a:r>
              <a:rPr kumimoji="1" lang="en-US" altLang="ko-KR" sz="1050" dirty="0" smtClean="0">
                <a:solidFill>
                  <a:srgbClr val="000000"/>
                </a:solidFill>
                <a:latin typeface="+mn-ea"/>
              </a:rPr>
              <a:t>message-</a:t>
            </a:r>
            <a:r>
              <a:rPr kumimoji="1" lang="en-US" altLang="ko-KR" sz="1050" dirty="0" err="1" smtClean="0">
                <a:solidFill>
                  <a:srgbClr val="000000"/>
                </a:solidFill>
                <a:latin typeface="+mn-ea"/>
              </a:rPr>
              <a:t>common_en.properties</a:t>
            </a:r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 </a:t>
            </a:r>
            <a:endParaRPr kumimoji="1" lang="en-US" altLang="ko-KR" sz="1050" dirty="0" smtClean="0">
              <a:solidFill>
                <a:srgbClr val="000000"/>
              </a:solidFill>
              <a:latin typeface="+mn-ea"/>
            </a:endParaRPr>
          </a:p>
          <a:p>
            <a:pPr marL="88900" indent="-88900"/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  저장</a:t>
            </a:r>
            <a:r>
              <a:rPr kumimoji="1" lang="en-US" altLang="ko-KR" sz="1050" dirty="0" smtClean="0">
                <a:solidFill>
                  <a:srgbClr val="000000"/>
                </a:solidFill>
                <a:latin typeface="+mn-ea"/>
              </a:rPr>
              <a:t>=SAVE</a:t>
            </a:r>
          </a:p>
          <a:p>
            <a:pPr marL="88900" indent="-88900"/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  신규</a:t>
            </a:r>
            <a:r>
              <a:rPr kumimoji="1" lang="en-US" altLang="ko-KR" sz="1050" dirty="0" smtClean="0">
                <a:solidFill>
                  <a:srgbClr val="000000"/>
                </a:solidFill>
                <a:latin typeface="+mn-ea"/>
              </a:rPr>
              <a:t>=NEW</a:t>
            </a:r>
          </a:p>
          <a:p>
            <a:pPr marL="88900" indent="-88900"/>
            <a:r>
              <a:rPr kumimoji="1" lang="ko-KR" altLang="en-US" sz="1050" dirty="0" smtClean="0">
                <a:solidFill>
                  <a:srgbClr val="000000"/>
                </a:solidFill>
                <a:latin typeface="+mn-ea"/>
              </a:rPr>
              <a:t>  삭제</a:t>
            </a:r>
            <a:r>
              <a:rPr kumimoji="1" lang="en-US" altLang="ko-KR" sz="1050" dirty="0" smtClean="0">
                <a:solidFill>
                  <a:srgbClr val="000000"/>
                </a:solidFill>
                <a:latin typeface="+mn-ea"/>
              </a:rPr>
              <a:t>=DELETE</a:t>
            </a:r>
            <a:endParaRPr kumimoji="1" lang="ko-KR" altLang="en-US" sz="1050" dirty="0" smtClean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0" name="Rectangle 128"/>
          <p:cNvSpPr>
            <a:spLocks noChangeArrowheads="1"/>
          </p:cNvSpPr>
          <p:nvPr/>
        </p:nvSpPr>
        <p:spPr bwMode="auto">
          <a:xfrm>
            <a:off x="3366310" y="1857364"/>
            <a:ext cx="4069436" cy="268321"/>
          </a:xfrm>
          <a:prstGeom prst="rect">
            <a:avLst/>
          </a:prstGeom>
          <a:blipFill dpi="0" rotWithShape="1">
            <a:blip r:embed="rId2" cstate="print">
              <a:lum bright="12000"/>
            </a:blip>
            <a:srcRect/>
            <a:stretch>
              <a:fillRect/>
            </a:stretch>
          </a:blipFill>
          <a:ln w="9525" algn="ctr">
            <a:solidFill>
              <a:srgbClr val="3991BD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wrap="none" anchor="ctr"/>
          <a:lstStyle/>
          <a:p>
            <a:pPr algn="ctr" defTabSz="968375">
              <a:lnSpc>
                <a:spcPct val="100000"/>
              </a:lnSpc>
            </a:pPr>
            <a:r>
              <a:rPr lang="ko-KR" altLang="en-US" sz="1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화면 구현 </a:t>
            </a:r>
            <a:r>
              <a:rPr lang="en-US" altLang="ko-KR" sz="1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Source </a:t>
            </a:r>
            <a:r>
              <a:rPr lang="ko-KR" altLang="en-US" sz="1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파일 </a:t>
            </a:r>
            <a:r>
              <a:rPr lang="en-US" altLang="ko-KR" sz="1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개발자</a:t>
            </a:r>
            <a:r>
              <a:rPr lang="en-US" altLang="ko-KR" sz="1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en-US" altLang="ko-KR" sz="11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3738554" y="2214555"/>
            <a:ext cx="1428760" cy="142876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ko-KR" altLang="en-US" sz="100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개발도구 </a:t>
            </a:r>
            <a:r>
              <a:rPr lang="en-US" altLang="ko-KR" sz="100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- Eclipse</a:t>
            </a:r>
            <a:endParaRPr lang="en-US" altLang="ko-KR" sz="1000" b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6" name="그룹 35"/>
          <p:cNvGrpSpPr/>
          <p:nvPr/>
        </p:nvGrpSpPr>
        <p:grpSpPr>
          <a:xfrm>
            <a:off x="3809992" y="2395509"/>
            <a:ext cx="2714644" cy="1533555"/>
            <a:chOff x="3809992" y="2395510"/>
            <a:chExt cx="3000396" cy="2324713"/>
          </a:xfrm>
        </p:grpSpPr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809992" y="2395510"/>
              <a:ext cx="2928958" cy="1819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1" name="직사각형 20"/>
            <p:cNvSpPr/>
            <p:nvPr/>
          </p:nvSpPr>
          <p:spPr>
            <a:xfrm>
              <a:off x="4238620" y="3214686"/>
              <a:ext cx="2571768" cy="216024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2" name="직선 화살표 연결선 21"/>
            <p:cNvCxnSpPr>
              <a:stCxn id="21" idx="2"/>
              <a:endCxn id="41" idx="0"/>
            </p:cNvCxnSpPr>
            <p:nvPr/>
          </p:nvCxnSpPr>
          <p:spPr>
            <a:xfrm rot="16200000" flipH="1">
              <a:off x="4910768" y="4044448"/>
              <a:ext cx="1289512" cy="62038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Rectangle 108"/>
          <p:cNvSpPr>
            <a:spLocks noChangeArrowheads="1"/>
          </p:cNvSpPr>
          <p:nvPr/>
        </p:nvSpPr>
        <p:spPr bwMode="auto">
          <a:xfrm>
            <a:off x="3804700" y="4080488"/>
            <a:ext cx="3505754" cy="500066"/>
          </a:xfrm>
          <a:prstGeom prst="rect">
            <a:avLst/>
          </a:prstGeom>
          <a:solidFill>
            <a:srgbClr val="F0F8FA">
              <a:alpha val="50000"/>
            </a:srgbClr>
          </a:solidFill>
          <a:ln w="9525">
            <a:solidFill>
              <a:schemeClr val="tx2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358775"/>
            <a:r>
              <a:rPr lang="en-US" altLang="ko-KR" sz="900" dirty="0" smtClean="0">
                <a:latin typeface="+mn-ea"/>
              </a:rPr>
              <a:t>&lt;input type="button" value="$!</a:t>
            </a:r>
            <a:r>
              <a:rPr lang="en-US" altLang="ko-KR" sz="900" dirty="0" err="1" smtClean="0">
                <a:latin typeface="+mn-ea"/>
              </a:rPr>
              <a:t>lang.getText</a:t>
            </a:r>
            <a:r>
              <a:rPr lang="en-US" altLang="ko-KR" sz="900" dirty="0" smtClean="0">
                <a:latin typeface="+mn-ea"/>
              </a:rPr>
              <a:t>('</a:t>
            </a:r>
            <a:r>
              <a:rPr lang="ko-KR" altLang="en-US" sz="900" dirty="0" smtClean="0">
                <a:latin typeface="+mn-ea"/>
              </a:rPr>
              <a:t>저장</a:t>
            </a:r>
            <a:r>
              <a:rPr lang="en-US" altLang="ko-KR" sz="900" dirty="0" smtClean="0">
                <a:latin typeface="+mn-ea"/>
              </a:rPr>
              <a:t>')” /&gt;</a:t>
            </a:r>
          </a:p>
          <a:p>
            <a:pPr marL="358775"/>
            <a:r>
              <a:rPr lang="en-US" altLang="ko-KR" sz="900" dirty="0" smtClean="0">
                <a:latin typeface="+mn-ea"/>
              </a:rPr>
              <a:t>&lt;input type="button" value="$!</a:t>
            </a:r>
            <a:r>
              <a:rPr lang="en-US" altLang="ko-KR" sz="900" dirty="0" err="1" smtClean="0">
                <a:latin typeface="+mn-ea"/>
              </a:rPr>
              <a:t>lang.getText</a:t>
            </a:r>
            <a:r>
              <a:rPr lang="en-US" altLang="ko-KR" sz="900" dirty="0" smtClean="0">
                <a:latin typeface="+mn-ea"/>
              </a:rPr>
              <a:t>(‘</a:t>
            </a:r>
            <a:r>
              <a:rPr lang="ko-KR" altLang="en-US" sz="900" dirty="0" smtClean="0">
                <a:latin typeface="+mn-ea"/>
              </a:rPr>
              <a:t>신규</a:t>
            </a:r>
            <a:r>
              <a:rPr lang="en-US" altLang="ko-KR" sz="900" dirty="0" smtClean="0">
                <a:latin typeface="+mn-ea"/>
              </a:rPr>
              <a:t>')” /&gt;</a:t>
            </a:r>
          </a:p>
          <a:p>
            <a:pPr marL="358775"/>
            <a:r>
              <a:rPr lang="en-US" altLang="ko-KR" sz="900" dirty="0" smtClean="0">
                <a:latin typeface="+mn-ea"/>
              </a:rPr>
              <a:t>&lt;input type="button" value="$!</a:t>
            </a:r>
            <a:r>
              <a:rPr lang="en-US" altLang="ko-KR" sz="900" dirty="0" err="1" smtClean="0">
                <a:latin typeface="+mn-ea"/>
              </a:rPr>
              <a:t>lang.getText</a:t>
            </a:r>
            <a:r>
              <a:rPr lang="en-US" altLang="ko-KR" sz="900" dirty="0" smtClean="0">
                <a:latin typeface="+mn-ea"/>
              </a:rPr>
              <a:t>(‘</a:t>
            </a:r>
            <a:r>
              <a:rPr lang="ko-KR" altLang="en-US" sz="900" dirty="0" err="1" smtClean="0">
                <a:latin typeface="+mn-ea"/>
              </a:rPr>
              <a:t>식제</a:t>
            </a:r>
            <a:r>
              <a:rPr lang="en-US" altLang="ko-KR" sz="900" dirty="0" smtClean="0">
                <a:latin typeface="+mn-ea"/>
              </a:rPr>
              <a:t>')” /&gt;</a:t>
            </a:r>
            <a:r>
              <a:rPr kumimoji="1" lang="ko-KR" altLang="en-US" sz="900" dirty="0" smtClean="0">
                <a:solidFill>
                  <a:srgbClr val="000000"/>
                </a:solidFill>
                <a:latin typeface="+mn-ea"/>
              </a:rPr>
              <a:t>  </a:t>
            </a:r>
          </a:p>
        </p:txBody>
      </p:sp>
      <p:sp>
        <p:nvSpPr>
          <p:cNvPr id="25" name="Rectangle 559"/>
          <p:cNvSpPr>
            <a:spLocks noChangeArrowheads="1"/>
          </p:cNvSpPr>
          <p:nvPr/>
        </p:nvSpPr>
        <p:spPr bwMode="auto">
          <a:xfrm>
            <a:off x="3524240" y="4084221"/>
            <a:ext cx="560921" cy="49633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9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rPr>
              <a:t>한국</a:t>
            </a:r>
            <a:endParaRPr lang="en-US" altLang="ko-KR" sz="900" b="1" dirty="0" smtClean="0">
              <a:gradFill>
                <a:gsLst>
                  <a:gs pos="5000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0"/>
              </a:gradFill>
              <a:latin typeface="맑은 고딕" pitchFamily="50" charset="-127"/>
              <a:ea typeface="맑은 고딕" pitchFamily="50" charset="-127"/>
            </a:endParaRPr>
          </a:p>
          <a:p>
            <a:pPr algn="ctr" latinLnBrk="0"/>
            <a:r>
              <a:rPr lang="ko-KR" altLang="en-US" sz="9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rPr>
              <a:t>개발자</a:t>
            </a:r>
            <a:endParaRPr lang="en-US" altLang="ko-KR" sz="900" b="1" dirty="0" smtClean="0">
              <a:gradFill>
                <a:gsLst>
                  <a:gs pos="5000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0"/>
              </a:gra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3524240" y="4651992"/>
            <a:ext cx="3786214" cy="500066"/>
            <a:chOff x="3452802" y="4286256"/>
            <a:chExt cx="3857652" cy="500066"/>
          </a:xfrm>
        </p:grpSpPr>
        <p:sp>
          <p:nvSpPr>
            <p:cNvPr id="29" name="Rectangle 108"/>
            <p:cNvSpPr>
              <a:spLocks noChangeArrowheads="1"/>
            </p:cNvSpPr>
            <p:nvPr/>
          </p:nvSpPr>
          <p:spPr bwMode="auto">
            <a:xfrm>
              <a:off x="3738554" y="4286256"/>
              <a:ext cx="3571900" cy="500066"/>
            </a:xfrm>
            <a:prstGeom prst="rect">
              <a:avLst/>
            </a:prstGeom>
            <a:solidFill>
              <a:srgbClr val="F0F8FA">
                <a:alpha val="50000"/>
              </a:srgbClr>
            </a:solidFill>
            <a:ln w="9525">
              <a:solidFill>
                <a:schemeClr val="tx2">
                  <a:lumMod val="20000"/>
                  <a:lumOff val="80000"/>
                </a:schemeClr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358775"/>
              <a:r>
                <a:rPr lang="en-US" altLang="ko-KR" sz="900" dirty="0" smtClean="0">
                  <a:latin typeface="+mn-ea"/>
                </a:rPr>
                <a:t>&lt;input type="button" value="$!</a:t>
              </a:r>
              <a:r>
                <a:rPr lang="en-US" altLang="ko-KR" sz="900" dirty="0" err="1" smtClean="0">
                  <a:latin typeface="+mn-ea"/>
                </a:rPr>
                <a:t>lang.getText</a:t>
              </a:r>
              <a:r>
                <a:rPr lang="en-US" altLang="ko-KR" sz="900" dirty="0" smtClean="0">
                  <a:latin typeface="+mn-ea"/>
                </a:rPr>
                <a:t>(‘</a:t>
              </a:r>
              <a:r>
                <a:rPr kumimoji="1" lang="ko-KR" altLang="en-US" sz="900" dirty="0" smtClean="0">
                  <a:solidFill>
                    <a:srgbClr val="000000"/>
                  </a:solidFill>
                  <a:latin typeface="맑은 고딕" pitchFamily="50" charset="-127"/>
                </a:rPr>
                <a:t>保存</a:t>
              </a:r>
              <a:r>
                <a:rPr kumimoji="1" lang="en-US" altLang="ko-KR" sz="900" dirty="0" smtClean="0">
                  <a:solidFill>
                    <a:srgbClr val="000000"/>
                  </a:solidFill>
                  <a:latin typeface="맑은 고딕" pitchFamily="50" charset="-127"/>
                </a:rPr>
                <a:t>’</a:t>
              </a:r>
              <a:r>
                <a:rPr lang="en-US" altLang="ko-KR" sz="900" dirty="0" smtClean="0">
                  <a:latin typeface="+mn-ea"/>
                </a:rPr>
                <a:t>)” /&gt;</a:t>
              </a:r>
            </a:p>
            <a:p>
              <a:pPr marL="358775"/>
              <a:r>
                <a:rPr lang="en-US" altLang="ko-KR" sz="900" dirty="0" smtClean="0">
                  <a:latin typeface="+mn-ea"/>
                </a:rPr>
                <a:t>&lt;input type="button" value="$!</a:t>
              </a:r>
              <a:r>
                <a:rPr lang="en-US" altLang="ko-KR" sz="900" dirty="0" err="1" smtClean="0">
                  <a:latin typeface="+mn-ea"/>
                </a:rPr>
                <a:t>lang.getText</a:t>
              </a:r>
              <a:r>
                <a:rPr lang="en-US" altLang="ko-KR" sz="900" dirty="0" smtClean="0">
                  <a:latin typeface="+mn-ea"/>
                </a:rPr>
                <a:t>(‘</a:t>
              </a:r>
              <a:r>
                <a:rPr kumimoji="1" lang="ko-KR" altLang="en-US" sz="900" dirty="0" smtClean="0">
                  <a:solidFill>
                    <a:srgbClr val="000000"/>
                  </a:solidFill>
                  <a:latin typeface="맑은 고딕" pitchFamily="50" charset="-127"/>
                </a:rPr>
                <a:t>新規</a:t>
              </a:r>
              <a:r>
                <a:rPr kumimoji="1" lang="en-US" altLang="ko-KR" sz="900" dirty="0" smtClean="0">
                  <a:solidFill>
                    <a:srgbClr val="000000"/>
                  </a:solidFill>
                  <a:latin typeface="맑은 고딕" pitchFamily="50" charset="-127"/>
                </a:rPr>
                <a:t>’)</a:t>
              </a:r>
              <a:r>
                <a:rPr lang="en-US" altLang="ko-KR" sz="900" dirty="0" smtClean="0">
                  <a:latin typeface="+mn-ea"/>
                </a:rPr>
                <a:t>” /&gt;</a:t>
              </a:r>
            </a:p>
            <a:p>
              <a:pPr marL="358775"/>
              <a:r>
                <a:rPr lang="en-US" altLang="ko-KR" sz="900" dirty="0" smtClean="0">
                  <a:latin typeface="+mn-ea"/>
                </a:rPr>
                <a:t>&lt;input type="button" value="$!</a:t>
              </a:r>
              <a:r>
                <a:rPr lang="en-US" altLang="ko-KR" sz="900" dirty="0" err="1" smtClean="0">
                  <a:latin typeface="+mn-ea"/>
                </a:rPr>
                <a:t>lang.getText</a:t>
              </a:r>
              <a:r>
                <a:rPr lang="en-US" altLang="ko-KR" sz="900" dirty="0" smtClean="0">
                  <a:latin typeface="+mn-ea"/>
                </a:rPr>
                <a:t>(‘</a:t>
              </a:r>
              <a:r>
                <a:rPr lang="ko-KR" altLang="en-US" sz="900" dirty="0" smtClean="0">
                  <a:latin typeface="+mn-ea"/>
                </a:rPr>
                <a:t>削除</a:t>
              </a:r>
              <a:r>
                <a:rPr lang="en-US" altLang="ko-KR" sz="900" dirty="0" smtClean="0">
                  <a:latin typeface="+mn-ea"/>
                </a:rPr>
                <a:t>')” /&gt;</a:t>
              </a:r>
              <a:r>
                <a:rPr kumimoji="1" lang="ko-KR" altLang="en-US" sz="900" dirty="0" smtClean="0">
                  <a:solidFill>
                    <a:srgbClr val="000000"/>
                  </a:solidFill>
                  <a:latin typeface="+mn-ea"/>
                </a:rPr>
                <a:t>  </a:t>
              </a:r>
            </a:p>
          </p:txBody>
        </p:sp>
        <p:sp>
          <p:nvSpPr>
            <p:cNvPr id="32" name="Rectangle 559"/>
            <p:cNvSpPr>
              <a:spLocks noChangeArrowheads="1"/>
            </p:cNvSpPr>
            <p:nvPr/>
          </p:nvSpPr>
          <p:spPr bwMode="auto">
            <a:xfrm>
              <a:off x="3452802" y="4289989"/>
              <a:ext cx="571504" cy="49633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일본</a:t>
              </a:r>
              <a:endParaRPr lang="en-US" altLang="ko-KR" sz="9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  <a:p>
              <a:pPr algn="ctr" latinLnBrk="0"/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개발자</a:t>
              </a:r>
              <a:endParaRPr lang="en-US" altLang="ko-KR" sz="9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33" name="그룹 32"/>
          <p:cNvGrpSpPr/>
          <p:nvPr/>
        </p:nvGrpSpPr>
        <p:grpSpPr>
          <a:xfrm>
            <a:off x="3524240" y="5214950"/>
            <a:ext cx="3786214" cy="500066"/>
            <a:chOff x="3452802" y="4286256"/>
            <a:chExt cx="3857652" cy="500066"/>
          </a:xfrm>
        </p:grpSpPr>
        <p:sp>
          <p:nvSpPr>
            <p:cNvPr id="34" name="Rectangle 108"/>
            <p:cNvSpPr>
              <a:spLocks noChangeArrowheads="1"/>
            </p:cNvSpPr>
            <p:nvPr/>
          </p:nvSpPr>
          <p:spPr bwMode="auto">
            <a:xfrm>
              <a:off x="3738554" y="4286256"/>
              <a:ext cx="3571900" cy="500066"/>
            </a:xfrm>
            <a:prstGeom prst="rect">
              <a:avLst/>
            </a:prstGeom>
            <a:solidFill>
              <a:srgbClr val="F0F8FA">
                <a:alpha val="50000"/>
              </a:srgbClr>
            </a:solidFill>
            <a:ln w="9525">
              <a:solidFill>
                <a:schemeClr val="tx2">
                  <a:lumMod val="20000"/>
                  <a:lumOff val="80000"/>
                </a:schemeClr>
              </a:solidFill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358775"/>
              <a:r>
                <a:rPr lang="en-US" altLang="ko-KR" sz="900" dirty="0" smtClean="0">
                  <a:latin typeface="+mn-ea"/>
                </a:rPr>
                <a:t>&lt;input type="button" value="$!</a:t>
              </a:r>
              <a:r>
                <a:rPr lang="en-US" altLang="ko-KR" sz="900" dirty="0" err="1" smtClean="0">
                  <a:latin typeface="+mn-ea"/>
                </a:rPr>
                <a:t>lang.getText</a:t>
              </a:r>
              <a:r>
                <a:rPr lang="en-US" altLang="ko-KR" sz="900" dirty="0" smtClean="0">
                  <a:latin typeface="+mn-ea"/>
                </a:rPr>
                <a:t>('</a:t>
              </a:r>
              <a:r>
                <a:rPr lang="ko-KR" altLang="en-US" sz="900" dirty="0" smtClean="0">
                  <a:latin typeface="+mn-ea"/>
                </a:rPr>
                <a:t>保护</a:t>
              </a:r>
              <a:r>
                <a:rPr lang="en-US" altLang="ko-KR" sz="900" dirty="0" smtClean="0">
                  <a:latin typeface="+mn-ea"/>
                </a:rPr>
                <a:t>')” /&gt;</a:t>
              </a:r>
            </a:p>
            <a:p>
              <a:pPr marL="358775"/>
              <a:r>
                <a:rPr lang="en-US" altLang="ko-KR" sz="900" dirty="0" smtClean="0">
                  <a:latin typeface="+mn-ea"/>
                </a:rPr>
                <a:t>&lt;input type="button" value="$!</a:t>
              </a:r>
              <a:r>
                <a:rPr lang="en-US" altLang="ko-KR" sz="900" dirty="0" err="1" smtClean="0">
                  <a:latin typeface="+mn-ea"/>
                </a:rPr>
                <a:t>lang.getText</a:t>
              </a:r>
              <a:r>
                <a:rPr lang="en-US" altLang="ko-KR" sz="900" dirty="0" smtClean="0">
                  <a:latin typeface="+mn-ea"/>
                </a:rPr>
                <a:t>(‘</a:t>
              </a:r>
              <a:r>
                <a:rPr lang="ko-KR" altLang="en-US" sz="900" dirty="0" smtClean="0">
                  <a:latin typeface="+mn-ea"/>
                </a:rPr>
                <a:t>新規</a:t>
              </a:r>
              <a:r>
                <a:rPr lang="en-US" altLang="ko-KR" sz="900" dirty="0" smtClean="0">
                  <a:latin typeface="+mn-ea"/>
                </a:rPr>
                <a:t>')” /&gt;</a:t>
              </a:r>
            </a:p>
            <a:p>
              <a:pPr marL="358775"/>
              <a:r>
                <a:rPr lang="en-US" altLang="ko-KR" sz="900" dirty="0" smtClean="0">
                  <a:latin typeface="+mn-ea"/>
                </a:rPr>
                <a:t>&lt;input type="button" value="$!</a:t>
              </a:r>
              <a:r>
                <a:rPr lang="en-US" altLang="ko-KR" sz="900" dirty="0" err="1" smtClean="0">
                  <a:latin typeface="+mn-ea"/>
                </a:rPr>
                <a:t>lang.getText</a:t>
              </a:r>
              <a:r>
                <a:rPr lang="en-US" altLang="ko-KR" sz="900" dirty="0" smtClean="0">
                  <a:latin typeface="+mn-ea"/>
                </a:rPr>
                <a:t>(‘</a:t>
              </a:r>
              <a:r>
                <a:rPr kumimoji="1" lang="ko-KR" altLang="en-US" sz="900" dirty="0" smtClean="0">
                  <a:solidFill>
                    <a:srgbClr val="000000"/>
                  </a:solidFill>
                  <a:latin typeface="맑은 고딕" pitchFamily="50" charset="-127"/>
                </a:rPr>
                <a:t>削除</a:t>
              </a:r>
              <a:r>
                <a:rPr lang="en-US" altLang="ko-KR" sz="900" dirty="0" smtClean="0">
                  <a:latin typeface="+mn-ea"/>
                </a:rPr>
                <a:t>')” /&gt;</a:t>
              </a:r>
              <a:r>
                <a:rPr kumimoji="1" lang="ko-KR" altLang="en-US" sz="900" dirty="0" smtClean="0">
                  <a:solidFill>
                    <a:srgbClr val="000000"/>
                  </a:solidFill>
                  <a:latin typeface="+mn-ea"/>
                </a:rPr>
                <a:t>  </a:t>
              </a:r>
            </a:p>
          </p:txBody>
        </p:sp>
        <p:sp>
          <p:nvSpPr>
            <p:cNvPr id="35" name="Rectangle 559"/>
            <p:cNvSpPr>
              <a:spLocks noChangeArrowheads="1"/>
            </p:cNvSpPr>
            <p:nvPr/>
          </p:nvSpPr>
          <p:spPr bwMode="auto">
            <a:xfrm>
              <a:off x="3452802" y="4289989"/>
              <a:ext cx="571504" cy="49633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중국</a:t>
              </a:r>
              <a:endParaRPr lang="en-US" altLang="ko-KR" sz="9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  <a:p>
              <a:pPr algn="ctr" latinLnBrk="0"/>
              <a:r>
                <a:rPr lang="ko-KR" altLang="en-US" sz="9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개발자</a:t>
              </a:r>
              <a:endParaRPr lang="en-US" altLang="ko-KR" sz="9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43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67644" y="2524481"/>
            <a:ext cx="1643074" cy="914210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</p:pic>
      <p:grpSp>
        <p:nvGrpSpPr>
          <p:cNvPr id="49" name="그룹 48"/>
          <p:cNvGrpSpPr/>
          <p:nvPr/>
        </p:nvGrpSpPr>
        <p:grpSpPr>
          <a:xfrm>
            <a:off x="7667644" y="4214817"/>
            <a:ext cx="1714512" cy="1357323"/>
            <a:chOff x="7596206" y="4214817"/>
            <a:chExt cx="1785950" cy="1357323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8096272" y="4577751"/>
              <a:ext cx="1285883" cy="2923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8096273" y="4214818"/>
              <a:ext cx="1285883" cy="3012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8096272" y="4912279"/>
              <a:ext cx="1285883" cy="3133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8096273" y="5317519"/>
              <a:ext cx="1285883" cy="2546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45" name="Rectangle 559"/>
            <p:cNvSpPr>
              <a:spLocks noChangeArrowheads="1"/>
            </p:cNvSpPr>
            <p:nvPr/>
          </p:nvSpPr>
          <p:spPr bwMode="auto">
            <a:xfrm>
              <a:off x="7596207" y="4214817"/>
              <a:ext cx="428628" cy="28575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8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한국</a:t>
              </a:r>
              <a:endParaRPr lang="en-US" altLang="ko-KR" sz="8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  <a:p>
              <a:pPr algn="ctr" latinLnBrk="0"/>
              <a:r>
                <a:rPr lang="ko-KR" altLang="en-US" sz="8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사용자</a:t>
              </a:r>
              <a:endParaRPr lang="en-US" altLang="ko-KR" sz="8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6" name="Rectangle 559"/>
            <p:cNvSpPr>
              <a:spLocks noChangeArrowheads="1"/>
            </p:cNvSpPr>
            <p:nvPr/>
          </p:nvSpPr>
          <p:spPr bwMode="auto">
            <a:xfrm>
              <a:off x="7596206" y="4572008"/>
              <a:ext cx="428628" cy="28575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8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일본</a:t>
              </a:r>
              <a:endParaRPr lang="en-US" altLang="ko-KR" sz="8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  <a:p>
              <a:pPr algn="ctr" latinLnBrk="0"/>
              <a:r>
                <a:rPr lang="ko-KR" altLang="en-US" sz="8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사용자</a:t>
              </a:r>
              <a:endParaRPr lang="en-US" altLang="ko-KR" sz="8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7" name="Rectangle 559"/>
            <p:cNvSpPr>
              <a:spLocks noChangeArrowheads="1"/>
            </p:cNvSpPr>
            <p:nvPr/>
          </p:nvSpPr>
          <p:spPr bwMode="auto">
            <a:xfrm>
              <a:off x="7596206" y="4929197"/>
              <a:ext cx="428628" cy="28575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800" b="1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중국</a:t>
              </a:r>
              <a:endParaRPr lang="en-US" altLang="ko-KR" sz="8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  <a:p>
              <a:pPr algn="ctr" latinLnBrk="0"/>
              <a:r>
                <a:rPr lang="ko-KR" altLang="en-US" sz="8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사용자</a:t>
              </a:r>
              <a:endParaRPr lang="en-US" altLang="ko-KR" sz="8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8" name="Rectangle 559"/>
            <p:cNvSpPr>
              <a:spLocks noChangeArrowheads="1"/>
            </p:cNvSpPr>
            <p:nvPr/>
          </p:nvSpPr>
          <p:spPr bwMode="auto">
            <a:xfrm>
              <a:off x="7596206" y="5286387"/>
              <a:ext cx="428628" cy="28575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/>
              <a:r>
                <a:rPr lang="ko-KR" altLang="en-US" sz="8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미국</a:t>
              </a:r>
              <a:endParaRPr lang="en-US" altLang="ko-KR" sz="8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  <a:p>
              <a:pPr algn="ctr" latinLnBrk="0"/>
              <a:r>
                <a:rPr lang="ko-KR" altLang="en-US" sz="800" b="1" dirty="0" smtClean="0">
                  <a:gradFill>
                    <a:gsLst>
                      <a:gs pos="5000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맑은 고딕" pitchFamily="50" charset="-127"/>
                  <a:ea typeface="맑은 고딕" pitchFamily="50" charset="-127"/>
                </a:rPr>
                <a:t>사용자</a:t>
              </a:r>
              <a:endParaRPr lang="en-US" altLang="ko-KR" sz="8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51" name="직사각형 50"/>
          <p:cNvSpPr/>
          <p:nvPr/>
        </p:nvSpPr>
        <p:spPr>
          <a:xfrm>
            <a:off x="8705658" y="2714620"/>
            <a:ext cx="683764" cy="142876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2" name="직선 화살표 연결선 51"/>
          <p:cNvCxnSpPr>
            <a:endCxn id="50" idx="0"/>
          </p:cNvCxnSpPr>
          <p:nvPr/>
        </p:nvCxnSpPr>
        <p:spPr>
          <a:xfrm rot="5400000">
            <a:off x="8221289" y="3125389"/>
            <a:ext cx="1071570" cy="53578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/>
          <p:cNvCxnSpPr>
            <a:stCxn id="38" idx="3"/>
            <a:endCxn id="45" idx="1"/>
          </p:cNvCxnSpPr>
          <p:nvPr/>
        </p:nvCxnSpPr>
        <p:spPr>
          <a:xfrm>
            <a:off x="7310454" y="4330521"/>
            <a:ext cx="357191" cy="2717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/>
          <p:cNvCxnSpPr>
            <a:stCxn id="38" idx="3"/>
            <a:endCxn id="46" idx="1"/>
          </p:cNvCxnSpPr>
          <p:nvPr/>
        </p:nvCxnSpPr>
        <p:spPr>
          <a:xfrm>
            <a:off x="7310454" y="4330521"/>
            <a:ext cx="357190" cy="38436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>
            <a:stCxn id="38" idx="3"/>
            <a:endCxn id="47" idx="1"/>
          </p:cNvCxnSpPr>
          <p:nvPr/>
        </p:nvCxnSpPr>
        <p:spPr>
          <a:xfrm>
            <a:off x="7310454" y="4330521"/>
            <a:ext cx="357190" cy="74155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>
            <a:stCxn id="38" idx="3"/>
            <a:endCxn id="48" idx="1"/>
          </p:cNvCxnSpPr>
          <p:nvPr/>
        </p:nvCxnSpPr>
        <p:spPr>
          <a:xfrm>
            <a:off x="7310454" y="4330521"/>
            <a:ext cx="357190" cy="109874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/>
          <p:cNvCxnSpPr>
            <a:stCxn id="29" idx="3"/>
            <a:endCxn id="45" idx="1"/>
          </p:cNvCxnSpPr>
          <p:nvPr/>
        </p:nvCxnSpPr>
        <p:spPr>
          <a:xfrm flipV="1">
            <a:off x="7310454" y="4357694"/>
            <a:ext cx="357191" cy="54433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/>
          <p:cNvCxnSpPr>
            <a:stCxn id="29" idx="3"/>
            <a:endCxn id="46" idx="1"/>
          </p:cNvCxnSpPr>
          <p:nvPr/>
        </p:nvCxnSpPr>
        <p:spPr>
          <a:xfrm flipV="1">
            <a:off x="7310454" y="4714885"/>
            <a:ext cx="357190" cy="1871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/>
          <p:cNvCxnSpPr>
            <a:stCxn id="29" idx="3"/>
            <a:endCxn id="47" idx="1"/>
          </p:cNvCxnSpPr>
          <p:nvPr/>
        </p:nvCxnSpPr>
        <p:spPr>
          <a:xfrm>
            <a:off x="7310454" y="4902025"/>
            <a:ext cx="357190" cy="17004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/>
          <p:cNvCxnSpPr>
            <a:stCxn id="29" idx="3"/>
            <a:endCxn id="48" idx="1"/>
          </p:cNvCxnSpPr>
          <p:nvPr/>
        </p:nvCxnSpPr>
        <p:spPr>
          <a:xfrm>
            <a:off x="7310454" y="4902025"/>
            <a:ext cx="357190" cy="52723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/>
          <p:cNvCxnSpPr>
            <a:stCxn id="34" idx="3"/>
            <a:endCxn id="45" idx="1"/>
          </p:cNvCxnSpPr>
          <p:nvPr/>
        </p:nvCxnSpPr>
        <p:spPr>
          <a:xfrm flipV="1">
            <a:off x="7310454" y="4357694"/>
            <a:ext cx="357191" cy="110728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/>
          <p:cNvCxnSpPr>
            <a:stCxn id="34" idx="3"/>
            <a:endCxn id="46" idx="1"/>
          </p:cNvCxnSpPr>
          <p:nvPr/>
        </p:nvCxnSpPr>
        <p:spPr>
          <a:xfrm flipV="1">
            <a:off x="7310454" y="4714885"/>
            <a:ext cx="357190" cy="75009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/>
          <p:cNvCxnSpPr>
            <a:stCxn id="34" idx="3"/>
          </p:cNvCxnSpPr>
          <p:nvPr/>
        </p:nvCxnSpPr>
        <p:spPr>
          <a:xfrm flipV="1">
            <a:off x="7310454" y="5000637"/>
            <a:ext cx="357191" cy="46434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/>
          <p:cNvCxnSpPr>
            <a:stCxn id="34" idx="3"/>
            <a:endCxn id="48" idx="1"/>
          </p:cNvCxnSpPr>
          <p:nvPr/>
        </p:nvCxnSpPr>
        <p:spPr>
          <a:xfrm flipV="1">
            <a:off x="7310454" y="5429264"/>
            <a:ext cx="357190" cy="3571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/>
          <p:cNvCxnSpPr>
            <a:stCxn id="92" idx="3"/>
            <a:endCxn id="41" idx="1"/>
          </p:cNvCxnSpPr>
          <p:nvPr/>
        </p:nvCxnSpPr>
        <p:spPr>
          <a:xfrm>
            <a:off x="3095612" y="4036223"/>
            <a:ext cx="357190" cy="82164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Framework – </a:t>
            </a:r>
            <a:r>
              <a:rPr lang="en-US" altLang="ko-KR" dirty="0" err="1" smtClean="0"/>
              <a:t>jQuery</a:t>
            </a:r>
            <a:r>
              <a:rPr lang="en-US" altLang="ko-KR" dirty="0" smtClean="0"/>
              <a:t> Grid </a:t>
            </a:r>
            <a:endParaRPr lang="ko-KR" altLang="en-US" dirty="0"/>
          </a:p>
        </p:txBody>
      </p:sp>
      <p:sp>
        <p:nvSpPr>
          <p:cNvPr id="225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smtClean="0"/>
              <a:t>6</a:t>
            </a:r>
            <a:endParaRPr lang="ko-KR" altLang="en-US" dirty="0"/>
          </a:p>
        </p:txBody>
      </p:sp>
      <p:sp>
        <p:nvSpPr>
          <p:cNvPr id="224" name="Rectangle 108"/>
          <p:cNvSpPr>
            <a:spLocks noChangeArrowheads="1"/>
          </p:cNvSpPr>
          <p:nvPr/>
        </p:nvSpPr>
        <p:spPr bwMode="auto">
          <a:xfrm>
            <a:off x="344488" y="980728"/>
            <a:ext cx="9217025" cy="648072"/>
          </a:xfrm>
          <a:prstGeom prst="rect">
            <a:avLst/>
          </a:prstGeom>
          <a:solidFill>
            <a:srgbClr val="F0F8FA">
              <a:alpha val="50000"/>
            </a:srgbClr>
          </a:solidFill>
          <a:ln w="9525">
            <a:solidFill>
              <a:schemeClr val="tx2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atinLnBrk="0"/>
            <a:r>
              <a:rPr kumimoji="1" lang="en-US" altLang="ko-KR" sz="1400" dirty="0" err="1" smtClean="0">
                <a:solidFill>
                  <a:srgbClr val="000000"/>
                </a:solidFill>
                <a:latin typeface="+mn-ea"/>
              </a:rPr>
              <a:t>JQuery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+mn-ea"/>
              </a:rPr>
              <a:t> Grid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</a:rPr>
              <a:t>는 </a:t>
            </a:r>
            <a:r>
              <a:rPr kumimoji="1" lang="en-US" altLang="ko-KR" sz="1400" dirty="0" err="1" smtClean="0">
                <a:solidFill>
                  <a:srgbClr val="000000"/>
                </a:solidFill>
                <a:latin typeface="+mn-ea"/>
              </a:rPr>
              <a:t>Jquery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</a:rPr>
              <a:t>기반의 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+mn-ea"/>
              </a:rPr>
              <a:t>Grid Component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</a:rPr>
              <a:t>입니다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+mn-ea"/>
              </a:rPr>
              <a:t>. 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</a:rPr>
              <a:t>편집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+mn-ea"/>
              </a:rPr>
              <a:t>, </a:t>
            </a:r>
            <a:r>
              <a:rPr kumimoji="1" lang="ko-KR" altLang="en-US" sz="1400" dirty="0" err="1" smtClean="0">
                <a:solidFill>
                  <a:srgbClr val="000000"/>
                </a:solidFill>
                <a:latin typeface="+mn-ea"/>
              </a:rPr>
              <a:t>페이징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+mn-ea"/>
              </a:rPr>
              <a:t>, 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</a:rPr>
              <a:t>검색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+mn-ea"/>
              </a:rPr>
              <a:t>, 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</a:rPr>
              <a:t>정렬 등의 기능을 제공하여 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+mn-ea"/>
              </a:rPr>
              <a:t>HTML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</a:rPr>
              <a:t>을 사용하여 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+mn-ea"/>
              </a:rPr>
              <a:t>Table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</a:rPr>
              <a:t>을 구성하는 것보다 사용자에게 편리함을 제공합니다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+mn-ea"/>
              </a:rPr>
              <a:t>.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+mn-ea"/>
              </a:rPr>
              <a:t> </a:t>
            </a:r>
          </a:p>
        </p:txBody>
      </p:sp>
      <p:sp>
        <p:nvSpPr>
          <p:cNvPr id="14" name="Rectangle 93"/>
          <p:cNvSpPr>
            <a:spLocks noChangeArrowheads="1"/>
          </p:cNvSpPr>
          <p:nvPr/>
        </p:nvSpPr>
        <p:spPr bwMode="auto">
          <a:xfrm>
            <a:off x="344488" y="1698079"/>
            <a:ext cx="9217025" cy="4467771"/>
          </a:xfrm>
          <a:prstGeom prst="rect">
            <a:avLst/>
          </a:prstGeom>
          <a:noFill/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b="0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128"/>
          <p:cNvSpPr>
            <a:spLocks noChangeArrowheads="1"/>
          </p:cNvSpPr>
          <p:nvPr/>
        </p:nvSpPr>
        <p:spPr bwMode="auto">
          <a:xfrm>
            <a:off x="5102805" y="1855260"/>
            <a:ext cx="4304070" cy="268321"/>
          </a:xfrm>
          <a:prstGeom prst="rect">
            <a:avLst/>
          </a:prstGeom>
          <a:blipFill dpi="0" rotWithShape="1">
            <a:blip r:embed="rId2" cstate="print">
              <a:lum bright="12000"/>
            </a:blip>
            <a:srcRect/>
            <a:stretch>
              <a:fillRect/>
            </a:stretch>
          </a:blipFill>
          <a:ln w="9525" algn="ctr">
            <a:solidFill>
              <a:srgbClr val="3991BD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wrap="none" anchor="ctr"/>
          <a:lstStyle/>
          <a:p>
            <a:pPr algn="ctr" defTabSz="968375">
              <a:lnSpc>
                <a:spcPct val="100000"/>
              </a:lnSpc>
            </a:pPr>
            <a:r>
              <a:rPr lang="ko-KR" altLang="en-US" sz="1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편리한 고객 </a:t>
            </a:r>
            <a:r>
              <a:rPr lang="ko-KR" altLang="en-US" sz="11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사용성</a:t>
            </a:r>
            <a:endParaRPr lang="en-US" altLang="ko-KR" sz="11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128"/>
          <p:cNvSpPr>
            <a:spLocks noChangeArrowheads="1"/>
          </p:cNvSpPr>
          <p:nvPr/>
        </p:nvSpPr>
        <p:spPr bwMode="auto">
          <a:xfrm>
            <a:off x="508790" y="1855260"/>
            <a:ext cx="4304070" cy="268321"/>
          </a:xfrm>
          <a:prstGeom prst="rect">
            <a:avLst/>
          </a:prstGeom>
          <a:blipFill dpi="0" rotWithShape="1">
            <a:blip r:embed="rId2" cstate="print">
              <a:lum bright="12000"/>
            </a:blip>
            <a:srcRect/>
            <a:stretch>
              <a:fillRect/>
            </a:stretch>
          </a:blipFill>
          <a:ln w="9525" algn="ctr">
            <a:solidFill>
              <a:srgbClr val="3991BD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wrap="none" anchor="ctr"/>
          <a:lstStyle/>
          <a:p>
            <a:pPr algn="ctr" defTabSz="968375">
              <a:lnSpc>
                <a:spcPct val="100000"/>
              </a:lnSpc>
            </a:pPr>
            <a:r>
              <a:rPr lang="ko-KR" altLang="en-US" sz="1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쉬운 </a:t>
            </a:r>
            <a:r>
              <a:rPr lang="ko-KR" altLang="en-US" sz="11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그리드</a:t>
            </a:r>
            <a:r>
              <a:rPr lang="ko-KR" altLang="en-US" sz="11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개발</a:t>
            </a:r>
            <a:endParaRPr lang="en-US" altLang="ko-KR" sz="11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93"/>
          <p:cNvSpPr>
            <a:spLocks noChangeArrowheads="1"/>
          </p:cNvSpPr>
          <p:nvPr/>
        </p:nvSpPr>
        <p:spPr bwMode="auto">
          <a:xfrm>
            <a:off x="5102805" y="2118817"/>
            <a:ext cx="4307292" cy="3669161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algn="ctr">
              <a:defRPr/>
            </a:pPr>
            <a:endParaRPr lang="ko-KR" altLang="en-US" sz="11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Rectangle 93"/>
          <p:cNvSpPr>
            <a:spLocks noChangeArrowheads="1"/>
          </p:cNvSpPr>
          <p:nvPr/>
        </p:nvSpPr>
        <p:spPr bwMode="auto">
          <a:xfrm>
            <a:off x="508790" y="2128344"/>
            <a:ext cx="4304070" cy="3669161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algn="ctr">
              <a:defRPr/>
            </a:pPr>
            <a:endParaRPr lang="ko-KR" altLang="en-US" sz="1100" b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6758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6536" y="2348880"/>
            <a:ext cx="3672408" cy="2448272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</p:pic>
      <p:pic>
        <p:nvPicPr>
          <p:cNvPr id="67589" name="Picture 5" descr="http://cfile9.uf.tistory.com/image/233DCD395433498526975C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78074" y="2348880"/>
            <a:ext cx="3895406" cy="1473151"/>
          </a:xfrm>
          <a:prstGeom prst="rect">
            <a:avLst/>
          </a:prstGeom>
          <a:noFill/>
        </p:spPr>
      </p:pic>
      <p:sp>
        <p:nvSpPr>
          <p:cNvPr id="10" name="AutoShape 214"/>
          <p:cNvSpPr>
            <a:spLocks noChangeArrowheads="1"/>
          </p:cNvSpPr>
          <p:nvPr/>
        </p:nvSpPr>
        <p:spPr bwMode="auto">
          <a:xfrm>
            <a:off x="5450082" y="3998952"/>
            <a:ext cx="864096" cy="78597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 algn="ctr">
            <a:solidFill>
              <a:srgbClr val="9EBFD6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1" smtClean="0">
                <a:latin typeface="+mn-ea"/>
              </a:rPr>
              <a:t>정렬</a:t>
            </a:r>
            <a:endParaRPr lang="ko-KR" altLang="en-US" sz="1200" b="1" dirty="0" smtClean="0">
              <a:latin typeface="+mn-ea"/>
            </a:endParaRPr>
          </a:p>
        </p:txBody>
      </p:sp>
      <p:sp>
        <p:nvSpPr>
          <p:cNvPr id="11" name="AutoShape 214"/>
          <p:cNvSpPr>
            <a:spLocks noChangeArrowheads="1"/>
          </p:cNvSpPr>
          <p:nvPr/>
        </p:nvSpPr>
        <p:spPr bwMode="auto">
          <a:xfrm>
            <a:off x="6386186" y="3998952"/>
            <a:ext cx="864096" cy="78597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 algn="ctr">
            <a:solidFill>
              <a:srgbClr val="9EBFD6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1" smtClean="0">
                <a:latin typeface="+mn-ea"/>
              </a:rPr>
              <a:t>검색</a:t>
            </a:r>
            <a:endParaRPr lang="ko-KR" altLang="en-US" sz="1200" b="1" dirty="0" smtClean="0">
              <a:latin typeface="+mn-ea"/>
            </a:endParaRPr>
          </a:p>
        </p:txBody>
      </p:sp>
      <p:sp>
        <p:nvSpPr>
          <p:cNvPr id="12" name="AutoShape 214"/>
          <p:cNvSpPr>
            <a:spLocks noChangeArrowheads="1"/>
          </p:cNvSpPr>
          <p:nvPr/>
        </p:nvSpPr>
        <p:spPr bwMode="auto">
          <a:xfrm>
            <a:off x="7394298" y="3998952"/>
            <a:ext cx="864096" cy="78597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 algn="ctr">
            <a:solidFill>
              <a:srgbClr val="9EBFD6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1" smtClean="0">
                <a:latin typeface="+mn-ea"/>
              </a:rPr>
              <a:t>편집</a:t>
            </a:r>
            <a:endParaRPr lang="ko-KR" altLang="en-US" sz="1200" b="1" dirty="0" smtClean="0">
              <a:latin typeface="+mn-ea"/>
            </a:endParaRPr>
          </a:p>
        </p:txBody>
      </p:sp>
      <p:sp>
        <p:nvSpPr>
          <p:cNvPr id="13" name="AutoShape 214"/>
          <p:cNvSpPr>
            <a:spLocks noChangeArrowheads="1"/>
          </p:cNvSpPr>
          <p:nvPr/>
        </p:nvSpPr>
        <p:spPr bwMode="auto">
          <a:xfrm>
            <a:off x="8330402" y="3998952"/>
            <a:ext cx="864096" cy="78597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 algn="ctr">
            <a:solidFill>
              <a:srgbClr val="9EBFD6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b="1" dirty="0" err="1" smtClean="0">
                <a:latin typeface="+mn-ea"/>
              </a:rPr>
              <a:t>페이징</a:t>
            </a:r>
            <a:endParaRPr lang="ko-KR" altLang="en-US" sz="1200" b="1" dirty="0" smtClean="0">
              <a:latin typeface="+mn-ea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313040" y="2414776"/>
            <a:ext cx="576064" cy="216024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/>
          <p:cNvCxnSpPr>
            <a:stCxn id="19" idx="2"/>
            <a:endCxn id="10" idx="0"/>
          </p:cNvCxnSpPr>
          <p:nvPr/>
        </p:nvCxnSpPr>
        <p:spPr>
          <a:xfrm>
            <a:off x="5601072" y="2630800"/>
            <a:ext cx="281058" cy="136815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590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427105" y="5229201"/>
            <a:ext cx="1850418" cy="216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직사각형 23"/>
          <p:cNvSpPr/>
          <p:nvPr/>
        </p:nvSpPr>
        <p:spPr>
          <a:xfrm>
            <a:off x="7329264" y="5157192"/>
            <a:ext cx="2016224" cy="36004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화살표 연결선 24"/>
          <p:cNvCxnSpPr>
            <a:stCxn id="24" idx="0"/>
            <a:endCxn id="12" idx="2"/>
          </p:cNvCxnSpPr>
          <p:nvPr/>
        </p:nvCxnSpPr>
        <p:spPr>
          <a:xfrm flipH="1" flipV="1">
            <a:off x="7826346" y="4784928"/>
            <a:ext cx="511030" cy="37226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6609184" y="3573016"/>
            <a:ext cx="2664296" cy="288032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화살표 연결선 28"/>
          <p:cNvCxnSpPr>
            <a:stCxn id="28" idx="2"/>
            <a:endCxn id="13" idx="0"/>
          </p:cNvCxnSpPr>
          <p:nvPr/>
        </p:nvCxnSpPr>
        <p:spPr>
          <a:xfrm>
            <a:off x="7941332" y="3861048"/>
            <a:ext cx="821118" cy="13790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591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313040" y="5157192"/>
            <a:ext cx="170590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" name="직사각형 33"/>
          <p:cNvSpPr/>
          <p:nvPr/>
        </p:nvSpPr>
        <p:spPr>
          <a:xfrm>
            <a:off x="5241032" y="5013176"/>
            <a:ext cx="1944216" cy="504056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5332918" y="3635085"/>
            <a:ext cx="279648" cy="135632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화살표 연결선 35"/>
          <p:cNvCxnSpPr>
            <a:endCxn id="11" idx="2"/>
          </p:cNvCxnSpPr>
          <p:nvPr/>
        </p:nvCxnSpPr>
        <p:spPr>
          <a:xfrm flipV="1">
            <a:off x="6177136" y="4784928"/>
            <a:ext cx="641098" cy="22824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>
            <a:stCxn id="35" idx="2"/>
            <a:endCxn id="11" idx="0"/>
          </p:cNvCxnSpPr>
          <p:nvPr/>
        </p:nvCxnSpPr>
        <p:spPr>
          <a:xfrm>
            <a:off x="5472742" y="3770717"/>
            <a:ext cx="1345492" cy="22823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108"/>
          <p:cNvSpPr>
            <a:spLocks noChangeArrowheads="1"/>
          </p:cNvSpPr>
          <p:nvPr/>
        </p:nvSpPr>
        <p:spPr bwMode="auto">
          <a:xfrm>
            <a:off x="776536" y="5013176"/>
            <a:ext cx="3600400" cy="648072"/>
          </a:xfrm>
          <a:prstGeom prst="rect">
            <a:avLst/>
          </a:prstGeom>
          <a:solidFill>
            <a:srgbClr val="F0F8FA">
              <a:alpha val="50000"/>
            </a:srgbClr>
          </a:solidFill>
          <a:ln w="9525">
            <a:solidFill>
              <a:schemeClr val="tx2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88900" indent="-88900">
              <a:buFont typeface="Arial" pitchFamily="34" charset="0"/>
              <a:buChar char="•"/>
            </a:pPr>
            <a:r>
              <a:rPr kumimoji="1" lang="ko-KR" altLang="en-US" sz="1100" dirty="0" smtClean="0">
                <a:solidFill>
                  <a:srgbClr val="000000"/>
                </a:solidFill>
                <a:latin typeface="맑은 고딕" pitchFamily="50" charset="-127"/>
              </a:rPr>
              <a:t>복잡하게 </a:t>
            </a:r>
            <a:r>
              <a:rPr kumimoji="1" lang="en-US" altLang="ko-KR" sz="1100" dirty="0" smtClean="0">
                <a:solidFill>
                  <a:srgbClr val="000000"/>
                </a:solidFill>
                <a:latin typeface="맑은 고딕" pitchFamily="50" charset="-127"/>
              </a:rPr>
              <a:t>HTML</a:t>
            </a:r>
            <a:r>
              <a:rPr kumimoji="1" lang="ko-KR" altLang="en-US" sz="1100" dirty="0" smtClean="0">
                <a:solidFill>
                  <a:srgbClr val="000000"/>
                </a:solidFill>
                <a:latin typeface="맑은 고딕" pitchFamily="50" charset="-127"/>
              </a:rPr>
              <a:t>의 테이블 구조가 필요없음</a:t>
            </a:r>
            <a:endParaRPr kumimoji="1" lang="en-US" altLang="ko-KR" sz="1100" dirty="0" smtClean="0">
              <a:solidFill>
                <a:srgbClr val="000000"/>
              </a:solidFill>
              <a:latin typeface="맑은 고딕" pitchFamily="50" charset="-127"/>
            </a:endParaRPr>
          </a:p>
          <a:p>
            <a:pPr marL="88900" indent="-88900">
              <a:buFont typeface="Arial" pitchFamily="34" charset="0"/>
              <a:buChar char="•"/>
            </a:pPr>
            <a:r>
              <a:rPr kumimoji="1" lang="ko-KR" altLang="en-US" sz="1100" dirty="0" smtClean="0">
                <a:solidFill>
                  <a:srgbClr val="000000"/>
                </a:solidFill>
                <a:latin typeface="맑은 고딕" pitchFamily="50" charset="-127"/>
              </a:rPr>
              <a:t>단순하게 </a:t>
            </a:r>
            <a:r>
              <a:rPr kumimoji="1" lang="ko-KR" altLang="en-US" sz="1100" dirty="0" err="1" smtClean="0">
                <a:solidFill>
                  <a:srgbClr val="000000"/>
                </a:solidFill>
                <a:latin typeface="맑은 고딕" pitchFamily="50" charset="-127"/>
              </a:rPr>
              <a:t>컬럼명과</a:t>
            </a:r>
            <a:r>
              <a:rPr kumimoji="1" lang="ko-KR" altLang="en-US" sz="1100" dirty="0" smtClean="0">
                <a:solidFill>
                  <a:srgbClr val="000000"/>
                </a:solidFill>
                <a:latin typeface="맑은 고딕" pitchFamily="50" charset="-127"/>
              </a:rPr>
              <a:t> 속성을 지정하면 </a:t>
            </a:r>
            <a:r>
              <a:rPr kumimoji="1" lang="ko-KR" altLang="en-US" sz="1100" dirty="0" err="1" smtClean="0">
                <a:solidFill>
                  <a:srgbClr val="000000"/>
                </a:solidFill>
                <a:latin typeface="맑은 고딕" pitchFamily="50" charset="-127"/>
              </a:rPr>
              <a:t>그리드가</a:t>
            </a:r>
            <a:r>
              <a:rPr kumimoji="1" lang="ko-KR" altLang="en-US" sz="1100" dirty="0" smtClean="0">
                <a:solidFill>
                  <a:srgbClr val="000000"/>
                </a:solidFill>
                <a:latin typeface="맑은 고딕" pitchFamily="50" charset="-127"/>
              </a:rPr>
              <a:t> 구성됨</a:t>
            </a:r>
          </a:p>
        </p:txBody>
      </p:sp>
      <p:sp>
        <p:nvSpPr>
          <p:cNvPr id="3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3797300" y="6492899"/>
            <a:ext cx="2311400" cy="276999"/>
          </a:xfrm>
        </p:spPr>
        <p:txBody>
          <a:bodyPr wrap="square">
            <a:spAutoFit/>
          </a:bodyPr>
          <a:lstStyle/>
          <a:p>
            <a:pPr algn="ctr"/>
            <a:r>
              <a:rPr lang="en-US" altLang="ko-KR" dirty="0" smtClean="0">
                <a:latin typeface="+mn-ea"/>
              </a:rPr>
              <a:t>- 10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-</a:t>
            </a:r>
            <a:endParaRPr lang="ko-KR" altLang="en-US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93"/>
          <p:cNvSpPr>
            <a:spLocks noChangeArrowheads="1"/>
          </p:cNvSpPr>
          <p:nvPr/>
        </p:nvSpPr>
        <p:spPr bwMode="auto">
          <a:xfrm>
            <a:off x="488504" y="4077072"/>
            <a:ext cx="3240360" cy="1944216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algn="ctr">
              <a:defRPr/>
            </a:pPr>
            <a:endParaRPr lang="ko-KR" altLang="en-US" sz="11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Framework – </a:t>
            </a:r>
            <a:r>
              <a:rPr lang="ko-KR" altLang="en-US" dirty="0" err="1" smtClean="0"/>
              <a:t>웹서비스</a:t>
            </a:r>
            <a:r>
              <a:rPr lang="ko-KR" altLang="en-US" dirty="0" smtClean="0"/>
              <a:t> 연계관리</a:t>
            </a:r>
            <a:endParaRPr lang="ko-KR" altLang="en-US" dirty="0"/>
          </a:p>
        </p:txBody>
      </p:sp>
      <p:sp>
        <p:nvSpPr>
          <p:cNvPr id="225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smtClean="0"/>
              <a:t>6</a:t>
            </a:r>
            <a:endParaRPr lang="ko-KR" altLang="en-US" dirty="0"/>
          </a:p>
        </p:txBody>
      </p:sp>
      <p:sp>
        <p:nvSpPr>
          <p:cNvPr id="224" name="Rectangle 108"/>
          <p:cNvSpPr>
            <a:spLocks noChangeArrowheads="1"/>
          </p:cNvSpPr>
          <p:nvPr/>
        </p:nvSpPr>
        <p:spPr bwMode="auto">
          <a:xfrm>
            <a:off x="344488" y="980728"/>
            <a:ext cx="9217025" cy="648072"/>
          </a:xfrm>
          <a:prstGeom prst="rect">
            <a:avLst/>
          </a:prstGeom>
          <a:solidFill>
            <a:srgbClr val="F0F8FA">
              <a:alpha val="50000"/>
            </a:srgbClr>
          </a:solidFill>
          <a:ln w="9525">
            <a:solidFill>
              <a:schemeClr val="tx2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atinLnBrk="0"/>
            <a:r>
              <a:rPr kumimoji="1" lang="ko-KR" altLang="en-US" sz="1400" dirty="0" err="1" smtClean="0">
                <a:solidFill>
                  <a:srgbClr val="000000"/>
                </a:solidFill>
                <a:latin typeface="맑은 고딕" pitchFamily="50" charset="-127"/>
              </a:rPr>
              <a:t>웹서비스방식의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맑은 고딕" pitchFamily="50" charset="-127"/>
              </a:rPr>
              <a:t> 연계관리는 연계파트너 관리에 설정되며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맑은 고딕" pitchFamily="50" charset="-127"/>
              </a:rPr>
              <a:t>, 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맑은 고딕" pitchFamily="50" charset="-127"/>
              </a:rPr>
              <a:t>고객사간 </a:t>
            </a:r>
            <a:r>
              <a:rPr kumimoji="1" lang="ko-KR" altLang="en-US" sz="1400" dirty="0" err="1" smtClean="0">
                <a:solidFill>
                  <a:srgbClr val="000000"/>
                </a:solidFill>
                <a:latin typeface="맑은 고딕" pitchFamily="50" charset="-127"/>
              </a:rPr>
              <a:t>웹서비스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맑은 고딕" pitchFamily="50" charset="-127"/>
              </a:rPr>
              <a:t> 연계는 송수신현황을 통해 모니터링 할 수 있으며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맑은 고딕" pitchFamily="50" charset="-127"/>
              </a:rPr>
              <a:t>, 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맑은 고딕" pitchFamily="50" charset="-127"/>
              </a:rPr>
              <a:t>송수신문서상세를 통해 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맑은 고딕" pitchFamily="50" charset="-127"/>
              </a:rPr>
              <a:t>XML</a:t>
            </a:r>
            <a:r>
              <a:rPr kumimoji="1" lang="ko-KR" altLang="en-US" sz="1400" dirty="0" smtClean="0">
                <a:solidFill>
                  <a:srgbClr val="000000"/>
                </a:solidFill>
                <a:latin typeface="맑은 고딕" pitchFamily="50" charset="-127"/>
              </a:rPr>
              <a:t>문서를 확인 할 수 있습니다</a:t>
            </a:r>
            <a:r>
              <a:rPr kumimoji="1" lang="en-US" altLang="ko-KR" sz="1400" dirty="0" smtClean="0">
                <a:solidFill>
                  <a:srgbClr val="000000"/>
                </a:solidFill>
                <a:latin typeface="맑은 고딕" pitchFamily="50" charset="-127"/>
              </a:rPr>
              <a:t>.</a:t>
            </a:r>
            <a:endParaRPr kumimoji="1" lang="ko-KR" altLang="en-US" sz="1400" dirty="0" smtClean="0">
              <a:solidFill>
                <a:srgbClr val="000000"/>
              </a:solidFill>
              <a:latin typeface="맑은 고딕" pitchFamily="50" charset="-127"/>
            </a:endParaRPr>
          </a:p>
        </p:txBody>
      </p:sp>
      <p:pic>
        <p:nvPicPr>
          <p:cNvPr id="6656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28864" y="2276872"/>
            <a:ext cx="2481448" cy="136872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</p:pic>
      <p:pic>
        <p:nvPicPr>
          <p:cNvPr id="665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36976" y="4629075"/>
            <a:ext cx="2736304" cy="139221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</p:pic>
      <p:pic>
        <p:nvPicPr>
          <p:cNvPr id="6656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05328" y="4892910"/>
            <a:ext cx="1512169" cy="1213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직사각형 10"/>
          <p:cNvSpPr/>
          <p:nvPr/>
        </p:nvSpPr>
        <p:spPr>
          <a:xfrm>
            <a:off x="488504" y="1844824"/>
            <a:ext cx="1728192" cy="34547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latinLnBrk="0">
              <a:defRPr/>
            </a:pPr>
            <a:r>
              <a:rPr lang="ko-KR" altLang="en-US" sz="1200" b="1" kern="0" dirty="0" smtClean="0">
                <a:solidFill>
                  <a:sysClr val="window" lastClr="FFFFFF"/>
                </a:solidFill>
                <a:latin typeface="+mn-ea"/>
              </a:rPr>
              <a:t>연계파트너 관리</a:t>
            </a:r>
            <a:endParaRPr lang="ko-KR" altLang="en-US" sz="1200" b="1" kern="0" dirty="0">
              <a:solidFill>
                <a:sysClr val="window" lastClr="FFFFFF"/>
              </a:solidFill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728864" y="1844824"/>
            <a:ext cx="1728192" cy="34547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  <a:cs typeface="+mn-cs"/>
              </a:rPr>
              <a:t>송수신 현황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4736976" y="4221088"/>
            <a:ext cx="1728192" cy="34547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latinLnBrk="0">
              <a:defRPr/>
            </a:pPr>
            <a:r>
              <a:rPr lang="ko-KR" altLang="en-US" sz="1200" b="1" kern="0" dirty="0" smtClean="0">
                <a:solidFill>
                  <a:sysClr val="window" lastClr="FFFFFF"/>
                </a:solidFill>
                <a:latin typeface="+mn-ea"/>
              </a:rPr>
              <a:t>송수신 문서 상세</a:t>
            </a:r>
            <a:endParaRPr lang="ko-KR" altLang="en-US" sz="1200" b="1" kern="0" dirty="0">
              <a:solidFill>
                <a:sysClr val="window" lastClr="FFFFFF"/>
              </a:solidFill>
              <a:latin typeface="+mn-ea"/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7905328" y="4653136"/>
            <a:ext cx="1080120" cy="204947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en-US" altLang="ko-KR" sz="1000" b="1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XML </a:t>
            </a:r>
            <a:r>
              <a:rPr lang="ko-KR" altLang="en-US" sz="1000" b="1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원본보기</a:t>
            </a:r>
            <a:endParaRPr lang="en-US" altLang="ko-KR" sz="1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7905328" y="3933056"/>
            <a:ext cx="1512168" cy="288032"/>
          </a:xfrm>
          <a:prstGeom prst="rect">
            <a:avLst/>
          </a:prstGeom>
          <a:solidFill>
            <a:srgbClr val="9DB7CF"/>
          </a:solidFill>
          <a:ln w="3175" algn="ctr">
            <a:solidFill>
              <a:srgbClr val="6F99B9"/>
            </a:solidFill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/>
            <a:r>
              <a:rPr lang="ko-KR" altLang="en-US" sz="1000" b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오류 발생시 재처리</a:t>
            </a:r>
            <a:endParaRPr lang="en-US" altLang="ko-KR" sz="1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6321152" y="5733256"/>
            <a:ext cx="432048" cy="216024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/>
          <p:cNvCxnSpPr>
            <a:stCxn id="17" idx="3"/>
            <a:endCxn id="66564" idx="1"/>
          </p:cNvCxnSpPr>
          <p:nvPr/>
        </p:nvCxnSpPr>
        <p:spPr>
          <a:xfrm flipV="1">
            <a:off x="6753200" y="5499440"/>
            <a:ext cx="1152128" cy="34182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7041232" y="4748894"/>
            <a:ext cx="432048" cy="216024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화살표 연결선 22"/>
          <p:cNvCxnSpPr>
            <a:stCxn id="22" idx="3"/>
            <a:endCxn id="16" idx="1"/>
          </p:cNvCxnSpPr>
          <p:nvPr/>
        </p:nvCxnSpPr>
        <p:spPr>
          <a:xfrm flipV="1">
            <a:off x="7473280" y="4077072"/>
            <a:ext cx="432048" cy="77983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AutoShape 439"/>
          <p:cNvSpPr>
            <a:spLocks noChangeArrowheads="1"/>
          </p:cNvSpPr>
          <p:nvPr/>
        </p:nvSpPr>
        <p:spPr bwMode="auto">
          <a:xfrm>
            <a:off x="3152800" y="2348880"/>
            <a:ext cx="576065" cy="936104"/>
          </a:xfrm>
          <a:prstGeom prst="rightArrow">
            <a:avLst>
              <a:gd name="adj1" fmla="val 61624"/>
              <a:gd name="adj2" fmla="val 61587"/>
            </a:avLst>
          </a:prstGeom>
          <a:solidFill>
            <a:schemeClr val="accent4">
              <a:lumMod val="60000"/>
              <a:lumOff val="40000"/>
            </a:schemeClr>
          </a:solidFill>
          <a:ln w="3175" algn="ctr">
            <a:solidFill>
              <a:schemeClr val="accent4">
                <a:lumMod val="60000"/>
                <a:lumOff val="40000"/>
              </a:schemeClr>
            </a:solidFill>
            <a:miter lim="800000"/>
            <a:headEnd type="none" w="sm" len="sm"/>
            <a:tailEnd type="none" w="sm" len="med"/>
          </a:ln>
        </p:spPr>
        <p:txBody>
          <a:bodyPr wrap="none" anchor="ctr"/>
          <a:lstStyle/>
          <a:p>
            <a:pPr algn="ctr" defTabSz="1514475" fontAlgn="base" latinLnBrk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>
                <a:srgbClr val="3683D0"/>
              </a:buClr>
              <a:buSzPct val="90000"/>
              <a:buFont typeface="Wingdings 2" pitchFamily="18" charset="2"/>
              <a:buNone/>
            </a:pPr>
            <a:endParaRPr kumimoji="1" lang="ko-KR" altLang="ko-KR" sz="900" b="1" dirty="0">
              <a:solidFill>
                <a:prstClr val="black"/>
              </a:solidFill>
              <a:latin typeface="+mn-ea"/>
              <a:cs typeface="Arial Unicode MS" pitchFamily="50" charset="-127"/>
            </a:endParaRPr>
          </a:p>
        </p:txBody>
      </p:sp>
      <p:sp>
        <p:nvSpPr>
          <p:cNvPr id="27" name="AutoShape 439"/>
          <p:cNvSpPr>
            <a:spLocks noChangeArrowheads="1"/>
          </p:cNvSpPr>
          <p:nvPr/>
        </p:nvSpPr>
        <p:spPr bwMode="auto">
          <a:xfrm rot="5400000">
            <a:off x="5349043" y="3465005"/>
            <a:ext cx="576065" cy="936104"/>
          </a:xfrm>
          <a:prstGeom prst="rightArrow">
            <a:avLst>
              <a:gd name="adj1" fmla="val 61624"/>
              <a:gd name="adj2" fmla="val 61587"/>
            </a:avLst>
          </a:prstGeom>
          <a:solidFill>
            <a:schemeClr val="accent4">
              <a:lumMod val="60000"/>
              <a:lumOff val="40000"/>
            </a:schemeClr>
          </a:solidFill>
          <a:ln w="3175" algn="ctr">
            <a:solidFill>
              <a:schemeClr val="accent4">
                <a:lumMod val="60000"/>
                <a:lumOff val="40000"/>
              </a:schemeClr>
            </a:solidFill>
            <a:miter lim="800000"/>
            <a:headEnd type="none" w="sm" len="sm"/>
            <a:tailEnd type="none" w="sm" len="med"/>
          </a:ln>
        </p:spPr>
        <p:txBody>
          <a:bodyPr wrap="none" anchor="ctr"/>
          <a:lstStyle/>
          <a:p>
            <a:pPr algn="ctr" defTabSz="1514475" fontAlgn="base" latinLnBrk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>
                <a:srgbClr val="3683D0"/>
              </a:buClr>
              <a:buSzPct val="90000"/>
              <a:buFont typeface="Wingdings 2" pitchFamily="18" charset="2"/>
              <a:buNone/>
            </a:pPr>
            <a:endParaRPr kumimoji="1" lang="ko-KR" altLang="ko-KR" sz="900" b="1" dirty="0">
              <a:solidFill>
                <a:prstClr val="black"/>
              </a:solidFill>
              <a:latin typeface="+mn-ea"/>
              <a:cs typeface="Arial Unicode MS" pitchFamily="50" charset="-127"/>
            </a:endParaRPr>
          </a:p>
        </p:txBody>
      </p:sp>
      <p:sp>
        <p:nvSpPr>
          <p:cNvPr id="28" name="Rectangle 93"/>
          <p:cNvSpPr>
            <a:spLocks noChangeArrowheads="1"/>
          </p:cNvSpPr>
          <p:nvPr/>
        </p:nvSpPr>
        <p:spPr bwMode="auto">
          <a:xfrm>
            <a:off x="344488" y="1698079"/>
            <a:ext cx="9217025" cy="4467771"/>
          </a:xfrm>
          <a:prstGeom prst="rect">
            <a:avLst/>
          </a:prstGeom>
          <a:noFill/>
          <a:ln w="9525" algn="ctr">
            <a:solidFill>
              <a:srgbClr val="588D9A"/>
            </a:solidFill>
            <a:miter lim="800000"/>
            <a:headEnd/>
            <a:tailEnd/>
          </a:ln>
          <a:effectLst>
            <a:outerShdw dist="35921" dir="2700000" algn="ctr" rotWithShape="0">
              <a:srgbClr val="CCECFF"/>
            </a:outerShdw>
          </a:effectLst>
        </p:spPr>
        <p:txBody>
          <a:bodyPr lIns="53976" tIns="35985" rIns="0" bIns="45702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b="0" kern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66567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121352" y="5120809"/>
            <a:ext cx="1008112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2" name="그룹 31"/>
          <p:cNvGrpSpPr/>
          <p:nvPr/>
        </p:nvGrpSpPr>
        <p:grpSpPr>
          <a:xfrm>
            <a:off x="560512" y="4149080"/>
            <a:ext cx="3024336" cy="1800199"/>
            <a:chOff x="344488" y="1988294"/>
            <a:chExt cx="5761037" cy="4321026"/>
          </a:xfrm>
        </p:grpSpPr>
        <p:sp>
          <p:nvSpPr>
            <p:cNvPr id="33" name="Rectangle 54"/>
            <p:cNvSpPr>
              <a:spLocks noChangeArrowheads="1"/>
            </p:cNvSpPr>
            <p:nvPr/>
          </p:nvSpPr>
          <p:spPr bwMode="auto">
            <a:xfrm>
              <a:off x="2576736" y="2254203"/>
              <a:ext cx="2532221" cy="4055117"/>
            </a:xfrm>
            <a:prstGeom prst="rect">
              <a:avLst/>
            </a:prstGeom>
            <a:gradFill rotWithShape="1">
              <a:gsLst>
                <a:gs pos="0">
                  <a:srgbClr val="CCECFF"/>
                </a:gs>
                <a:gs pos="100000">
                  <a:srgbClr val="99CCFF"/>
                </a:gs>
              </a:gsLst>
              <a:lin ang="0" scaled="1"/>
            </a:gradFill>
            <a:ln w="127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square" anchor="ctr">
              <a:noAutofit/>
            </a:bodyPr>
            <a:lstStyle/>
            <a:p>
              <a:endParaRPr lang="ko-KR" altLang="en-US" sz="800">
                <a:latin typeface="+mn-ea"/>
              </a:endParaRPr>
            </a:p>
          </p:txBody>
        </p:sp>
        <p:grpSp>
          <p:nvGrpSpPr>
            <p:cNvPr id="34" name="그룹 67"/>
            <p:cNvGrpSpPr/>
            <p:nvPr/>
          </p:nvGrpSpPr>
          <p:grpSpPr>
            <a:xfrm>
              <a:off x="2843831" y="5365847"/>
              <a:ext cx="2129231" cy="810519"/>
              <a:chOff x="4160594" y="4927313"/>
              <a:chExt cx="3384694" cy="1238537"/>
            </a:xfrm>
          </p:grpSpPr>
          <p:sp>
            <p:nvSpPr>
              <p:cNvPr id="81" name="모서리가 둥근 직사각형 80"/>
              <p:cNvSpPr/>
              <p:nvPr/>
            </p:nvSpPr>
            <p:spPr bwMode="auto">
              <a:xfrm>
                <a:off x="4880676" y="4941168"/>
                <a:ext cx="2664612" cy="1224682"/>
              </a:xfrm>
              <a:prstGeom prst="roundRect">
                <a:avLst>
                  <a:gd name="adj" fmla="val 1122"/>
                </a:avLst>
              </a:prstGeom>
              <a:solidFill>
                <a:srgbClr val="DAEDEF">
                  <a:lumMod val="20000"/>
                  <a:lumOff val="80000"/>
                </a:srgbClr>
              </a:solidFill>
              <a:ln w="12700" cap="flat" cmpd="sng" algn="ctr">
                <a:solidFill>
                  <a:schemeClr val="bg2">
                    <a:lumMod val="25000"/>
                  </a:scheme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82" name="AutoShape 16"/>
              <p:cNvSpPr>
                <a:spLocks noChangeArrowheads="1"/>
              </p:cNvSpPr>
              <p:nvPr/>
            </p:nvSpPr>
            <p:spPr bwMode="auto">
              <a:xfrm>
                <a:off x="4160594" y="4927313"/>
                <a:ext cx="720081" cy="1224682"/>
              </a:xfrm>
              <a:prstGeom prst="roundRect">
                <a:avLst>
                  <a:gd name="adj" fmla="val 6199"/>
                </a:avLst>
              </a:prstGeom>
              <a:solidFill>
                <a:srgbClr val="DDDDDD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0" tIns="0" rIns="0" bIns="0" anchor="ctr"/>
              <a:lstStyle/>
              <a:p>
                <a:pPr algn="ctr" latinLnBrk="0"/>
                <a:r>
                  <a:rPr lang="en-US" altLang="ko-KR" sz="500" b="1" dirty="0" smtClean="0">
                    <a:solidFill>
                      <a:schemeClr val="tx1"/>
                    </a:solidFill>
                    <a:latin typeface="+mn-ea"/>
                  </a:rPr>
                  <a:t>I/F</a:t>
                </a:r>
              </a:p>
              <a:p>
                <a:pPr algn="ctr" latinLnBrk="0"/>
                <a:r>
                  <a:rPr lang="ko-KR" altLang="en-US" sz="500" b="1" dirty="0" smtClean="0">
                    <a:solidFill>
                      <a:schemeClr val="tx1"/>
                    </a:solidFill>
                    <a:latin typeface="+mn-ea"/>
                  </a:rPr>
                  <a:t>영역</a:t>
                </a:r>
                <a:endParaRPr lang="ko-KR" altLang="en-US" sz="5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  <p:sp>
          <p:nvSpPr>
            <p:cNvPr id="35" name="모서리가 둥근 직사각형 34"/>
            <p:cNvSpPr/>
            <p:nvPr/>
          </p:nvSpPr>
          <p:spPr bwMode="auto">
            <a:xfrm>
              <a:off x="3342313" y="2786022"/>
              <a:ext cx="1630748" cy="2440391"/>
            </a:xfrm>
            <a:prstGeom prst="roundRect">
              <a:avLst>
                <a:gd name="adj" fmla="val 1122"/>
              </a:avLst>
            </a:prstGeom>
            <a:solidFill>
              <a:srgbClr val="DAEDEF">
                <a:lumMod val="20000"/>
                <a:lumOff val="80000"/>
              </a:srgbClr>
            </a:solidFill>
            <a:ln w="12700" cap="flat" cmpd="sng" algn="ctr">
              <a:solidFill>
                <a:schemeClr val="bg2">
                  <a:lumMod val="25000"/>
                </a:scheme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6" name="모서리가 둥근 직사각형 35"/>
            <p:cNvSpPr/>
            <p:nvPr/>
          </p:nvSpPr>
          <p:spPr bwMode="auto">
            <a:xfrm>
              <a:off x="344488" y="2564358"/>
              <a:ext cx="1630748" cy="2448271"/>
            </a:xfrm>
            <a:prstGeom prst="roundRect">
              <a:avLst>
                <a:gd name="adj" fmla="val 1122"/>
              </a:avLst>
            </a:prstGeom>
            <a:solidFill>
              <a:srgbClr val="DAEDEF">
                <a:lumMod val="20000"/>
                <a:lumOff val="80000"/>
              </a:srgbClr>
            </a:solidFill>
            <a:ln w="12700" cap="flat" cmpd="sng" algn="ctr">
              <a:solidFill>
                <a:schemeClr val="bg2">
                  <a:lumMod val="25000"/>
                </a:scheme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7" name="Text Box 27"/>
            <p:cNvSpPr txBox="1">
              <a:spLocks noChangeArrowheads="1"/>
            </p:cNvSpPr>
            <p:nvPr/>
          </p:nvSpPr>
          <p:spPr bwMode="auto">
            <a:xfrm>
              <a:off x="2576736" y="1988294"/>
              <a:ext cx="2520280" cy="531819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bg2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anchor="ctr"/>
            <a:lstStyle>
              <a:defPPr>
                <a:defRPr lang="ko-KR"/>
              </a:defPPr>
              <a:lvl1pPr algn="ctr" latinLnBrk="0">
                <a:defRPr sz="1400" b="1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</a:lstStyle>
            <a:p>
              <a:r>
                <a:rPr lang="ko-KR" altLang="en-US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글로벌 </a:t>
              </a:r>
              <a:r>
                <a:rPr lang="ko-KR" altLang="en-US" sz="700" dirty="0" err="1" smtClean="0">
                  <a:solidFill>
                    <a:schemeClr val="bg1"/>
                  </a:solidFill>
                  <a:latin typeface="+mn-ea"/>
                  <a:ea typeface="+mn-ea"/>
                </a:rPr>
                <a:t>웹기반</a:t>
              </a:r>
              <a:r>
                <a:rPr lang="ko-KR" altLang="en-US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 </a:t>
              </a:r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WMS</a:t>
              </a:r>
              <a:r>
                <a:rPr lang="ko-KR" altLang="en-US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시스템</a:t>
              </a:r>
              <a:r>
                <a:rPr lang="en-US" altLang="ko-KR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(JPR)</a:t>
              </a:r>
              <a:endParaRPr lang="ko-KR" alt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grpSp>
          <p:nvGrpSpPr>
            <p:cNvPr id="38" name="그룹 69"/>
            <p:cNvGrpSpPr>
              <a:grpSpLocks/>
            </p:cNvGrpSpPr>
            <p:nvPr/>
          </p:nvGrpSpPr>
          <p:grpSpPr bwMode="auto">
            <a:xfrm>
              <a:off x="567443" y="4364567"/>
              <a:ext cx="815374" cy="504057"/>
              <a:chOff x="8691797" y="3616325"/>
              <a:chExt cx="857256" cy="381328"/>
            </a:xfrm>
          </p:grpSpPr>
          <p:pic>
            <p:nvPicPr>
              <p:cNvPr id="79" name="Picture 406" descr="파란막대"/>
              <p:cNvPicPr>
                <a:picLocks noChangeAspect="1" noChangeArrowheads="1"/>
              </p:cNvPicPr>
              <p:nvPr/>
            </p:nvPicPr>
            <p:blipFill>
              <a:blip r:embed="rId6" cstate="print">
                <a:lum bright="12000"/>
              </a:blip>
              <a:srcRect/>
              <a:stretch>
                <a:fillRect/>
              </a:stretch>
            </p:blipFill>
            <p:spPr bwMode="gray">
              <a:xfrm>
                <a:off x="8691797" y="3616325"/>
                <a:ext cx="857256" cy="3813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80" name="직사각형 79"/>
              <p:cNvSpPr/>
              <p:nvPr/>
            </p:nvSpPr>
            <p:spPr>
              <a:xfrm>
                <a:off x="8892153" y="3717936"/>
                <a:ext cx="452667" cy="139721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defRPr/>
                </a:pPr>
                <a:r>
                  <a:rPr lang="en-US" altLang="ko-KR" sz="500" spc="-100" dirty="0" err="1" smtClean="0">
                    <a:solidFill>
                      <a:prstClr val="black"/>
                    </a:solidFill>
                    <a:latin typeface="+mn-ea"/>
                  </a:rPr>
                  <a:t>Buiness</a:t>
                </a:r>
                <a:r>
                  <a:rPr lang="en-US" altLang="ko-KR" sz="500" spc="-100" dirty="0" smtClean="0">
                    <a:solidFill>
                      <a:prstClr val="black"/>
                    </a:solidFill>
                    <a:latin typeface="+mn-ea"/>
                  </a:rPr>
                  <a:t> Table</a:t>
                </a:r>
              </a:p>
            </p:txBody>
          </p:sp>
        </p:grpSp>
        <p:grpSp>
          <p:nvGrpSpPr>
            <p:cNvPr id="39" name="그룹 109"/>
            <p:cNvGrpSpPr/>
            <p:nvPr/>
          </p:nvGrpSpPr>
          <p:grpSpPr>
            <a:xfrm>
              <a:off x="441434" y="2653067"/>
              <a:ext cx="1151008" cy="1655305"/>
              <a:chOff x="344488" y="2509597"/>
              <a:chExt cx="1247954" cy="1655305"/>
            </a:xfrm>
          </p:grpSpPr>
          <p:sp>
            <p:nvSpPr>
              <p:cNvPr id="74" name="AutoShape 16"/>
              <p:cNvSpPr>
                <a:spLocks noChangeArrowheads="1"/>
              </p:cNvSpPr>
              <p:nvPr/>
            </p:nvSpPr>
            <p:spPr bwMode="auto">
              <a:xfrm>
                <a:off x="344488" y="2509597"/>
                <a:ext cx="1223061" cy="385239"/>
              </a:xfrm>
              <a:prstGeom prst="roundRect">
                <a:avLst>
                  <a:gd name="adj" fmla="val 6199"/>
                </a:avLst>
              </a:prstGeom>
              <a:solidFill>
                <a:srgbClr val="DDDDDD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anchor="ctr"/>
              <a:lstStyle/>
              <a:p>
                <a:pPr algn="ctr" latinLnBrk="0"/>
                <a:r>
                  <a:rPr lang="en-US" altLang="ko-KR" sz="500" b="1" dirty="0" smtClean="0">
                    <a:solidFill>
                      <a:schemeClr val="tx1"/>
                    </a:solidFill>
                    <a:latin typeface="+mn-ea"/>
                  </a:rPr>
                  <a:t>Company A</a:t>
                </a:r>
              </a:p>
              <a:p>
                <a:pPr algn="ctr" latinLnBrk="0"/>
                <a:r>
                  <a:rPr lang="en-US" altLang="ko-KR" sz="500" b="1" dirty="0" smtClean="0">
                    <a:latin typeface="+mn-ea"/>
                  </a:rPr>
                  <a:t>WMS/OMS</a:t>
                </a:r>
                <a:endParaRPr lang="ko-KR" altLang="en-US" sz="5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5" name="Text Box 12"/>
              <p:cNvSpPr txBox="1">
                <a:spLocks noChangeArrowheads="1"/>
              </p:cNvSpPr>
              <p:nvPr/>
            </p:nvSpPr>
            <p:spPr bwMode="auto">
              <a:xfrm>
                <a:off x="344488" y="2914226"/>
                <a:ext cx="1247954" cy="125067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anchor="ctr"/>
              <a:lstStyle/>
              <a:p>
                <a:pPr algn="ctr" latinLnBrk="0">
                  <a:spcBef>
                    <a:spcPts val="600"/>
                  </a:spcBef>
                </a:pPr>
                <a:endParaRPr lang="ko-KR" altLang="en-US" sz="6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6" name="Rectangle 72"/>
              <p:cNvSpPr>
                <a:spLocks noChangeArrowheads="1"/>
              </p:cNvSpPr>
              <p:nvPr/>
            </p:nvSpPr>
            <p:spPr bwMode="gray">
              <a:xfrm>
                <a:off x="480383" y="3097337"/>
                <a:ext cx="964950" cy="210516"/>
              </a:xfrm>
              <a:prstGeom prst="rect">
                <a:avLst/>
              </a:prstGeom>
              <a:solidFill>
                <a:srgbClr val="D7EAF1"/>
              </a:solidFill>
              <a:ln w="6350" algn="ctr">
                <a:noFill/>
                <a:miter lim="800000"/>
                <a:headEnd/>
                <a:tailEnd/>
              </a:ln>
            </p:spPr>
            <p:txBody>
              <a:bodyPr wrap="none" rIns="90000" anchor="ctr"/>
              <a:lstStyle/>
              <a:p>
                <a:pPr algn="ctr"/>
                <a:r>
                  <a:rPr lang="ko-KR" altLang="en-US" sz="500" smtClean="0">
                    <a:latin typeface="+mn-ea"/>
                  </a:rPr>
                  <a:t>입고</a:t>
                </a:r>
                <a:endParaRPr lang="en-US" altLang="ko-KR" sz="500" b="0" dirty="0">
                  <a:latin typeface="+mn-ea"/>
                </a:endParaRPr>
              </a:p>
            </p:txBody>
          </p:sp>
          <p:sp>
            <p:nvSpPr>
              <p:cNvPr id="77" name="Rectangle 72"/>
              <p:cNvSpPr>
                <a:spLocks noChangeArrowheads="1"/>
              </p:cNvSpPr>
              <p:nvPr/>
            </p:nvSpPr>
            <p:spPr bwMode="gray">
              <a:xfrm>
                <a:off x="480383" y="3440280"/>
                <a:ext cx="964950" cy="210516"/>
              </a:xfrm>
              <a:prstGeom prst="rect">
                <a:avLst/>
              </a:prstGeom>
              <a:solidFill>
                <a:srgbClr val="D7EAF1"/>
              </a:solidFill>
              <a:ln w="6350" algn="ctr">
                <a:noFill/>
                <a:miter lim="800000"/>
                <a:headEnd/>
                <a:tailEnd/>
              </a:ln>
            </p:spPr>
            <p:txBody>
              <a:bodyPr wrap="none" rIns="90000" anchor="ctr"/>
              <a:lstStyle/>
              <a:p>
                <a:pPr algn="ctr"/>
                <a:r>
                  <a:rPr lang="ko-KR" altLang="en-US" sz="500" b="0" smtClean="0">
                    <a:latin typeface="+mn-ea"/>
                  </a:rPr>
                  <a:t>출고</a:t>
                </a:r>
                <a:endParaRPr lang="en-US" altLang="ko-KR" sz="500" b="0" dirty="0">
                  <a:latin typeface="+mn-ea"/>
                </a:endParaRPr>
              </a:p>
            </p:txBody>
          </p:sp>
          <p:sp>
            <p:nvSpPr>
              <p:cNvPr id="78" name="Rectangle 72"/>
              <p:cNvSpPr>
                <a:spLocks noChangeArrowheads="1"/>
              </p:cNvSpPr>
              <p:nvPr/>
            </p:nvSpPr>
            <p:spPr bwMode="gray">
              <a:xfrm>
                <a:off x="480383" y="3828060"/>
                <a:ext cx="964950" cy="210516"/>
              </a:xfrm>
              <a:prstGeom prst="rect">
                <a:avLst/>
              </a:prstGeom>
              <a:solidFill>
                <a:srgbClr val="D7EAF1"/>
              </a:solidFill>
              <a:ln w="6350" algn="ctr">
                <a:noFill/>
                <a:miter lim="800000"/>
                <a:headEnd/>
                <a:tailEnd/>
              </a:ln>
            </p:spPr>
            <p:txBody>
              <a:bodyPr wrap="none" rIns="90000" anchor="ctr"/>
              <a:lstStyle/>
              <a:p>
                <a:pPr algn="ctr"/>
                <a:r>
                  <a:rPr lang="ko-KR" altLang="en-US" sz="500" b="0" dirty="0" smtClean="0">
                    <a:latin typeface="+mn-ea"/>
                  </a:rPr>
                  <a:t>재고</a:t>
                </a:r>
                <a:endParaRPr lang="en-US" altLang="ko-KR" sz="500" b="0" dirty="0">
                  <a:latin typeface="+mn-ea"/>
                </a:endParaRPr>
              </a:p>
            </p:txBody>
          </p:sp>
        </p:grpSp>
        <p:grpSp>
          <p:nvGrpSpPr>
            <p:cNvPr id="40" name="그룹 69"/>
            <p:cNvGrpSpPr>
              <a:grpSpLocks/>
            </p:cNvGrpSpPr>
            <p:nvPr/>
          </p:nvGrpSpPr>
          <p:grpSpPr bwMode="auto">
            <a:xfrm>
              <a:off x="3495086" y="5550460"/>
              <a:ext cx="1313909" cy="559418"/>
              <a:chOff x="8691797" y="3616325"/>
              <a:chExt cx="857256" cy="381328"/>
            </a:xfrm>
          </p:grpSpPr>
          <p:pic>
            <p:nvPicPr>
              <p:cNvPr id="72" name="Picture 406" descr="파란막대"/>
              <p:cNvPicPr>
                <a:picLocks noChangeAspect="1" noChangeArrowheads="1"/>
              </p:cNvPicPr>
              <p:nvPr/>
            </p:nvPicPr>
            <p:blipFill>
              <a:blip r:embed="rId6" cstate="print">
                <a:lum bright="12000"/>
              </a:blip>
              <a:srcRect/>
              <a:stretch>
                <a:fillRect/>
              </a:stretch>
            </p:blipFill>
            <p:spPr bwMode="gray">
              <a:xfrm>
                <a:off x="8691797" y="3616325"/>
                <a:ext cx="857256" cy="3813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73" name="직사각형 72"/>
              <p:cNvSpPr/>
              <p:nvPr/>
            </p:nvSpPr>
            <p:spPr>
              <a:xfrm>
                <a:off x="8918382" y="3680460"/>
                <a:ext cx="408418" cy="302145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defRPr/>
                </a:pPr>
                <a:r>
                  <a:rPr lang="en-US" altLang="ko-KR" sz="600" spc="-100" dirty="0" smtClean="0">
                    <a:solidFill>
                      <a:prstClr val="black"/>
                    </a:solidFill>
                    <a:latin typeface="+mn-ea"/>
                  </a:rPr>
                  <a:t>Common</a:t>
                </a:r>
              </a:p>
              <a:p>
                <a:pPr algn="ctr">
                  <a:defRPr/>
                </a:pPr>
                <a:r>
                  <a:rPr lang="en-US" altLang="ko-KR" sz="600" spc="-100" dirty="0" smtClean="0">
                    <a:solidFill>
                      <a:prstClr val="black"/>
                    </a:solidFill>
                    <a:latin typeface="+mn-ea"/>
                  </a:rPr>
                  <a:t>Interface Table</a:t>
                </a:r>
              </a:p>
            </p:txBody>
          </p:sp>
        </p:grpSp>
        <p:sp>
          <p:nvSpPr>
            <p:cNvPr id="41" name="AutoShape 16"/>
            <p:cNvSpPr>
              <a:spLocks noChangeArrowheads="1"/>
            </p:cNvSpPr>
            <p:nvPr/>
          </p:nvSpPr>
          <p:spPr bwMode="auto">
            <a:xfrm>
              <a:off x="3523507" y="2653067"/>
              <a:ext cx="1223061" cy="385239"/>
            </a:xfrm>
            <a:prstGeom prst="roundRect">
              <a:avLst>
                <a:gd name="adj" fmla="val 6199"/>
              </a:avLst>
            </a:prstGeom>
            <a:solidFill>
              <a:srgbClr val="DDDDDD"/>
            </a:solidFill>
            <a:ln w="9525">
              <a:solidFill>
                <a:schemeClr val="bg2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anchor="ctr"/>
            <a:lstStyle/>
            <a:p>
              <a:pPr algn="ctr" latinLnBrk="0"/>
              <a:r>
                <a:rPr lang="en-US" altLang="ko-KR" sz="500" b="1" dirty="0" smtClean="0">
                  <a:solidFill>
                    <a:schemeClr val="tx1"/>
                  </a:solidFill>
                  <a:latin typeface="+mn-ea"/>
                </a:rPr>
                <a:t>Company B</a:t>
              </a:r>
              <a:endParaRPr lang="ko-KR" altLang="en-US" sz="5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2" name="Text Box 12"/>
            <p:cNvSpPr txBox="1">
              <a:spLocks noChangeArrowheads="1"/>
            </p:cNvSpPr>
            <p:nvPr/>
          </p:nvSpPr>
          <p:spPr bwMode="auto">
            <a:xfrm>
              <a:off x="3523508" y="3057696"/>
              <a:ext cx="1247954" cy="125067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anchor="ctr"/>
            <a:lstStyle/>
            <a:p>
              <a:pPr algn="ctr" latinLnBrk="0">
                <a:spcBef>
                  <a:spcPts val="600"/>
                </a:spcBef>
              </a:pPr>
              <a:endParaRPr lang="ko-KR" altLang="en-US" sz="600" dirty="0">
                <a:solidFill>
                  <a:schemeClr val="tx1"/>
                </a:solidFill>
                <a:latin typeface="+mn-ea"/>
              </a:endParaRPr>
            </a:p>
          </p:txBody>
        </p:sp>
        <p:grpSp>
          <p:nvGrpSpPr>
            <p:cNvPr id="43" name="그룹 69"/>
            <p:cNvGrpSpPr>
              <a:grpSpLocks/>
            </p:cNvGrpSpPr>
            <p:nvPr/>
          </p:nvGrpSpPr>
          <p:grpSpPr bwMode="auto">
            <a:xfrm>
              <a:off x="3749992" y="4447964"/>
              <a:ext cx="815373" cy="664774"/>
              <a:chOff x="8691797" y="3616325"/>
              <a:chExt cx="857256" cy="381328"/>
            </a:xfrm>
          </p:grpSpPr>
          <p:pic>
            <p:nvPicPr>
              <p:cNvPr id="70" name="Picture 406" descr="파란막대"/>
              <p:cNvPicPr>
                <a:picLocks noChangeAspect="1" noChangeArrowheads="1"/>
              </p:cNvPicPr>
              <p:nvPr/>
            </p:nvPicPr>
            <p:blipFill>
              <a:blip r:embed="rId6" cstate="print">
                <a:lum bright="12000"/>
              </a:blip>
              <a:srcRect/>
              <a:stretch>
                <a:fillRect/>
              </a:stretch>
            </p:blipFill>
            <p:spPr bwMode="gray">
              <a:xfrm>
                <a:off x="8691797" y="3616325"/>
                <a:ext cx="857256" cy="3813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71" name="직사각형 70"/>
              <p:cNvSpPr/>
              <p:nvPr/>
            </p:nvSpPr>
            <p:spPr>
              <a:xfrm>
                <a:off x="8892145" y="3725868"/>
                <a:ext cx="452668" cy="105941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defRPr/>
                </a:pPr>
                <a:r>
                  <a:rPr lang="en-US" altLang="ko-KR" sz="500" spc="-100" dirty="0" err="1" smtClean="0">
                    <a:solidFill>
                      <a:prstClr val="black"/>
                    </a:solidFill>
                    <a:latin typeface="+mn-ea"/>
                  </a:rPr>
                  <a:t>Buiness</a:t>
                </a:r>
                <a:r>
                  <a:rPr lang="en-US" altLang="ko-KR" sz="500" spc="-100" dirty="0" smtClean="0">
                    <a:solidFill>
                      <a:prstClr val="black"/>
                    </a:solidFill>
                    <a:latin typeface="+mn-ea"/>
                  </a:rPr>
                  <a:t> Table</a:t>
                </a:r>
                <a:endParaRPr lang="en-US" altLang="ko-KR" sz="200" spc="-100" dirty="0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sp>
          <p:nvSpPr>
            <p:cNvPr id="44" name="Rectangle 72"/>
            <p:cNvSpPr>
              <a:spLocks noChangeArrowheads="1"/>
            </p:cNvSpPr>
            <p:nvPr/>
          </p:nvSpPr>
          <p:spPr bwMode="gray">
            <a:xfrm>
              <a:off x="3659403" y="3240807"/>
              <a:ext cx="964950" cy="210516"/>
            </a:xfrm>
            <a:prstGeom prst="rect">
              <a:avLst/>
            </a:prstGeom>
            <a:solidFill>
              <a:srgbClr val="D7EAF1"/>
            </a:solidFill>
            <a:ln w="6350" algn="ctr">
              <a:noFill/>
              <a:miter lim="800000"/>
              <a:headEnd/>
              <a:tailEnd/>
            </a:ln>
          </p:spPr>
          <p:txBody>
            <a:bodyPr wrap="none" rIns="90000" anchor="ctr"/>
            <a:lstStyle/>
            <a:p>
              <a:pPr algn="ctr"/>
              <a:r>
                <a:rPr lang="ko-KR" altLang="en-US" sz="500" dirty="0" smtClean="0">
                  <a:latin typeface="+mn-ea"/>
                </a:rPr>
                <a:t>입고</a:t>
              </a:r>
              <a:endParaRPr lang="en-US" altLang="ko-KR" sz="500" b="0" dirty="0">
                <a:latin typeface="+mn-ea"/>
              </a:endParaRPr>
            </a:p>
          </p:txBody>
        </p:sp>
        <p:sp>
          <p:nvSpPr>
            <p:cNvPr id="45" name="Rectangle 72"/>
            <p:cNvSpPr>
              <a:spLocks noChangeArrowheads="1"/>
            </p:cNvSpPr>
            <p:nvPr/>
          </p:nvSpPr>
          <p:spPr bwMode="gray">
            <a:xfrm>
              <a:off x="3659403" y="3583750"/>
              <a:ext cx="964950" cy="210516"/>
            </a:xfrm>
            <a:prstGeom prst="rect">
              <a:avLst/>
            </a:prstGeom>
            <a:solidFill>
              <a:srgbClr val="D7EAF1"/>
            </a:solidFill>
            <a:ln w="6350" algn="ctr">
              <a:noFill/>
              <a:miter lim="800000"/>
              <a:headEnd/>
              <a:tailEnd/>
            </a:ln>
          </p:spPr>
          <p:txBody>
            <a:bodyPr wrap="none" rIns="90000" anchor="ctr"/>
            <a:lstStyle/>
            <a:p>
              <a:pPr algn="ctr"/>
              <a:r>
                <a:rPr lang="ko-KR" altLang="en-US" sz="500" b="0" smtClean="0">
                  <a:latin typeface="+mn-ea"/>
                </a:rPr>
                <a:t>출고</a:t>
              </a:r>
              <a:endParaRPr lang="en-US" altLang="ko-KR" sz="500" b="0" dirty="0">
                <a:latin typeface="+mn-ea"/>
              </a:endParaRPr>
            </a:p>
          </p:txBody>
        </p:sp>
        <p:sp>
          <p:nvSpPr>
            <p:cNvPr id="46" name="Rectangle 72"/>
            <p:cNvSpPr>
              <a:spLocks noChangeArrowheads="1"/>
            </p:cNvSpPr>
            <p:nvPr/>
          </p:nvSpPr>
          <p:spPr bwMode="gray">
            <a:xfrm>
              <a:off x="3659403" y="3971530"/>
              <a:ext cx="964950" cy="210516"/>
            </a:xfrm>
            <a:prstGeom prst="rect">
              <a:avLst/>
            </a:prstGeom>
            <a:solidFill>
              <a:srgbClr val="D7EAF1"/>
            </a:solidFill>
            <a:ln w="6350" algn="ctr">
              <a:noFill/>
              <a:miter lim="800000"/>
              <a:headEnd/>
              <a:tailEnd/>
            </a:ln>
          </p:spPr>
          <p:txBody>
            <a:bodyPr wrap="none" rIns="90000" anchor="ctr"/>
            <a:lstStyle/>
            <a:p>
              <a:pPr algn="ctr"/>
              <a:r>
                <a:rPr lang="ko-KR" altLang="en-US" sz="500" b="0" dirty="0" smtClean="0">
                  <a:latin typeface="+mn-ea"/>
                </a:rPr>
                <a:t>재고</a:t>
              </a:r>
              <a:endParaRPr lang="en-US" altLang="ko-KR" sz="500" b="0" dirty="0">
                <a:latin typeface="+mn-ea"/>
              </a:endParaRPr>
            </a:p>
          </p:txBody>
        </p:sp>
        <p:cxnSp>
          <p:nvCxnSpPr>
            <p:cNvPr id="47" name="Shape 46"/>
            <p:cNvCxnSpPr>
              <a:stCxn id="72" idx="3"/>
              <a:endCxn id="70" idx="2"/>
            </p:cNvCxnSpPr>
            <p:nvPr/>
          </p:nvCxnSpPr>
          <p:spPr>
            <a:xfrm flipH="1" flipV="1">
              <a:off x="4157682" y="5112728"/>
              <a:ext cx="651302" cy="717451"/>
            </a:xfrm>
            <a:prstGeom prst="bentConnector4">
              <a:avLst>
                <a:gd name="adj1" fmla="val -35099"/>
                <a:gd name="adj2" fmla="val 69493"/>
              </a:avLst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" name="그룹 64"/>
            <p:cNvGrpSpPr/>
            <p:nvPr/>
          </p:nvGrpSpPr>
          <p:grpSpPr>
            <a:xfrm>
              <a:off x="5516644" y="3168107"/>
              <a:ext cx="588881" cy="817337"/>
              <a:chOff x="6216707" y="2601245"/>
              <a:chExt cx="936104" cy="803613"/>
            </a:xfrm>
          </p:grpSpPr>
          <p:sp>
            <p:nvSpPr>
              <p:cNvPr id="67" name="AutoShape 49"/>
              <p:cNvSpPr>
                <a:spLocks noChangeArrowheads="1"/>
              </p:cNvSpPr>
              <p:nvPr/>
            </p:nvSpPr>
            <p:spPr bwMode="auto">
              <a:xfrm>
                <a:off x="6216707" y="2827144"/>
                <a:ext cx="936104" cy="577714"/>
              </a:xfrm>
              <a:prstGeom prst="roundRect">
                <a:avLst>
                  <a:gd name="adj" fmla="val 5019"/>
                </a:avLst>
              </a:prstGeom>
              <a:solidFill>
                <a:schemeClr val="bg1"/>
              </a:solidFill>
              <a:ln w="9525">
                <a:solidFill>
                  <a:schemeClr val="tx2">
                    <a:lumMod val="40000"/>
                    <a:lumOff val="60000"/>
                  </a:schemeClr>
                </a:solidFill>
                <a:round/>
                <a:headEnd type="none" w="sm" len="sm"/>
                <a:tailEnd type="none" w="sm" len="sm"/>
              </a:ln>
            </p:spPr>
            <p:txBody>
              <a:bodyPr lIns="54000" tIns="46800" rIns="54000" bIns="46800" anchor="ctr"/>
              <a:lstStyle/>
              <a:p>
                <a:pPr marL="98425" indent="-98425" latinLnBrk="0">
                  <a:lnSpc>
                    <a:spcPct val="110000"/>
                  </a:lnSpc>
                  <a:spcBef>
                    <a:spcPct val="20000"/>
                  </a:spcBef>
                  <a:buFont typeface="Wingdings" pitchFamily="2" charset="2"/>
                  <a:buChar char="§"/>
                </a:pPr>
                <a:endParaRPr lang="ko-KR" altLang="en-US" sz="400">
                  <a:solidFill>
                    <a:srgbClr val="000000"/>
                  </a:solidFill>
                  <a:latin typeface="+mn-ea"/>
                  <a:cs typeface="Arial" pitchFamily="34" charset="0"/>
                </a:endParaRPr>
              </a:p>
            </p:txBody>
          </p:sp>
          <p:pic>
            <p:nvPicPr>
              <p:cNvPr id="68" name="Picture 57" descr="Untitled-1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 t="8757" r="81834" b="53145"/>
              <a:stretch>
                <a:fillRect/>
              </a:stretch>
            </p:blipFill>
            <p:spPr bwMode="auto">
              <a:xfrm>
                <a:off x="6435464" y="2971357"/>
                <a:ext cx="618737" cy="3684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69" name="Rectangle 72"/>
              <p:cNvSpPr>
                <a:spLocks noChangeArrowheads="1"/>
              </p:cNvSpPr>
              <p:nvPr/>
            </p:nvSpPr>
            <p:spPr bwMode="gray">
              <a:xfrm>
                <a:off x="6216707" y="2601245"/>
                <a:ext cx="936104" cy="228030"/>
              </a:xfrm>
              <a:prstGeom prst="rect">
                <a:avLst/>
              </a:prstGeom>
              <a:solidFill>
                <a:srgbClr val="D7EAF1"/>
              </a:solidFill>
              <a:ln w="9525" algn="ctr">
                <a:solidFill>
                  <a:schemeClr val="tx2">
                    <a:lumMod val="40000"/>
                    <a:lumOff val="60000"/>
                  </a:schemeClr>
                </a:solidFill>
                <a:miter lim="800000"/>
                <a:headEnd/>
                <a:tailEnd/>
              </a:ln>
            </p:spPr>
            <p:txBody>
              <a:bodyPr wrap="none" rIns="90000" anchor="ctr"/>
              <a:lstStyle/>
              <a:p>
                <a:pPr algn="ctr"/>
                <a:r>
                  <a:rPr lang="ko-KR" altLang="en-US" sz="400" dirty="0" smtClean="0">
                    <a:latin typeface="+mn-ea"/>
                  </a:rPr>
                  <a:t>사용자</a:t>
                </a:r>
                <a:r>
                  <a:rPr lang="en-US" altLang="ko-KR" sz="400" dirty="0" smtClean="0">
                    <a:latin typeface="+mn-ea"/>
                  </a:rPr>
                  <a:t>B</a:t>
                </a:r>
                <a:endParaRPr lang="en-US" altLang="ko-KR" sz="400" b="0" dirty="0">
                  <a:latin typeface="+mn-ea"/>
                </a:endParaRPr>
              </a:p>
            </p:txBody>
          </p:sp>
        </p:grpSp>
        <p:cxnSp>
          <p:nvCxnSpPr>
            <p:cNvPr id="49" name="AutoShape 89"/>
            <p:cNvCxnSpPr>
              <a:cxnSpLocks noChangeShapeType="1"/>
              <a:stCxn id="67" idx="1"/>
              <a:endCxn id="42" idx="3"/>
            </p:cNvCxnSpPr>
            <p:nvPr/>
          </p:nvCxnSpPr>
          <p:spPr bwMode="auto">
            <a:xfrm flipH="1" flipV="1">
              <a:off x="4771462" y="3683034"/>
              <a:ext cx="745182" cy="8620"/>
            </a:xfrm>
            <a:prstGeom prst="straightConnector1">
              <a:avLst/>
            </a:prstGeom>
            <a:noFill/>
            <a:ln w="25400">
              <a:solidFill>
                <a:schemeClr val="bg2">
                  <a:lumMod val="75000"/>
                </a:schemeClr>
              </a:solidFill>
              <a:round/>
              <a:headEnd/>
              <a:tailEnd/>
            </a:ln>
            <a:effectLst/>
          </p:spPr>
        </p:cxnSp>
        <p:sp>
          <p:nvSpPr>
            <p:cNvPr id="50" name="Cloud"/>
            <p:cNvSpPr>
              <a:spLocks noChangeAspect="1" noEditPoints="1" noChangeArrowheads="1"/>
            </p:cNvSpPr>
            <p:nvPr/>
          </p:nvSpPr>
          <p:spPr bwMode="auto">
            <a:xfrm>
              <a:off x="4952656" y="3432005"/>
              <a:ext cx="409380" cy="406491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gradFill rotWithShape="1">
              <a:gsLst>
                <a:gs pos="0">
                  <a:srgbClr val="6699FF"/>
                </a:gs>
                <a:gs pos="100000">
                  <a:srgbClr val="99CCFF"/>
                </a:gs>
              </a:gsLst>
              <a:lin ang="5400000" scaled="1"/>
            </a:gradFill>
            <a:ln w="9525">
              <a:solidFill>
                <a:schemeClr val="tx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 algn="ctr">
                <a:spcBef>
                  <a:spcPct val="50000"/>
                </a:spcBef>
              </a:pPr>
              <a:endParaRPr lang="ko-KR" altLang="ko-KR" sz="600">
                <a:solidFill>
                  <a:srgbClr val="FF3300"/>
                </a:solidFill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914738" y="3498873"/>
              <a:ext cx="528875" cy="2955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200" dirty="0" smtClean="0">
                  <a:latin typeface="+mn-ea"/>
                </a:rPr>
                <a:t>Internet</a:t>
              </a:r>
              <a:endParaRPr lang="en-US" altLang="ko-KR" sz="200" dirty="0">
                <a:latin typeface="+mn-ea"/>
              </a:endParaRPr>
            </a:p>
          </p:txBody>
        </p:sp>
        <p:cxnSp>
          <p:nvCxnSpPr>
            <p:cNvPr id="52" name="AutoShape 22"/>
            <p:cNvCxnSpPr>
              <a:cxnSpLocks noChangeShapeType="1"/>
              <a:stCxn id="70" idx="3"/>
              <a:endCxn id="44" idx="3"/>
            </p:cNvCxnSpPr>
            <p:nvPr/>
          </p:nvCxnSpPr>
          <p:spPr bwMode="auto">
            <a:xfrm flipV="1">
              <a:off x="4565374" y="3346065"/>
              <a:ext cx="58978" cy="1434277"/>
            </a:xfrm>
            <a:prstGeom prst="curvedConnector3">
              <a:avLst>
                <a:gd name="adj1" fmla="val 514123"/>
              </a:avLst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Oval 8"/>
            <p:cNvSpPr>
              <a:spLocks noChangeArrowheads="1"/>
            </p:cNvSpPr>
            <p:nvPr/>
          </p:nvSpPr>
          <p:spPr bwMode="auto">
            <a:xfrm>
              <a:off x="2792760" y="5121656"/>
              <a:ext cx="206500" cy="179006"/>
            </a:xfrm>
            <a:prstGeom prst="ellipse">
              <a:avLst/>
            </a:prstGeom>
            <a:solidFill>
              <a:schemeClr val="bg1"/>
            </a:solidFill>
            <a:ln w="936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 eaLnBrk="1" hangingPunct="1">
                <a:lnSpc>
                  <a:spcPct val="100000"/>
                </a:lnSpc>
                <a:buClr>
                  <a:srgbClr val="3333CC"/>
                </a:buClr>
                <a:buFont typeface="굴림" pitchFamily="50" charset="-127"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altLang="ko-KR" sz="600" b="1" dirty="0" smtClean="0">
                  <a:solidFill>
                    <a:srgbClr val="3333CC"/>
                  </a:solidFill>
                  <a:latin typeface="+mn-ea"/>
                </a:rPr>
                <a:t>2</a:t>
              </a:r>
              <a:endParaRPr lang="en-GB" altLang="ko-KR" sz="600" b="1" dirty="0">
                <a:solidFill>
                  <a:srgbClr val="3333CC"/>
                </a:solidFill>
                <a:latin typeface="+mn-ea"/>
              </a:endParaRPr>
            </a:p>
          </p:txBody>
        </p:sp>
        <p:sp>
          <p:nvSpPr>
            <p:cNvPr id="54" name="Oval 8"/>
            <p:cNvSpPr>
              <a:spLocks noChangeArrowheads="1"/>
            </p:cNvSpPr>
            <p:nvPr/>
          </p:nvSpPr>
          <p:spPr bwMode="auto">
            <a:xfrm>
              <a:off x="4808984" y="5588694"/>
              <a:ext cx="206500" cy="179006"/>
            </a:xfrm>
            <a:prstGeom prst="ellipse">
              <a:avLst/>
            </a:prstGeom>
            <a:solidFill>
              <a:schemeClr val="bg1"/>
            </a:solidFill>
            <a:ln w="936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 eaLnBrk="1" hangingPunct="1">
                <a:lnSpc>
                  <a:spcPct val="100000"/>
                </a:lnSpc>
                <a:buClr>
                  <a:srgbClr val="3333CC"/>
                </a:buClr>
                <a:buFont typeface="굴림" pitchFamily="50" charset="-127"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altLang="ko-KR" sz="600" b="1" dirty="0" smtClean="0">
                  <a:solidFill>
                    <a:srgbClr val="3333CC"/>
                  </a:solidFill>
                  <a:latin typeface="+mn-ea"/>
                </a:rPr>
                <a:t>3</a:t>
              </a:r>
              <a:endParaRPr lang="en-GB" altLang="ko-KR" sz="600" b="1" dirty="0">
                <a:solidFill>
                  <a:srgbClr val="3333CC"/>
                </a:solidFill>
                <a:latin typeface="+mn-ea"/>
              </a:endParaRPr>
            </a:p>
          </p:txBody>
        </p:sp>
        <p:sp>
          <p:nvSpPr>
            <p:cNvPr id="55" name="Oval 8"/>
            <p:cNvSpPr>
              <a:spLocks noChangeArrowheads="1"/>
            </p:cNvSpPr>
            <p:nvPr/>
          </p:nvSpPr>
          <p:spPr bwMode="auto">
            <a:xfrm>
              <a:off x="4880992" y="4076526"/>
              <a:ext cx="206500" cy="179006"/>
            </a:xfrm>
            <a:prstGeom prst="ellipse">
              <a:avLst/>
            </a:prstGeom>
            <a:solidFill>
              <a:schemeClr val="bg1"/>
            </a:solidFill>
            <a:ln w="936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 eaLnBrk="1" hangingPunct="1">
                <a:lnSpc>
                  <a:spcPct val="100000"/>
                </a:lnSpc>
                <a:buClr>
                  <a:srgbClr val="3333CC"/>
                </a:buClr>
                <a:buFont typeface="굴림" pitchFamily="50" charset="-127"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altLang="ko-KR" sz="600" b="1" dirty="0" smtClean="0">
                  <a:solidFill>
                    <a:srgbClr val="3333CC"/>
                  </a:solidFill>
                  <a:latin typeface="+mn-ea"/>
                </a:rPr>
                <a:t>4</a:t>
              </a:r>
              <a:endParaRPr lang="en-GB" altLang="ko-KR" sz="600" b="1" dirty="0">
                <a:solidFill>
                  <a:srgbClr val="3333CC"/>
                </a:solidFill>
                <a:latin typeface="+mn-ea"/>
              </a:endParaRPr>
            </a:p>
          </p:txBody>
        </p:sp>
        <p:sp>
          <p:nvSpPr>
            <p:cNvPr id="56" name="모서리가 둥근 직사각형 55"/>
            <p:cNvSpPr/>
            <p:nvPr/>
          </p:nvSpPr>
          <p:spPr bwMode="auto">
            <a:xfrm>
              <a:off x="1712640" y="3357017"/>
              <a:ext cx="576064" cy="719509"/>
            </a:xfrm>
            <a:prstGeom prst="roundRect">
              <a:avLst>
                <a:gd name="adj" fmla="val 0"/>
              </a:avLst>
            </a:pr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latinLnBrk="0" hangingPunct="0">
                <a:lnSpc>
                  <a:spcPts val="300"/>
                </a:lnSpc>
                <a:spcBef>
                  <a:spcPct val="40000"/>
                </a:spcBef>
                <a:defRPr/>
              </a:pPr>
              <a:r>
                <a:rPr lang="en-US" altLang="ko-KR" sz="600" b="1" kern="0" dirty="0" smtClean="0">
                  <a:solidFill>
                    <a:srgbClr val="FFFFFF"/>
                  </a:solidFill>
                  <a:latin typeface="+mn-ea"/>
                </a:rPr>
                <a:t>Web</a:t>
              </a:r>
            </a:p>
            <a:p>
              <a:pPr algn="ctr" eaLnBrk="0" latinLnBrk="0" hangingPunct="0">
                <a:lnSpc>
                  <a:spcPts val="300"/>
                </a:lnSpc>
                <a:spcBef>
                  <a:spcPct val="40000"/>
                </a:spcBef>
                <a:defRPr/>
              </a:pPr>
              <a:r>
                <a:rPr lang="en-US" altLang="ko-KR" sz="600" b="1" kern="0" dirty="0" smtClean="0">
                  <a:solidFill>
                    <a:srgbClr val="FFFFFF"/>
                  </a:solidFill>
                  <a:latin typeface="+mn-ea"/>
                </a:rPr>
                <a:t>Service</a:t>
              </a:r>
            </a:p>
            <a:p>
              <a:pPr algn="ctr" eaLnBrk="0" latinLnBrk="0" hangingPunct="0">
                <a:lnSpc>
                  <a:spcPts val="300"/>
                </a:lnSpc>
                <a:spcBef>
                  <a:spcPct val="40000"/>
                </a:spcBef>
                <a:defRPr/>
              </a:pPr>
              <a:r>
                <a:rPr lang="en-US" altLang="ko-KR" sz="600" b="1" kern="0" dirty="0" smtClean="0">
                  <a:solidFill>
                    <a:srgbClr val="FFFFFF"/>
                  </a:solidFill>
                  <a:latin typeface="+mn-ea"/>
                </a:rPr>
                <a:t>(https)</a:t>
              </a:r>
              <a:endParaRPr lang="ko-KR" altLang="en-US" sz="600" b="1" kern="0" dirty="0" smtClean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57" name="모서리가 둥근 직사각형 56"/>
            <p:cNvSpPr/>
            <p:nvPr/>
          </p:nvSpPr>
          <p:spPr bwMode="auto">
            <a:xfrm>
              <a:off x="4304928" y="5156646"/>
              <a:ext cx="792088" cy="360040"/>
            </a:xfrm>
            <a:prstGeom prst="roundRect">
              <a:avLst>
                <a:gd name="adj" fmla="val 0"/>
              </a:avLst>
            </a:pr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0" fontAlgn="auto" latinLnBrk="0" hangingPunct="0">
                <a:lnSpc>
                  <a:spcPts val="900"/>
                </a:lnSpc>
                <a:spcBef>
                  <a:spcPct val="4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</a:rPr>
                <a:t>내부송수신</a:t>
              </a:r>
              <a:endParaRPr kumimoji="0" lang="en-US" altLang="ko-KR" sz="3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</a:endParaRPr>
            </a:p>
            <a:p>
              <a:pPr marL="0" marR="0" lvl="0" indent="0" algn="ctr" defTabSz="914400" eaLnBrk="0" fontAlgn="auto" latinLnBrk="0" hangingPunct="0">
                <a:lnSpc>
                  <a:spcPts val="900"/>
                </a:lnSpc>
                <a:spcBef>
                  <a:spcPct val="4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</a:rPr>
                <a:t>모듈</a:t>
              </a:r>
            </a:p>
          </p:txBody>
        </p:sp>
        <p:sp>
          <p:nvSpPr>
            <p:cNvPr id="58" name="모서리가 둥근 직사각형 57"/>
            <p:cNvSpPr/>
            <p:nvPr/>
          </p:nvSpPr>
          <p:spPr bwMode="auto">
            <a:xfrm>
              <a:off x="2648744" y="3356446"/>
              <a:ext cx="576064" cy="719509"/>
            </a:xfrm>
            <a:prstGeom prst="roundRect">
              <a:avLst>
                <a:gd name="adj" fmla="val 0"/>
              </a:avLst>
            </a:pr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0" fontAlgn="auto" latinLnBrk="0" hangingPunct="0">
                <a:lnSpc>
                  <a:spcPts val="300"/>
                </a:lnSpc>
                <a:spcBef>
                  <a:spcPct val="4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600" b="1" kern="0" dirty="0" smtClean="0">
                  <a:solidFill>
                    <a:srgbClr val="FFFFFF"/>
                  </a:solidFill>
                  <a:latin typeface="+mn-ea"/>
                </a:rPr>
                <a:t>Web</a:t>
              </a:r>
            </a:p>
            <a:p>
              <a:pPr marL="0" marR="0" lvl="0" indent="0" algn="ctr" defTabSz="914400" eaLnBrk="0" fontAlgn="auto" latinLnBrk="0" hangingPunct="0">
                <a:lnSpc>
                  <a:spcPts val="300"/>
                </a:lnSpc>
                <a:spcBef>
                  <a:spcPct val="4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</a:rPr>
                <a:t>Service</a:t>
              </a:r>
            </a:p>
            <a:p>
              <a:pPr marL="0" marR="0" lvl="0" indent="0" algn="ctr" defTabSz="914400" eaLnBrk="0" fontAlgn="auto" latinLnBrk="0" hangingPunct="0">
                <a:lnSpc>
                  <a:spcPts val="300"/>
                </a:lnSpc>
                <a:spcBef>
                  <a:spcPct val="4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600" b="1" kern="0" dirty="0" smtClean="0">
                  <a:solidFill>
                    <a:srgbClr val="FFFFFF"/>
                  </a:solidFill>
                  <a:latin typeface="+mn-ea"/>
                </a:rPr>
                <a:t>(https)</a:t>
              </a:r>
              <a:endParaRPr kumimoji="0" lang="ko-KR" altLang="en-US" sz="6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</a:endParaRPr>
            </a:p>
          </p:txBody>
        </p:sp>
        <p:cxnSp>
          <p:nvCxnSpPr>
            <p:cNvPr id="59" name="AutoShape 22"/>
            <p:cNvCxnSpPr>
              <a:cxnSpLocks noChangeShapeType="1"/>
              <a:stCxn id="80" idx="3"/>
              <a:endCxn id="56" idx="2"/>
            </p:cNvCxnSpPr>
            <p:nvPr/>
          </p:nvCxnSpPr>
          <p:spPr bwMode="auto">
            <a:xfrm flipV="1">
              <a:off x="1188561" y="4076525"/>
              <a:ext cx="812111" cy="514700"/>
            </a:xfrm>
            <a:prstGeom prst="curvedConnector2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0" name="Picture 13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1568624" y="4436566"/>
              <a:ext cx="311259" cy="33819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</p:pic>
        <p:cxnSp>
          <p:nvCxnSpPr>
            <p:cNvPr id="61" name="AutoShape 89"/>
            <p:cNvCxnSpPr>
              <a:cxnSpLocks noChangeShapeType="1"/>
              <a:stCxn id="58" idx="1"/>
              <a:endCxn id="56" idx="3"/>
            </p:cNvCxnSpPr>
            <p:nvPr/>
          </p:nvCxnSpPr>
          <p:spPr bwMode="auto">
            <a:xfrm flipH="1">
              <a:off x="2288704" y="3716201"/>
              <a:ext cx="360040" cy="571"/>
            </a:xfrm>
            <a:prstGeom prst="straightConnector1">
              <a:avLst/>
            </a:prstGeom>
            <a:noFill/>
            <a:ln w="25400">
              <a:solidFill>
                <a:schemeClr val="bg2">
                  <a:lumMod val="75000"/>
                </a:schemeClr>
              </a:solidFill>
              <a:round/>
              <a:headEnd/>
              <a:tailEnd/>
            </a:ln>
            <a:effectLst/>
          </p:spPr>
        </p:cxnSp>
        <p:cxnSp>
          <p:nvCxnSpPr>
            <p:cNvPr id="62" name="AutoShape 22"/>
            <p:cNvCxnSpPr>
              <a:cxnSpLocks noChangeShapeType="1"/>
              <a:stCxn id="58" idx="2"/>
              <a:endCxn id="72" idx="1"/>
            </p:cNvCxnSpPr>
            <p:nvPr/>
          </p:nvCxnSpPr>
          <p:spPr bwMode="auto">
            <a:xfrm rot="16200000" flipH="1">
              <a:off x="2338814" y="4673917"/>
              <a:ext cx="1754224" cy="558300"/>
            </a:xfrm>
            <a:prstGeom prst="curvedConnector2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3" name="Picture 13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2792760" y="4436566"/>
              <a:ext cx="311259" cy="33819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</p:pic>
        <p:sp>
          <p:nvSpPr>
            <p:cNvPr id="64" name="Oval 8"/>
            <p:cNvSpPr>
              <a:spLocks noChangeArrowheads="1"/>
            </p:cNvSpPr>
            <p:nvPr/>
          </p:nvSpPr>
          <p:spPr bwMode="auto">
            <a:xfrm>
              <a:off x="1866180" y="4364558"/>
              <a:ext cx="206500" cy="179006"/>
            </a:xfrm>
            <a:prstGeom prst="ellipse">
              <a:avLst/>
            </a:prstGeom>
            <a:solidFill>
              <a:schemeClr val="bg1"/>
            </a:solidFill>
            <a:ln w="936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 eaLnBrk="1" hangingPunct="1">
                <a:lnSpc>
                  <a:spcPct val="100000"/>
                </a:lnSpc>
                <a:buClr>
                  <a:srgbClr val="3333CC"/>
                </a:buClr>
                <a:buFont typeface="굴림" pitchFamily="50" charset="-127"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altLang="ko-KR" sz="600" b="1" dirty="0">
                  <a:solidFill>
                    <a:srgbClr val="3333CC"/>
                  </a:solidFill>
                  <a:latin typeface="+mn-ea"/>
                </a:rPr>
                <a:t>1</a:t>
              </a:r>
            </a:p>
          </p:txBody>
        </p:sp>
        <p:sp>
          <p:nvSpPr>
            <p:cNvPr id="65" name="직사각형 64"/>
            <p:cNvSpPr/>
            <p:nvPr/>
          </p:nvSpPr>
          <p:spPr>
            <a:xfrm>
              <a:off x="1400892" y="4647848"/>
              <a:ext cx="693766" cy="45726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altLang="ko-KR" sz="300" dirty="0" smtClean="0">
                  <a:latin typeface="+mn-ea"/>
                </a:rPr>
                <a:t>XML</a:t>
              </a:r>
            </a:p>
            <a:p>
              <a:pPr algn="ctr">
                <a:lnSpc>
                  <a:spcPts val="400"/>
                </a:lnSpc>
              </a:pPr>
              <a:r>
                <a:rPr lang="en-US" altLang="ko-KR" sz="300" dirty="0" smtClean="0">
                  <a:latin typeface="+mn-ea"/>
                </a:rPr>
                <a:t>Document</a:t>
              </a:r>
              <a:endParaRPr lang="en-US" altLang="ko-KR" sz="300" dirty="0">
                <a:latin typeface="+mn-ea"/>
              </a:endParaRPr>
            </a:p>
          </p:txBody>
        </p:sp>
      </p:grpSp>
      <p:sp>
        <p:nvSpPr>
          <p:cNvPr id="83" name="직사각형 82"/>
          <p:cNvSpPr/>
          <p:nvPr/>
        </p:nvSpPr>
        <p:spPr>
          <a:xfrm>
            <a:off x="1744728" y="5262745"/>
            <a:ext cx="364202" cy="1905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400"/>
              </a:lnSpc>
            </a:pPr>
            <a:r>
              <a:rPr lang="en-US" altLang="ko-KR" sz="300" dirty="0" smtClean="0">
                <a:latin typeface="+mn-ea"/>
              </a:rPr>
              <a:t>XML</a:t>
            </a:r>
          </a:p>
          <a:p>
            <a:pPr algn="ctr">
              <a:lnSpc>
                <a:spcPts val="400"/>
              </a:lnSpc>
            </a:pPr>
            <a:r>
              <a:rPr lang="en-US" altLang="ko-KR" sz="300" dirty="0" smtClean="0">
                <a:latin typeface="+mn-ea"/>
              </a:rPr>
              <a:t>Document</a:t>
            </a:r>
            <a:endParaRPr lang="en-US" altLang="ko-KR" sz="300" dirty="0">
              <a:latin typeface="+mn-ea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1140768" y="3692649"/>
            <a:ext cx="1728192" cy="345470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kern="0" dirty="0" err="1" smtClean="0">
                <a:solidFill>
                  <a:sysClr val="window" lastClr="FFFFFF"/>
                </a:solidFill>
                <a:latin typeface="+mn-ea"/>
              </a:rPr>
              <a:t>웹서비스</a:t>
            </a:r>
            <a:r>
              <a:rPr lang="ko-KR" altLang="en-US" sz="1200" b="1" kern="0" dirty="0" smtClean="0">
                <a:solidFill>
                  <a:sysClr val="window" lastClr="FFFFFF"/>
                </a:solidFill>
                <a:latin typeface="+mn-ea"/>
              </a:rPr>
              <a:t> 구성</a:t>
            </a:r>
            <a:endParaRPr lang="ko-KR" altLang="en-US" sz="1200" b="1" kern="0" dirty="0">
              <a:solidFill>
                <a:sysClr val="window" lastClr="FFFFFF"/>
              </a:solidFill>
              <a:latin typeface="+mn-e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75804" y="2204863"/>
            <a:ext cx="2629594" cy="1152699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</p:pic>
      <p:sp>
        <p:nvSpPr>
          <p:cNvPr id="86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3797300" y="6492899"/>
            <a:ext cx="2311400" cy="276999"/>
          </a:xfrm>
        </p:spPr>
        <p:txBody>
          <a:bodyPr wrap="square">
            <a:spAutoFit/>
          </a:bodyPr>
          <a:lstStyle/>
          <a:p>
            <a:pPr algn="ctr"/>
            <a:r>
              <a:rPr lang="en-US" altLang="ko-KR" dirty="0" smtClean="0">
                <a:latin typeface="+mn-ea"/>
              </a:rPr>
              <a:t>- 11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-</a:t>
            </a:r>
            <a:endParaRPr lang="ko-KR" altLang="en-US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344487" y="981065"/>
            <a:ext cx="3072342" cy="279940"/>
          </a:xfrm>
          <a:prstGeom prst="rect">
            <a:avLst/>
          </a:prstGeom>
          <a:solidFill>
            <a:schemeClr val="tx2">
              <a:lumMod val="40000"/>
              <a:lumOff val="60000"/>
              <a:alpha val="5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lang="ko-KR" altLang="en-US" sz="12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rPr>
              <a:t>로그인</a:t>
            </a:r>
            <a:endParaRPr kumimoji="1" lang="ko-KR" altLang="en-US" sz="1200" b="1" dirty="0">
              <a:gradFill>
                <a:gsLst>
                  <a:gs pos="5000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0"/>
              </a:gra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3416829" y="981066"/>
            <a:ext cx="3072342" cy="279940"/>
          </a:xfrm>
          <a:prstGeom prst="rect">
            <a:avLst/>
          </a:prstGeom>
          <a:solidFill>
            <a:schemeClr val="tx2">
              <a:lumMod val="40000"/>
              <a:lumOff val="60000"/>
              <a:alpha val="5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kumimoji="1" lang="ko-KR" altLang="en-US" sz="12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rPr>
              <a:t>메인</a:t>
            </a:r>
            <a:endParaRPr kumimoji="1" lang="ko-KR" altLang="en-US" sz="1200" b="1" dirty="0">
              <a:gradFill>
                <a:gsLst>
                  <a:gs pos="5000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0"/>
              </a:gra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3" name="그룹 32"/>
          <p:cNvGrpSpPr/>
          <p:nvPr/>
        </p:nvGrpSpPr>
        <p:grpSpPr>
          <a:xfrm>
            <a:off x="344487" y="1247775"/>
            <a:ext cx="9217025" cy="2325514"/>
            <a:chOff x="344487" y="1146543"/>
            <a:chExt cx="9217025" cy="2426746"/>
          </a:xfrm>
        </p:grpSpPr>
        <p:sp>
          <p:nvSpPr>
            <p:cNvPr id="12" name="직사각형 11"/>
            <p:cNvSpPr/>
            <p:nvPr/>
          </p:nvSpPr>
          <p:spPr>
            <a:xfrm>
              <a:off x="344487" y="1146880"/>
              <a:ext cx="3072342" cy="24264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3416829" y="1146881"/>
              <a:ext cx="3072342" cy="24264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6489170" y="1146543"/>
              <a:ext cx="3072342" cy="24264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/>
          <p:cNvSpPr/>
          <p:nvPr/>
        </p:nvSpPr>
        <p:spPr>
          <a:xfrm>
            <a:off x="344488" y="3573626"/>
            <a:ext cx="3072342" cy="279940"/>
          </a:xfrm>
          <a:prstGeom prst="rect">
            <a:avLst/>
          </a:prstGeom>
          <a:solidFill>
            <a:schemeClr val="tx2">
              <a:lumMod val="40000"/>
              <a:lumOff val="60000"/>
              <a:alpha val="5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kumimoji="1" lang="ko-KR" altLang="en-US" sz="12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rPr>
              <a:t>좌측메뉴 숨김</a:t>
            </a:r>
            <a:endParaRPr kumimoji="1" lang="ko-KR" altLang="en-US" sz="1200" b="1" dirty="0">
              <a:gradFill>
                <a:gsLst>
                  <a:gs pos="5000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0"/>
              </a:gra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3416830" y="3573627"/>
            <a:ext cx="3072342" cy="279940"/>
          </a:xfrm>
          <a:prstGeom prst="rect">
            <a:avLst/>
          </a:prstGeom>
          <a:solidFill>
            <a:schemeClr val="tx2">
              <a:lumMod val="40000"/>
              <a:lumOff val="60000"/>
              <a:alpha val="5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kumimoji="1" lang="ko-KR" altLang="en-US" sz="12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rPr>
              <a:t>좌측상세메뉴 </a:t>
            </a:r>
            <a:r>
              <a:rPr kumimoji="1" lang="ko-KR" altLang="en-US" sz="1200" b="1" dirty="0" err="1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rPr>
              <a:t>레이어</a:t>
            </a:r>
            <a:r>
              <a:rPr kumimoji="1" lang="ko-KR" altLang="en-US" sz="12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rPr>
              <a:t> 표시</a:t>
            </a:r>
            <a:endParaRPr kumimoji="1" lang="ko-KR" altLang="en-US" sz="1200" b="1" dirty="0">
              <a:gradFill>
                <a:gsLst>
                  <a:gs pos="5000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0"/>
              </a:gra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4" name="그룹 33"/>
          <p:cNvGrpSpPr/>
          <p:nvPr/>
        </p:nvGrpSpPr>
        <p:grpSpPr>
          <a:xfrm>
            <a:off x="344488" y="3857628"/>
            <a:ext cx="9217025" cy="2308222"/>
            <a:chOff x="344488" y="3739104"/>
            <a:chExt cx="9217025" cy="2426746"/>
          </a:xfrm>
        </p:grpSpPr>
        <p:sp>
          <p:nvSpPr>
            <p:cNvPr id="30" name="직사각형 29"/>
            <p:cNvSpPr/>
            <p:nvPr/>
          </p:nvSpPr>
          <p:spPr>
            <a:xfrm>
              <a:off x="344488" y="3739441"/>
              <a:ext cx="3072342" cy="24264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3416830" y="3739442"/>
              <a:ext cx="3072342" cy="24264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6489171" y="3739104"/>
              <a:ext cx="3072342" cy="24264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27" name="직사각형 26"/>
          <p:cNvSpPr/>
          <p:nvPr/>
        </p:nvSpPr>
        <p:spPr>
          <a:xfrm>
            <a:off x="6489171" y="3573289"/>
            <a:ext cx="3072342" cy="279940"/>
          </a:xfrm>
          <a:prstGeom prst="rect">
            <a:avLst/>
          </a:prstGeom>
          <a:solidFill>
            <a:schemeClr val="tx2">
              <a:lumMod val="40000"/>
              <a:lumOff val="60000"/>
              <a:alpha val="5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kumimoji="1" lang="ko-KR" altLang="en-US" sz="12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rPr>
              <a:t>팝업화면</a:t>
            </a:r>
            <a:endParaRPr kumimoji="1" lang="ko-KR" altLang="en-US" sz="1200" b="1" dirty="0">
              <a:gradFill>
                <a:gsLst>
                  <a:gs pos="5000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0"/>
              </a:gra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디자인</a:t>
            </a:r>
            <a:endParaRPr lang="ko-KR" altLang="en-US" dirty="0"/>
          </a:p>
        </p:txBody>
      </p:sp>
      <p:sp>
        <p:nvSpPr>
          <p:cNvPr id="225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329527" y="22578"/>
            <a:ext cx="649288" cy="651456"/>
          </a:xfrm>
        </p:spPr>
        <p:txBody>
          <a:bodyPr/>
          <a:lstStyle/>
          <a:p>
            <a:r>
              <a:rPr lang="en-US" altLang="ko-KR" dirty="0" smtClean="0"/>
              <a:t>7</a:t>
            </a:r>
            <a:endParaRPr lang="ko-KR" altLang="en-US" dirty="0"/>
          </a:p>
        </p:txBody>
      </p:sp>
      <p:pic>
        <p:nvPicPr>
          <p:cNvPr id="65537" name="Picture 1" descr="D:\문서\00.엠투엠-프로젝트_1★\201503-유로지스 WINUS 추진\04.디자인\05. 디자인시안\20150506_M2M_시안수정\0101_로그인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8022" y="1697930"/>
            <a:ext cx="2472770" cy="1443038"/>
          </a:xfrm>
          <a:prstGeom prst="rect">
            <a:avLst/>
          </a:prstGeom>
          <a:noFill/>
        </p:spPr>
      </p:pic>
      <p:pic>
        <p:nvPicPr>
          <p:cNvPr id="65538" name="Picture 2" descr="D:\문서\00.엠투엠-프로젝트_1★\201503-유로지스 WINUS 추진\04.디자인\05. 디자인시안\20150506_M2M_시안수정\0101_메인화면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67116" y="1461976"/>
            <a:ext cx="2552211" cy="1823008"/>
          </a:xfrm>
          <a:prstGeom prst="rect">
            <a:avLst/>
          </a:prstGeom>
          <a:noFill/>
        </p:spPr>
      </p:pic>
      <p:pic>
        <p:nvPicPr>
          <p:cNvPr id="65539" name="Picture 3" descr="D:\문서\00.엠투엠-프로젝트_1★\201503-유로지스 WINUS 추진\04.디자인\05. 디자인시안\20150506_M2M_시안수정\0201_프로그램화면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98919" y="1466006"/>
            <a:ext cx="2546569" cy="1818978"/>
          </a:xfrm>
          <a:prstGeom prst="rect">
            <a:avLst/>
          </a:prstGeom>
          <a:noFill/>
        </p:spPr>
      </p:pic>
      <p:pic>
        <p:nvPicPr>
          <p:cNvPr id="65540" name="Picture 4" descr="D:\문서\00.엠투엠-프로젝트_1★\201503-유로지스 WINUS 추진\04.디자인\05. 디자인시안\20150506_M2M_시안수정\0301_메뉴닫기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05733" y="4108793"/>
            <a:ext cx="2375059" cy="1696471"/>
          </a:xfrm>
          <a:prstGeom prst="rect">
            <a:avLst/>
          </a:prstGeom>
          <a:noFill/>
        </p:spPr>
      </p:pic>
      <p:pic>
        <p:nvPicPr>
          <p:cNvPr id="65541" name="Picture 5" descr="D:\문서\00.엠투엠-프로젝트_1★\201503-유로지스 WINUS 추진\04.디자인\05. 디자인시안\20150506_M2M_시안수정\0302_메뉴닫기_서브메뉴이동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728864" y="4140200"/>
            <a:ext cx="2431901" cy="1737072"/>
          </a:xfrm>
          <a:prstGeom prst="rect">
            <a:avLst/>
          </a:prstGeom>
          <a:noFill/>
        </p:spPr>
      </p:pic>
      <p:pic>
        <p:nvPicPr>
          <p:cNvPr id="65542" name="Picture 6" descr="D:\문서\00.엠투엠-프로젝트_1★\201503-유로지스 WINUS 추진\04.디자인\05. 디자인시안\20150506_M2M_시안수정\0202_프로그램화면_팝업화면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825208" y="4149080"/>
            <a:ext cx="2362573" cy="1687552"/>
          </a:xfrm>
          <a:prstGeom prst="rect">
            <a:avLst/>
          </a:prstGeom>
          <a:noFill/>
        </p:spPr>
      </p:pic>
      <p:sp>
        <p:nvSpPr>
          <p:cNvPr id="20" name="직사각형 19"/>
          <p:cNvSpPr/>
          <p:nvPr/>
        </p:nvSpPr>
        <p:spPr>
          <a:xfrm>
            <a:off x="6489170" y="981066"/>
            <a:ext cx="3072342" cy="279940"/>
          </a:xfrm>
          <a:prstGeom prst="rect">
            <a:avLst/>
          </a:prstGeom>
          <a:solidFill>
            <a:schemeClr val="tx2">
              <a:lumMod val="40000"/>
              <a:lumOff val="60000"/>
              <a:alpha val="5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latinLnBrk="0"/>
            <a:r>
              <a:rPr kumimoji="1" lang="ko-KR" altLang="en-US" sz="1200" b="1" dirty="0" err="1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rPr>
              <a:t>그리드</a:t>
            </a:r>
            <a:r>
              <a:rPr kumimoji="1" lang="ko-KR" altLang="en-US" sz="1200" b="1" dirty="0" smtClean="0">
                <a:gradFill>
                  <a:gsLst>
                    <a:gs pos="5000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맑은 고딕" pitchFamily="50" charset="-127"/>
                <a:ea typeface="맑은 고딕" pitchFamily="50" charset="-127"/>
              </a:rPr>
              <a:t> 화면</a:t>
            </a:r>
            <a:endParaRPr kumimoji="1" lang="ko-KR" altLang="en-US" sz="1200" b="1" dirty="0">
              <a:gradFill>
                <a:gsLst>
                  <a:gs pos="5000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0"/>
              </a:gra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3797300" y="6492899"/>
            <a:ext cx="2311400" cy="276999"/>
          </a:xfrm>
        </p:spPr>
        <p:txBody>
          <a:bodyPr wrap="square">
            <a:spAutoFit/>
          </a:bodyPr>
          <a:lstStyle/>
          <a:p>
            <a:pPr algn="ctr"/>
            <a:r>
              <a:rPr lang="en-US" altLang="ko-KR" dirty="0" smtClean="0">
                <a:latin typeface="+mn-ea"/>
              </a:rPr>
              <a:t>- 12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-</a:t>
            </a:r>
            <a:endParaRPr lang="ko-KR" altLang="en-US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3" descr="C:\Users\c247\Desktop\0854\b_icon\Untitled-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8504" y="1506268"/>
            <a:ext cx="3694162" cy="423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직사각형 17"/>
          <p:cNvSpPr/>
          <p:nvPr/>
        </p:nvSpPr>
        <p:spPr>
          <a:xfrm>
            <a:off x="3872880" y="2609617"/>
            <a:ext cx="3288081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8000" b="1" dirty="0" smtClean="0">
                <a:ln w="1905"/>
                <a:gradFill>
                  <a:gsLst>
                    <a:gs pos="0">
                      <a:srgbClr val="F7F7FF"/>
                    </a:gs>
                    <a:gs pos="68000">
                      <a:srgbClr val="091D58"/>
                    </a:gs>
                    <a:gs pos="100000">
                      <a:srgbClr val="0C2876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DEMO</a:t>
            </a:r>
            <a:endParaRPr lang="ko-KR" altLang="en-US" sz="8000" b="1" dirty="0">
              <a:ln w="1905"/>
              <a:gradFill>
                <a:gsLst>
                  <a:gs pos="0">
                    <a:srgbClr val="F7F7FF"/>
                  </a:gs>
                  <a:gs pos="68000">
                    <a:srgbClr val="091D58"/>
                  </a:gs>
                  <a:gs pos="100000">
                    <a:srgbClr val="0C2876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36858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968110" y="1988840"/>
            <a:ext cx="4801314" cy="29700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7200" b="1" dirty="0" err="1" smtClean="0">
                <a:ln w="1905"/>
                <a:gradFill>
                  <a:gsLst>
                    <a:gs pos="0">
                      <a:srgbClr val="F7F7FF"/>
                    </a:gs>
                    <a:gs pos="68000">
                      <a:srgbClr val="091D58"/>
                    </a:gs>
                    <a:gs pos="100000">
                      <a:srgbClr val="0C2876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질문및답변</a:t>
            </a:r>
            <a:endParaRPr lang="en-US" altLang="ko-KR" sz="11500" b="1" dirty="0" smtClean="0">
              <a:ln w="1905"/>
              <a:gradFill>
                <a:gsLst>
                  <a:gs pos="0">
                    <a:srgbClr val="F7F7FF"/>
                  </a:gs>
                  <a:gs pos="68000">
                    <a:srgbClr val="091D58"/>
                  </a:gs>
                  <a:gs pos="100000">
                    <a:srgbClr val="0C2876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algn="ctr">
              <a:defRPr/>
            </a:pPr>
            <a:r>
              <a:rPr lang="en-US" altLang="ko-KR" sz="11500" b="1" dirty="0" smtClean="0">
                <a:ln w="1905"/>
                <a:gradFill>
                  <a:gsLst>
                    <a:gs pos="0">
                      <a:srgbClr val="F7F7FF"/>
                    </a:gs>
                    <a:gs pos="68000">
                      <a:srgbClr val="091D58"/>
                    </a:gs>
                    <a:gs pos="100000">
                      <a:srgbClr val="0C2876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Q &amp; A</a:t>
            </a:r>
            <a:endParaRPr lang="ko-KR" altLang="en-US" sz="8000" b="1" dirty="0">
              <a:ln w="1905"/>
              <a:gradFill>
                <a:gsLst>
                  <a:gs pos="0">
                    <a:srgbClr val="F7F7FF"/>
                  </a:gs>
                  <a:gs pos="68000">
                    <a:srgbClr val="091D58"/>
                  </a:gs>
                  <a:gs pos="100000">
                    <a:srgbClr val="0C2876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pic>
        <p:nvPicPr>
          <p:cNvPr id="6146" name="Picture 2" descr="C:\Users\Administrator\Desktop\지구본과사람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8" y="1464210"/>
            <a:ext cx="3456384" cy="534916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49879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나눔고딕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3226</TotalTime>
  <Words>1322</Words>
  <Application>Microsoft Office PowerPoint</Application>
  <PresentationFormat>A4 용지(210x297mm)</PresentationFormat>
  <Paragraphs>543</Paragraphs>
  <Slides>16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7" baseType="lpstr">
      <vt:lpstr>디자인 사용자 지정</vt:lpstr>
      <vt:lpstr>슬라이드 1</vt:lpstr>
      <vt:lpstr>슬라이드 2</vt:lpstr>
      <vt:lpstr>개발 개요</vt:lpstr>
      <vt:lpstr>추진 조직</vt:lpstr>
      <vt:lpstr>추진 경과</vt:lpstr>
      <vt:lpstr>개발 일정</vt:lpstr>
      <vt:lpstr>개발 기능</vt:lpstr>
      <vt:lpstr>Framework - 개념</vt:lpstr>
      <vt:lpstr>Framework - 구성</vt:lpstr>
      <vt:lpstr>Framework – 다국어(1/2)</vt:lpstr>
      <vt:lpstr>Framework – 다국어(2/2) </vt:lpstr>
      <vt:lpstr>Framework – jQuery Grid </vt:lpstr>
      <vt:lpstr>Framework – 웹서비스 연계관리</vt:lpstr>
      <vt:lpstr>디자인</vt:lpstr>
      <vt:lpstr>슬라이드 15</vt:lpstr>
      <vt:lpstr>슬라이드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관리자</dc:creator>
  <cp:lastModifiedBy>iskim</cp:lastModifiedBy>
  <cp:revision>316</cp:revision>
  <dcterms:created xsi:type="dcterms:W3CDTF">2012-02-23T06:58:54Z</dcterms:created>
  <dcterms:modified xsi:type="dcterms:W3CDTF">2015-05-07T13:24:05Z</dcterms:modified>
</cp:coreProperties>
</file>